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99"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Claude Fable 5.1</c:v>
                </c:pt>
              </c:strCache>
            </c:strRef>
          </c:tx>
          <c:spPr>
            <a:ln w="25400">
              <a:solidFill>
                <a:srgbClr val="C4552A"/>
              </a:solidFill>
            </a:ln>
          </c:spPr>
          <c:marker>
            <c:symbol val="circle"/>
            <c:size val="4"/>
            <c:spPr>
              <a:solidFill>
                <a:srgbClr val="C4552A"/>
              </a:solidFill>
              <a:ln>
                <a:solidFill>
                  <a:srgbClr val="C4552A"/>
                </a:solidFill>
              </a:ln>
            </c:spPr>
          </c:marker>
          <c:xVal>
            <c:numRef>
              <c:f>Sheet1!$A$2:$A$28</c:f>
              <c:numCache>
                <c:formatCode>General</c:formatCode>
                <c:ptCount val="27"/>
                <c:pt idx="0">
                  <c:v>46277.708333333336</c:v>
                </c:pt>
                <c:pt idx="1">
                  <c:v>46277.75</c:v>
                </c:pt>
                <c:pt idx="2">
                  <c:v>46277.791666666664</c:v>
                </c:pt>
                <c:pt idx="3">
                  <c:v>46277.833333333336</c:v>
                </c:pt>
                <c:pt idx="4">
                  <c:v>46277.875</c:v>
                </c:pt>
                <c:pt idx="5">
                  <c:v>46277.916666666664</c:v>
                </c:pt>
                <c:pt idx="6">
                  <c:v>46277.958333333336</c:v>
                </c:pt>
                <c:pt idx="7">
                  <c:v>46278</c:v>
                </c:pt>
                <c:pt idx="8">
                  <c:v>46278.041666666664</c:v>
                </c:pt>
                <c:pt idx="9">
                  <c:v>46278.083333333336</c:v>
                </c:pt>
                <c:pt idx="10">
                  <c:v>46278.125</c:v>
                </c:pt>
                <c:pt idx="11">
                  <c:v>46278.166666666664</c:v>
                </c:pt>
                <c:pt idx="12">
                  <c:v>46278.208333333336</c:v>
                </c:pt>
                <c:pt idx="13">
                  <c:v>46278.25</c:v>
                </c:pt>
                <c:pt idx="14">
                  <c:v>46278.291666666664</c:v>
                </c:pt>
                <c:pt idx="15">
                  <c:v>46278.333333333336</c:v>
                </c:pt>
                <c:pt idx="16">
                  <c:v>46278.375</c:v>
                </c:pt>
                <c:pt idx="17">
                  <c:v>46278.416666666664</c:v>
                </c:pt>
                <c:pt idx="18">
                  <c:v>46278.458333333336</c:v>
                </c:pt>
                <c:pt idx="19">
                  <c:v>46278.5</c:v>
                </c:pt>
                <c:pt idx="20">
                  <c:v>46278.541666666664</c:v>
                </c:pt>
                <c:pt idx="21">
                  <c:v>46278.583333333336</c:v>
                </c:pt>
                <c:pt idx="22">
                  <c:v>46278.625</c:v>
                </c:pt>
                <c:pt idx="23">
                  <c:v>46278.666666666664</c:v>
                </c:pt>
                <c:pt idx="24">
                  <c:v>46278.708333333336</c:v>
                </c:pt>
                <c:pt idx="25">
                  <c:v>46278.75</c:v>
                </c:pt>
                <c:pt idx="26">
                  <c:v>46278.791666666664</c:v>
                </c:pt>
              </c:numCache>
            </c:numRef>
          </c:xVal>
          <c:yVal>
            <c:numRef>
              <c:f>Sheet1!$B$2:$B$28</c:f>
              <c:numCache>
                <c:formatCode>General</c:formatCode>
                <c:ptCount val="27"/>
                <c:pt idx="0">
                  <c:v>0.16722199083715117</c:v>
                </c:pt>
                <c:pt idx="1">
                  <c:v>0.16722199083715117</c:v>
                </c:pt>
                <c:pt idx="2">
                  <c:v>0.16722199083715117</c:v>
                </c:pt>
                <c:pt idx="3">
                  <c:v>0.16722199083715117</c:v>
                </c:pt>
                <c:pt idx="4">
                  <c:v>0.15256143273635983</c:v>
                </c:pt>
                <c:pt idx="5">
                  <c:v>0.15256143273635983</c:v>
                </c:pt>
                <c:pt idx="6">
                  <c:v>0.15256143273635983</c:v>
                </c:pt>
                <c:pt idx="7">
                  <c:v>0.15256143273635983</c:v>
                </c:pt>
                <c:pt idx="8">
                  <c:v>0.15256143273635983</c:v>
                </c:pt>
                <c:pt idx="9">
                  <c:v>0.15256143273635983</c:v>
                </c:pt>
                <c:pt idx="10">
                  <c:v>0.15256143273635983</c:v>
                </c:pt>
                <c:pt idx="11">
                  <c:v>0.15256143273635983</c:v>
                </c:pt>
                <c:pt idx="12">
                  <c:v>0.15256143273635983</c:v>
                </c:pt>
                <c:pt idx="13">
                  <c:v>0.15256143273635983</c:v>
                </c:pt>
                <c:pt idx="14">
                  <c:v>0.15256143273635983</c:v>
                </c:pt>
                <c:pt idx="15">
                  <c:v>0.15256143273635983</c:v>
                </c:pt>
                <c:pt idx="16">
                  <c:v>0.15256143273635983</c:v>
                </c:pt>
                <c:pt idx="17">
                  <c:v>0.15256143273635983</c:v>
                </c:pt>
                <c:pt idx="18">
                  <c:v>0.15256143273635983</c:v>
                </c:pt>
                <c:pt idx="19">
                  <c:v>0.15256143273635983</c:v>
                </c:pt>
                <c:pt idx="20">
                  <c:v>0.15256143273635983</c:v>
                </c:pt>
                <c:pt idx="21">
                  <c:v>0.15256143273635983</c:v>
                </c:pt>
                <c:pt idx="22">
                  <c:v>0.15256143273635983</c:v>
                </c:pt>
                <c:pt idx="23">
                  <c:v>0.15256143273635983</c:v>
                </c:pt>
                <c:pt idx="24">
                  <c:v>0.15256143273635983</c:v>
                </c:pt>
                <c:pt idx="25">
                  <c:v>0.15256143273635983</c:v>
                </c:pt>
                <c:pt idx="26">
                  <c:v>0.15256143273635983</c:v>
                </c:pt>
              </c:numCache>
            </c:numRef>
          </c:yVal>
          <c:smooth val="0"/>
          <c:extLst>
            <c:ext xmlns:c16="http://schemas.microsoft.com/office/drawing/2014/chart" uri="{C3380CC4-5D6E-409C-BE32-E72D297353CC}">
              <c16:uniqueId val="{00000000-F81D-4D05-B8A8-B6A88DEF8E00}"/>
            </c:ext>
          </c:extLst>
        </c:ser>
        <c:ser>
          <c:idx val="1"/>
          <c:order val="1"/>
          <c:tx>
            <c:strRef>
              <c:f>Sheet1!$B$30</c:f>
              <c:strCache>
                <c:ptCount val="1"/>
                <c:pt idx="0">
                  <c:v>Claude Opus 5</c:v>
                </c:pt>
              </c:strCache>
            </c:strRef>
          </c:tx>
          <c:spPr>
            <a:ln w="25400">
              <a:solidFill>
                <a:srgbClr val="7A2E8C"/>
              </a:solidFill>
            </a:ln>
          </c:spPr>
          <c:marker>
            <c:symbol val="circle"/>
            <c:size val="4"/>
            <c:spPr>
              <a:solidFill>
                <a:srgbClr val="7A2E8C"/>
              </a:solidFill>
              <a:ln>
                <a:solidFill>
                  <a:srgbClr val="7A2E8C"/>
                </a:solidFill>
              </a:ln>
            </c:spPr>
          </c:marker>
          <c:xVal>
            <c:numRef>
              <c:f>Sheet1!$A$31:$A$56</c:f>
              <c:numCache>
                <c:formatCode>General</c:formatCode>
                <c:ptCount val="26"/>
                <c:pt idx="0">
                  <c:v>46277.75</c:v>
                </c:pt>
                <c:pt idx="1">
                  <c:v>46277.791666666664</c:v>
                </c:pt>
                <c:pt idx="2">
                  <c:v>46277.833333333336</c:v>
                </c:pt>
                <c:pt idx="3">
                  <c:v>46277.875</c:v>
                </c:pt>
                <c:pt idx="4">
                  <c:v>46277.916666666664</c:v>
                </c:pt>
                <c:pt idx="5">
                  <c:v>46277.958333333336</c:v>
                </c:pt>
                <c:pt idx="6">
                  <c:v>46278</c:v>
                </c:pt>
                <c:pt idx="7">
                  <c:v>46278.041666666664</c:v>
                </c:pt>
                <c:pt idx="8">
                  <c:v>46278.083333333336</c:v>
                </c:pt>
                <c:pt idx="9">
                  <c:v>46278.125</c:v>
                </c:pt>
                <c:pt idx="10">
                  <c:v>46278.166666666664</c:v>
                </c:pt>
                <c:pt idx="11">
                  <c:v>46278.208333333336</c:v>
                </c:pt>
                <c:pt idx="12">
                  <c:v>46278.25</c:v>
                </c:pt>
                <c:pt idx="13">
                  <c:v>46278.291666666664</c:v>
                </c:pt>
                <c:pt idx="14">
                  <c:v>46278.333333333336</c:v>
                </c:pt>
                <c:pt idx="15">
                  <c:v>46278.375</c:v>
                </c:pt>
                <c:pt idx="16">
                  <c:v>46278.416666666664</c:v>
                </c:pt>
                <c:pt idx="17">
                  <c:v>46278.458333333336</c:v>
                </c:pt>
                <c:pt idx="18">
                  <c:v>46278.5</c:v>
                </c:pt>
                <c:pt idx="19">
                  <c:v>46278.541666666664</c:v>
                </c:pt>
                <c:pt idx="20">
                  <c:v>46278.583333333336</c:v>
                </c:pt>
                <c:pt idx="21">
                  <c:v>46278.625</c:v>
                </c:pt>
                <c:pt idx="22">
                  <c:v>46278.666666666664</c:v>
                </c:pt>
                <c:pt idx="23">
                  <c:v>46278.708333333336</c:v>
                </c:pt>
                <c:pt idx="24">
                  <c:v>46278.75</c:v>
                </c:pt>
                <c:pt idx="25">
                  <c:v>46278.791666666664</c:v>
                </c:pt>
              </c:numCache>
            </c:numRef>
          </c:xVal>
          <c:yVal>
            <c:numRef>
              <c:f>Sheet1!$B$31:$B$56</c:f>
              <c:numCache>
                <c:formatCode>General</c:formatCode>
                <c:ptCount val="26"/>
                <c:pt idx="0">
                  <c:v>3.6282012039587801E-2</c:v>
                </c:pt>
                <c:pt idx="1">
                  <c:v>3.6282012039587801E-2</c:v>
                </c:pt>
                <c:pt idx="2">
                  <c:v>3.9587797163554733E-2</c:v>
                </c:pt>
                <c:pt idx="3">
                  <c:v>3.9587797163554733E-2</c:v>
                </c:pt>
                <c:pt idx="4">
                  <c:v>3.9751045811651863E-2</c:v>
                </c:pt>
                <c:pt idx="5">
                  <c:v>3.9751045811651863E-2</c:v>
                </c:pt>
                <c:pt idx="6">
                  <c:v>4.1057034996428932E-2</c:v>
                </c:pt>
                <c:pt idx="7">
                  <c:v>4.1057034996428932E-2</c:v>
                </c:pt>
                <c:pt idx="8">
                  <c:v>4.1057034996428932E-2</c:v>
                </c:pt>
                <c:pt idx="9">
                  <c:v>4.1057034996428932E-2</c:v>
                </c:pt>
                <c:pt idx="10">
                  <c:v>4.546474849505152E-2</c:v>
                </c:pt>
                <c:pt idx="11">
                  <c:v>4.546474849505152E-2</c:v>
                </c:pt>
                <c:pt idx="12">
                  <c:v>4.546474849505152E-2</c:v>
                </c:pt>
                <c:pt idx="13">
                  <c:v>4.546474849505152E-2</c:v>
                </c:pt>
                <c:pt idx="14">
                  <c:v>4.881134578104275E-2</c:v>
                </c:pt>
                <c:pt idx="15">
                  <c:v>4.881134578104275E-2</c:v>
                </c:pt>
                <c:pt idx="16">
                  <c:v>5.2484440363228239E-2</c:v>
                </c:pt>
                <c:pt idx="17">
                  <c:v>5.2484440363228239E-2</c:v>
                </c:pt>
                <c:pt idx="18">
                  <c:v>5.2484440363228239E-2</c:v>
                </c:pt>
                <c:pt idx="19">
                  <c:v>5.2484440363228239E-2</c:v>
                </c:pt>
                <c:pt idx="20">
                  <c:v>5.2484440363228239E-2</c:v>
                </c:pt>
                <c:pt idx="21">
                  <c:v>5.2484440363228239E-2</c:v>
                </c:pt>
                <c:pt idx="22">
                  <c:v>5.2484440363228239E-2</c:v>
                </c:pt>
                <c:pt idx="23">
                  <c:v>5.2484440363228239E-2</c:v>
                </c:pt>
                <c:pt idx="24">
                  <c:v>5.2484440363228239E-2</c:v>
                </c:pt>
                <c:pt idx="25">
                  <c:v>5.2484440363228239E-2</c:v>
                </c:pt>
              </c:numCache>
            </c:numRef>
          </c:yVal>
          <c:smooth val="0"/>
          <c:extLst>
            <c:ext xmlns:c16="http://schemas.microsoft.com/office/drawing/2014/chart" uri="{C3380CC4-5D6E-409C-BE32-E72D297353CC}">
              <c16:uniqueId val="{00000001-F81D-4D05-B8A8-B6A88DEF8E00}"/>
            </c:ext>
          </c:extLst>
        </c:ser>
        <c:ser>
          <c:idx val="2"/>
          <c:order val="2"/>
          <c:tx>
            <c:strRef>
              <c:f>Sheet1!$B$58</c:f>
              <c:strCache>
                <c:ptCount val="1"/>
                <c:pt idx="0">
                  <c:v>GPT-6 Astra</c:v>
                </c:pt>
              </c:strCache>
            </c:strRef>
          </c:tx>
          <c:spPr>
            <a:ln w="25400">
              <a:solidFill>
                <a:srgbClr val="1B7F63"/>
              </a:solidFill>
            </a:ln>
          </c:spPr>
          <c:marker>
            <c:symbol val="circle"/>
            <c:size val="4"/>
            <c:spPr>
              <a:solidFill>
                <a:srgbClr val="1B7F63"/>
              </a:solidFill>
              <a:ln>
                <a:solidFill>
                  <a:srgbClr val="1B7F63"/>
                </a:solidFill>
              </a:ln>
            </c:spPr>
          </c:marker>
          <c:xVal>
            <c:numRef>
              <c:f>Sheet1!$A$59:$A$84</c:f>
              <c:numCache>
                <c:formatCode>General</c:formatCode>
                <c:ptCount val="26"/>
                <c:pt idx="0">
                  <c:v>46277.75</c:v>
                </c:pt>
                <c:pt idx="1">
                  <c:v>46277.791666666664</c:v>
                </c:pt>
                <c:pt idx="2">
                  <c:v>46277.833333333336</c:v>
                </c:pt>
                <c:pt idx="3">
                  <c:v>46277.875</c:v>
                </c:pt>
                <c:pt idx="4">
                  <c:v>46277.916666666664</c:v>
                </c:pt>
                <c:pt idx="5">
                  <c:v>46277.958333333336</c:v>
                </c:pt>
                <c:pt idx="6">
                  <c:v>46278</c:v>
                </c:pt>
                <c:pt idx="7">
                  <c:v>46278.041666666664</c:v>
                </c:pt>
                <c:pt idx="8">
                  <c:v>46278.083333333336</c:v>
                </c:pt>
                <c:pt idx="9">
                  <c:v>46278.125</c:v>
                </c:pt>
                <c:pt idx="10">
                  <c:v>46278.166666666664</c:v>
                </c:pt>
                <c:pt idx="11">
                  <c:v>46278.208333333336</c:v>
                </c:pt>
                <c:pt idx="12">
                  <c:v>46278.25</c:v>
                </c:pt>
                <c:pt idx="13">
                  <c:v>46278.291666666664</c:v>
                </c:pt>
                <c:pt idx="14">
                  <c:v>46278.333333333336</c:v>
                </c:pt>
                <c:pt idx="15">
                  <c:v>46278.375</c:v>
                </c:pt>
                <c:pt idx="16">
                  <c:v>46278.416666666664</c:v>
                </c:pt>
                <c:pt idx="17">
                  <c:v>46278.458333333336</c:v>
                </c:pt>
                <c:pt idx="18">
                  <c:v>46278.5</c:v>
                </c:pt>
                <c:pt idx="19">
                  <c:v>46278.541666666664</c:v>
                </c:pt>
                <c:pt idx="20">
                  <c:v>46278.583333333336</c:v>
                </c:pt>
                <c:pt idx="21">
                  <c:v>46278.625</c:v>
                </c:pt>
                <c:pt idx="22">
                  <c:v>46278.666666666664</c:v>
                </c:pt>
                <c:pt idx="23">
                  <c:v>46278.708333333336</c:v>
                </c:pt>
                <c:pt idx="24">
                  <c:v>46278.75</c:v>
                </c:pt>
                <c:pt idx="25">
                  <c:v>46278.791666666664</c:v>
                </c:pt>
              </c:numCache>
            </c:numRef>
          </c:xVal>
          <c:yVal>
            <c:numRef>
              <c:f>Sheet1!$B$59:$B$84</c:f>
              <c:numCache>
                <c:formatCode>General</c:formatCode>
                <c:ptCount val="26"/>
                <c:pt idx="0">
                  <c:v>0.12834152496228599</c:v>
                </c:pt>
                <c:pt idx="1">
                  <c:v>0.12834152496228599</c:v>
                </c:pt>
                <c:pt idx="2">
                  <c:v>0.14312895327129768</c:v>
                </c:pt>
                <c:pt idx="3">
                  <c:v>0.14312895327129768</c:v>
                </c:pt>
                <c:pt idx="4">
                  <c:v>0.14312895327129768</c:v>
                </c:pt>
                <c:pt idx="5">
                  <c:v>0.14312895327129768</c:v>
                </c:pt>
                <c:pt idx="6">
                  <c:v>0.14142668259216659</c:v>
                </c:pt>
                <c:pt idx="7">
                  <c:v>0.14142668259216659</c:v>
                </c:pt>
                <c:pt idx="8">
                  <c:v>0.14142668259216659</c:v>
                </c:pt>
                <c:pt idx="9">
                  <c:v>0.14142668259216659</c:v>
                </c:pt>
                <c:pt idx="10">
                  <c:v>0.12403286179996814</c:v>
                </c:pt>
                <c:pt idx="11">
                  <c:v>0.12403286179996814</c:v>
                </c:pt>
                <c:pt idx="12">
                  <c:v>9.6276799869518467E-2</c:v>
                </c:pt>
                <c:pt idx="13">
                  <c:v>9.6276799869518467E-2</c:v>
                </c:pt>
                <c:pt idx="14">
                  <c:v>0.11146815346537133</c:v>
                </c:pt>
                <c:pt idx="15">
                  <c:v>0.11146815346537133</c:v>
                </c:pt>
                <c:pt idx="16">
                  <c:v>0.10214349495635257</c:v>
                </c:pt>
                <c:pt idx="17">
                  <c:v>0.10214349495635257</c:v>
                </c:pt>
                <c:pt idx="18">
                  <c:v>0.10214349495635257</c:v>
                </c:pt>
                <c:pt idx="19">
                  <c:v>0.10214349495635257</c:v>
                </c:pt>
                <c:pt idx="20">
                  <c:v>0.10340076233958823</c:v>
                </c:pt>
                <c:pt idx="21">
                  <c:v>0.10340076233958823</c:v>
                </c:pt>
                <c:pt idx="22">
                  <c:v>0.10340076233958823</c:v>
                </c:pt>
                <c:pt idx="23">
                  <c:v>0.10340076233958823</c:v>
                </c:pt>
                <c:pt idx="24">
                  <c:v>0.10340076233958823</c:v>
                </c:pt>
                <c:pt idx="25">
                  <c:v>0.10340076233958823</c:v>
                </c:pt>
              </c:numCache>
            </c:numRef>
          </c:yVal>
          <c:smooth val="0"/>
          <c:extLst>
            <c:ext xmlns:c16="http://schemas.microsoft.com/office/drawing/2014/chart" uri="{C3380CC4-5D6E-409C-BE32-E72D297353CC}">
              <c16:uniqueId val="{00000002-F81D-4D05-B8A8-B6A88DEF8E00}"/>
            </c:ext>
          </c:extLst>
        </c:ser>
        <c:ser>
          <c:idx val="3"/>
          <c:order val="3"/>
          <c:tx>
            <c:strRef>
              <c:f>Sheet1!$B$86</c:f>
              <c:strCache>
                <c:ptCount val="1"/>
                <c:pt idx="0">
                  <c:v>GPT-5.6 Sol</c:v>
                </c:pt>
              </c:strCache>
            </c:strRef>
          </c:tx>
          <c:spPr>
            <a:ln w="25400">
              <a:solidFill>
                <a:srgbClr val="2F6FD6"/>
              </a:solidFill>
            </a:ln>
          </c:spPr>
          <c:marker>
            <c:symbol val="circle"/>
            <c:size val="4"/>
            <c:spPr>
              <a:solidFill>
                <a:srgbClr val="2F6FD6"/>
              </a:solidFill>
              <a:ln>
                <a:solidFill>
                  <a:srgbClr val="2F6FD6"/>
                </a:solidFill>
              </a:ln>
            </c:spPr>
          </c:marker>
          <c:xVal>
            <c:numRef>
              <c:f>Sheet1!$A$87:$A$111</c:f>
              <c:numCache>
                <c:formatCode>General</c:formatCode>
                <c:ptCount val="25"/>
                <c:pt idx="0">
                  <c:v>46277.791666666664</c:v>
                </c:pt>
                <c:pt idx="1">
                  <c:v>46277.833333333336</c:v>
                </c:pt>
                <c:pt idx="2">
                  <c:v>46277.875</c:v>
                </c:pt>
                <c:pt idx="3">
                  <c:v>46277.916666666664</c:v>
                </c:pt>
                <c:pt idx="4">
                  <c:v>46277.958333333336</c:v>
                </c:pt>
                <c:pt idx="5">
                  <c:v>46278</c:v>
                </c:pt>
                <c:pt idx="6">
                  <c:v>46278.041666666664</c:v>
                </c:pt>
                <c:pt idx="7">
                  <c:v>46278.083333333336</c:v>
                </c:pt>
                <c:pt idx="8">
                  <c:v>46278.125</c:v>
                </c:pt>
                <c:pt idx="9">
                  <c:v>46278.166666666664</c:v>
                </c:pt>
                <c:pt idx="10">
                  <c:v>46278.208333333336</c:v>
                </c:pt>
                <c:pt idx="11">
                  <c:v>46278.25</c:v>
                </c:pt>
                <c:pt idx="12">
                  <c:v>46278.291666666664</c:v>
                </c:pt>
                <c:pt idx="13">
                  <c:v>46278.333333333336</c:v>
                </c:pt>
                <c:pt idx="14">
                  <c:v>46278.375</c:v>
                </c:pt>
                <c:pt idx="15">
                  <c:v>46278.416666666664</c:v>
                </c:pt>
                <c:pt idx="16">
                  <c:v>46278.458333333336</c:v>
                </c:pt>
                <c:pt idx="17">
                  <c:v>46278.5</c:v>
                </c:pt>
                <c:pt idx="18">
                  <c:v>46278.541666666664</c:v>
                </c:pt>
                <c:pt idx="19">
                  <c:v>46278.583333333336</c:v>
                </c:pt>
                <c:pt idx="20">
                  <c:v>46278.625</c:v>
                </c:pt>
                <c:pt idx="21">
                  <c:v>46278.666666666664</c:v>
                </c:pt>
                <c:pt idx="22">
                  <c:v>46278.708333333336</c:v>
                </c:pt>
                <c:pt idx="23">
                  <c:v>46278.75</c:v>
                </c:pt>
                <c:pt idx="24">
                  <c:v>46278.791666666664</c:v>
                </c:pt>
              </c:numCache>
            </c:numRef>
          </c:xVal>
          <c:yVal>
            <c:numRef>
              <c:f>Sheet1!$B$87:$B$111</c:f>
              <c:numCache>
                <c:formatCode>General</c:formatCode>
                <c:ptCount val="25"/>
                <c:pt idx="0">
                  <c:v>0.14525697243216437</c:v>
                </c:pt>
                <c:pt idx="1">
                  <c:v>0.13989564926151715</c:v>
                </c:pt>
                <c:pt idx="2">
                  <c:v>0.13989564926151715</c:v>
                </c:pt>
                <c:pt idx="3">
                  <c:v>0.13989564926151715</c:v>
                </c:pt>
                <c:pt idx="4">
                  <c:v>0.13989564926151715</c:v>
                </c:pt>
                <c:pt idx="5">
                  <c:v>0.14234348718111706</c:v>
                </c:pt>
                <c:pt idx="6">
                  <c:v>0.14234348718111706</c:v>
                </c:pt>
                <c:pt idx="7">
                  <c:v>0.14659171708532362</c:v>
                </c:pt>
                <c:pt idx="8">
                  <c:v>0.14659171708532362</c:v>
                </c:pt>
                <c:pt idx="9">
                  <c:v>0.14675766806166116</c:v>
                </c:pt>
                <c:pt idx="10">
                  <c:v>0.14675766806166116</c:v>
                </c:pt>
                <c:pt idx="11">
                  <c:v>0.14675766806166116</c:v>
                </c:pt>
                <c:pt idx="12">
                  <c:v>0.13782680091889651</c:v>
                </c:pt>
                <c:pt idx="13">
                  <c:v>0.14011751312214518</c:v>
                </c:pt>
                <c:pt idx="14">
                  <c:v>0.14011751312214518</c:v>
                </c:pt>
                <c:pt idx="15">
                  <c:v>0.14011751312214518</c:v>
                </c:pt>
                <c:pt idx="16">
                  <c:v>0.14011751312214518</c:v>
                </c:pt>
                <c:pt idx="17">
                  <c:v>0.14011751312214518</c:v>
                </c:pt>
                <c:pt idx="18">
                  <c:v>0.14011751312214518</c:v>
                </c:pt>
                <c:pt idx="19">
                  <c:v>0.14011751312214518</c:v>
                </c:pt>
                <c:pt idx="20">
                  <c:v>0.14011751312214518</c:v>
                </c:pt>
                <c:pt idx="21">
                  <c:v>0.14011751312214518</c:v>
                </c:pt>
                <c:pt idx="22">
                  <c:v>0.14011751312214518</c:v>
                </c:pt>
                <c:pt idx="23">
                  <c:v>0.14011751312214518</c:v>
                </c:pt>
                <c:pt idx="24">
                  <c:v>0.14011751312214518</c:v>
                </c:pt>
              </c:numCache>
            </c:numRef>
          </c:yVal>
          <c:smooth val="0"/>
          <c:extLst>
            <c:ext xmlns:c16="http://schemas.microsoft.com/office/drawing/2014/chart" uri="{C3380CC4-5D6E-409C-BE32-E72D297353CC}">
              <c16:uniqueId val="{00000003-F81D-4D05-B8A8-B6A88DEF8E00}"/>
            </c:ext>
          </c:extLst>
        </c:ser>
        <c:ser>
          <c:idx val="4"/>
          <c:order val="4"/>
          <c:tx>
            <c:strRef>
              <c:f>Sheet1!$B$113</c:f>
              <c:strCache>
                <c:ptCount val="1"/>
                <c:pt idx="0">
                  <c:v>Market (pool prices)</c:v>
                </c:pt>
              </c:strCache>
            </c:strRef>
          </c:tx>
          <c:spPr>
            <a:ln w="38100">
              <a:solidFill>
                <a:srgbClr val="171C26"/>
              </a:solidFill>
            </a:ln>
          </c:spPr>
          <c:marker>
            <c:symbol val="none"/>
          </c:marker>
          <c:xVal>
            <c:numRef>
              <c:f>Sheet1!$A$114:$A$140</c:f>
              <c:numCache>
                <c:formatCode>General</c:formatCode>
                <c:ptCount val="27"/>
                <c:pt idx="0">
                  <c:v>46277.708333333336</c:v>
                </c:pt>
                <c:pt idx="1">
                  <c:v>46277.75</c:v>
                </c:pt>
                <c:pt idx="2">
                  <c:v>46277.791666666664</c:v>
                </c:pt>
                <c:pt idx="3">
                  <c:v>46277.833333333336</c:v>
                </c:pt>
                <c:pt idx="4">
                  <c:v>46277.875</c:v>
                </c:pt>
                <c:pt idx="5">
                  <c:v>46277.916666666664</c:v>
                </c:pt>
                <c:pt idx="6">
                  <c:v>46277.958333333336</c:v>
                </c:pt>
                <c:pt idx="7">
                  <c:v>46278</c:v>
                </c:pt>
                <c:pt idx="8">
                  <c:v>46278.041666666664</c:v>
                </c:pt>
                <c:pt idx="9">
                  <c:v>46278.083333333336</c:v>
                </c:pt>
                <c:pt idx="10">
                  <c:v>46278.125</c:v>
                </c:pt>
                <c:pt idx="11">
                  <c:v>46278.166666666664</c:v>
                </c:pt>
                <c:pt idx="12">
                  <c:v>46278.208333333336</c:v>
                </c:pt>
                <c:pt idx="13">
                  <c:v>46278.25</c:v>
                </c:pt>
                <c:pt idx="14">
                  <c:v>46278.291666666664</c:v>
                </c:pt>
                <c:pt idx="15">
                  <c:v>46278.333333333336</c:v>
                </c:pt>
                <c:pt idx="16">
                  <c:v>46278.375</c:v>
                </c:pt>
                <c:pt idx="17">
                  <c:v>46278.416666666664</c:v>
                </c:pt>
                <c:pt idx="18">
                  <c:v>46278.458333333336</c:v>
                </c:pt>
                <c:pt idx="19">
                  <c:v>46278.5</c:v>
                </c:pt>
                <c:pt idx="20">
                  <c:v>46278.541666666664</c:v>
                </c:pt>
                <c:pt idx="21">
                  <c:v>46278.583333333336</c:v>
                </c:pt>
                <c:pt idx="22">
                  <c:v>46278.625</c:v>
                </c:pt>
                <c:pt idx="23">
                  <c:v>46278.666666666664</c:v>
                </c:pt>
                <c:pt idx="24">
                  <c:v>46278.708333333336</c:v>
                </c:pt>
                <c:pt idx="25">
                  <c:v>46278.75</c:v>
                </c:pt>
                <c:pt idx="26">
                  <c:v>46278.791666666664</c:v>
                </c:pt>
              </c:numCache>
            </c:numRef>
          </c:xVal>
          <c:yVal>
            <c:numRef>
              <c:f>Sheet1!$B$114:$B$140</c:f>
              <c:numCache>
                <c:formatCode>General</c:formatCode>
                <c:ptCount val="27"/>
                <c:pt idx="0">
                  <c:v>0.37634636596426585</c:v>
                </c:pt>
                <c:pt idx="1">
                  <c:v>0.3561933527739008</c:v>
                </c:pt>
                <c:pt idx="2">
                  <c:v>0.32902772728179297</c:v>
                </c:pt>
                <c:pt idx="3">
                  <c:v>0.29650402740064302</c:v>
                </c:pt>
                <c:pt idx="4">
                  <c:v>0.29650402740064302</c:v>
                </c:pt>
                <c:pt idx="5">
                  <c:v>0.29650402740064302</c:v>
                </c:pt>
                <c:pt idx="6">
                  <c:v>0.29650402740064302</c:v>
                </c:pt>
                <c:pt idx="7">
                  <c:v>0.29650402740064302</c:v>
                </c:pt>
                <c:pt idx="8">
                  <c:v>0.29650402740064302</c:v>
                </c:pt>
                <c:pt idx="9">
                  <c:v>0.29650402740064302</c:v>
                </c:pt>
                <c:pt idx="10">
                  <c:v>0.29650402740064302</c:v>
                </c:pt>
                <c:pt idx="11">
                  <c:v>0.29415387565072887</c:v>
                </c:pt>
                <c:pt idx="12">
                  <c:v>0.29415387565072887</c:v>
                </c:pt>
                <c:pt idx="13">
                  <c:v>0.29256833837288293</c:v>
                </c:pt>
                <c:pt idx="14">
                  <c:v>0.29256833837288293</c:v>
                </c:pt>
                <c:pt idx="15">
                  <c:v>0.29256833837288293</c:v>
                </c:pt>
                <c:pt idx="16">
                  <c:v>0.29256833837288293</c:v>
                </c:pt>
                <c:pt idx="17">
                  <c:v>0.29256833837288293</c:v>
                </c:pt>
                <c:pt idx="18">
                  <c:v>0.29256833837288293</c:v>
                </c:pt>
                <c:pt idx="19">
                  <c:v>0.29256833837288293</c:v>
                </c:pt>
                <c:pt idx="20">
                  <c:v>0.29256833837288293</c:v>
                </c:pt>
                <c:pt idx="21">
                  <c:v>0.29256833837288293</c:v>
                </c:pt>
                <c:pt idx="22">
                  <c:v>0.29256833837288293</c:v>
                </c:pt>
                <c:pt idx="23">
                  <c:v>0.29256833837288293</c:v>
                </c:pt>
                <c:pt idx="24">
                  <c:v>0.29256833837288293</c:v>
                </c:pt>
                <c:pt idx="25">
                  <c:v>0.29256833837288293</c:v>
                </c:pt>
                <c:pt idx="26">
                  <c:v>0.29256833837288293</c:v>
                </c:pt>
              </c:numCache>
            </c:numRef>
          </c:yVal>
          <c:smooth val="0"/>
          <c:extLst>
            <c:ext xmlns:c16="http://schemas.microsoft.com/office/drawing/2014/chart" uri="{C3380CC4-5D6E-409C-BE32-E72D297353CC}">
              <c16:uniqueId val="{00000004-F81D-4D05-B8A8-B6A88DEF8E00}"/>
            </c:ext>
          </c:extLst>
        </c:ser>
        <c:ser>
          <c:idx val="5"/>
          <c:order val="5"/>
          <c:tx>
            <c:strRef>
              <c:f>Sheet1!$B$142</c:f>
              <c:strCache>
                <c:ptCount val="1"/>
                <c:pt idx="0">
                  <c:v>Opening price</c:v>
                </c:pt>
              </c:strCache>
            </c:strRef>
          </c:tx>
          <c:spPr>
            <a:ln w="19050">
              <a:solidFill>
                <a:srgbClr val="8A94A3"/>
              </a:solidFill>
              <a:prstDash val="dash"/>
            </a:ln>
          </c:spPr>
          <c:marker>
            <c:symbol val="none"/>
          </c:marker>
          <c:xVal>
            <c:numRef>
              <c:f>Sheet1!$A$143:$A$144</c:f>
              <c:numCache>
                <c:formatCode>General</c:formatCode>
                <c:ptCount val="2"/>
                <c:pt idx="0">
                  <c:v>46277.708333333336</c:v>
                </c:pt>
                <c:pt idx="1">
                  <c:v>46278.791666666664</c:v>
                </c:pt>
              </c:numCache>
            </c:numRef>
          </c:xVal>
          <c:yVal>
            <c:numRef>
              <c:f>Sheet1!$B$143:$B$144</c:f>
              <c:numCache>
                <c:formatCode>General</c:formatCode>
                <c:ptCount val="2"/>
                <c:pt idx="0">
                  <c:v>0.37301370831935204</c:v>
                </c:pt>
                <c:pt idx="1">
                  <c:v>0.37301370831935204</c:v>
                </c:pt>
              </c:numCache>
            </c:numRef>
          </c:yVal>
          <c:smooth val="0"/>
          <c:extLst>
            <c:ext xmlns:c16="http://schemas.microsoft.com/office/drawing/2014/chart" uri="{C3380CC4-5D6E-409C-BE32-E72D297353CC}">
              <c16:uniqueId val="{00000005-F81D-4D05-B8A8-B6A88DEF8E00}"/>
            </c:ext>
          </c:extLst>
        </c:ser>
        <c:ser>
          <c:idx val="6"/>
          <c:order val="6"/>
          <c:tx>
            <c:strRef>
              <c:f>Sheet1!$B$146</c:f>
              <c:strCache>
                <c:ptCount val="1"/>
                <c:pt idx="0">
                  <c:v>Live ballot share (reference)</c:v>
                </c:pt>
              </c:strCache>
            </c:strRef>
          </c:tx>
          <c:spPr>
            <a:ln w="19050">
              <a:solidFill>
                <a:srgbClr val="1E7A46"/>
              </a:solidFill>
              <a:prstDash val="sysDot"/>
            </a:ln>
          </c:spPr>
          <c:marker>
            <c:symbol val="none"/>
          </c:marker>
          <c:xVal>
            <c:numRef>
              <c:f>Sheet1!$A$147:$A$148</c:f>
              <c:numCache>
                <c:formatCode>General</c:formatCode>
                <c:ptCount val="2"/>
                <c:pt idx="0">
                  <c:v>46277.708333333336</c:v>
                </c:pt>
                <c:pt idx="1">
                  <c:v>46278.791666666664</c:v>
                </c:pt>
              </c:numCache>
            </c:numRef>
          </c:xVal>
          <c:yVal>
            <c:numRef>
              <c:f>Sheet1!$B$147:$B$148</c:f>
              <c:numCache>
                <c:formatCode>General</c:formatCode>
                <c:ptCount val="2"/>
                <c:pt idx="0">
                  <c:v>9.5886818117985634E-2</c:v>
                </c:pt>
                <c:pt idx="1">
                  <c:v>9.5886818117985634E-2</c:v>
                </c:pt>
              </c:numCache>
            </c:numRef>
          </c:yVal>
          <c:smooth val="0"/>
          <c:extLst>
            <c:ext xmlns:c16="http://schemas.microsoft.com/office/drawing/2014/chart" uri="{C3380CC4-5D6E-409C-BE32-E72D297353CC}">
              <c16:uniqueId val="{00000006-F81D-4D05-B8A8-B6A88DEF8E00}"/>
            </c:ext>
          </c:extLst>
        </c:ser>
        <c:dLbls>
          <c:showLegendKey val="0"/>
          <c:showVal val="0"/>
          <c:showCatName val="0"/>
          <c:showSerName val="0"/>
          <c:showPercent val="0"/>
          <c:showBubbleSize val="0"/>
        </c:dLbls>
        <c:axId val="-2128940872"/>
        <c:axId val="-2129643912"/>
      </c:scatterChart>
      <c:valAx>
        <c:axId val="-2128940872"/>
        <c:scaling>
          <c:orientation val="minMax"/>
          <c:max val="46278.833333333336"/>
          <c:min val="46277.666666666664"/>
        </c:scaling>
        <c:delete val="0"/>
        <c:axPos val="b"/>
        <c:numFmt formatCode="dd\ mmm\ hh:mm" sourceLinked="0"/>
        <c:majorTickMark val="out"/>
        <c:minorTickMark val="none"/>
        <c:tickLblPos val="nextTo"/>
        <c:spPr>
          <a:ln>
            <a:solidFill>
              <a:srgbClr val="D6DBE3"/>
            </a:solidFill>
          </a:ln>
        </c:spPr>
        <c:txPr>
          <a:bodyPr/>
          <a:lstStyle/>
          <a:p>
            <a:pPr>
              <a:defRPr sz="900"/>
            </a:pPr>
            <a:endParaRPr lang="en-US"/>
          </a:p>
        </c:txPr>
        <c:crossAx val="-2129643912"/>
        <c:crosses val="autoZero"/>
        <c:crossBetween val="midCat"/>
        <c:majorUnit val="0.25"/>
      </c:valAx>
      <c:valAx>
        <c:axId val="-2129643912"/>
        <c:scaling>
          <c:orientation val="minMax"/>
          <c:max val="0.4"/>
          <c:min val="0"/>
        </c:scaling>
        <c:delete val="0"/>
        <c:axPos val="l"/>
        <c:majorGridlines>
          <c:spPr>
            <a:ln w="6350">
              <a:solidFill>
                <a:srgbClr val="D6DBE3"/>
              </a:solidFill>
            </a:ln>
          </c:spPr>
        </c:majorGridlines>
        <c:numFmt formatCode="0.00" sourceLinked="0"/>
        <c:majorTickMark val="out"/>
        <c:minorTickMark val="none"/>
        <c:tickLblPos val="nextTo"/>
        <c:spPr>
          <a:ln>
            <a:solidFill>
              <a:srgbClr val="D6DBE3"/>
            </a:solidFill>
          </a:ln>
        </c:spPr>
        <c:txPr>
          <a:bodyPr/>
          <a:lstStyle/>
          <a:p>
            <a:pPr>
              <a:defRPr sz="900"/>
            </a:pPr>
            <a:endParaRPr lang="en-US"/>
          </a:p>
        </c:txPr>
        <c:crossAx val="-2128940872"/>
        <c:crosses val="autoZero"/>
        <c:crossBetween val="midCat"/>
        <c:majorUnit val="0.1"/>
      </c:valAx>
    </c:plotArea>
    <c:legend>
      <c:legendPos val="b"/>
      <c:overlay val="0"/>
      <c:txPr>
        <a:bodyPr/>
        <a:lstStyle/>
        <a:p>
          <a:pPr>
            <a:defRPr sz="950"/>
          </a:pPr>
          <a:endParaRPr lang="en-US"/>
        </a:p>
      </c:txPr>
    </c:legend>
    <c:plotVisOnly val="1"/>
    <c:dispBlanksAs val="gap"/>
    <c:showDLblsOverMax val="0"/>
  </c:chart>
  <c:txPr>
    <a:bodyPr/>
    <a:lstStyle/>
    <a:p>
      <a:pPr>
        <a:defRPr sz="900">
          <a:solidFill>
            <a:srgbClr val="5C6675"/>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Claude Fable 5.1</c:v>
                </c:pt>
              </c:strCache>
            </c:strRef>
          </c:tx>
          <c:spPr>
            <a:ln w="25400">
              <a:solidFill>
                <a:srgbClr val="C4552A"/>
              </a:solidFill>
            </a:ln>
          </c:spPr>
          <c:marker>
            <c:symbol val="circle"/>
            <c:size val="5"/>
            <c:spPr>
              <a:solidFill>
                <a:srgbClr val="C4552A"/>
              </a:solidFill>
              <a:ln>
                <a:solidFill>
                  <a:srgbClr val="C4552A"/>
                </a:solidFill>
              </a:ln>
            </c:spPr>
          </c:marker>
          <c:xVal>
            <c:numRef>
              <c:f>Sheet1!$A$2:$A$12</c:f>
              <c:numCache>
                <c:formatCode>General</c:formatCode>
                <c:ptCount val="11"/>
                <c:pt idx="0">
                  <c:v>46277.691030092596</c:v>
                </c:pt>
                <c:pt idx="1">
                  <c:v>46277.774363425924</c:v>
                </c:pt>
                <c:pt idx="2">
                  <c:v>46277.85769675926</c:v>
                </c:pt>
                <c:pt idx="3">
                  <c:v>46277.941030092596</c:v>
                </c:pt>
                <c:pt idx="4">
                  <c:v>46278.024363425924</c:v>
                </c:pt>
                <c:pt idx="5">
                  <c:v>46278.10769675926</c:v>
                </c:pt>
                <c:pt idx="6">
                  <c:v>46278.191030092596</c:v>
                </c:pt>
                <c:pt idx="7">
                  <c:v>46278.274363425924</c:v>
                </c:pt>
                <c:pt idx="8">
                  <c:v>46278.35769675926</c:v>
                </c:pt>
                <c:pt idx="9">
                  <c:v>46278.441168981481</c:v>
                </c:pt>
                <c:pt idx="10">
                  <c:v>46278.607731481483</c:v>
                </c:pt>
              </c:numCache>
            </c:numRef>
          </c:xVal>
          <c:yVal>
            <c:numRef>
              <c:f>Sheet1!$B$2:$B$12</c:f>
              <c:numCache>
                <c:formatCode>General</c:formatCode>
                <c:ptCount val="11"/>
                <c:pt idx="0">
                  <c:v>0.71</c:v>
                </c:pt>
                <c:pt idx="1">
                  <c:v>0.71</c:v>
                </c:pt>
                <c:pt idx="2">
                  <c:v>0.71</c:v>
                </c:pt>
                <c:pt idx="3">
                  <c:v>0.71</c:v>
                </c:pt>
                <c:pt idx="4">
                  <c:v>0.71</c:v>
                </c:pt>
                <c:pt idx="5">
                  <c:v>0.71</c:v>
                </c:pt>
                <c:pt idx="6">
                  <c:v>0.71</c:v>
                </c:pt>
                <c:pt idx="7">
                  <c:v>0.71</c:v>
                </c:pt>
                <c:pt idx="8">
                  <c:v>0.71</c:v>
                </c:pt>
                <c:pt idx="9">
                  <c:v>0.71</c:v>
                </c:pt>
                <c:pt idx="10">
                  <c:v>0.71</c:v>
                </c:pt>
              </c:numCache>
            </c:numRef>
          </c:yVal>
          <c:smooth val="0"/>
          <c:extLst>
            <c:ext xmlns:c16="http://schemas.microsoft.com/office/drawing/2014/chart" uri="{C3380CC4-5D6E-409C-BE32-E72D297353CC}">
              <c16:uniqueId val="{00000000-865F-47D7-9971-BE5B5FA14C0C}"/>
            </c:ext>
          </c:extLst>
        </c:ser>
        <c:ser>
          <c:idx val="1"/>
          <c:order val="1"/>
          <c:tx>
            <c:strRef>
              <c:f>Sheet1!$B$14</c:f>
              <c:strCache>
                <c:ptCount val="1"/>
                <c:pt idx="0">
                  <c:v>Claude Opus 5</c:v>
                </c:pt>
              </c:strCache>
            </c:strRef>
          </c:tx>
          <c:spPr>
            <a:ln w="25400">
              <a:solidFill>
                <a:srgbClr val="7A2E8C"/>
              </a:solidFill>
            </a:ln>
          </c:spPr>
          <c:marker>
            <c:symbol val="circle"/>
            <c:size val="5"/>
            <c:spPr>
              <a:solidFill>
                <a:srgbClr val="7A2E8C"/>
              </a:solidFill>
              <a:ln>
                <a:solidFill>
                  <a:srgbClr val="7A2E8C"/>
                </a:solidFill>
              </a:ln>
            </c:spPr>
          </c:marker>
          <c:xVal>
            <c:numRef>
              <c:f>Sheet1!$A$15:$A$22</c:f>
              <c:numCache>
                <c:formatCode>General</c:formatCode>
                <c:ptCount val="8"/>
                <c:pt idx="0">
                  <c:v>46277.704918981479</c:v>
                </c:pt>
                <c:pt idx="1">
                  <c:v>46277.788240740738</c:v>
                </c:pt>
                <c:pt idx="2">
                  <c:v>46277.871574074074</c:v>
                </c:pt>
                <c:pt idx="3">
                  <c:v>46277.954918981479</c:v>
                </c:pt>
                <c:pt idx="4">
                  <c:v>46278.12158564815</c:v>
                </c:pt>
                <c:pt idx="5">
                  <c:v>46278.204918981479</c:v>
                </c:pt>
                <c:pt idx="6">
                  <c:v>46278.288252314815</c:v>
                </c:pt>
                <c:pt idx="7">
                  <c:v>46278.371574074074</c:v>
                </c:pt>
              </c:numCache>
            </c:numRef>
          </c:xVal>
          <c:yVal>
            <c:numRef>
              <c:f>Sheet1!$B$15:$B$22</c:f>
              <c:numCache>
                <c:formatCode>General</c:formatCode>
                <c:ptCount val="8"/>
                <c:pt idx="0">
                  <c:v>0.83</c:v>
                </c:pt>
                <c:pt idx="1">
                  <c:v>0.8</c:v>
                </c:pt>
                <c:pt idx="2">
                  <c:v>0.8</c:v>
                </c:pt>
                <c:pt idx="3">
                  <c:v>0.79</c:v>
                </c:pt>
                <c:pt idx="4">
                  <c:v>0.76</c:v>
                </c:pt>
                <c:pt idx="5">
                  <c:v>0.76</c:v>
                </c:pt>
                <c:pt idx="6">
                  <c:v>0.74</c:v>
                </c:pt>
                <c:pt idx="7">
                  <c:v>0.72</c:v>
                </c:pt>
              </c:numCache>
            </c:numRef>
          </c:yVal>
          <c:smooth val="0"/>
          <c:extLst>
            <c:ext xmlns:c16="http://schemas.microsoft.com/office/drawing/2014/chart" uri="{C3380CC4-5D6E-409C-BE32-E72D297353CC}">
              <c16:uniqueId val="{00000001-865F-47D7-9971-BE5B5FA14C0C}"/>
            </c:ext>
          </c:extLst>
        </c:ser>
        <c:ser>
          <c:idx val="2"/>
          <c:order val="2"/>
          <c:tx>
            <c:strRef>
              <c:f>Sheet1!$B$24</c:f>
              <c:strCache>
                <c:ptCount val="1"/>
                <c:pt idx="0">
                  <c:v>GPT-6 Astra</c:v>
                </c:pt>
              </c:strCache>
            </c:strRef>
          </c:tx>
          <c:spPr>
            <a:ln w="25400">
              <a:solidFill>
                <a:srgbClr val="1B7F63"/>
              </a:solidFill>
            </a:ln>
          </c:spPr>
          <c:marker>
            <c:symbol val="circle"/>
            <c:size val="5"/>
            <c:spPr>
              <a:solidFill>
                <a:srgbClr val="1B7F63"/>
              </a:solidFill>
              <a:ln>
                <a:solidFill>
                  <a:srgbClr val="1B7F63"/>
                </a:solidFill>
              </a:ln>
            </c:spPr>
          </c:marker>
          <c:xVal>
            <c:numRef>
              <c:f>Sheet1!$A$25:$A$34</c:f>
              <c:numCache>
                <c:formatCode>General</c:formatCode>
                <c:ptCount val="10"/>
                <c:pt idx="0">
                  <c:v>46277.718807870369</c:v>
                </c:pt>
                <c:pt idx="1">
                  <c:v>46277.802129629628</c:v>
                </c:pt>
                <c:pt idx="2">
                  <c:v>46277.885462962964</c:v>
                </c:pt>
                <c:pt idx="3">
                  <c:v>46277.9687962963</c:v>
                </c:pt>
                <c:pt idx="4">
                  <c:v>46278.052141203705</c:v>
                </c:pt>
                <c:pt idx="5">
                  <c:v>46278.135474537034</c:v>
                </c:pt>
                <c:pt idx="6">
                  <c:v>46278.218807870369</c:v>
                </c:pt>
                <c:pt idx="7">
                  <c:v>46278.302141203705</c:v>
                </c:pt>
                <c:pt idx="8">
                  <c:v>46278.385509259257</c:v>
                </c:pt>
                <c:pt idx="9">
                  <c:v>46278.552129629628</c:v>
                </c:pt>
              </c:numCache>
            </c:numRef>
          </c:xVal>
          <c:yVal>
            <c:numRef>
              <c:f>Sheet1!$B$25:$B$34</c:f>
              <c:numCache>
                <c:formatCode>General</c:formatCode>
                <c:ptCount val="10"/>
                <c:pt idx="0">
                  <c:v>0.75</c:v>
                </c:pt>
                <c:pt idx="1">
                  <c:v>0.7</c:v>
                </c:pt>
                <c:pt idx="2">
                  <c:v>0.7</c:v>
                </c:pt>
                <c:pt idx="3">
                  <c:v>0.7</c:v>
                </c:pt>
                <c:pt idx="4">
                  <c:v>0.7</c:v>
                </c:pt>
                <c:pt idx="5">
                  <c:v>0.75</c:v>
                </c:pt>
                <c:pt idx="6">
                  <c:v>0.75</c:v>
                </c:pt>
                <c:pt idx="7">
                  <c:v>0.75</c:v>
                </c:pt>
                <c:pt idx="8">
                  <c:v>0.7</c:v>
                </c:pt>
                <c:pt idx="9">
                  <c:v>0.7</c:v>
                </c:pt>
              </c:numCache>
            </c:numRef>
          </c:yVal>
          <c:smooth val="0"/>
          <c:extLst>
            <c:ext xmlns:c16="http://schemas.microsoft.com/office/drawing/2014/chart" uri="{C3380CC4-5D6E-409C-BE32-E72D297353CC}">
              <c16:uniqueId val="{00000002-865F-47D7-9971-BE5B5FA14C0C}"/>
            </c:ext>
          </c:extLst>
        </c:ser>
        <c:ser>
          <c:idx val="3"/>
          <c:order val="3"/>
          <c:tx>
            <c:strRef>
              <c:f>Sheet1!$B$36</c:f>
              <c:strCache>
                <c:ptCount val="1"/>
                <c:pt idx="0">
                  <c:v>GPT-5.6 Sol</c:v>
                </c:pt>
              </c:strCache>
            </c:strRef>
          </c:tx>
          <c:spPr>
            <a:ln w="25400">
              <a:solidFill>
                <a:srgbClr val="2F6FD6"/>
              </a:solidFill>
            </a:ln>
          </c:spPr>
          <c:marker>
            <c:symbol val="circle"/>
            <c:size val="5"/>
            <c:spPr>
              <a:solidFill>
                <a:srgbClr val="2F6FD6"/>
              </a:solidFill>
              <a:ln>
                <a:solidFill>
                  <a:srgbClr val="2F6FD6"/>
                </a:solidFill>
              </a:ln>
            </c:spPr>
          </c:marker>
          <c:xVal>
            <c:numRef>
              <c:f>Sheet1!$A$37:$A$45</c:f>
              <c:numCache>
                <c:formatCode>General</c:formatCode>
                <c:ptCount val="9"/>
                <c:pt idx="0">
                  <c:v>46277.732685185183</c:v>
                </c:pt>
                <c:pt idx="1">
                  <c:v>46277.816030092596</c:v>
                </c:pt>
                <c:pt idx="2">
                  <c:v>46277.899363425924</c:v>
                </c:pt>
                <c:pt idx="3">
                  <c:v>46277.98269675926</c:v>
                </c:pt>
                <c:pt idx="4">
                  <c:v>46278.066030092596</c:v>
                </c:pt>
                <c:pt idx="5">
                  <c:v>46278.149363425924</c:v>
                </c:pt>
                <c:pt idx="6">
                  <c:v>46278.23269675926</c:v>
                </c:pt>
                <c:pt idx="7">
                  <c:v>46278.316030092596</c:v>
                </c:pt>
                <c:pt idx="8">
                  <c:v>46278.399409722224</c:v>
                </c:pt>
              </c:numCache>
            </c:numRef>
          </c:xVal>
          <c:yVal>
            <c:numRef>
              <c:f>Sheet1!$B$37:$B$45</c:f>
              <c:numCache>
                <c:formatCode>General</c:formatCode>
                <c:ptCount val="9"/>
                <c:pt idx="0">
                  <c:v>0.66</c:v>
                </c:pt>
                <c:pt idx="1">
                  <c:v>0.68</c:v>
                </c:pt>
                <c:pt idx="2">
                  <c:v>0.68</c:v>
                </c:pt>
                <c:pt idx="3">
                  <c:v>0.66</c:v>
                </c:pt>
                <c:pt idx="4">
                  <c:v>0.64</c:v>
                </c:pt>
                <c:pt idx="5">
                  <c:v>0.63</c:v>
                </c:pt>
                <c:pt idx="6">
                  <c:v>0.64</c:v>
                </c:pt>
                <c:pt idx="7">
                  <c:v>0.63</c:v>
                </c:pt>
                <c:pt idx="8">
                  <c:v>0.63</c:v>
                </c:pt>
              </c:numCache>
            </c:numRef>
          </c:yVal>
          <c:smooth val="0"/>
          <c:extLst>
            <c:ext xmlns:c16="http://schemas.microsoft.com/office/drawing/2014/chart" uri="{C3380CC4-5D6E-409C-BE32-E72D297353CC}">
              <c16:uniqueId val="{00000003-865F-47D7-9971-BE5B5FA14C0C}"/>
            </c:ext>
          </c:extLst>
        </c:ser>
        <c:ser>
          <c:idx val="4"/>
          <c:order val="4"/>
          <c:tx>
            <c:strRef>
              <c:f>Sheet1!$B$47</c:f>
              <c:strCache>
                <c:ptCount val="1"/>
                <c:pt idx="0">
                  <c:v>Pool price</c:v>
                </c:pt>
              </c:strCache>
            </c:strRef>
          </c:tx>
          <c:spPr>
            <a:ln w="34925">
              <a:solidFill>
                <a:srgbClr val="171C26"/>
              </a:solidFill>
            </a:ln>
          </c:spPr>
          <c:marker>
            <c:symbol val="none"/>
          </c:marker>
          <c:xVal>
            <c:numRef>
              <c:f>Sheet1!$A$48:$A$55</c:f>
              <c:numCache>
                <c:formatCode>General</c:formatCode>
                <c:ptCount val="8"/>
                <c:pt idx="0">
                  <c:v>46277.5</c:v>
                </c:pt>
                <c:pt idx="1">
                  <c:v>46277.552604166667</c:v>
                </c:pt>
                <c:pt idx="2">
                  <c:v>46277.552604166667</c:v>
                </c:pt>
                <c:pt idx="3">
                  <c:v>46277.552766203706</c:v>
                </c:pt>
                <c:pt idx="4">
                  <c:v>46277.552766203706</c:v>
                </c:pt>
                <c:pt idx="5">
                  <c:v>46277.707974537036</c:v>
                </c:pt>
                <c:pt idx="6">
                  <c:v>46277.707974537036</c:v>
                </c:pt>
                <c:pt idx="7">
                  <c:v>46278.791666666664</c:v>
                </c:pt>
              </c:numCache>
            </c:numRef>
          </c:xVal>
          <c:yVal>
            <c:numRef>
              <c:f>Sheet1!$B$48:$B$55</c:f>
              <c:numCache>
                <c:formatCode>General</c:formatCode>
                <c:ptCount val="8"/>
                <c:pt idx="0">
                  <c:v>0.74982134953744839</c:v>
                </c:pt>
                <c:pt idx="1">
                  <c:v>0.74982134953744839</c:v>
                </c:pt>
                <c:pt idx="2">
                  <c:v>0.72689486309417117</c:v>
                </c:pt>
                <c:pt idx="3">
                  <c:v>0.72689486309417117</c:v>
                </c:pt>
                <c:pt idx="4">
                  <c:v>0.71881076627286267</c:v>
                </c:pt>
                <c:pt idx="5">
                  <c:v>0.71881076627286267</c:v>
                </c:pt>
                <c:pt idx="6">
                  <c:v>0.71333588568772532</c:v>
                </c:pt>
                <c:pt idx="7">
                  <c:v>0.71333588568772532</c:v>
                </c:pt>
              </c:numCache>
            </c:numRef>
          </c:yVal>
          <c:smooth val="0"/>
          <c:extLst>
            <c:ext xmlns:c16="http://schemas.microsoft.com/office/drawing/2014/chart" uri="{C3380CC4-5D6E-409C-BE32-E72D297353CC}">
              <c16:uniqueId val="{00000004-865F-47D7-9971-BE5B5FA14C0C}"/>
            </c:ext>
          </c:extLst>
        </c:ser>
        <c:ser>
          <c:idx val="5"/>
          <c:order val="5"/>
          <c:tx>
            <c:strRef>
              <c:f>Sheet1!$B$57</c:f>
              <c:strCache>
                <c:ptCount val="1"/>
                <c:pt idx="0">
                  <c:v>Ballots (live, ex-abstain)</c:v>
                </c:pt>
              </c:strCache>
            </c:strRef>
          </c:tx>
          <c:spPr>
            <a:ln w="19050">
              <a:solidFill>
                <a:srgbClr val="8A94A3"/>
              </a:solidFill>
              <a:prstDash val="dash"/>
            </a:ln>
          </c:spPr>
          <c:marker>
            <c:symbol val="none"/>
          </c:marker>
          <c:xVal>
            <c:numRef>
              <c:f>Sheet1!$A$58:$A$59</c:f>
              <c:numCache>
                <c:formatCode>General</c:formatCode>
                <c:ptCount val="2"/>
                <c:pt idx="0">
                  <c:v>46277.5</c:v>
                </c:pt>
                <c:pt idx="1">
                  <c:v>46279</c:v>
                </c:pt>
              </c:numCache>
            </c:numRef>
          </c:xVal>
          <c:yVal>
            <c:numRef>
              <c:f>Sheet1!$B$58:$B$59</c:f>
              <c:numCache>
                <c:formatCode>General</c:formatCode>
                <c:ptCount val="2"/>
                <c:pt idx="0">
                  <c:v>0.58121301775147927</c:v>
                </c:pt>
                <c:pt idx="1">
                  <c:v>0.58121301775147927</c:v>
                </c:pt>
              </c:numCache>
            </c:numRef>
          </c:yVal>
          <c:smooth val="0"/>
          <c:extLst>
            <c:ext xmlns:c16="http://schemas.microsoft.com/office/drawing/2014/chart" uri="{C3380CC4-5D6E-409C-BE32-E72D297353CC}">
              <c16:uniqueId val="{00000005-865F-47D7-9971-BE5B5FA14C0C}"/>
            </c:ext>
          </c:extLst>
        </c:ser>
        <c:ser>
          <c:idx val="6"/>
          <c:order val="6"/>
          <c:tx>
            <c:strRef>
              <c:f>Sheet1!$B$61</c:f>
              <c:strCache>
                <c:ptCount val="1"/>
                <c:pt idx="0">
                  <c:v>Seed price</c:v>
                </c:pt>
              </c:strCache>
            </c:strRef>
          </c:tx>
          <c:spPr>
            <a:ln w="1270">
              <a:solidFill>
                <a:srgbClr val="5C6675"/>
              </a:solidFill>
            </a:ln>
          </c:spPr>
          <c:marker>
            <c:symbol val="diamond"/>
            <c:size val="10"/>
            <c:spPr>
              <a:solidFill>
                <a:srgbClr val="5C6675"/>
              </a:solidFill>
              <a:ln>
                <a:solidFill>
                  <a:srgbClr val="5C6675"/>
                </a:solidFill>
              </a:ln>
            </c:spPr>
          </c:marker>
          <c:xVal>
            <c:numRef>
              <c:f>Sheet1!$A$62:$A$62</c:f>
              <c:numCache>
                <c:formatCode>General</c:formatCode>
                <c:ptCount val="1"/>
                <c:pt idx="0">
                  <c:v>46277.52</c:v>
                </c:pt>
              </c:numCache>
            </c:numRef>
          </c:xVal>
          <c:yVal>
            <c:numRef>
              <c:f>Sheet1!$B$62:$B$62</c:f>
              <c:numCache>
                <c:formatCode>General</c:formatCode>
                <c:ptCount val="1"/>
                <c:pt idx="0">
                  <c:v>0.75</c:v>
                </c:pt>
              </c:numCache>
            </c:numRef>
          </c:yVal>
          <c:smooth val="0"/>
          <c:extLst>
            <c:ext xmlns:c16="http://schemas.microsoft.com/office/drawing/2014/chart" uri="{C3380CC4-5D6E-409C-BE32-E72D297353CC}">
              <c16:uniqueId val="{00000006-865F-47D7-9971-BE5B5FA14C0C}"/>
            </c:ext>
          </c:extLst>
        </c:ser>
        <c:dLbls>
          <c:showLegendKey val="0"/>
          <c:showVal val="0"/>
          <c:showCatName val="0"/>
          <c:showSerName val="0"/>
          <c:showPercent val="0"/>
          <c:showBubbleSize val="0"/>
        </c:dLbls>
        <c:axId val="-2128940872"/>
        <c:axId val="-2129643912"/>
      </c:scatterChart>
      <c:valAx>
        <c:axId val="-2128940872"/>
        <c:scaling>
          <c:orientation val="minMax"/>
          <c:max val="46279"/>
          <c:min val="46277.5"/>
        </c:scaling>
        <c:delete val="0"/>
        <c:axPos val="b"/>
        <c:numFmt formatCode="dd\ mmm\ hh:mm" sourceLinked="0"/>
        <c:majorTickMark val="out"/>
        <c:minorTickMark val="none"/>
        <c:tickLblPos val="nextTo"/>
        <c:spPr>
          <a:ln>
            <a:solidFill>
              <a:srgbClr val="D6DBE3"/>
            </a:solidFill>
          </a:ln>
        </c:spPr>
        <c:txPr>
          <a:bodyPr/>
          <a:lstStyle/>
          <a:p>
            <a:pPr>
              <a:defRPr sz="900"/>
            </a:pPr>
            <a:endParaRPr lang="en-US"/>
          </a:p>
        </c:txPr>
        <c:crossAx val="-2129643912"/>
        <c:crosses val="autoZero"/>
        <c:crossBetween val="midCat"/>
        <c:majorUnit val="0.25"/>
      </c:valAx>
      <c:valAx>
        <c:axId val="-2129643912"/>
        <c:scaling>
          <c:orientation val="minMax"/>
          <c:max val="1"/>
          <c:min val="0"/>
        </c:scaling>
        <c:delete val="0"/>
        <c:axPos val="l"/>
        <c:majorGridlines>
          <c:spPr>
            <a:ln w="6350">
              <a:solidFill>
                <a:srgbClr val="D6DBE3"/>
              </a:solidFill>
            </a:ln>
          </c:spPr>
        </c:majorGridlines>
        <c:numFmt formatCode="0%" sourceLinked="0"/>
        <c:majorTickMark val="out"/>
        <c:minorTickMark val="none"/>
        <c:tickLblPos val="nextTo"/>
        <c:spPr>
          <a:ln>
            <a:solidFill>
              <a:srgbClr val="D6DBE3"/>
            </a:solidFill>
          </a:ln>
        </c:spPr>
        <c:txPr>
          <a:bodyPr/>
          <a:lstStyle/>
          <a:p>
            <a:pPr>
              <a:defRPr sz="900"/>
            </a:pPr>
            <a:endParaRPr lang="en-US"/>
          </a:p>
        </c:txPr>
        <c:crossAx val="-2128940872"/>
        <c:crosses val="autoZero"/>
        <c:crossBetween val="midCat"/>
        <c:majorUnit val="0.25"/>
      </c:valAx>
    </c:plotArea>
    <c:legend>
      <c:legendPos val="b"/>
      <c:overlay val="0"/>
      <c:txPr>
        <a:bodyPr/>
        <a:lstStyle/>
        <a:p>
          <a:pPr>
            <a:defRPr sz="950"/>
          </a:pPr>
          <a:endParaRPr lang="en-US"/>
        </a:p>
      </c:txPr>
    </c:legend>
    <c:plotVisOnly val="1"/>
    <c:dispBlanksAs val="gap"/>
    <c:showDLblsOverMax val="0"/>
  </c:chart>
  <c:txPr>
    <a:bodyPr/>
    <a:lstStyle/>
    <a:p>
      <a:pPr>
        <a:defRPr sz="900">
          <a:solidFill>
            <a:srgbClr val="5C6675"/>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Claude Fable 5.1</c:v>
                </c:pt>
              </c:strCache>
            </c:strRef>
          </c:tx>
          <c:spPr>
            <a:ln w="25400">
              <a:solidFill>
                <a:srgbClr val="C4552A"/>
              </a:solidFill>
            </a:ln>
          </c:spPr>
          <c:marker>
            <c:symbol val="circle"/>
            <c:size val="5"/>
            <c:spPr>
              <a:solidFill>
                <a:srgbClr val="C4552A"/>
              </a:solidFill>
              <a:ln>
                <a:solidFill>
                  <a:srgbClr val="C4552A"/>
                </a:solidFill>
              </a:ln>
            </c:spPr>
          </c:marker>
          <c:xVal>
            <c:numRef>
              <c:f>Sheet1!$A$2:$A$12</c:f>
              <c:numCache>
                <c:formatCode>General</c:formatCode>
                <c:ptCount val="11"/>
                <c:pt idx="0">
                  <c:v>46277.691030092596</c:v>
                </c:pt>
                <c:pt idx="1">
                  <c:v>46277.774363425924</c:v>
                </c:pt>
                <c:pt idx="2">
                  <c:v>46277.85769675926</c:v>
                </c:pt>
                <c:pt idx="3">
                  <c:v>46277.941030092596</c:v>
                </c:pt>
                <c:pt idx="4">
                  <c:v>46278.024363425924</c:v>
                </c:pt>
                <c:pt idx="5">
                  <c:v>46278.10769675926</c:v>
                </c:pt>
                <c:pt idx="6">
                  <c:v>46278.191030092596</c:v>
                </c:pt>
                <c:pt idx="7">
                  <c:v>46278.274363425924</c:v>
                </c:pt>
                <c:pt idx="8">
                  <c:v>46278.35769675926</c:v>
                </c:pt>
                <c:pt idx="9">
                  <c:v>46278.441168981481</c:v>
                </c:pt>
                <c:pt idx="10">
                  <c:v>46278.607731481483</c:v>
                </c:pt>
              </c:numCache>
            </c:numRef>
          </c:xVal>
          <c:yVal>
            <c:numRef>
              <c:f>Sheet1!$B$2:$B$12</c:f>
              <c:numCache>
                <c:formatCode>General</c:formatCode>
                <c:ptCount val="11"/>
                <c:pt idx="0">
                  <c:v>0.65</c:v>
                </c:pt>
                <c:pt idx="1">
                  <c:v>0.65</c:v>
                </c:pt>
                <c:pt idx="2">
                  <c:v>0.65</c:v>
                </c:pt>
                <c:pt idx="3">
                  <c:v>0.65</c:v>
                </c:pt>
                <c:pt idx="4">
                  <c:v>0.65</c:v>
                </c:pt>
                <c:pt idx="5">
                  <c:v>0.65</c:v>
                </c:pt>
                <c:pt idx="6">
                  <c:v>0.65</c:v>
                </c:pt>
                <c:pt idx="7">
                  <c:v>0.65</c:v>
                </c:pt>
                <c:pt idx="8">
                  <c:v>0.65</c:v>
                </c:pt>
                <c:pt idx="9">
                  <c:v>0.65</c:v>
                </c:pt>
                <c:pt idx="10">
                  <c:v>0.65</c:v>
                </c:pt>
              </c:numCache>
            </c:numRef>
          </c:yVal>
          <c:smooth val="0"/>
          <c:extLst>
            <c:ext xmlns:c16="http://schemas.microsoft.com/office/drawing/2014/chart" uri="{C3380CC4-5D6E-409C-BE32-E72D297353CC}">
              <c16:uniqueId val="{00000000-36AD-4769-9C92-ACF0893A98CA}"/>
            </c:ext>
          </c:extLst>
        </c:ser>
        <c:ser>
          <c:idx val="1"/>
          <c:order val="1"/>
          <c:tx>
            <c:strRef>
              <c:f>Sheet1!$B$14</c:f>
              <c:strCache>
                <c:ptCount val="1"/>
                <c:pt idx="0">
                  <c:v>Claude Opus 5</c:v>
                </c:pt>
              </c:strCache>
            </c:strRef>
          </c:tx>
          <c:spPr>
            <a:ln w="25400">
              <a:solidFill>
                <a:srgbClr val="7A2E8C"/>
              </a:solidFill>
            </a:ln>
          </c:spPr>
          <c:marker>
            <c:symbol val="circle"/>
            <c:size val="5"/>
            <c:spPr>
              <a:solidFill>
                <a:srgbClr val="7A2E8C"/>
              </a:solidFill>
              <a:ln>
                <a:solidFill>
                  <a:srgbClr val="7A2E8C"/>
                </a:solidFill>
              </a:ln>
            </c:spPr>
          </c:marker>
          <c:xVal>
            <c:numRef>
              <c:f>Sheet1!$A$15:$A$22</c:f>
              <c:numCache>
                <c:formatCode>General</c:formatCode>
                <c:ptCount val="8"/>
                <c:pt idx="0">
                  <c:v>46277.704918981479</c:v>
                </c:pt>
                <c:pt idx="1">
                  <c:v>46277.788240740738</c:v>
                </c:pt>
                <c:pt idx="2">
                  <c:v>46277.871574074074</c:v>
                </c:pt>
                <c:pt idx="3">
                  <c:v>46277.954918981479</c:v>
                </c:pt>
                <c:pt idx="4">
                  <c:v>46278.12158564815</c:v>
                </c:pt>
                <c:pt idx="5">
                  <c:v>46278.204918981479</c:v>
                </c:pt>
                <c:pt idx="6">
                  <c:v>46278.288252314815</c:v>
                </c:pt>
                <c:pt idx="7">
                  <c:v>46278.371574074074</c:v>
                </c:pt>
              </c:numCache>
            </c:numRef>
          </c:xVal>
          <c:yVal>
            <c:numRef>
              <c:f>Sheet1!$B$15:$B$22</c:f>
              <c:numCache>
                <c:formatCode>General</c:formatCode>
                <c:ptCount val="8"/>
                <c:pt idx="0">
                  <c:v>0.82</c:v>
                </c:pt>
                <c:pt idx="1">
                  <c:v>0.82</c:v>
                </c:pt>
                <c:pt idx="2">
                  <c:v>0.82</c:v>
                </c:pt>
                <c:pt idx="3">
                  <c:v>0.82</c:v>
                </c:pt>
                <c:pt idx="4">
                  <c:v>0.82</c:v>
                </c:pt>
                <c:pt idx="5">
                  <c:v>0.82</c:v>
                </c:pt>
                <c:pt idx="6">
                  <c:v>0.82</c:v>
                </c:pt>
                <c:pt idx="7">
                  <c:v>0.82</c:v>
                </c:pt>
              </c:numCache>
            </c:numRef>
          </c:yVal>
          <c:smooth val="0"/>
          <c:extLst>
            <c:ext xmlns:c16="http://schemas.microsoft.com/office/drawing/2014/chart" uri="{C3380CC4-5D6E-409C-BE32-E72D297353CC}">
              <c16:uniqueId val="{00000001-36AD-4769-9C92-ACF0893A98CA}"/>
            </c:ext>
          </c:extLst>
        </c:ser>
        <c:ser>
          <c:idx val="2"/>
          <c:order val="2"/>
          <c:tx>
            <c:strRef>
              <c:f>Sheet1!$B$24</c:f>
              <c:strCache>
                <c:ptCount val="1"/>
                <c:pt idx="0">
                  <c:v>GPT-6 Astra</c:v>
                </c:pt>
              </c:strCache>
            </c:strRef>
          </c:tx>
          <c:spPr>
            <a:ln w="25400">
              <a:solidFill>
                <a:srgbClr val="1B7F63"/>
              </a:solidFill>
            </a:ln>
          </c:spPr>
          <c:marker>
            <c:symbol val="circle"/>
            <c:size val="5"/>
            <c:spPr>
              <a:solidFill>
                <a:srgbClr val="1B7F63"/>
              </a:solidFill>
              <a:ln>
                <a:solidFill>
                  <a:srgbClr val="1B7F63"/>
                </a:solidFill>
              </a:ln>
            </c:spPr>
          </c:marker>
          <c:xVal>
            <c:numRef>
              <c:f>Sheet1!$A$25:$A$34</c:f>
              <c:numCache>
                <c:formatCode>General</c:formatCode>
                <c:ptCount val="10"/>
                <c:pt idx="0">
                  <c:v>46277.718807870369</c:v>
                </c:pt>
                <c:pt idx="1">
                  <c:v>46277.802129629628</c:v>
                </c:pt>
                <c:pt idx="2">
                  <c:v>46277.885462962964</c:v>
                </c:pt>
                <c:pt idx="3">
                  <c:v>46277.9687962963</c:v>
                </c:pt>
                <c:pt idx="4">
                  <c:v>46278.052141203705</c:v>
                </c:pt>
                <c:pt idx="5">
                  <c:v>46278.135474537034</c:v>
                </c:pt>
                <c:pt idx="6">
                  <c:v>46278.218807870369</c:v>
                </c:pt>
                <c:pt idx="7">
                  <c:v>46278.302141203705</c:v>
                </c:pt>
                <c:pt idx="8">
                  <c:v>46278.385509259257</c:v>
                </c:pt>
                <c:pt idx="9">
                  <c:v>46278.552129629628</c:v>
                </c:pt>
              </c:numCache>
            </c:numRef>
          </c:xVal>
          <c:yVal>
            <c:numRef>
              <c:f>Sheet1!$B$25:$B$34</c:f>
              <c:numCache>
                <c:formatCode>General</c:formatCode>
                <c:ptCount val="10"/>
                <c:pt idx="0">
                  <c:v>0.6</c:v>
                </c:pt>
                <c:pt idx="1">
                  <c:v>0.6</c:v>
                </c:pt>
                <c:pt idx="2">
                  <c:v>0.6</c:v>
                </c:pt>
                <c:pt idx="3">
                  <c:v>0.6</c:v>
                </c:pt>
                <c:pt idx="4">
                  <c:v>0.6</c:v>
                </c:pt>
                <c:pt idx="5">
                  <c:v>0.65</c:v>
                </c:pt>
                <c:pt idx="6">
                  <c:v>0.65</c:v>
                </c:pt>
                <c:pt idx="7">
                  <c:v>0.6</c:v>
                </c:pt>
                <c:pt idx="8">
                  <c:v>0.65</c:v>
                </c:pt>
                <c:pt idx="9">
                  <c:v>0.65</c:v>
                </c:pt>
              </c:numCache>
            </c:numRef>
          </c:yVal>
          <c:smooth val="0"/>
          <c:extLst>
            <c:ext xmlns:c16="http://schemas.microsoft.com/office/drawing/2014/chart" uri="{C3380CC4-5D6E-409C-BE32-E72D297353CC}">
              <c16:uniqueId val="{00000002-36AD-4769-9C92-ACF0893A98CA}"/>
            </c:ext>
          </c:extLst>
        </c:ser>
        <c:ser>
          <c:idx val="3"/>
          <c:order val="3"/>
          <c:tx>
            <c:strRef>
              <c:f>Sheet1!$B$36</c:f>
              <c:strCache>
                <c:ptCount val="1"/>
                <c:pt idx="0">
                  <c:v>GPT-5.6 Sol</c:v>
                </c:pt>
              </c:strCache>
            </c:strRef>
          </c:tx>
          <c:spPr>
            <a:ln w="25400">
              <a:solidFill>
                <a:srgbClr val="2F6FD6"/>
              </a:solidFill>
            </a:ln>
          </c:spPr>
          <c:marker>
            <c:symbol val="circle"/>
            <c:size val="5"/>
            <c:spPr>
              <a:solidFill>
                <a:srgbClr val="2F6FD6"/>
              </a:solidFill>
              <a:ln>
                <a:solidFill>
                  <a:srgbClr val="2F6FD6"/>
                </a:solidFill>
              </a:ln>
            </c:spPr>
          </c:marker>
          <c:xVal>
            <c:numRef>
              <c:f>Sheet1!$A$37:$A$45</c:f>
              <c:numCache>
                <c:formatCode>General</c:formatCode>
                <c:ptCount val="9"/>
                <c:pt idx="0">
                  <c:v>46277.732685185183</c:v>
                </c:pt>
                <c:pt idx="1">
                  <c:v>46277.816030092596</c:v>
                </c:pt>
                <c:pt idx="2">
                  <c:v>46277.899363425924</c:v>
                </c:pt>
                <c:pt idx="3">
                  <c:v>46277.98269675926</c:v>
                </c:pt>
                <c:pt idx="4">
                  <c:v>46278.066030092596</c:v>
                </c:pt>
                <c:pt idx="5">
                  <c:v>46278.149363425924</c:v>
                </c:pt>
                <c:pt idx="6">
                  <c:v>46278.23269675926</c:v>
                </c:pt>
                <c:pt idx="7">
                  <c:v>46278.316030092596</c:v>
                </c:pt>
                <c:pt idx="8">
                  <c:v>46278.399409722224</c:v>
                </c:pt>
              </c:numCache>
            </c:numRef>
          </c:xVal>
          <c:yVal>
            <c:numRef>
              <c:f>Sheet1!$B$37:$B$45</c:f>
              <c:numCache>
                <c:formatCode>General</c:formatCode>
                <c:ptCount val="9"/>
                <c:pt idx="0">
                  <c:v>0.68</c:v>
                </c:pt>
                <c:pt idx="1">
                  <c:v>0.69</c:v>
                </c:pt>
                <c:pt idx="2">
                  <c:v>0.69</c:v>
                </c:pt>
                <c:pt idx="3">
                  <c:v>0.69</c:v>
                </c:pt>
                <c:pt idx="4">
                  <c:v>0.69</c:v>
                </c:pt>
                <c:pt idx="5">
                  <c:v>0.7</c:v>
                </c:pt>
                <c:pt idx="6">
                  <c:v>0.7</c:v>
                </c:pt>
                <c:pt idx="7">
                  <c:v>0.7</c:v>
                </c:pt>
                <c:pt idx="8">
                  <c:v>0.7</c:v>
                </c:pt>
              </c:numCache>
            </c:numRef>
          </c:yVal>
          <c:smooth val="0"/>
          <c:extLst>
            <c:ext xmlns:c16="http://schemas.microsoft.com/office/drawing/2014/chart" uri="{C3380CC4-5D6E-409C-BE32-E72D297353CC}">
              <c16:uniqueId val="{00000003-36AD-4769-9C92-ACF0893A98CA}"/>
            </c:ext>
          </c:extLst>
        </c:ser>
        <c:ser>
          <c:idx val="4"/>
          <c:order val="4"/>
          <c:tx>
            <c:strRef>
              <c:f>Sheet1!$B$47</c:f>
              <c:strCache>
                <c:ptCount val="1"/>
                <c:pt idx="0">
                  <c:v>Pool price</c:v>
                </c:pt>
              </c:strCache>
            </c:strRef>
          </c:tx>
          <c:spPr>
            <a:ln w="34925">
              <a:solidFill>
                <a:srgbClr val="171C26"/>
              </a:solidFill>
            </a:ln>
          </c:spPr>
          <c:marker>
            <c:symbol val="none"/>
          </c:marker>
          <c:xVal>
            <c:numRef>
              <c:f>Sheet1!$A$48:$A$71</c:f>
              <c:numCache>
                <c:formatCode>General</c:formatCode>
                <c:ptCount val="24"/>
                <c:pt idx="0">
                  <c:v>46277.5</c:v>
                </c:pt>
                <c:pt idx="1">
                  <c:v>46277.531168981484</c:v>
                </c:pt>
                <c:pt idx="2">
                  <c:v>46277.531168981484</c:v>
                </c:pt>
                <c:pt idx="3">
                  <c:v>46277.552604166667</c:v>
                </c:pt>
                <c:pt idx="4">
                  <c:v>46277.552604166667</c:v>
                </c:pt>
                <c:pt idx="5">
                  <c:v>46277.563715277778</c:v>
                </c:pt>
                <c:pt idx="6">
                  <c:v>46277.563715277778</c:v>
                </c:pt>
                <c:pt idx="7">
                  <c:v>46277.563993055555</c:v>
                </c:pt>
                <c:pt idx="8">
                  <c:v>46277.563993055555</c:v>
                </c:pt>
                <c:pt idx="9">
                  <c:v>46277.564293981479</c:v>
                </c:pt>
                <c:pt idx="10">
                  <c:v>46277.564293981479</c:v>
                </c:pt>
                <c:pt idx="11">
                  <c:v>46277.568877314814</c:v>
                </c:pt>
                <c:pt idx="12">
                  <c:v>46277.568877314814</c:v>
                </c:pt>
                <c:pt idx="13">
                  <c:v>46277.763368055559</c:v>
                </c:pt>
                <c:pt idx="14">
                  <c:v>46277.763368055559</c:v>
                </c:pt>
                <c:pt idx="15">
                  <c:v>46277.763668981483</c:v>
                </c:pt>
                <c:pt idx="16">
                  <c:v>46277.763668981483</c:v>
                </c:pt>
                <c:pt idx="17">
                  <c:v>46277.763923611114</c:v>
                </c:pt>
                <c:pt idx="18">
                  <c:v>46277.763923611114</c:v>
                </c:pt>
                <c:pt idx="19">
                  <c:v>46277.801886574074</c:v>
                </c:pt>
                <c:pt idx="20">
                  <c:v>46277.801886574074</c:v>
                </c:pt>
                <c:pt idx="21">
                  <c:v>46277.801979166667</c:v>
                </c:pt>
                <c:pt idx="22">
                  <c:v>46277.801979166667</c:v>
                </c:pt>
                <c:pt idx="23">
                  <c:v>46278.791666666664</c:v>
                </c:pt>
              </c:numCache>
            </c:numRef>
          </c:xVal>
          <c:yVal>
            <c:numRef>
              <c:f>Sheet1!$B$48:$B$71</c:f>
              <c:numCache>
                <c:formatCode>General</c:formatCode>
                <c:ptCount val="24"/>
                <c:pt idx="0">
                  <c:v>0.44244294955908609</c:v>
                </c:pt>
                <c:pt idx="1">
                  <c:v>0.44244294955908609</c:v>
                </c:pt>
                <c:pt idx="2">
                  <c:v>0.33482961063247801</c:v>
                </c:pt>
                <c:pt idx="3">
                  <c:v>0.33482961063247801</c:v>
                </c:pt>
                <c:pt idx="4">
                  <c:v>0.34368008369897951</c:v>
                </c:pt>
                <c:pt idx="5">
                  <c:v>0.34368008369897951</c:v>
                </c:pt>
                <c:pt idx="6">
                  <c:v>0.33551325192395115</c:v>
                </c:pt>
                <c:pt idx="7">
                  <c:v>0.33551325192395115</c:v>
                </c:pt>
                <c:pt idx="8">
                  <c:v>0.32737984048883678</c:v>
                </c:pt>
                <c:pt idx="9">
                  <c:v>0.32737984048883678</c:v>
                </c:pt>
                <c:pt idx="10">
                  <c:v>0.32622481716936358</c:v>
                </c:pt>
                <c:pt idx="11">
                  <c:v>0.32622481716936358</c:v>
                </c:pt>
                <c:pt idx="12">
                  <c:v>0.29268557694075609</c:v>
                </c:pt>
                <c:pt idx="13">
                  <c:v>0.29268557694075609</c:v>
                </c:pt>
                <c:pt idx="14">
                  <c:v>0.37322408103272781</c:v>
                </c:pt>
                <c:pt idx="15">
                  <c:v>0.37322408103272781</c:v>
                </c:pt>
                <c:pt idx="16">
                  <c:v>0.36297390614230812</c:v>
                </c:pt>
                <c:pt idx="17">
                  <c:v>0.36297390614230812</c:v>
                </c:pt>
                <c:pt idx="18">
                  <c:v>0.3527973305159835</c:v>
                </c:pt>
                <c:pt idx="19">
                  <c:v>0.3527973305159835</c:v>
                </c:pt>
                <c:pt idx="20">
                  <c:v>0.44074183543280648</c:v>
                </c:pt>
                <c:pt idx="21">
                  <c:v>0.44074183543280648</c:v>
                </c:pt>
                <c:pt idx="22">
                  <c:v>0.42698129271164781</c:v>
                </c:pt>
                <c:pt idx="23">
                  <c:v>0.42698129271164781</c:v>
                </c:pt>
              </c:numCache>
            </c:numRef>
          </c:yVal>
          <c:smooth val="0"/>
          <c:extLst>
            <c:ext xmlns:c16="http://schemas.microsoft.com/office/drawing/2014/chart" uri="{C3380CC4-5D6E-409C-BE32-E72D297353CC}">
              <c16:uniqueId val="{00000004-36AD-4769-9C92-ACF0893A98CA}"/>
            </c:ext>
          </c:extLst>
        </c:ser>
        <c:ser>
          <c:idx val="5"/>
          <c:order val="5"/>
          <c:tx>
            <c:strRef>
              <c:f>Sheet1!$B$73</c:f>
              <c:strCache>
                <c:ptCount val="1"/>
                <c:pt idx="0">
                  <c:v>Ballots (live, ex-abstain)</c:v>
                </c:pt>
              </c:strCache>
            </c:strRef>
          </c:tx>
          <c:spPr>
            <a:ln w="19050">
              <a:solidFill>
                <a:srgbClr val="8A94A3"/>
              </a:solidFill>
              <a:prstDash val="dash"/>
            </a:ln>
          </c:spPr>
          <c:marker>
            <c:symbol val="none"/>
          </c:marker>
          <c:xVal>
            <c:numRef>
              <c:f>Sheet1!$A$74:$A$75</c:f>
              <c:numCache>
                <c:formatCode>General</c:formatCode>
                <c:ptCount val="2"/>
                <c:pt idx="0">
                  <c:v>46277.5</c:v>
                </c:pt>
                <c:pt idx="1">
                  <c:v>46279</c:v>
                </c:pt>
              </c:numCache>
            </c:numRef>
          </c:xVal>
          <c:yVal>
            <c:numRef>
              <c:f>Sheet1!$B$74:$B$75</c:f>
              <c:numCache>
                <c:formatCode>General</c:formatCode>
                <c:ptCount val="2"/>
                <c:pt idx="0">
                  <c:v>0.72150072150072153</c:v>
                </c:pt>
                <c:pt idx="1">
                  <c:v>0.72150072150072153</c:v>
                </c:pt>
              </c:numCache>
            </c:numRef>
          </c:yVal>
          <c:smooth val="0"/>
          <c:extLst>
            <c:ext xmlns:c16="http://schemas.microsoft.com/office/drawing/2014/chart" uri="{C3380CC4-5D6E-409C-BE32-E72D297353CC}">
              <c16:uniqueId val="{00000005-36AD-4769-9C92-ACF0893A98CA}"/>
            </c:ext>
          </c:extLst>
        </c:ser>
        <c:ser>
          <c:idx val="6"/>
          <c:order val="6"/>
          <c:tx>
            <c:strRef>
              <c:f>Sheet1!$B$77</c:f>
              <c:strCache>
                <c:ptCount val="1"/>
                <c:pt idx="0">
                  <c:v>Seed price</c:v>
                </c:pt>
              </c:strCache>
            </c:strRef>
          </c:tx>
          <c:spPr>
            <a:ln w="1270">
              <a:solidFill>
                <a:srgbClr val="5C6675"/>
              </a:solidFill>
            </a:ln>
          </c:spPr>
          <c:marker>
            <c:symbol val="diamond"/>
            <c:size val="10"/>
            <c:spPr>
              <a:solidFill>
                <a:srgbClr val="5C6675"/>
              </a:solidFill>
              <a:ln>
                <a:solidFill>
                  <a:srgbClr val="5C6675"/>
                </a:solidFill>
              </a:ln>
            </c:spPr>
          </c:marker>
          <c:xVal>
            <c:numRef>
              <c:f>Sheet1!$A$78:$A$78</c:f>
              <c:numCache>
                <c:formatCode>General</c:formatCode>
                <c:ptCount val="1"/>
                <c:pt idx="0">
                  <c:v>46277.52</c:v>
                </c:pt>
              </c:numCache>
            </c:numRef>
          </c:xVal>
          <c:yVal>
            <c:numRef>
              <c:f>Sheet1!$B$78:$B$78</c:f>
              <c:numCache>
                <c:formatCode>General</c:formatCode>
                <c:ptCount val="1"/>
                <c:pt idx="0">
                  <c:v>0.3</c:v>
                </c:pt>
              </c:numCache>
            </c:numRef>
          </c:yVal>
          <c:smooth val="0"/>
          <c:extLst>
            <c:ext xmlns:c16="http://schemas.microsoft.com/office/drawing/2014/chart" uri="{C3380CC4-5D6E-409C-BE32-E72D297353CC}">
              <c16:uniqueId val="{00000006-36AD-4769-9C92-ACF0893A98CA}"/>
            </c:ext>
          </c:extLst>
        </c:ser>
        <c:dLbls>
          <c:showLegendKey val="0"/>
          <c:showVal val="0"/>
          <c:showCatName val="0"/>
          <c:showSerName val="0"/>
          <c:showPercent val="0"/>
          <c:showBubbleSize val="0"/>
        </c:dLbls>
        <c:axId val="-2128940872"/>
        <c:axId val="-2129643912"/>
      </c:scatterChart>
      <c:valAx>
        <c:axId val="-2128940872"/>
        <c:scaling>
          <c:orientation val="minMax"/>
          <c:max val="46279"/>
          <c:min val="46277.5"/>
        </c:scaling>
        <c:delete val="0"/>
        <c:axPos val="b"/>
        <c:numFmt formatCode="dd\ mmm\ hh:mm" sourceLinked="0"/>
        <c:majorTickMark val="out"/>
        <c:minorTickMark val="none"/>
        <c:tickLblPos val="nextTo"/>
        <c:spPr>
          <a:ln>
            <a:solidFill>
              <a:srgbClr val="D6DBE3"/>
            </a:solidFill>
          </a:ln>
        </c:spPr>
        <c:txPr>
          <a:bodyPr/>
          <a:lstStyle/>
          <a:p>
            <a:pPr>
              <a:defRPr sz="900"/>
            </a:pPr>
            <a:endParaRPr lang="en-US"/>
          </a:p>
        </c:txPr>
        <c:crossAx val="-2129643912"/>
        <c:crosses val="autoZero"/>
        <c:crossBetween val="midCat"/>
        <c:majorUnit val="0.25"/>
      </c:valAx>
      <c:valAx>
        <c:axId val="-2129643912"/>
        <c:scaling>
          <c:orientation val="minMax"/>
          <c:max val="1"/>
          <c:min val="0"/>
        </c:scaling>
        <c:delete val="0"/>
        <c:axPos val="l"/>
        <c:majorGridlines>
          <c:spPr>
            <a:ln w="6350">
              <a:solidFill>
                <a:srgbClr val="D6DBE3"/>
              </a:solidFill>
            </a:ln>
          </c:spPr>
        </c:majorGridlines>
        <c:numFmt formatCode="0%" sourceLinked="0"/>
        <c:majorTickMark val="out"/>
        <c:minorTickMark val="none"/>
        <c:tickLblPos val="nextTo"/>
        <c:spPr>
          <a:ln>
            <a:solidFill>
              <a:srgbClr val="D6DBE3"/>
            </a:solidFill>
          </a:ln>
        </c:spPr>
        <c:txPr>
          <a:bodyPr/>
          <a:lstStyle/>
          <a:p>
            <a:pPr>
              <a:defRPr sz="900"/>
            </a:pPr>
            <a:endParaRPr lang="en-US"/>
          </a:p>
        </c:txPr>
        <c:crossAx val="-2128940872"/>
        <c:crosses val="autoZero"/>
        <c:crossBetween val="midCat"/>
        <c:majorUnit val="0.25"/>
      </c:valAx>
    </c:plotArea>
    <c:legend>
      <c:legendPos val="b"/>
      <c:overlay val="0"/>
      <c:txPr>
        <a:bodyPr/>
        <a:lstStyle/>
        <a:p>
          <a:pPr>
            <a:defRPr sz="950"/>
          </a:pPr>
          <a:endParaRPr lang="en-US"/>
        </a:p>
      </c:txPr>
    </c:legend>
    <c:plotVisOnly val="1"/>
    <c:dispBlanksAs val="gap"/>
    <c:showDLblsOverMax val="0"/>
  </c:chart>
  <c:txPr>
    <a:bodyPr/>
    <a:lstStyle/>
    <a:p>
      <a:pPr>
        <a:defRPr sz="900">
          <a:solidFill>
            <a:srgbClr val="5C6675"/>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Claude Fable 5.1</c:v>
                </c:pt>
              </c:strCache>
            </c:strRef>
          </c:tx>
          <c:spPr>
            <a:ln w="25400">
              <a:solidFill>
                <a:srgbClr val="C4552A"/>
              </a:solidFill>
            </a:ln>
          </c:spPr>
          <c:marker>
            <c:symbol val="circle"/>
            <c:size val="5"/>
            <c:spPr>
              <a:solidFill>
                <a:srgbClr val="C4552A"/>
              </a:solidFill>
              <a:ln>
                <a:solidFill>
                  <a:srgbClr val="C4552A"/>
                </a:solidFill>
              </a:ln>
            </c:spPr>
          </c:marker>
          <c:xVal>
            <c:numRef>
              <c:f>Sheet1!$A$2:$A$12</c:f>
              <c:numCache>
                <c:formatCode>General</c:formatCode>
                <c:ptCount val="11"/>
                <c:pt idx="0">
                  <c:v>46277.691030092596</c:v>
                </c:pt>
                <c:pt idx="1">
                  <c:v>46277.774363425924</c:v>
                </c:pt>
                <c:pt idx="2">
                  <c:v>46277.85769675926</c:v>
                </c:pt>
                <c:pt idx="3">
                  <c:v>46277.941030092596</c:v>
                </c:pt>
                <c:pt idx="4">
                  <c:v>46278.024363425924</c:v>
                </c:pt>
                <c:pt idx="5">
                  <c:v>46278.10769675926</c:v>
                </c:pt>
                <c:pt idx="6">
                  <c:v>46278.191030092596</c:v>
                </c:pt>
                <c:pt idx="7">
                  <c:v>46278.274363425924</c:v>
                </c:pt>
                <c:pt idx="8">
                  <c:v>46278.35769675926</c:v>
                </c:pt>
                <c:pt idx="9">
                  <c:v>46278.441168981481</c:v>
                </c:pt>
                <c:pt idx="10">
                  <c:v>46278.607731481483</c:v>
                </c:pt>
              </c:numCache>
            </c:numRef>
          </c:xVal>
          <c:yVal>
            <c:numRef>
              <c:f>Sheet1!$B$2:$B$12</c:f>
              <c:numCache>
                <c:formatCode>General</c:formatCode>
                <c:ptCount val="11"/>
                <c:pt idx="0">
                  <c:v>0.46</c:v>
                </c:pt>
                <c:pt idx="1">
                  <c:v>0.46</c:v>
                </c:pt>
                <c:pt idx="2">
                  <c:v>0.5</c:v>
                </c:pt>
                <c:pt idx="3">
                  <c:v>0.5</c:v>
                </c:pt>
                <c:pt idx="4">
                  <c:v>0.5</c:v>
                </c:pt>
                <c:pt idx="5">
                  <c:v>0.5</c:v>
                </c:pt>
                <c:pt idx="6">
                  <c:v>0.5</c:v>
                </c:pt>
                <c:pt idx="7">
                  <c:v>0.5</c:v>
                </c:pt>
                <c:pt idx="8">
                  <c:v>0.5</c:v>
                </c:pt>
                <c:pt idx="9">
                  <c:v>0.5</c:v>
                </c:pt>
                <c:pt idx="10">
                  <c:v>0.5</c:v>
                </c:pt>
              </c:numCache>
            </c:numRef>
          </c:yVal>
          <c:smooth val="0"/>
          <c:extLst>
            <c:ext xmlns:c16="http://schemas.microsoft.com/office/drawing/2014/chart" uri="{C3380CC4-5D6E-409C-BE32-E72D297353CC}">
              <c16:uniqueId val="{00000000-BA7A-4C94-BCC5-98880D5E4552}"/>
            </c:ext>
          </c:extLst>
        </c:ser>
        <c:ser>
          <c:idx val="1"/>
          <c:order val="1"/>
          <c:tx>
            <c:strRef>
              <c:f>Sheet1!$B$14</c:f>
              <c:strCache>
                <c:ptCount val="1"/>
                <c:pt idx="0">
                  <c:v>Claude Opus 5</c:v>
                </c:pt>
              </c:strCache>
            </c:strRef>
          </c:tx>
          <c:spPr>
            <a:ln w="25400">
              <a:solidFill>
                <a:srgbClr val="7A2E8C"/>
              </a:solidFill>
            </a:ln>
          </c:spPr>
          <c:marker>
            <c:symbol val="circle"/>
            <c:size val="5"/>
            <c:spPr>
              <a:solidFill>
                <a:srgbClr val="7A2E8C"/>
              </a:solidFill>
              <a:ln>
                <a:solidFill>
                  <a:srgbClr val="7A2E8C"/>
                </a:solidFill>
              </a:ln>
            </c:spPr>
          </c:marker>
          <c:xVal>
            <c:numRef>
              <c:f>Sheet1!$A$15:$A$22</c:f>
              <c:numCache>
                <c:formatCode>General</c:formatCode>
                <c:ptCount val="8"/>
                <c:pt idx="0">
                  <c:v>46277.704918981479</c:v>
                </c:pt>
                <c:pt idx="1">
                  <c:v>46277.788240740738</c:v>
                </c:pt>
                <c:pt idx="2">
                  <c:v>46277.871574074074</c:v>
                </c:pt>
                <c:pt idx="3">
                  <c:v>46277.954918981479</c:v>
                </c:pt>
                <c:pt idx="4">
                  <c:v>46278.12158564815</c:v>
                </c:pt>
                <c:pt idx="5">
                  <c:v>46278.204918981479</c:v>
                </c:pt>
                <c:pt idx="6">
                  <c:v>46278.288252314815</c:v>
                </c:pt>
                <c:pt idx="7">
                  <c:v>46278.371574074074</c:v>
                </c:pt>
              </c:numCache>
            </c:numRef>
          </c:xVal>
          <c:yVal>
            <c:numRef>
              <c:f>Sheet1!$B$15:$B$22</c:f>
              <c:numCache>
                <c:formatCode>General</c:formatCode>
                <c:ptCount val="8"/>
                <c:pt idx="0">
                  <c:v>0.77</c:v>
                </c:pt>
                <c:pt idx="1">
                  <c:v>0.77</c:v>
                </c:pt>
                <c:pt idx="2">
                  <c:v>0.77</c:v>
                </c:pt>
                <c:pt idx="3">
                  <c:v>0.77</c:v>
                </c:pt>
                <c:pt idx="4">
                  <c:v>0.77</c:v>
                </c:pt>
                <c:pt idx="5">
                  <c:v>0.77</c:v>
                </c:pt>
                <c:pt idx="6">
                  <c:v>0.77</c:v>
                </c:pt>
                <c:pt idx="7">
                  <c:v>0.77</c:v>
                </c:pt>
              </c:numCache>
            </c:numRef>
          </c:yVal>
          <c:smooth val="0"/>
          <c:extLst>
            <c:ext xmlns:c16="http://schemas.microsoft.com/office/drawing/2014/chart" uri="{C3380CC4-5D6E-409C-BE32-E72D297353CC}">
              <c16:uniqueId val="{00000001-BA7A-4C94-BCC5-98880D5E4552}"/>
            </c:ext>
          </c:extLst>
        </c:ser>
        <c:ser>
          <c:idx val="2"/>
          <c:order val="2"/>
          <c:tx>
            <c:strRef>
              <c:f>Sheet1!$B$24</c:f>
              <c:strCache>
                <c:ptCount val="1"/>
                <c:pt idx="0">
                  <c:v>GPT-6 Astra</c:v>
                </c:pt>
              </c:strCache>
            </c:strRef>
          </c:tx>
          <c:spPr>
            <a:ln w="25400">
              <a:solidFill>
                <a:srgbClr val="1B7F63"/>
              </a:solidFill>
            </a:ln>
          </c:spPr>
          <c:marker>
            <c:symbol val="circle"/>
            <c:size val="5"/>
            <c:spPr>
              <a:solidFill>
                <a:srgbClr val="1B7F63"/>
              </a:solidFill>
              <a:ln>
                <a:solidFill>
                  <a:srgbClr val="1B7F63"/>
                </a:solidFill>
              </a:ln>
            </c:spPr>
          </c:marker>
          <c:xVal>
            <c:numRef>
              <c:f>Sheet1!$A$25:$A$34</c:f>
              <c:numCache>
                <c:formatCode>General</c:formatCode>
                <c:ptCount val="10"/>
                <c:pt idx="0">
                  <c:v>46277.718807870369</c:v>
                </c:pt>
                <c:pt idx="1">
                  <c:v>46277.802129629628</c:v>
                </c:pt>
                <c:pt idx="2">
                  <c:v>46277.885462962964</c:v>
                </c:pt>
                <c:pt idx="3">
                  <c:v>46277.9687962963</c:v>
                </c:pt>
                <c:pt idx="4">
                  <c:v>46278.052141203705</c:v>
                </c:pt>
                <c:pt idx="5">
                  <c:v>46278.135474537034</c:v>
                </c:pt>
                <c:pt idx="6">
                  <c:v>46278.218807870369</c:v>
                </c:pt>
                <c:pt idx="7">
                  <c:v>46278.302141203705</c:v>
                </c:pt>
                <c:pt idx="8">
                  <c:v>46278.385509259257</c:v>
                </c:pt>
                <c:pt idx="9">
                  <c:v>46278.552129629628</c:v>
                </c:pt>
              </c:numCache>
            </c:numRef>
          </c:xVal>
          <c:yVal>
            <c:numRef>
              <c:f>Sheet1!$B$25:$B$34</c:f>
              <c:numCache>
                <c:formatCode>General</c:formatCode>
                <c:ptCount val="10"/>
                <c:pt idx="0">
                  <c:v>0.5</c:v>
                </c:pt>
                <c:pt idx="1">
                  <c:v>0.5</c:v>
                </c:pt>
                <c:pt idx="2">
                  <c:v>0.5</c:v>
                </c:pt>
                <c:pt idx="3">
                  <c:v>0.5</c:v>
                </c:pt>
                <c:pt idx="4">
                  <c:v>0.5</c:v>
                </c:pt>
                <c:pt idx="5">
                  <c:v>0.5</c:v>
                </c:pt>
                <c:pt idx="6">
                  <c:v>0.6</c:v>
                </c:pt>
                <c:pt idx="7">
                  <c:v>0.6</c:v>
                </c:pt>
                <c:pt idx="8">
                  <c:v>0.6</c:v>
                </c:pt>
                <c:pt idx="9">
                  <c:v>0.6</c:v>
                </c:pt>
              </c:numCache>
            </c:numRef>
          </c:yVal>
          <c:smooth val="0"/>
          <c:extLst>
            <c:ext xmlns:c16="http://schemas.microsoft.com/office/drawing/2014/chart" uri="{C3380CC4-5D6E-409C-BE32-E72D297353CC}">
              <c16:uniqueId val="{00000002-BA7A-4C94-BCC5-98880D5E4552}"/>
            </c:ext>
          </c:extLst>
        </c:ser>
        <c:ser>
          <c:idx val="3"/>
          <c:order val="3"/>
          <c:tx>
            <c:strRef>
              <c:f>Sheet1!$B$36</c:f>
              <c:strCache>
                <c:ptCount val="1"/>
                <c:pt idx="0">
                  <c:v>GPT-5.6 Sol</c:v>
                </c:pt>
              </c:strCache>
            </c:strRef>
          </c:tx>
          <c:spPr>
            <a:ln w="25400">
              <a:solidFill>
                <a:srgbClr val="2F6FD6"/>
              </a:solidFill>
            </a:ln>
          </c:spPr>
          <c:marker>
            <c:symbol val="circle"/>
            <c:size val="5"/>
            <c:spPr>
              <a:solidFill>
                <a:srgbClr val="2F6FD6"/>
              </a:solidFill>
              <a:ln>
                <a:solidFill>
                  <a:srgbClr val="2F6FD6"/>
                </a:solidFill>
              </a:ln>
            </c:spPr>
          </c:marker>
          <c:xVal>
            <c:numRef>
              <c:f>Sheet1!$A$37:$A$45</c:f>
              <c:numCache>
                <c:formatCode>General</c:formatCode>
                <c:ptCount val="9"/>
                <c:pt idx="0">
                  <c:v>46277.732685185183</c:v>
                </c:pt>
                <c:pt idx="1">
                  <c:v>46277.816030092596</c:v>
                </c:pt>
                <c:pt idx="2">
                  <c:v>46277.899363425924</c:v>
                </c:pt>
                <c:pt idx="3">
                  <c:v>46277.98269675926</c:v>
                </c:pt>
                <c:pt idx="4">
                  <c:v>46278.066030092596</c:v>
                </c:pt>
                <c:pt idx="5">
                  <c:v>46278.149363425924</c:v>
                </c:pt>
                <c:pt idx="6">
                  <c:v>46278.23269675926</c:v>
                </c:pt>
                <c:pt idx="7">
                  <c:v>46278.316030092596</c:v>
                </c:pt>
                <c:pt idx="8">
                  <c:v>46278.399409722224</c:v>
                </c:pt>
              </c:numCache>
            </c:numRef>
          </c:xVal>
          <c:yVal>
            <c:numRef>
              <c:f>Sheet1!$B$37:$B$45</c:f>
              <c:numCache>
                <c:formatCode>General</c:formatCode>
                <c:ptCount val="9"/>
                <c:pt idx="0">
                  <c:v>0.52</c:v>
                </c:pt>
                <c:pt idx="1">
                  <c:v>0.52</c:v>
                </c:pt>
                <c:pt idx="2">
                  <c:v>0.52</c:v>
                </c:pt>
                <c:pt idx="3">
                  <c:v>0.53</c:v>
                </c:pt>
                <c:pt idx="4">
                  <c:v>0.53</c:v>
                </c:pt>
                <c:pt idx="5">
                  <c:v>0.53</c:v>
                </c:pt>
                <c:pt idx="6">
                  <c:v>0.53</c:v>
                </c:pt>
                <c:pt idx="7">
                  <c:v>0.53</c:v>
                </c:pt>
                <c:pt idx="8">
                  <c:v>0.53</c:v>
                </c:pt>
              </c:numCache>
            </c:numRef>
          </c:yVal>
          <c:smooth val="0"/>
          <c:extLst>
            <c:ext xmlns:c16="http://schemas.microsoft.com/office/drawing/2014/chart" uri="{C3380CC4-5D6E-409C-BE32-E72D297353CC}">
              <c16:uniqueId val="{00000003-BA7A-4C94-BCC5-98880D5E4552}"/>
            </c:ext>
          </c:extLst>
        </c:ser>
        <c:ser>
          <c:idx val="4"/>
          <c:order val="4"/>
          <c:tx>
            <c:strRef>
              <c:f>Sheet1!$B$47</c:f>
              <c:strCache>
                <c:ptCount val="1"/>
                <c:pt idx="0">
                  <c:v>Pool price</c:v>
                </c:pt>
              </c:strCache>
            </c:strRef>
          </c:tx>
          <c:spPr>
            <a:ln w="34925">
              <a:solidFill>
                <a:srgbClr val="171C26"/>
              </a:solidFill>
            </a:ln>
          </c:spPr>
          <c:marker>
            <c:symbol val="none"/>
          </c:marker>
          <c:xVal>
            <c:numRef>
              <c:f>Sheet1!$A$48:$A$67</c:f>
              <c:numCache>
                <c:formatCode>General</c:formatCode>
                <c:ptCount val="20"/>
                <c:pt idx="0">
                  <c:v>46277.5</c:v>
                </c:pt>
                <c:pt idx="1">
                  <c:v>46277.530844907407</c:v>
                </c:pt>
                <c:pt idx="2">
                  <c:v>46277.530844907407</c:v>
                </c:pt>
                <c:pt idx="3">
                  <c:v>46277.552604166667</c:v>
                </c:pt>
                <c:pt idx="4">
                  <c:v>46277.552604166667</c:v>
                </c:pt>
                <c:pt idx="5">
                  <c:v>46277.567002314812</c:v>
                </c:pt>
                <c:pt idx="6">
                  <c:v>46277.567002314812</c:v>
                </c:pt>
                <c:pt idx="7">
                  <c:v>46277.56753472222</c:v>
                </c:pt>
                <c:pt idx="8">
                  <c:v>46277.56753472222</c:v>
                </c:pt>
                <c:pt idx="9">
                  <c:v>46277.567812499998</c:v>
                </c:pt>
                <c:pt idx="10">
                  <c:v>46277.567812499998</c:v>
                </c:pt>
                <c:pt idx="11">
                  <c:v>46277.568622685183</c:v>
                </c:pt>
                <c:pt idx="12">
                  <c:v>46277.568622685183</c:v>
                </c:pt>
                <c:pt idx="13">
                  <c:v>46277.735520833332</c:v>
                </c:pt>
                <c:pt idx="14">
                  <c:v>46277.735520833332</c:v>
                </c:pt>
                <c:pt idx="15">
                  <c:v>46277.735636574071</c:v>
                </c:pt>
                <c:pt idx="16">
                  <c:v>46277.735636574071</c:v>
                </c:pt>
                <c:pt idx="17">
                  <c:v>46277.735868055555</c:v>
                </c:pt>
                <c:pt idx="18">
                  <c:v>46277.735868055555</c:v>
                </c:pt>
                <c:pt idx="19">
                  <c:v>46278.791666666664</c:v>
                </c:pt>
              </c:numCache>
            </c:numRef>
          </c:xVal>
          <c:yVal>
            <c:numRef>
              <c:f>Sheet1!$B$48:$B$67</c:f>
              <c:numCache>
                <c:formatCode>General</c:formatCode>
                <c:ptCount val="20"/>
                <c:pt idx="0">
                  <c:v>0.33318842451251024</c:v>
                </c:pt>
                <c:pt idx="1">
                  <c:v>0.33318842451251024</c:v>
                </c:pt>
                <c:pt idx="2">
                  <c:v>0.28880921479155913</c:v>
                </c:pt>
                <c:pt idx="3">
                  <c:v>0.28880921479155913</c:v>
                </c:pt>
                <c:pt idx="4">
                  <c:v>0.27350844938338686</c:v>
                </c:pt>
                <c:pt idx="5">
                  <c:v>0.27350844938338686</c:v>
                </c:pt>
                <c:pt idx="6">
                  <c:v>0.31428941590535336</c:v>
                </c:pt>
                <c:pt idx="7">
                  <c:v>0.31428941590535336</c:v>
                </c:pt>
                <c:pt idx="8">
                  <c:v>0.30742028541578775</c:v>
                </c:pt>
                <c:pt idx="9">
                  <c:v>0.30742028541578775</c:v>
                </c:pt>
                <c:pt idx="10">
                  <c:v>0.30499025948726094</c:v>
                </c:pt>
                <c:pt idx="11">
                  <c:v>0.30499025948726094</c:v>
                </c:pt>
                <c:pt idx="12">
                  <c:v>0.27581373326301545</c:v>
                </c:pt>
                <c:pt idx="13">
                  <c:v>0.27581373326301545</c:v>
                </c:pt>
                <c:pt idx="14">
                  <c:v>0.34733910913665444</c:v>
                </c:pt>
                <c:pt idx="15">
                  <c:v>0.34733910913665444</c:v>
                </c:pt>
                <c:pt idx="16">
                  <c:v>0.33922739774409449</c:v>
                </c:pt>
                <c:pt idx="17">
                  <c:v>0.33922739774409449</c:v>
                </c:pt>
                <c:pt idx="18">
                  <c:v>0.33114892678235791</c:v>
                </c:pt>
                <c:pt idx="19">
                  <c:v>0.33114892678235791</c:v>
                </c:pt>
              </c:numCache>
            </c:numRef>
          </c:yVal>
          <c:smooth val="0"/>
          <c:extLst>
            <c:ext xmlns:c16="http://schemas.microsoft.com/office/drawing/2014/chart" uri="{C3380CC4-5D6E-409C-BE32-E72D297353CC}">
              <c16:uniqueId val="{00000004-BA7A-4C94-BCC5-98880D5E4552}"/>
            </c:ext>
          </c:extLst>
        </c:ser>
        <c:ser>
          <c:idx val="5"/>
          <c:order val="5"/>
          <c:tx>
            <c:strRef>
              <c:f>Sheet1!$B$69</c:f>
              <c:strCache>
                <c:ptCount val="1"/>
                <c:pt idx="0">
                  <c:v>Ballots (live, ex-abstain)</c:v>
                </c:pt>
              </c:strCache>
            </c:strRef>
          </c:tx>
          <c:spPr>
            <a:ln w="19050">
              <a:solidFill>
                <a:srgbClr val="8A94A3"/>
              </a:solidFill>
              <a:prstDash val="dash"/>
            </a:ln>
          </c:spPr>
          <c:marker>
            <c:symbol val="none"/>
          </c:marker>
          <c:xVal>
            <c:numRef>
              <c:f>Sheet1!$A$70:$A$71</c:f>
              <c:numCache>
                <c:formatCode>General</c:formatCode>
                <c:ptCount val="2"/>
                <c:pt idx="0">
                  <c:v>46277.5</c:v>
                </c:pt>
                <c:pt idx="1">
                  <c:v>46279</c:v>
                </c:pt>
              </c:numCache>
            </c:numRef>
          </c:xVal>
          <c:yVal>
            <c:numRef>
              <c:f>Sheet1!$B$70:$B$71</c:f>
              <c:numCache>
                <c:formatCode>General</c:formatCode>
                <c:ptCount val="2"/>
                <c:pt idx="0">
                  <c:v>0.8079050180120757</c:v>
                </c:pt>
                <c:pt idx="1">
                  <c:v>0.8079050180120757</c:v>
                </c:pt>
              </c:numCache>
            </c:numRef>
          </c:yVal>
          <c:smooth val="0"/>
          <c:extLst>
            <c:ext xmlns:c16="http://schemas.microsoft.com/office/drawing/2014/chart" uri="{C3380CC4-5D6E-409C-BE32-E72D297353CC}">
              <c16:uniqueId val="{00000005-BA7A-4C94-BCC5-98880D5E4552}"/>
            </c:ext>
          </c:extLst>
        </c:ser>
        <c:ser>
          <c:idx val="6"/>
          <c:order val="6"/>
          <c:tx>
            <c:strRef>
              <c:f>Sheet1!$B$73</c:f>
              <c:strCache>
                <c:ptCount val="1"/>
                <c:pt idx="0">
                  <c:v>Seed price</c:v>
                </c:pt>
              </c:strCache>
            </c:strRef>
          </c:tx>
          <c:spPr>
            <a:ln w="1270">
              <a:solidFill>
                <a:srgbClr val="5C6675"/>
              </a:solidFill>
            </a:ln>
          </c:spPr>
          <c:marker>
            <c:symbol val="diamond"/>
            <c:size val="10"/>
            <c:spPr>
              <a:solidFill>
                <a:srgbClr val="5C6675"/>
              </a:solidFill>
              <a:ln>
                <a:solidFill>
                  <a:srgbClr val="5C6675"/>
                </a:solidFill>
              </a:ln>
            </c:spPr>
          </c:marker>
          <c:xVal>
            <c:numRef>
              <c:f>Sheet1!$A$74:$A$74</c:f>
              <c:numCache>
                <c:formatCode>General</c:formatCode>
                <c:ptCount val="1"/>
                <c:pt idx="0">
                  <c:v>46277.52</c:v>
                </c:pt>
              </c:numCache>
            </c:numRef>
          </c:xVal>
          <c:yVal>
            <c:numRef>
              <c:f>Sheet1!$B$74:$B$74</c:f>
              <c:numCache>
                <c:formatCode>General</c:formatCode>
                <c:ptCount val="1"/>
                <c:pt idx="0">
                  <c:v>0.3</c:v>
                </c:pt>
              </c:numCache>
            </c:numRef>
          </c:yVal>
          <c:smooth val="0"/>
          <c:extLst>
            <c:ext xmlns:c16="http://schemas.microsoft.com/office/drawing/2014/chart" uri="{C3380CC4-5D6E-409C-BE32-E72D297353CC}">
              <c16:uniqueId val="{00000006-BA7A-4C94-BCC5-98880D5E4552}"/>
            </c:ext>
          </c:extLst>
        </c:ser>
        <c:dLbls>
          <c:showLegendKey val="0"/>
          <c:showVal val="0"/>
          <c:showCatName val="0"/>
          <c:showSerName val="0"/>
          <c:showPercent val="0"/>
          <c:showBubbleSize val="0"/>
        </c:dLbls>
        <c:axId val="-2128940872"/>
        <c:axId val="-2129643912"/>
      </c:scatterChart>
      <c:valAx>
        <c:axId val="-2128940872"/>
        <c:scaling>
          <c:orientation val="minMax"/>
          <c:max val="46279"/>
          <c:min val="46277.5"/>
        </c:scaling>
        <c:delete val="0"/>
        <c:axPos val="b"/>
        <c:numFmt formatCode="dd\ mmm\ hh:mm" sourceLinked="0"/>
        <c:majorTickMark val="out"/>
        <c:minorTickMark val="none"/>
        <c:tickLblPos val="nextTo"/>
        <c:spPr>
          <a:ln>
            <a:solidFill>
              <a:srgbClr val="D6DBE3"/>
            </a:solidFill>
          </a:ln>
        </c:spPr>
        <c:txPr>
          <a:bodyPr/>
          <a:lstStyle/>
          <a:p>
            <a:pPr>
              <a:defRPr sz="900"/>
            </a:pPr>
            <a:endParaRPr lang="en-US"/>
          </a:p>
        </c:txPr>
        <c:crossAx val="-2129643912"/>
        <c:crosses val="autoZero"/>
        <c:crossBetween val="midCat"/>
        <c:majorUnit val="0.25"/>
      </c:valAx>
      <c:valAx>
        <c:axId val="-2129643912"/>
        <c:scaling>
          <c:orientation val="minMax"/>
          <c:max val="1"/>
          <c:min val="0"/>
        </c:scaling>
        <c:delete val="0"/>
        <c:axPos val="l"/>
        <c:majorGridlines>
          <c:spPr>
            <a:ln w="6350">
              <a:solidFill>
                <a:srgbClr val="D6DBE3"/>
              </a:solidFill>
            </a:ln>
          </c:spPr>
        </c:majorGridlines>
        <c:numFmt formatCode="0%" sourceLinked="0"/>
        <c:majorTickMark val="out"/>
        <c:minorTickMark val="none"/>
        <c:tickLblPos val="nextTo"/>
        <c:spPr>
          <a:ln>
            <a:solidFill>
              <a:srgbClr val="D6DBE3"/>
            </a:solidFill>
          </a:ln>
        </c:spPr>
        <c:txPr>
          <a:bodyPr/>
          <a:lstStyle/>
          <a:p>
            <a:pPr>
              <a:defRPr sz="900"/>
            </a:pPr>
            <a:endParaRPr lang="en-US"/>
          </a:p>
        </c:txPr>
        <c:crossAx val="-2128940872"/>
        <c:crosses val="autoZero"/>
        <c:crossBetween val="midCat"/>
        <c:majorUnit val="0.25"/>
      </c:valAx>
    </c:plotArea>
    <c:legend>
      <c:legendPos val="b"/>
      <c:overlay val="0"/>
      <c:txPr>
        <a:bodyPr/>
        <a:lstStyle/>
        <a:p>
          <a:pPr>
            <a:defRPr sz="950"/>
          </a:pPr>
          <a:endParaRPr lang="en-US"/>
        </a:p>
      </c:txPr>
    </c:legend>
    <c:plotVisOnly val="1"/>
    <c:dispBlanksAs val="gap"/>
    <c:showDLblsOverMax val="0"/>
  </c:chart>
  <c:txPr>
    <a:bodyPr/>
    <a:lstStyle/>
    <a:p>
      <a:pPr>
        <a:defRPr sz="900">
          <a:solidFill>
            <a:srgbClr val="5C6675"/>
          </a:solidFill>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Claude Fable 5.1</c:v>
                </c:pt>
              </c:strCache>
            </c:strRef>
          </c:tx>
          <c:spPr>
            <a:ln w="25400">
              <a:solidFill>
                <a:srgbClr val="C4552A"/>
              </a:solidFill>
            </a:ln>
          </c:spPr>
          <c:marker>
            <c:symbol val="circle"/>
            <c:size val="5"/>
            <c:spPr>
              <a:solidFill>
                <a:srgbClr val="C4552A"/>
              </a:solidFill>
              <a:ln>
                <a:solidFill>
                  <a:srgbClr val="C4552A"/>
                </a:solidFill>
              </a:ln>
            </c:spPr>
          </c:marker>
          <c:xVal>
            <c:numRef>
              <c:f>Sheet1!$A$2:$A$12</c:f>
              <c:numCache>
                <c:formatCode>General</c:formatCode>
                <c:ptCount val="11"/>
                <c:pt idx="0">
                  <c:v>46277.691030092596</c:v>
                </c:pt>
                <c:pt idx="1">
                  <c:v>46277.774363425924</c:v>
                </c:pt>
                <c:pt idx="2">
                  <c:v>46277.85769675926</c:v>
                </c:pt>
                <c:pt idx="3">
                  <c:v>46277.941030092596</c:v>
                </c:pt>
                <c:pt idx="4">
                  <c:v>46278.024363425924</c:v>
                </c:pt>
                <c:pt idx="5">
                  <c:v>46278.10769675926</c:v>
                </c:pt>
                <c:pt idx="6">
                  <c:v>46278.191030092596</c:v>
                </c:pt>
                <c:pt idx="7">
                  <c:v>46278.274363425924</c:v>
                </c:pt>
                <c:pt idx="8">
                  <c:v>46278.35769675926</c:v>
                </c:pt>
                <c:pt idx="9">
                  <c:v>46278.441168981481</c:v>
                </c:pt>
                <c:pt idx="10">
                  <c:v>46278.607731481483</c:v>
                </c:pt>
              </c:numCache>
            </c:numRef>
          </c:xVal>
          <c:yVal>
            <c:numRef>
              <c:f>Sheet1!$B$2:$B$12</c:f>
              <c:numCache>
                <c:formatCode>General</c:formatCode>
                <c:ptCount val="11"/>
                <c:pt idx="0">
                  <c:v>0.9</c:v>
                </c:pt>
                <c:pt idx="1">
                  <c:v>0.9</c:v>
                </c:pt>
                <c:pt idx="2">
                  <c:v>0.9</c:v>
                </c:pt>
                <c:pt idx="3">
                  <c:v>0.9</c:v>
                </c:pt>
                <c:pt idx="4">
                  <c:v>0.9</c:v>
                </c:pt>
                <c:pt idx="5">
                  <c:v>0.9</c:v>
                </c:pt>
                <c:pt idx="6">
                  <c:v>0.9</c:v>
                </c:pt>
                <c:pt idx="7">
                  <c:v>0.9</c:v>
                </c:pt>
                <c:pt idx="8">
                  <c:v>0.9</c:v>
                </c:pt>
                <c:pt idx="9">
                  <c:v>0.9</c:v>
                </c:pt>
                <c:pt idx="10">
                  <c:v>0.9</c:v>
                </c:pt>
              </c:numCache>
            </c:numRef>
          </c:yVal>
          <c:smooth val="0"/>
          <c:extLst>
            <c:ext xmlns:c16="http://schemas.microsoft.com/office/drawing/2014/chart" uri="{C3380CC4-5D6E-409C-BE32-E72D297353CC}">
              <c16:uniqueId val="{00000000-99DA-4592-8C86-DDA2B1449900}"/>
            </c:ext>
          </c:extLst>
        </c:ser>
        <c:ser>
          <c:idx val="1"/>
          <c:order val="1"/>
          <c:tx>
            <c:strRef>
              <c:f>Sheet1!$B$14</c:f>
              <c:strCache>
                <c:ptCount val="1"/>
                <c:pt idx="0">
                  <c:v>Claude Opus 5</c:v>
                </c:pt>
              </c:strCache>
            </c:strRef>
          </c:tx>
          <c:spPr>
            <a:ln w="25400">
              <a:solidFill>
                <a:srgbClr val="7A2E8C"/>
              </a:solidFill>
            </a:ln>
          </c:spPr>
          <c:marker>
            <c:symbol val="circle"/>
            <c:size val="5"/>
            <c:spPr>
              <a:solidFill>
                <a:srgbClr val="7A2E8C"/>
              </a:solidFill>
              <a:ln>
                <a:solidFill>
                  <a:srgbClr val="7A2E8C"/>
                </a:solidFill>
              </a:ln>
            </c:spPr>
          </c:marker>
          <c:xVal>
            <c:numRef>
              <c:f>Sheet1!$A$15:$A$22</c:f>
              <c:numCache>
                <c:formatCode>General</c:formatCode>
                <c:ptCount val="8"/>
                <c:pt idx="0">
                  <c:v>46277.704918981479</c:v>
                </c:pt>
                <c:pt idx="1">
                  <c:v>46277.788240740738</c:v>
                </c:pt>
                <c:pt idx="2">
                  <c:v>46277.871574074074</c:v>
                </c:pt>
                <c:pt idx="3">
                  <c:v>46277.954918981479</c:v>
                </c:pt>
                <c:pt idx="4">
                  <c:v>46278.12158564815</c:v>
                </c:pt>
                <c:pt idx="5">
                  <c:v>46278.204918981479</c:v>
                </c:pt>
                <c:pt idx="6">
                  <c:v>46278.288252314815</c:v>
                </c:pt>
                <c:pt idx="7">
                  <c:v>46278.371574074074</c:v>
                </c:pt>
              </c:numCache>
            </c:numRef>
          </c:xVal>
          <c:yVal>
            <c:numRef>
              <c:f>Sheet1!$B$15:$B$22</c:f>
              <c:numCache>
                <c:formatCode>General</c:formatCode>
                <c:ptCount val="8"/>
                <c:pt idx="0">
                  <c:v>0.96</c:v>
                </c:pt>
                <c:pt idx="1">
                  <c:v>0.96</c:v>
                </c:pt>
                <c:pt idx="2">
                  <c:v>0.96</c:v>
                </c:pt>
                <c:pt idx="3">
                  <c:v>0.96</c:v>
                </c:pt>
                <c:pt idx="4">
                  <c:v>0.96</c:v>
                </c:pt>
                <c:pt idx="5">
                  <c:v>0.96</c:v>
                </c:pt>
                <c:pt idx="6">
                  <c:v>0.96</c:v>
                </c:pt>
                <c:pt idx="7">
                  <c:v>0.96</c:v>
                </c:pt>
              </c:numCache>
            </c:numRef>
          </c:yVal>
          <c:smooth val="0"/>
          <c:extLst>
            <c:ext xmlns:c16="http://schemas.microsoft.com/office/drawing/2014/chart" uri="{C3380CC4-5D6E-409C-BE32-E72D297353CC}">
              <c16:uniqueId val="{00000001-99DA-4592-8C86-DDA2B1449900}"/>
            </c:ext>
          </c:extLst>
        </c:ser>
        <c:ser>
          <c:idx val="2"/>
          <c:order val="2"/>
          <c:tx>
            <c:strRef>
              <c:f>Sheet1!$B$24</c:f>
              <c:strCache>
                <c:ptCount val="1"/>
                <c:pt idx="0">
                  <c:v>GPT-6 Astra</c:v>
                </c:pt>
              </c:strCache>
            </c:strRef>
          </c:tx>
          <c:spPr>
            <a:ln w="25400">
              <a:solidFill>
                <a:srgbClr val="1B7F63"/>
              </a:solidFill>
            </a:ln>
          </c:spPr>
          <c:marker>
            <c:symbol val="circle"/>
            <c:size val="5"/>
            <c:spPr>
              <a:solidFill>
                <a:srgbClr val="1B7F63"/>
              </a:solidFill>
              <a:ln>
                <a:solidFill>
                  <a:srgbClr val="1B7F63"/>
                </a:solidFill>
              </a:ln>
            </c:spPr>
          </c:marker>
          <c:xVal>
            <c:numRef>
              <c:f>Sheet1!$A$25:$A$34</c:f>
              <c:numCache>
                <c:formatCode>General</c:formatCode>
                <c:ptCount val="10"/>
                <c:pt idx="0">
                  <c:v>46277.718807870369</c:v>
                </c:pt>
                <c:pt idx="1">
                  <c:v>46277.802129629628</c:v>
                </c:pt>
                <c:pt idx="2">
                  <c:v>46277.885462962964</c:v>
                </c:pt>
                <c:pt idx="3">
                  <c:v>46277.9687962963</c:v>
                </c:pt>
                <c:pt idx="4">
                  <c:v>46278.052141203705</c:v>
                </c:pt>
                <c:pt idx="5">
                  <c:v>46278.135474537034</c:v>
                </c:pt>
                <c:pt idx="6">
                  <c:v>46278.218807870369</c:v>
                </c:pt>
                <c:pt idx="7">
                  <c:v>46278.302141203705</c:v>
                </c:pt>
                <c:pt idx="8">
                  <c:v>46278.385509259257</c:v>
                </c:pt>
                <c:pt idx="9">
                  <c:v>46278.552129629628</c:v>
                </c:pt>
              </c:numCache>
            </c:numRef>
          </c:xVal>
          <c:yVal>
            <c:numRef>
              <c:f>Sheet1!$B$25:$B$34</c:f>
              <c:numCache>
                <c:formatCode>General</c:formatCode>
                <c:ptCount val="10"/>
                <c:pt idx="0">
                  <c:v>0.9</c:v>
                </c:pt>
                <c:pt idx="1">
                  <c:v>0.93</c:v>
                </c:pt>
                <c:pt idx="2">
                  <c:v>0.93</c:v>
                </c:pt>
                <c:pt idx="3">
                  <c:v>0.9</c:v>
                </c:pt>
                <c:pt idx="4">
                  <c:v>0.9</c:v>
                </c:pt>
                <c:pt idx="5">
                  <c:v>0.93</c:v>
                </c:pt>
                <c:pt idx="6">
                  <c:v>0.9</c:v>
                </c:pt>
                <c:pt idx="7">
                  <c:v>0.9</c:v>
                </c:pt>
                <c:pt idx="8">
                  <c:v>0.93</c:v>
                </c:pt>
                <c:pt idx="9">
                  <c:v>0.92</c:v>
                </c:pt>
              </c:numCache>
            </c:numRef>
          </c:yVal>
          <c:smooth val="0"/>
          <c:extLst>
            <c:ext xmlns:c16="http://schemas.microsoft.com/office/drawing/2014/chart" uri="{C3380CC4-5D6E-409C-BE32-E72D297353CC}">
              <c16:uniqueId val="{00000002-99DA-4592-8C86-DDA2B1449900}"/>
            </c:ext>
          </c:extLst>
        </c:ser>
        <c:ser>
          <c:idx val="3"/>
          <c:order val="3"/>
          <c:tx>
            <c:strRef>
              <c:f>Sheet1!$B$36</c:f>
              <c:strCache>
                <c:ptCount val="1"/>
                <c:pt idx="0">
                  <c:v>GPT-5.6 Sol</c:v>
                </c:pt>
              </c:strCache>
            </c:strRef>
          </c:tx>
          <c:spPr>
            <a:ln w="25400">
              <a:solidFill>
                <a:srgbClr val="2F6FD6"/>
              </a:solidFill>
            </a:ln>
          </c:spPr>
          <c:marker>
            <c:symbol val="circle"/>
            <c:size val="5"/>
            <c:spPr>
              <a:solidFill>
                <a:srgbClr val="2F6FD6"/>
              </a:solidFill>
              <a:ln>
                <a:solidFill>
                  <a:srgbClr val="2F6FD6"/>
                </a:solidFill>
              </a:ln>
            </c:spPr>
          </c:marker>
          <c:xVal>
            <c:numRef>
              <c:f>Sheet1!$A$37:$A$45</c:f>
              <c:numCache>
                <c:formatCode>General</c:formatCode>
                <c:ptCount val="9"/>
                <c:pt idx="0">
                  <c:v>46277.732685185183</c:v>
                </c:pt>
                <c:pt idx="1">
                  <c:v>46277.816030092596</c:v>
                </c:pt>
                <c:pt idx="2">
                  <c:v>46277.899363425924</c:v>
                </c:pt>
                <c:pt idx="3">
                  <c:v>46277.98269675926</c:v>
                </c:pt>
                <c:pt idx="4">
                  <c:v>46278.066030092596</c:v>
                </c:pt>
                <c:pt idx="5">
                  <c:v>46278.149363425924</c:v>
                </c:pt>
                <c:pt idx="6">
                  <c:v>46278.23269675926</c:v>
                </c:pt>
                <c:pt idx="7">
                  <c:v>46278.316030092596</c:v>
                </c:pt>
                <c:pt idx="8">
                  <c:v>46278.399409722224</c:v>
                </c:pt>
              </c:numCache>
            </c:numRef>
          </c:xVal>
          <c:yVal>
            <c:numRef>
              <c:f>Sheet1!$B$37:$B$45</c:f>
              <c:numCache>
                <c:formatCode>General</c:formatCode>
                <c:ptCount val="9"/>
                <c:pt idx="0">
                  <c:v>0.95</c:v>
                </c:pt>
                <c:pt idx="1">
                  <c:v>0.95</c:v>
                </c:pt>
                <c:pt idx="2">
                  <c:v>0.95</c:v>
                </c:pt>
                <c:pt idx="3">
                  <c:v>0.95</c:v>
                </c:pt>
                <c:pt idx="4">
                  <c:v>0.95</c:v>
                </c:pt>
                <c:pt idx="5">
                  <c:v>0.95</c:v>
                </c:pt>
                <c:pt idx="6">
                  <c:v>0.95</c:v>
                </c:pt>
                <c:pt idx="7">
                  <c:v>0.95</c:v>
                </c:pt>
                <c:pt idx="8">
                  <c:v>0.95</c:v>
                </c:pt>
              </c:numCache>
            </c:numRef>
          </c:yVal>
          <c:smooth val="0"/>
          <c:extLst>
            <c:ext xmlns:c16="http://schemas.microsoft.com/office/drawing/2014/chart" uri="{C3380CC4-5D6E-409C-BE32-E72D297353CC}">
              <c16:uniqueId val="{00000003-99DA-4592-8C86-DDA2B1449900}"/>
            </c:ext>
          </c:extLst>
        </c:ser>
        <c:ser>
          <c:idx val="4"/>
          <c:order val="4"/>
          <c:tx>
            <c:strRef>
              <c:f>Sheet1!$B$47</c:f>
              <c:strCache>
                <c:ptCount val="1"/>
                <c:pt idx="0">
                  <c:v>Pool price</c:v>
                </c:pt>
              </c:strCache>
            </c:strRef>
          </c:tx>
          <c:spPr>
            <a:ln w="34925">
              <a:solidFill>
                <a:srgbClr val="171C26"/>
              </a:solidFill>
            </a:ln>
          </c:spPr>
          <c:marker>
            <c:symbol val="none"/>
          </c:marker>
          <c:xVal>
            <c:numRef>
              <c:f>Sheet1!$A$48:$A$51</c:f>
              <c:numCache>
                <c:formatCode>General</c:formatCode>
                <c:ptCount val="4"/>
                <c:pt idx="0">
                  <c:v>46277.5</c:v>
                </c:pt>
                <c:pt idx="1">
                  <c:v>46277.552604166667</c:v>
                </c:pt>
                <c:pt idx="2">
                  <c:v>46277.552604166667</c:v>
                </c:pt>
                <c:pt idx="3">
                  <c:v>46278.791666666664</c:v>
                </c:pt>
              </c:numCache>
            </c:numRef>
          </c:xVal>
          <c:yVal>
            <c:numRef>
              <c:f>Sheet1!$B$48:$B$51</c:f>
              <c:numCache>
                <c:formatCode>General</c:formatCode>
                <c:ptCount val="4"/>
                <c:pt idx="0">
                  <c:v>0.89994974267861305</c:v>
                </c:pt>
                <c:pt idx="1">
                  <c:v>0.89994974267861305</c:v>
                </c:pt>
                <c:pt idx="2">
                  <c:v>0.87998117960945799</c:v>
                </c:pt>
                <c:pt idx="3">
                  <c:v>0.87998117960945799</c:v>
                </c:pt>
              </c:numCache>
            </c:numRef>
          </c:yVal>
          <c:smooth val="0"/>
          <c:extLst>
            <c:ext xmlns:c16="http://schemas.microsoft.com/office/drawing/2014/chart" uri="{C3380CC4-5D6E-409C-BE32-E72D297353CC}">
              <c16:uniqueId val="{00000004-99DA-4592-8C86-DDA2B1449900}"/>
            </c:ext>
          </c:extLst>
        </c:ser>
        <c:ser>
          <c:idx val="5"/>
          <c:order val="5"/>
          <c:tx>
            <c:strRef>
              <c:f>Sheet1!$B$53</c:f>
              <c:strCache>
                <c:ptCount val="1"/>
                <c:pt idx="0">
                  <c:v>Ballots (live, ex-abstain)</c:v>
                </c:pt>
              </c:strCache>
            </c:strRef>
          </c:tx>
          <c:spPr>
            <a:ln w="19050">
              <a:solidFill>
                <a:srgbClr val="8A94A3"/>
              </a:solidFill>
              <a:prstDash val="dash"/>
            </a:ln>
          </c:spPr>
          <c:marker>
            <c:symbol val="none"/>
          </c:marker>
          <c:xVal>
            <c:numRef>
              <c:f>Sheet1!$A$54:$A$55</c:f>
              <c:numCache>
                <c:formatCode>General</c:formatCode>
                <c:ptCount val="2"/>
                <c:pt idx="0">
                  <c:v>46277.5</c:v>
                </c:pt>
                <c:pt idx="1">
                  <c:v>46279</c:v>
                </c:pt>
              </c:numCache>
            </c:numRef>
          </c:xVal>
          <c:yVal>
            <c:numRef>
              <c:f>Sheet1!$B$54:$B$55</c:f>
              <c:numCache>
                <c:formatCode>General</c:formatCode>
                <c:ptCount val="2"/>
                <c:pt idx="0">
                  <c:v>0.94624312767257179</c:v>
                </c:pt>
                <c:pt idx="1">
                  <c:v>0.94624312767257179</c:v>
                </c:pt>
              </c:numCache>
            </c:numRef>
          </c:yVal>
          <c:smooth val="0"/>
          <c:extLst>
            <c:ext xmlns:c16="http://schemas.microsoft.com/office/drawing/2014/chart" uri="{C3380CC4-5D6E-409C-BE32-E72D297353CC}">
              <c16:uniqueId val="{00000005-99DA-4592-8C86-DDA2B1449900}"/>
            </c:ext>
          </c:extLst>
        </c:ser>
        <c:ser>
          <c:idx val="6"/>
          <c:order val="6"/>
          <c:tx>
            <c:strRef>
              <c:f>Sheet1!$B$57</c:f>
              <c:strCache>
                <c:ptCount val="1"/>
                <c:pt idx="0">
                  <c:v>Seed price</c:v>
                </c:pt>
              </c:strCache>
            </c:strRef>
          </c:tx>
          <c:spPr>
            <a:ln w="1270">
              <a:solidFill>
                <a:srgbClr val="5C6675"/>
              </a:solidFill>
            </a:ln>
          </c:spPr>
          <c:marker>
            <c:symbol val="diamond"/>
            <c:size val="10"/>
            <c:spPr>
              <a:solidFill>
                <a:srgbClr val="5C6675"/>
              </a:solidFill>
              <a:ln>
                <a:solidFill>
                  <a:srgbClr val="5C6675"/>
                </a:solidFill>
              </a:ln>
            </c:spPr>
          </c:marker>
          <c:xVal>
            <c:numRef>
              <c:f>Sheet1!$A$58:$A$58</c:f>
              <c:numCache>
                <c:formatCode>General</c:formatCode>
                <c:ptCount val="1"/>
                <c:pt idx="0">
                  <c:v>46277.52</c:v>
                </c:pt>
              </c:numCache>
            </c:numRef>
          </c:xVal>
          <c:yVal>
            <c:numRef>
              <c:f>Sheet1!$B$58:$B$58</c:f>
              <c:numCache>
                <c:formatCode>General</c:formatCode>
                <c:ptCount val="1"/>
                <c:pt idx="0">
                  <c:v>0.90010000000000001</c:v>
                </c:pt>
              </c:numCache>
            </c:numRef>
          </c:yVal>
          <c:smooth val="0"/>
          <c:extLst>
            <c:ext xmlns:c16="http://schemas.microsoft.com/office/drawing/2014/chart" uri="{C3380CC4-5D6E-409C-BE32-E72D297353CC}">
              <c16:uniqueId val="{00000006-99DA-4592-8C86-DDA2B1449900}"/>
            </c:ext>
          </c:extLst>
        </c:ser>
        <c:dLbls>
          <c:showLegendKey val="0"/>
          <c:showVal val="0"/>
          <c:showCatName val="0"/>
          <c:showSerName val="0"/>
          <c:showPercent val="0"/>
          <c:showBubbleSize val="0"/>
        </c:dLbls>
        <c:axId val="-2128940872"/>
        <c:axId val="-2129643912"/>
      </c:scatterChart>
      <c:valAx>
        <c:axId val="-2128940872"/>
        <c:scaling>
          <c:orientation val="minMax"/>
          <c:max val="46279"/>
          <c:min val="46277.5"/>
        </c:scaling>
        <c:delete val="0"/>
        <c:axPos val="b"/>
        <c:numFmt formatCode="dd\ mmm\ hh:mm" sourceLinked="0"/>
        <c:majorTickMark val="out"/>
        <c:minorTickMark val="none"/>
        <c:tickLblPos val="nextTo"/>
        <c:spPr>
          <a:ln>
            <a:solidFill>
              <a:srgbClr val="D6DBE3"/>
            </a:solidFill>
          </a:ln>
        </c:spPr>
        <c:txPr>
          <a:bodyPr/>
          <a:lstStyle/>
          <a:p>
            <a:pPr>
              <a:defRPr sz="900"/>
            </a:pPr>
            <a:endParaRPr lang="en-US"/>
          </a:p>
        </c:txPr>
        <c:crossAx val="-2129643912"/>
        <c:crosses val="autoZero"/>
        <c:crossBetween val="midCat"/>
        <c:majorUnit val="0.25"/>
      </c:valAx>
      <c:valAx>
        <c:axId val="-2129643912"/>
        <c:scaling>
          <c:orientation val="minMax"/>
          <c:max val="1"/>
          <c:min val="0"/>
        </c:scaling>
        <c:delete val="0"/>
        <c:axPos val="l"/>
        <c:majorGridlines>
          <c:spPr>
            <a:ln w="6350">
              <a:solidFill>
                <a:srgbClr val="D6DBE3"/>
              </a:solidFill>
            </a:ln>
          </c:spPr>
        </c:majorGridlines>
        <c:numFmt formatCode="0%" sourceLinked="0"/>
        <c:majorTickMark val="out"/>
        <c:minorTickMark val="none"/>
        <c:tickLblPos val="nextTo"/>
        <c:spPr>
          <a:ln>
            <a:solidFill>
              <a:srgbClr val="D6DBE3"/>
            </a:solidFill>
          </a:ln>
        </c:spPr>
        <c:txPr>
          <a:bodyPr/>
          <a:lstStyle/>
          <a:p>
            <a:pPr>
              <a:defRPr sz="900"/>
            </a:pPr>
            <a:endParaRPr lang="en-US"/>
          </a:p>
        </c:txPr>
        <c:crossAx val="-2128940872"/>
        <c:crosses val="autoZero"/>
        <c:crossBetween val="midCat"/>
        <c:majorUnit val="0.25"/>
      </c:valAx>
    </c:plotArea>
    <c:legend>
      <c:legendPos val="b"/>
      <c:overlay val="0"/>
      <c:txPr>
        <a:bodyPr/>
        <a:lstStyle/>
        <a:p>
          <a:pPr>
            <a:defRPr sz="950"/>
          </a:pPr>
          <a:endParaRPr lang="en-US"/>
        </a:p>
      </c:txPr>
    </c:legend>
    <c:plotVisOnly val="1"/>
    <c:dispBlanksAs val="gap"/>
    <c:showDLblsOverMax val="0"/>
  </c:chart>
  <c:txPr>
    <a:bodyPr/>
    <a:lstStyle/>
    <a:p>
      <a:pPr>
        <a:defRPr sz="900">
          <a:solidFill>
            <a:srgbClr val="5C6675"/>
          </a:solidFill>
          <a:latin typeface="Segoe U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Claude Fable 5.1</c:v>
                </c:pt>
              </c:strCache>
            </c:strRef>
          </c:tx>
          <c:spPr>
            <a:ln w="25400">
              <a:solidFill>
                <a:srgbClr val="C4552A"/>
              </a:solidFill>
            </a:ln>
          </c:spPr>
          <c:marker>
            <c:symbol val="circle"/>
            <c:size val="5"/>
            <c:spPr>
              <a:solidFill>
                <a:srgbClr val="C4552A"/>
              </a:solidFill>
              <a:ln>
                <a:solidFill>
                  <a:srgbClr val="C4552A"/>
                </a:solidFill>
              </a:ln>
            </c:spPr>
          </c:marker>
          <c:xVal>
            <c:numRef>
              <c:f>Sheet1!$A$2:$A$12</c:f>
              <c:numCache>
                <c:formatCode>General</c:formatCode>
                <c:ptCount val="11"/>
                <c:pt idx="0">
                  <c:v>46277.691030092596</c:v>
                </c:pt>
                <c:pt idx="1">
                  <c:v>46277.774363425924</c:v>
                </c:pt>
                <c:pt idx="2">
                  <c:v>46277.85769675926</c:v>
                </c:pt>
                <c:pt idx="3">
                  <c:v>46277.941030092596</c:v>
                </c:pt>
                <c:pt idx="4">
                  <c:v>46278.024363425924</c:v>
                </c:pt>
                <c:pt idx="5">
                  <c:v>46278.10769675926</c:v>
                </c:pt>
                <c:pt idx="6">
                  <c:v>46278.191030092596</c:v>
                </c:pt>
                <c:pt idx="7">
                  <c:v>46278.274363425924</c:v>
                </c:pt>
                <c:pt idx="8">
                  <c:v>46278.35769675926</c:v>
                </c:pt>
                <c:pt idx="9">
                  <c:v>46278.441168981481</c:v>
                </c:pt>
                <c:pt idx="10">
                  <c:v>46278.607731481483</c:v>
                </c:pt>
              </c:numCache>
            </c:numRef>
          </c:xVal>
          <c:yVal>
            <c:numRef>
              <c:f>Sheet1!$B$2:$B$12</c:f>
              <c:numCache>
                <c:formatCode>General</c:formatCode>
                <c:ptCount val="11"/>
                <c:pt idx="0">
                  <c:v>0.8</c:v>
                </c:pt>
                <c:pt idx="1">
                  <c:v>0.8</c:v>
                </c:pt>
                <c:pt idx="2">
                  <c:v>0.8</c:v>
                </c:pt>
                <c:pt idx="3">
                  <c:v>0.8</c:v>
                </c:pt>
                <c:pt idx="4">
                  <c:v>0.8</c:v>
                </c:pt>
                <c:pt idx="5">
                  <c:v>0.8</c:v>
                </c:pt>
                <c:pt idx="6">
                  <c:v>0.8</c:v>
                </c:pt>
                <c:pt idx="7">
                  <c:v>0.8</c:v>
                </c:pt>
                <c:pt idx="8">
                  <c:v>0.8</c:v>
                </c:pt>
                <c:pt idx="9">
                  <c:v>0.8</c:v>
                </c:pt>
                <c:pt idx="10">
                  <c:v>0.8</c:v>
                </c:pt>
              </c:numCache>
            </c:numRef>
          </c:yVal>
          <c:smooth val="0"/>
          <c:extLst>
            <c:ext xmlns:c16="http://schemas.microsoft.com/office/drawing/2014/chart" uri="{C3380CC4-5D6E-409C-BE32-E72D297353CC}">
              <c16:uniqueId val="{00000000-ED05-46BC-A252-BEA0BA356D37}"/>
            </c:ext>
          </c:extLst>
        </c:ser>
        <c:ser>
          <c:idx val="1"/>
          <c:order val="1"/>
          <c:tx>
            <c:strRef>
              <c:f>Sheet1!$B$14</c:f>
              <c:strCache>
                <c:ptCount val="1"/>
                <c:pt idx="0">
                  <c:v>Claude Opus 5</c:v>
                </c:pt>
              </c:strCache>
            </c:strRef>
          </c:tx>
          <c:spPr>
            <a:ln w="25400">
              <a:solidFill>
                <a:srgbClr val="7A2E8C"/>
              </a:solidFill>
            </a:ln>
          </c:spPr>
          <c:marker>
            <c:symbol val="circle"/>
            <c:size val="5"/>
            <c:spPr>
              <a:solidFill>
                <a:srgbClr val="7A2E8C"/>
              </a:solidFill>
              <a:ln>
                <a:solidFill>
                  <a:srgbClr val="7A2E8C"/>
                </a:solidFill>
              </a:ln>
            </c:spPr>
          </c:marker>
          <c:xVal>
            <c:numRef>
              <c:f>Sheet1!$A$15:$A$22</c:f>
              <c:numCache>
                <c:formatCode>General</c:formatCode>
                <c:ptCount val="8"/>
                <c:pt idx="0">
                  <c:v>46277.704918981479</c:v>
                </c:pt>
                <c:pt idx="1">
                  <c:v>46277.788240740738</c:v>
                </c:pt>
                <c:pt idx="2">
                  <c:v>46277.871574074074</c:v>
                </c:pt>
                <c:pt idx="3">
                  <c:v>46277.954918981479</c:v>
                </c:pt>
                <c:pt idx="4">
                  <c:v>46278.12158564815</c:v>
                </c:pt>
                <c:pt idx="5">
                  <c:v>46278.204918981479</c:v>
                </c:pt>
                <c:pt idx="6">
                  <c:v>46278.288252314815</c:v>
                </c:pt>
                <c:pt idx="7">
                  <c:v>46278.371574074074</c:v>
                </c:pt>
              </c:numCache>
            </c:numRef>
          </c:xVal>
          <c:yVal>
            <c:numRef>
              <c:f>Sheet1!$B$15:$B$22</c:f>
              <c:numCache>
                <c:formatCode>General</c:formatCode>
                <c:ptCount val="8"/>
                <c:pt idx="0">
                  <c:v>0.89</c:v>
                </c:pt>
                <c:pt idx="1">
                  <c:v>0.89</c:v>
                </c:pt>
                <c:pt idx="2">
                  <c:v>0.89</c:v>
                </c:pt>
                <c:pt idx="3">
                  <c:v>0.89</c:v>
                </c:pt>
                <c:pt idx="4">
                  <c:v>0.89</c:v>
                </c:pt>
                <c:pt idx="5">
                  <c:v>0.89</c:v>
                </c:pt>
                <c:pt idx="6">
                  <c:v>0.89</c:v>
                </c:pt>
                <c:pt idx="7">
                  <c:v>0.89</c:v>
                </c:pt>
              </c:numCache>
            </c:numRef>
          </c:yVal>
          <c:smooth val="0"/>
          <c:extLst>
            <c:ext xmlns:c16="http://schemas.microsoft.com/office/drawing/2014/chart" uri="{C3380CC4-5D6E-409C-BE32-E72D297353CC}">
              <c16:uniqueId val="{00000001-ED05-46BC-A252-BEA0BA356D37}"/>
            </c:ext>
          </c:extLst>
        </c:ser>
        <c:ser>
          <c:idx val="2"/>
          <c:order val="2"/>
          <c:tx>
            <c:strRef>
              <c:f>Sheet1!$B$24</c:f>
              <c:strCache>
                <c:ptCount val="1"/>
                <c:pt idx="0">
                  <c:v>GPT-6 Astra</c:v>
                </c:pt>
              </c:strCache>
            </c:strRef>
          </c:tx>
          <c:spPr>
            <a:ln w="25400">
              <a:solidFill>
                <a:srgbClr val="1B7F63"/>
              </a:solidFill>
            </a:ln>
          </c:spPr>
          <c:marker>
            <c:symbol val="circle"/>
            <c:size val="5"/>
            <c:spPr>
              <a:solidFill>
                <a:srgbClr val="1B7F63"/>
              </a:solidFill>
              <a:ln>
                <a:solidFill>
                  <a:srgbClr val="1B7F63"/>
                </a:solidFill>
              </a:ln>
            </c:spPr>
          </c:marker>
          <c:xVal>
            <c:numRef>
              <c:f>Sheet1!$A$25:$A$34</c:f>
              <c:numCache>
                <c:formatCode>General</c:formatCode>
                <c:ptCount val="10"/>
                <c:pt idx="0">
                  <c:v>46277.718807870369</c:v>
                </c:pt>
                <c:pt idx="1">
                  <c:v>46277.802129629628</c:v>
                </c:pt>
                <c:pt idx="2">
                  <c:v>46277.885462962964</c:v>
                </c:pt>
                <c:pt idx="3">
                  <c:v>46277.9687962963</c:v>
                </c:pt>
                <c:pt idx="4">
                  <c:v>46278.052141203705</c:v>
                </c:pt>
                <c:pt idx="5">
                  <c:v>46278.135474537034</c:v>
                </c:pt>
                <c:pt idx="6">
                  <c:v>46278.218807870369</c:v>
                </c:pt>
                <c:pt idx="7">
                  <c:v>46278.302141203705</c:v>
                </c:pt>
                <c:pt idx="8">
                  <c:v>46278.385509259257</c:v>
                </c:pt>
                <c:pt idx="9">
                  <c:v>46278.552129629628</c:v>
                </c:pt>
              </c:numCache>
            </c:numRef>
          </c:xVal>
          <c:yVal>
            <c:numRef>
              <c:f>Sheet1!$B$25:$B$34</c:f>
              <c:numCache>
                <c:formatCode>General</c:formatCode>
                <c:ptCount val="10"/>
                <c:pt idx="0">
                  <c:v>0.85</c:v>
                </c:pt>
                <c:pt idx="1">
                  <c:v>0.8</c:v>
                </c:pt>
                <c:pt idx="2">
                  <c:v>0.8</c:v>
                </c:pt>
                <c:pt idx="3">
                  <c:v>0.85</c:v>
                </c:pt>
                <c:pt idx="4">
                  <c:v>0.85</c:v>
                </c:pt>
                <c:pt idx="5">
                  <c:v>0.85</c:v>
                </c:pt>
                <c:pt idx="6">
                  <c:v>0.9</c:v>
                </c:pt>
                <c:pt idx="7">
                  <c:v>0.85</c:v>
                </c:pt>
                <c:pt idx="8">
                  <c:v>0.88</c:v>
                </c:pt>
                <c:pt idx="9">
                  <c:v>0.85</c:v>
                </c:pt>
              </c:numCache>
            </c:numRef>
          </c:yVal>
          <c:smooth val="0"/>
          <c:extLst>
            <c:ext xmlns:c16="http://schemas.microsoft.com/office/drawing/2014/chart" uri="{C3380CC4-5D6E-409C-BE32-E72D297353CC}">
              <c16:uniqueId val="{00000002-ED05-46BC-A252-BEA0BA356D37}"/>
            </c:ext>
          </c:extLst>
        </c:ser>
        <c:ser>
          <c:idx val="3"/>
          <c:order val="3"/>
          <c:tx>
            <c:strRef>
              <c:f>Sheet1!$B$36</c:f>
              <c:strCache>
                <c:ptCount val="1"/>
                <c:pt idx="0">
                  <c:v>GPT-5.6 Sol</c:v>
                </c:pt>
              </c:strCache>
            </c:strRef>
          </c:tx>
          <c:spPr>
            <a:ln w="25400">
              <a:solidFill>
                <a:srgbClr val="2F6FD6"/>
              </a:solidFill>
            </a:ln>
          </c:spPr>
          <c:marker>
            <c:symbol val="circle"/>
            <c:size val="5"/>
            <c:spPr>
              <a:solidFill>
                <a:srgbClr val="2F6FD6"/>
              </a:solidFill>
              <a:ln>
                <a:solidFill>
                  <a:srgbClr val="2F6FD6"/>
                </a:solidFill>
              </a:ln>
            </c:spPr>
          </c:marker>
          <c:xVal>
            <c:numRef>
              <c:f>Sheet1!$A$37:$A$45</c:f>
              <c:numCache>
                <c:formatCode>General</c:formatCode>
                <c:ptCount val="9"/>
                <c:pt idx="0">
                  <c:v>46277.732685185183</c:v>
                </c:pt>
                <c:pt idx="1">
                  <c:v>46277.816030092596</c:v>
                </c:pt>
                <c:pt idx="2">
                  <c:v>46277.899363425924</c:v>
                </c:pt>
                <c:pt idx="3">
                  <c:v>46277.98269675926</c:v>
                </c:pt>
                <c:pt idx="4">
                  <c:v>46278.066030092596</c:v>
                </c:pt>
                <c:pt idx="5">
                  <c:v>46278.149363425924</c:v>
                </c:pt>
                <c:pt idx="6">
                  <c:v>46278.23269675926</c:v>
                </c:pt>
                <c:pt idx="7">
                  <c:v>46278.316030092596</c:v>
                </c:pt>
                <c:pt idx="8">
                  <c:v>46278.399409722224</c:v>
                </c:pt>
              </c:numCache>
            </c:numRef>
          </c:xVal>
          <c:yVal>
            <c:numRef>
              <c:f>Sheet1!$B$37:$B$45</c:f>
              <c:numCache>
                <c:formatCode>General</c:formatCode>
                <c:ptCount val="9"/>
                <c:pt idx="0">
                  <c:v>0.8</c:v>
                </c:pt>
                <c:pt idx="1">
                  <c:v>0.8</c:v>
                </c:pt>
                <c:pt idx="2">
                  <c:v>0.8</c:v>
                </c:pt>
                <c:pt idx="3">
                  <c:v>0.8</c:v>
                </c:pt>
                <c:pt idx="4">
                  <c:v>0.8</c:v>
                </c:pt>
                <c:pt idx="5">
                  <c:v>0.8</c:v>
                </c:pt>
                <c:pt idx="6">
                  <c:v>0.85</c:v>
                </c:pt>
                <c:pt idx="7">
                  <c:v>0.85</c:v>
                </c:pt>
                <c:pt idx="8">
                  <c:v>0.85</c:v>
                </c:pt>
              </c:numCache>
            </c:numRef>
          </c:yVal>
          <c:smooth val="0"/>
          <c:extLst>
            <c:ext xmlns:c16="http://schemas.microsoft.com/office/drawing/2014/chart" uri="{C3380CC4-5D6E-409C-BE32-E72D297353CC}">
              <c16:uniqueId val="{00000003-ED05-46BC-A252-BEA0BA356D37}"/>
            </c:ext>
          </c:extLst>
        </c:ser>
        <c:ser>
          <c:idx val="4"/>
          <c:order val="4"/>
          <c:tx>
            <c:strRef>
              <c:f>Sheet1!$B$47</c:f>
              <c:strCache>
                <c:ptCount val="1"/>
                <c:pt idx="0">
                  <c:v>Pool price</c:v>
                </c:pt>
              </c:strCache>
            </c:strRef>
          </c:tx>
          <c:spPr>
            <a:ln w="34925">
              <a:solidFill>
                <a:srgbClr val="171C26"/>
              </a:solidFill>
            </a:ln>
          </c:spPr>
          <c:marker>
            <c:symbol val="none"/>
          </c:marker>
          <c:xVal>
            <c:numRef>
              <c:f>Sheet1!$A$48:$A$63</c:f>
              <c:numCache>
                <c:formatCode>General</c:formatCode>
                <c:ptCount val="16"/>
                <c:pt idx="0">
                  <c:v>46277.5</c:v>
                </c:pt>
                <c:pt idx="1">
                  <c:v>46277.531840277778</c:v>
                </c:pt>
                <c:pt idx="2">
                  <c:v>46277.531840277778</c:v>
                </c:pt>
                <c:pt idx="3">
                  <c:v>46277.552604166667</c:v>
                </c:pt>
                <c:pt idx="4">
                  <c:v>46277.552604166667</c:v>
                </c:pt>
                <c:pt idx="5">
                  <c:v>46277.56658564815</c:v>
                </c:pt>
                <c:pt idx="6">
                  <c:v>46277.56658564815</c:v>
                </c:pt>
                <c:pt idx="7">
                  <c:v>46277.567743055559</c:v>
                </c:pt>
                <c:pt idx="8">
                  <c:v>46277.567743055559</c:v>
                </c:pt>
                <c:pt idx="9">
                  <c:v>46277.761284722219</c:v>
                </c:pt>
                <c:pt idx="10">
                  <c:v>46277.761284722219</c:v>
                </c:pt>
                <c:pt idx="11">
                  <c:v>46277.802141203705</c:v>
                </c:pt>
                <c:pt idx="12">
                  <c:v>46277.802141203705</c:v>
                </c:pt>
                <c:pt idx="13">
                  <c:v>46277.80228009259</c:v>
                </c:pt>
                <c:pt idx="14">
                  <c:v>46277.80228009259</c:v>
                </c:pt>
                <c:pt idx="15">
                  <c:v>46278.791666666664</c:v>
                </c:pt>
              </c:numCache>
            </c:numRef>
          </c:xVal>
          <c:yVal>
            <c:numRef>
              <c:f>Sheet1!$B$48:$B$63</c:f>
              <c:numCache>
                <c:formatCode>General</c:formatCode>
                <c:ptCount val="16"/>
                <c:pt idx="0">
                  <c:v>0.73220367040469547</c:v>
                </c:pt>
                <c:pt idx="1">
                  <c:v>0.73220367040469547</c:v>
                </c:pt>
                <c:pt idx="2">
                  <c:v>0.67603530363001396</c:v>
                </c:pt>
                <c:pt idx="3">
                  <c:v>0.67603530363001396</c:v>
                </c:pt>
                <c:pt idx="4">
                  <c:v>0.68144604545173104</c:v>
                </c:pt>
                <c:pt idx="5">
                  <c:v>0.68144604545173104</c:v>
                </c:pt>
                <c:pt idx="6">
                  <c:v>0.65249658904988384</c:v>
                </c:pt>
                <c:pt idx="7">
                  <c:v>0.65249658904988384</c:v>
                </c:pt>
                <c:pt idx="8">
                  <c:v>0.70570526080338458</c:v>
                </c:pt>
                <c:pt idx="9">
                  <c:v>0.70570526080338458</c:v>
                </c:pt>
                <c:pt idx="10">
                  <c:v>0.71372193475530632</c:v>
                </c:pt>
                <c:pt idx="11">
                  <c:v>0.71372193475530632</c:v>
                </c:pt>
                <c:pt idx="12">
                  <c:v>0.7544844612968572</c:v>
                </c:pt>
                <c:pt idx="13">
                  <c:v>0.7544844612968572</c:v>
                </c:pt>
                <c:pt idx="14">
                  <c:v>0.75000628132815317</c:v>
                </c:pt>
                <c:pt idx="15">
                  <c:v>0.75000628132815317</c:v>
                </c:pt>
              </c:numCache>
            </c:numRef>
          </c:yVal>
          <c:smooth val="0"/>
          <c:extLst>
            <c:ext xmlns:c16="http://schemas.microsoft.com/office/drawing/2014/chart" uri="{C3380CC4-5D6E-409C-BE32-E72D297353CC}">
              <c16:uniqueId val="{00000004-ED05-46BC-A252-BEA0BA356D37}"/>
            </c:ext>
          </c:extLst>
        </c:ser>
        <c:ser>
          <c:idx val="5"/>
          <c:order val="5"/>
          <c:tx>
            <c:strRef>
              <c:f>Sheet1!$B$65</c:f>
              <c:strCache>
                <c:ptCount val="1"/>
                <c:pt idx="0">
                  <c:v>Ballots (live, ex-abstain)</c:v>
                </c:pt>
              </c:strCache>
            </c:strRef>
          </c:tx>
          <c:spPr>
            <a:ln w="19050">
              <a:solidFill>
                <a:srgbClr val="8A94A3"/>
              </a:solidFill>
              <a:prstDash val="dash"/>
            </a:ln>
          </c:spPr>
          <c:marker>
            <c:symbol val="none"/>
          </c:marker>
          <c:xVal>
            <c:numRef>
              <c:f>Sheet1!$A$66:$A$67</c:f>
              <c:numCache>
                <c:formatCode>General</c:formatCode>
                <c:ptCount val="2"/>
                <c:pt idx="0">
                  <c:v>46277.5</c:v>
                </c:pt>
                <c:pt idx="1">
                  <c:v>46279</c:v>
                </c:pt>
              </c:numCache>
            </c:numRef>
          </c:xVal>
          <c:yVal>
            <c:numRef>
              <c:f>Sheet1!$B$66:$B$67</c:f>
              <c:numCache>
                <c:formatCode>General</c:formatCode>
                <c:ptCount val="2"/>
                <c:pt idx="0">
                  <c:v>0.876094927683846</c:v>
                </c:pt>
                <c:pt idx="1">
                  <c:v>0.876094927683846</c:v>
                </c:pt>
              </c:numCache>
            </c:numRef>
          </c:yVal>
          <c:smooth val="0"/>
          <c:extLst>
            <c:ext xmlns:c16="http://schemas.microsoft.com/office/drawing/2014/chart" uri="{C3380CC4-5D6E-409C-BE32-E72D297353CC}">
              <c16:uniqueId val="{00000005-ED05-46BC-A252-BEA0BA356D37}"/>
            </c:ext>
          </c:extLst>
        </c:ser>
        <c:ser>
          <c:idx val="6"/>
          <c:order val="6"/>
          <c:tx>
            <c:strRef>
              <c:f>Sheet1!$B$69</c:f>
              <c:strCache>
                <c:ptCount val="1"/>
                <c:pt idx="0">
                  <c:v>Seed price</c:v>
                </c:pt>
              </c:strCache>
            </c:strRef>
          </c:tx>
          <c:spPr>
            <a:ln w="1270">
              <a:solidFill>
                <a:srgbClr val="5C6675"/>
              </a:solidFill>
            </a:ln>
          </c:spPr>
          <c:marker>
            <c:symbol val="diamond"/>
            <c:size val="10"/>
            <c:spPr>
              <a:solidFill>
                <a:srgbClr val="5C6675"/>
              </a:solidFill>
              <a:ln>
                <a:solidFill>
                  <a:srgbClr val="5C6675"/>
                </a:solidFill>
              </a:ln>
            </c:spPr>
          </c:marker>
          <c:xVal>
            <c:numRef>
              <c:f>Sheet1!$A$70:$A$70</c:f>
              <c:numCache>
                <c:formatCode>General</c:formatCode>
                <c:ptCount val="1"/>
                <c:pt idx="0">
                  <c:v>46277.52</c:v>
                </c:pt>
              </c:numCache>
            </c:numRef>
          </c:xVal>
          <c:yVal>
            <c:numRef>
              <c:f>Sheet1!$B$70:$B$70</c:f>
              <c:numCache>
                <c:formatCode>General</c:formatCode>
                <c:ptCount val="1"/>
                <c:pt idx="0">
                  <c:v>0.7</c:v>
                </c:pt>
              </c:numCache>
            </c:numRef>
          </c:yVal>
          <c:smooth val="0"/>
          <c:extLst>
            <c:ext xmlns:c16="http://schemas.microsoft.com/office/drawing/2014/chart" uri="{C3380CC4-5D6E-409C-BE32-E72D297353CC}">
              <c16:uniqueId val="{00000006-ED05-46BC-A252-BEA0BA356D37}"/>
            </c:ext>
          </c:extLst>
        </c:ser>
        <c:dLbls>
          <c:showLegendKey val="0"/>
          <c:showVal val="0"/>
          <c:showCatName val="0"/>
          <c:showSerName val="0"/>
          <c:showPercent val="0"/>
          <c:showBubbleSize val="0"/>
        </c:dLbls>
        <c:axId val="-2128940872"/>
        <c:axId val="-2129643912"/>
      </c:scatterChart>
      <c:valAx>
        <c:axId val="-2128940872"/>
        <c:scaling>
          <c:orientation val="minMax"/>
          <c:max val="46279"/>
          <c:min val="46277.5"/>
        </c:scaling>
        <c:delete val="0"/>
        <c:axPos val="b"/>
        <c:numFmt formatCode="dd\ mmm\ hh:mm" sourceLinked="0"/>
        <c:majorTickMark val="out"/>
        <c:minorTickMark val="none"/>
        <c:tickLblPos val="nextTo"/>
        <c:spPr>
          <a:ln>
            <a:solidFill>
              <a:srgbClr val="D6DBE3"/>
            </a:solidFill>
          </a:ln>
        </c:spPr>
        <c:txPr>
          <a:bodyPr/>
          <a:lstStyle/>
          <a:p>
            <a:pPr>
              <a:defRPr sz="900"/>
            </a:pPr>
            <a:endParaRPr lang="en-US"/>
          </a:p>
        </c:txPr>
        <c:crossAx val="-2129643912"/>
        <c:crosses val="autoZero"/>
        <c:crossBetween val="midCat"/>
        <c:majorUnit val="0.25"/>
      </c:valAx>
      <c:valAx>
        <c:axId val="-2129643912"/>
        <c:scaling>
          <c:orientation val="minMax"/>
          <c:max val="1"/>
          <c:min val="0"/>
        </c:scaling>
        <c:delete val="0"/>
        <c:axPos val="l"/>
        <c:majorGridlines>
          <c:spPr>
            <a:ln w="6350">
              <a:solidFill>
                <a:srgbClr val="D6DBE3"/>
              </a:solidFill>
            </a:ln>
          </c:spPr>
        </c:majorGridlines>
        <c:numFmt formatCode="0%" sourceLinked="0"/>
        <c:majorTickMark val="out"/>
        <c:minorTickMark val="none"/>
        <c:tickLblPos val="nextTo"/>
        <c:spPr>
          <a:ln>
            <a:solidFill>
              <a:srgbClr val="D6DBE3"/>
            </a:solidFill>
          </a:ln>
        </c:spPr>
        <c:txPr>
          <a:bodyPr/>
          <a:lstStyle/>
          <a:p>
            <a:pPr>
              <a:defRPr sz="900"/>
            </a:pPr>
            <a:endParaRPr lang="en-US"/>
          </a:p>
        </c:txPr>
        <c:crossAx val="-2128940872"/>
        <c:crosses val="autoZero"/>
        <c:crossBetween val="midCat"/>
        <c:majorUnit val="0.25"/>
      </c:valAx>
    </c:plotArea>
    <c:legend>
      <c:legendPos val="b"/>
      <c:overlay val="0"/>
      <c:txPr>
        <a:bodyPr/>
        <a:lstStyle/>
        <a:p>
          <a:pPr>
            <a:defRPr sz="950"/>
          </a:pPr>
          <a:endParaRPr lang="en-US"/>
        </a:p>
      </c:txPr>
    </c:legend>
    <c:plotVisOnly val="1"/>
    <c:dispBlanksAs val="gap"/>
    <c:showDLblsOverMax val="0"/>
  </c:chart>
  <c:txPr>
    <a:bodyPr/>
    <a:lstStyle/>
    <a:p>
      <a:pPr>
        <a:defRPr sz="900">
          <a:solidFill>
            <a:srgbClr val="5C6675"/>
          </a:solidFill>
          <a:latin typeface="Segoe U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Q1 NSM issuance smoothing</c:v>
                </c:pt>
              </c:strCache>
            </c:strRef>
          </c:tx>
          <c:spPr>
            <a:ln w="25400">
              <a:solidFill>
                <a:srgbClr val="7A2E8C"/>
              </a:solidFill>
            </a:ln>
          </c:spPr>
          <c:marker>
            <c:symbol val="circle"/>
            <c:size val="5"/>
            <c:spPr>
              <a:solidFill>
                <a:srgbClr val="7A2E8C"/>
              </a:solidFill>
              <a:ln>
                <a:solidFill>
                  <a:srgbClr val="7A2E8C"/>
                </a:solidFill>
              </a:ln>
            </c:spPr>
          </c:marker>
          <c:xVal>
            <c:numRef>
              <c:f>Sheet1!$A$2:$A$11</c:f>
              <c:numCache>
                <c:formatCode>General</c:formatCode>
                <c:ptCount val="10"/>
                <c:pt idx="0">
                  <c:v>46277.75</c:v>
                </c:pt>
                <c:pt idx="1">
                  <c:v>46277.833333333336</c:v>
                </c:pt>
                <c:pt idx="2">
                  <c:v>46277.916666666664</c:v>
                </c:pt>
                <c:pt idx="3">
                  <c:v>46278</c:v>
                </c:pt>
                <c:pt idx="4">
                  <c:v>46278.083333333336</c:v>
                </c:pt>
                <c:pt idx="5">
                  <c:v>46278.166666666664</c:v>
                </c:pt>
                <c:pt idx="6">
                  <c:v>46278.25</c:v>
                </c:pt>
                <c:pt idx="7">
                  <c:v>46278.333333333336</c:v>
                </c:pt>
                <c:pt idx="8">
                  <c:v>46278.416666666664</c:v>
                </c:pt>
                <c:pt idx="9">
                  <c:v>46278.5</c:v>
                </c:pt>
              </c:numCache>
            </c:numRef>
          </c:xVal>
          <c:yVal>
            <c:numRef>
              <c:f>Sheet1!$B$2:$B$11</c:f>
              <c:numCache>
                <c:formatCode>General</c:formatCode>
                <c:ptCount val="10"/>
                <c:pt idx="0">
                  <c:v>6.2199276523123626E-2</c:v>
                </c:pt>
                <c:pt idx="1">
                  <c:v>4.6029881598804938E-2</c:v>
                </c:pt>
                <c:pt idx="2">
                  <c:v>4.6029881598804938E-2</c:v>
                </c:pt>
                <c:pt idx="3">
                  <c:v>4.7169905660283028E-2</c:v>
                </c:pt>
                <c:pt idx="4">
                  <c:v>5.3385391260156567E-2</c:v>
                </c:pt>
                <c:pt idx="5">
                  <c:v>5.11737237261468E-2</c:v>
                </c:pt>
                <c:pt idx="6">
                  <c:v>4.7169905660283014E-2</c:v>
                </c:pt>
                <c:pt idx="7">
                  <c:v>4.7103609203541924E-2</c:v>
                </c:pt>
                <c:pt idx="8">
                  <c:v>3.5355339059327362E-2</c:v>
                </c:pt>
                <c:pt idx="9">
                  <c:v>3.5355339059327362E-2</c:v>
                </c:pt>
              </c:numCache>
            </c:numRef>
          </c:yVal>
          <c:smooth val="0"/>
          <c:extLst>
            <c:ext xmlns:c16="http://schemas.microsoft.com/office/drawing/2014/chart" uri="{C3380CC4-5D6E-409C-BE32-E72D297353CC}">
              <c16:uniqueId val="{00000000-6BD5-4ABA-8FEA-E72236D7D193}"/>
            </c:ext>
          </c:extLst>
        </c:ser>
        <c:ser>
          <c:idx val="1"/>
          <c:order val="1"/>
          <c:tx>
            <c:strRef>
              <c:f>Sheet1!$B$13</c:f>
              <c:strCache>
                <c:ptCount val="1"/>
                <c:pt idx="0">
                  <c:v>Q2 NSM reissuance start</c:v>
                </c:pt>
              </c:strCache>
            </c:strRef>
          </c:tx>
          <c:spPr>
            <a:ln w="25400">
              <a:solidFill>
                <a:srgbClr val="D9A21B"/>
              </a:solidFill>
            </a:ln>
          </c:spPr>
          <c:marker>
            <c:symbol val="circle"/>
            <c:size val="5"/>
            <c:spPr>
              <a:solidFill>
                <a:srgbClr val="D9A21B"/>
              </a:solidFill>
              <a:ln>
                <a:solidFill>
                  <a:srgbClr val="D9A21B"/>
                </a:solidFill>
              </a:ln>
            </c:spPr>
          </c:marker>
          <c:xVal>
            <c:numRef>
              <c:f>Sheet1!$A$14:$A$23</c:f>
              <c:numCache>
                <c:formatCode>General</c:formatCode>
                <c:ptCount val="10"/>
                <c:pt idx="0">
                  <c:v>46277.75</c:v>
                </c:pt>
                <c:pt idx="1">
                  <c:v>46277.833333333336</c:v>
                </c:pt>
                <c:pt idx="2">
                  <c:v>46277.916666666664</c:v>
                </c:pt>
                <c:pt idx="3">
                  <c:v>46278</c:v>
                </c:pt>
                <c:pt idx="4">
                  <c:v>46278.083333333336</c:v>
                </c:pt>
                <c:pt idx="5">
                  <c:v>46278.166666666664</c:v>
                </c:pt>
                <c:pt idx="6">
                  <c:v>46278.25</c:v>
                </c:pt>
                <c:pt idx="7">
                  <c:v>46278.333333333336</c:v>
                </c:pt>
                <c:pt idx="8">
                  <c:v>46278.416666666664</c:v>
                </c:pt>
                <c:pt idx="9">
                  <c:v>46278.5</c:v>
                </c:pt>
              </c:numCache>
            </c:numRef>
          </c:xVal>
          <c:yVal>
            <c:numRef>
              <c:f>Sheet1!$B$14:$B$23</c:f>
              <c:numCache>
                <c:formatCode>General</c:formatCode>
                <c:ptCount val="10"/>
                <c:pt idx="0">
                  <c:v>8.1662414855305357E-2</c:v>
                </c:pt>
                <c:pt idx="1">
                  <c:v>8.1547532151500443E-2</c:v>
                </c:pt>
                <c:pt idx="2">
                  <c:v>8.1547532151500443E-2</c:v>
                </c:pt>
                <c:pt idx="3">
                  <c:v>8.1547532151500443E-2</c:v>
                </c:pt>
                <c:pt idx="4">
                  <c:v>8.1547532151500443E-2</c:v>
                </c:pt>
                <c:pt idx="5">
                  <c:v>6.9462219947248993E-2</c:v>
                </c:pt>
                <c:pt idx="6">
                  <c:v>6.9462219947248993E-2</c:v>
                </c:pt>
                <c:pt idx="7">
                  <c:v>8.1662414855305357E-2</c:v>
                </c:pt>
                <c:pt idx="8">
                  <c:v>6.9462219947248993E-2</c:v>
                </c:pt>
                <c:pt idx="9">
                  <c:v>6.9462219947248993E-2</c:v>
                </c:pt>
              </c:numCache>
            </c:numRef>
          </c:yVal>
          <c:smooth val="0"/>
          <c:extLst>
            <c:ext xmlns:c16="http://schemas.microsoft.com/office/drawing/2014/chart" uri="{C3380CC4-5D6E-409C-BE32-E72D297353CC}">
              <c16:uniqueId val="{00000001-6BD5-4ABA-8FEA-E72236D7D193}"/>
            </c:ext>
          </c:extLst>
        </c:ser>
        <c:ser>
          <c:idx val="2"/>
          <c:order val="2"/>
          <c:tx>
            <c:strRef>
              <c:f>Sheet1!$B$25</c:f>
              <c:strCache>
                <c:ptCount val="1"/>
                <c:pt idx="0">
                  <c:v>Q3 Disable v4 transactions</c:v>
                </c:pt>
              </c:strCache>
            </c:strRef>
          </c:tx>
          <c:spPr>
            <a:ln w="25400">
              <a:solidFill>
                <a:srgbClr val="2F6FD6"/>
              </a:solidFill>
            </a:ln>
          </c:spPr>
          <c:marker>
            <c:symbol val="circle"/>
            <c:size val="5"/>
            <c:spPr>
              <a:solidFill>
                <a:srgbClr val="2F6FD6"/>
              </a:solidFill>
              <a:ln>
                <a:solidFill>
                  <a:srgbClr val="2F6FD6"/>
                </a:solidFill>
              </a:ln>
            </c:spPr>
          </c:marker>
          <c:xVal>
            <c:numRef>
              <c:f>Sheet1!$A$26:$A$35</c:f>
              <c:numCache>
                <c:formatCode>General</c:formatCode>
                <c:ptCount val="10"/>
                <c:pt idx="0">
                  <c:v>46277.75</c:v>
                </c:pt>
                <c:pt idx="1">
                  <c:v>46277.833333333336</c:v>
                </c:pt>
                <c:pt idx="2">
                  <c:v>46277.916666666664</c:v>
                </c:pt>
                <c:pt idx="3">
                  <c:v>46278</c:v>
                </c:pt>
                <c:pt idx="4">
                  <c:v>46278.083333333336</c:v>
                </c:pt>
                <c:pt idx="5">
                  <c:v>46278.166666666664</c:v>
                </c:pt>
                <c:pt idx="6">
                  <c:v>46278.25</c:v>
                </c:pt>
                <c:pt idx="7">
                  <c:v>46278.333333333336</c:v>
                </c:pt>
                <c:pt idx="8">
                  <c:v>46278.416666666664</c:v>
                </c:pt>
                <c:pt idx="9">
                  <c:v>46278.5</c:v>
                </c:pt>
              </c:numCache>
            </c:numRef>
          </c:xVal>
          <c:yVal>
            <c:numRef>
              <c:f>Sheet1!$B$26:$B$35</c:f>
              <c:numCache>
                <c:formatCode>General</c:formatCode>
                <c:ptCount val="10"/>
                <c:pt idx="0">
                  <c:v>0.12173228823939851</c:v>
                </c:pt>
                <c:pt idx="1">
                  <c:v>0.12173228823939851</c:v>
                </c:pt>
                <c:pt idx="2">
                  <c:v>0.11431863365173676</c:v>
                </c:pt>
                <c:pt idx="3">
                  <c:v>0.11324751652906125</c:v>
                </c:pt>
                <c:pt idx="4">
                  <c:v>0.11324751652906125</c:v>
                </c:pt>
                <c:pt idx="5">
                  <c:v>0.11324751652906125</c:v>
                </c:pt>
                <c:pt idx="6">
                  <c:v>0.10464224768228175</c:v>
                </c:pt>
                <c:pt idx="7">
                  <c:v>0.10464224768228175</c:v>
                </c:pt>
                <c:pt idx="8">
                  <c:v>0.10464224768228175</c:v>
                </c:pt>
                <c:pt idx="9">
                  <c:v>0.10464224768228175</c:v>
                </c:pt>
              </c:numCache>
            </c:numRef>
          </c:yVal>
          <c:smooth val="0"/>
          <c:extLst>
            <c:ext xmlns:c16="http://schemas.microsoft.com/office/drawing/2014/chart" uri="{C3380CC4-5D6E-409C-BE32-E72D297353CC}">
              <c16:uniqueId val="{00000002-6BD5-4ABA-8FEA-E72236D7D193}"/>
            </c:ext>
          </c:extLst>
        </c:ser>
        <c:ser>
          <c:idx val="3"/>
          <c:order val="3"/>
          <c:tx>
            <c:strRef>
              <c:f>Sheet1!$B$37</c:f>
              <c:strCache>
                <c:ptCount val="1"/>
                <c:pt idx="0">
                  <c:v>Q4 ZIP-218 faster blocks</c:v>
                </c:pt>
              </c:strCache>
            </c:strRef>
          </c:tx>
          <c:spPr>
            <a:ln w="25400">
              <a:solidFill>
                <a:srgbClr val="1B7F63"/>
              </a:solidFill>
            </a:ln>
          </c:spPr>
          <c:marker>
            <c:symbol val="circle"/>
            <c:size val="5"/>
            <c:spPr>
              <a:solidFill>
                <a:srgbClr val="1B7F63"/>
              </a:solidFill>
              <a:ln>
                <a:solidFill>
                  <a:srgbClr val="1B7F63"/>
                </a:solidFill>
              </a:ln>
            </c:spPr>
          </c:marker>
          <c:xVal>
            <c:numRef>
              <c:f>Sheet1!$A$38:$A$47</c:f>
              <c:numCache>
                <c:formatCode>General</c:formatCode>
                <c:ptCount val="10"/>
                <c:pt idx="0">
                  <c:v>46277.75</c:v>
                </c:pt>
                <c:pt idx="1">
                  <c:v>46277.833333333336</c:v>
                </c:pt>
                <c:pt idx="2">
                  <c:v>46277.916666666664</c:v>
                </c:pt>
                <c:pt idx="3">
                  <c:v>46278</c:v>
                </c:pt>
                <c:pt idx="4">
                  <c:v>46278.083333333336</c:v>
                </c:pt>
                <c:pt idx="5">
                  <c:v>46278.166666666664</c:v>
                </c:pt>
                <c:pt idx="6">
                  <c:v>46278.25</c:v>
                </c:pt>
                <c:pt idx="7">
                  <c:v>46278.333333333336</c:v>
                </c:pt>
                <c:pt idx="8">
                  <c:v>46278.416666666664</c:v>
                </c:pt>
                <c:pt idx="9">
                  <c:v>46278.5</c:v>
                </c:pt>
              </c:numCache>
            </c:numRef>
          </c:xVal>
          <c:yVal>
            <c:numRef>
              <c:f>Sheet1!$B$38:$B$47</c:f>
              <c:numCache>
                <c:formatCode>General</c:formatCode>
                <c:ptCount val="10"/>
                <c:pt idx="0">
                  <c:v>2.7726341266023514E-2</c:v>
                </c:pt>
                <c:pt idx="1">
                  <c:v>2.2912878474779172E-2</c:v>
                </c:pt>
                <c:pt idx="2">
                  <c:v>2.2912878474779172E-2</c:v>
                </c:pt>
                <c:pt idx="3">
                  <c:v>2.7726341266023514E-2</c:v>
                </c:pt>
                <c:pt idx="4">
                  <c:v>2.7726341266023514E-2</c:v>
                </c:pt>
                <c:pt idx="5">
                  <c:v>2.2912878474779172E-2</c:v>
                </c:pt>
                <c:pt idx="6">
                  <c:v>2.7726341266023514E-2</c:v>
                </c:pt>
                <c:pt idx="7">
                  <c:v>2.7726341266023514E-2</c:v>
                </c:pt>
                <c:pt idx="8">
                  <c:v>2.2912878474779172E-2</c:v>
                </c:pt>
                <c:pt idx="9">
                  <c:v>2.2912878474779172E-2</c:v>
                </c:pt>
              </c:numCache>
            </c:numRef>
          </c:yVal>
          <c:smooth val="0"/>
          <c:extLst>
            <c:ext xmlns:c16="http://schemas.microsoft.com/office/drawing/2014/chart" uri="{C3380CC4-5D6E-409C-BE32-E72D297353CC}">
              <c16:uniqueId val="{00000003-6BD5-4ABA-8FEA-E72236D7D193}"/>
            </c:ext>
          </c:extLst>
        </c:ser>
        <c:ser>
          <c:idx val="4"/>
          <c:order val="4"/>
          <c:tx>
            <c:strRef>
              <c:f>Sheet1!$B$49</c:f>
              <c:strCache>
                <c:ptCount val="1"/>
                <c:pt idx="0">
                  <c:v>Q5 Sept-30 feature deadline</c:v>
                </c:pt>
              </c:strCache>
            </c:strRef>
          </c:tx>
          <c:spPr>
            <a:ln w="25400">
              <a:solidFill>
                <a:srgbClr val="C4552A"/>
              </a:solidFill>
            </a:ln>
          </c:spPr>
          <c:marker>
            <c:symbol val="circle"/>
            <c:size val="5"/>
            <c:spPr>
              <a:solidFill>
                <a:srgbClr val="C4552A"/>
              </a:solidFill>
              <a:ln>
                <a:solidFill>
                  <a:srgbClr val="C4552A"/>
                </a:solidFill>
              </a:ln>
            </c:spPr>
          </c:marker>
          <c:xVal>
            <c:numRef>
              <c:f>Sheet1!$A$50:$A$59</c:f>
              <c:numCache>
                <c:formatCode>General</c:formatCode>
                <c:ptCount val="10"/>
                <c:pt idx="0">
                  <c:v>46277.75</c:v>
                </c:pt>
                <c:pt idx="1">
                  <c:v>46277.833333333336</c:v>
                </c:pt>
                <c:pt idx="2">
                  <c:v>46277.916666666664</c:v>
                </c:pt>
                <c:pt idx="3">
                  <c:v>46278</c:v>
                </c:pt>
                <c:pt idx="4">
                  <c:v>46278.083333333336</c:v>
                </c:pt>
                <c:pt idx="5">
                  <c:v>46278.166666666664</c:v>
                </c:pt>
                <c:pt idx="6">
                  <c:v>46278.25</c:v>
                </c:pt>
                <c:pt idx="7">
                  <c:v>46278.333333333336</c:v>
                </c:pt>
                <c:pt idx="8">
                  <c:v>46278.416666666664</c:v>
                </c:pt>
                <c:pt idx="9">
                  <c:v>46278.5</c:v>
                </c:pt>
              </c:numCache>
            </c:numRef>
          </c:xVal>
          <c:yVal>
            <c:numRef>
              <c:f>Sheet1!$B$50:$B$59</c:f>
              <c:numCache>
                <c:formatCode>General</c:formatCode>
                <c:ptCount val="10"/>
                <c:pt idx="0">
                  <c:v>3.7749172176353728E-2</c:v>
                </c:pt>
                <c:pt idx="1">
                  <c:v>3.8971143170299725E-2</c:v>
                </c:pt>
                <c:pt idx="2">
                  <c:v>3.8971143170299725E-2</c:v>
                </c:pt>
                <c:pt idx="3">
                  <c:v>3.7749172176353728E-2</c:v>
                </c:pt>
                <c:pt idx="4">
                  <c:v>3.7749172176353728E-2</c:v>
                </c:pt>
                <c:pt idx="5">
                  <c:v>3.7749172176353728E-2</c:v>
                </c:pt>
                <c:pt idx="6">
                  <c:v>3.9370039370059048E-2</c:v>
                </c:pt>
                <c:pt idx="7">
                  <c:v>3.1917863337009252E-2</c:v>
                </c:pt>
                <c:pt idx="8">
                  <c:v>3.4999999999999989E-2</c:v>
                </c:pt>
                <c:pt idx="9">
                  <c:v>3.4999999999999989E-2</c:v>
                </c:pt>
              </c:numCache>
            </c:numRef>
          </c:yVal>
          <c:smooth val="0"/>
          <c:extLst>
            <c:ext xmlns:c16="http://schemas.microsoft.com/office/drawing/2014/chart" uri="{C3380CC4-5D6E-409C-BE32-E72D297353CC}">
              <c16:uniqueId val="{00000004-6BD5-4ABA-8FEA-E72236D7D193}"/>
            </c:ext>
          </c:extLst>
        </c:ser>
        <c:dLbls>
          <c:showLegendKey val="0"/>
          <c:showVal val="0"/>
          <c:showCatName val="0"/>
          <c:showSerName val="0"/>
          <c:showPercent val="0"/>
          <c:showBubbleSize val="0"/>
        </c:dLbls>
        <c:axId val="-2128940872"/>
        <c:axId val="-2129643912"/>
      </c:scatterChart>
      <c:valAx>
        <c:axId val="-2128940872"/>
        <c:scaling>
          <c:orientation val="minMax"/>
          <c:max val="46278.75"/>
          <c:min val="46277.5"/>
        </c:scaling>
        <c:delete val="0"/>
        <c:axPos val="b"/>
        <c:numFmt formatCode="dd\ mmm\ hh:mm" sourceLinked="0"/>
        <c:majorTickMark val="out"/>
        <c:minorTickMark val="none"/>
        <c:tickLblPos val="nextTo"/>
        <c:spPr>
          <a:ln>
            <a:solidFill>
              <a:srgbClr val="D6DBE3"/>
            </a:solidFill>
          </a:ln>
        </c:spPr>
        <c:txPr>
          <a:bodyPr/>
          <a:lstStyle/>
          <a:p>
            <a:pPr>
              <a:defRPr sz="900"/>
            </a:pPr>
            <a:endParaRPr lang="en-US"/>
          </a:p>
        </c:txPr>
        <c:crossAx val="-2129643912"/>
        <c:crosses val="autoZero"/>
        <c:crossBetween val="midCat"/>
        <c:majorUnit val="0.5"/>
      </c:valAx>
      <c:valAx>
        <c:axId val="-2129643912"/>
        <c:scaling>
          <c:orientation val="minMax"/>
          <c:max val="0.15"/>
          <c:min val="0"/>
        </c:scaling>
        <c:delete val="0"/>
        <c:axPos val="l"/>
        <c:majorGridlines>
          <c:spPr>
            <a:ln w="6350">
              <a:solidFill>
                <a:srgbClr val="D6DBE3"/>
              </a:solidFill>
            </a:ln>
          </c:spPr>
        </c:majorGridlines>
        <c:numFmt formatCode="0.00" sourceLinked="0"/>
        <c:majorTickMark val="out"/>
        <c:minorTickMark val="none"/>
        <c:tickLblPos val="nextTo"/>
        <c:spPr>
          <a:ln>
            <a:solidFill>
              <a:srgbClr val="D6DBE3"/>
            </a:solidFill>
          </a:ln>
        </c:spPr>
        <c:txPr>
          <a:bodyPr/>
          <a:lstStyle/>
          <a:p>
            <a:pPr>
              <a:defRPr sz="900"/>
            </a:pPr>
            <a:endParaRPr lang="en-US"/>
          </a:p>
        </c:txPr>
        <c:crossAx val="-2128940872"/>
        <c:crosses val="autoZero"/>
        <c:crossBetween val="midCat"/>
        <c:majorUnit val="0.05"/>
      </c:valAx>
    </c:plotArea>
    <c:legend>
      <c:legendPos val="b"/>
      <c:overlay val="0"/>
      <c:txPr>
        <a:bodyPr/>
        <a:lstStyle/>
        <a:p>
          <a:pPr>
            <a:defRPr sz="950"/>
          </a:pPr>
          <a:endParaRPr lang="en-US"/>
        </a:p>
      </c:txPr>
    </c:legend>
    <c:plotVisOnly val="1"/>
    <c:dispBlanksAs val="gap"/>
    <c:showDLblsOverMax val="0"/>
  </c:chart>
  <c:txPr>
    <a:bodyPr/>
    <a:lstStyle/>
    <a:p>
      <a:pPr>
        <a:defRPr sz="900">
          <a:solidFill>
            <a:srgbClr val="5C6675"/>
          </a:solidFill>
          <a:latin typeface="Segoe U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Q1 NSM issuance smoothing</c:v>
                </c:pt>
              </c:strCache>
            </c:strRef>
          </c:tx>
          <c:spPr>
            <a:ln w="25400">
              <a:solidFill>
                <a:srgbClr val="7A2E8C"/>
              </a:solidFill>
            </a:ln>
          </c:spPr>
          <c:marker>
            <c:symbol val="circle"/>
            <c:size val="5"/>
            <c:spPr>
              <a:solidFill>
                <a:srgbClr val="7A2E8C"/>
              </a:solidFill>
              <a:ln>
                <a:solidFill>
                  <a:srgbClr val="7A2E8C"/>
                </a:solidFill>
              </a:ln>
            </c:spPr>
          </c:marker>
          <c:xVal>
            <c:numRef>
              <c:f>Sheet1!$A$2:$A$11</c:f>
              <c:numCache>
                <c:formatCode>General</c:formatCode>
                <c:ptCount val="10"/>
                <c:pt idx="0">
                  <c:v>46277.75</c:v>
                </c:pt>
                <c:pt idx="1">
                  <c:v>46277.833333333336</c:v>
                </c:pt>
                <c:pt idx="2">
                  <c:v>46277.916666666664</c:v>
                </c:pt>
                <c:pt idx="3">
                  <c:v>46278</c:v>
                </c:pt>
                <c:pt idx="4">
                  <c:v>46278.083333333336</c:v>
                </c:pt>
                <c:pt idx="5">
                  <c:v>46278.166666666664</c:v>
                </c:pt>
                <c:pt idx="6">
                  <c:v>46278.25</c:v>
                </c:pt>
                <c:pt idx="7">
                  <c:v>46278.333333333336</c:v>
                </c:pt>
                <c:pt idx="8">
                  <c:v>46278.416666666664</c:v>
                </c:pt>
                <c:pt idx="9">
                  <c:v>46278.5</c:v>
                </c:pt>
              </c:numCache>
            </c:numRef>
          </c:xVal>
          <c:yVal>
            <c:numRef>
              <c:f>Sheet1!$B$2:$B$11</c:f>
              <c:numCache>
                <c:formatCode>General</c:formatCode>
                <c:ptCount val="10"/>
                <c:pt idx="0">
                  <c:v>5.2499999999999991E-2</c:v>
                </c:pt>
                <c:pt idx="1">
                  <c:v>3.4167942843862681E-2</c:v>
                </c:pt>
                <c:pt idx="2">
                  <c:v>3.4167942843862681E-2</c:v>
                </c:pt>
                <c:pt idx="3">
                  <c:v>3.6667942843862683E-2</c:v>
                </c:pt>
                <c:pt idx="4">
                  <c:v>4.1667942843862688E-2</c:v>
                </c:pt>
                <c:pt idx="5">
                  <c:v>4.250000000000001E-2</c:v>
                </c:pt>
                <c:pt idx="6">
                  <c:v>4.0000000000000008E-2</c:v>
                </c:pt>
                <c:pt idx="7">
                  <c:v>3.7500000000000006E-2</c:v>
                </c:pt>
                <c:pt idx="8">
                  <c:v>2.6667942843862674E-2</c:v>
                </c:pt>
                <c:pt idx="9">
                  <c:v>2.6667942843862674E-2</c:v>
                </c:pt>
              </c:numCache>
            </c:numRef>
          </c:yVal>
          <c:smooth val="0"/>
          <c:extLst>
            <c:ext xmlns:c16="http://schemas.microsoft.com/office/drawing/2014/chart" uri="{C3380CC4-5D6E-409C-BE32-E72D297353CC}">
              <c16:uniqueId val="{00000000-6DAB-4F9A-9D63-96BDACB85172}"/>
            </c:ext>
          </c:extLst>
        </c:ser>
        <c:ser>
          <c:idx val="1"/>
          <c:order val="1"/>
          <c:tx>
            <c:strRef>
              <c:f>Sheet1!$B$13</c:f>
              <c:strCache>
                <c:ptCount val="1"/>
                <c:pt idx="0">
                  <c:v>Q2 NSM reissuance start</c:v>
                </c:pt>
              </c:strCache>
            </c:strRef>
          </c:tx>
          <c:spPr>
            <a:ln w="25400">
              <a:solidFill>
                <a:srgbClr val="D9A21B"/>
              </a:solidFill>
            </a:ln>
          </c:spPr>
          <c:marker>
            <c:symbol val="circle"/>
            <c:size val="5"/>
            <c:spPr>
              <a:solidFill>
                <a:srgbClr val="D9A21B"/>
              </a:solidFill>
              <a:ln>
                <a:solidFill>
                  <a:srgbClr val="D9A21B"/>
                </a:solidFill>
              </a:ln>
            </c:spPr>
          </c:marker>
          <c:xVal>
            <c:numRef>
              <c:f>Sheet1!$A$14:$A$23</c:f>
              <c:numCache>
                <c:formatCode>General</c:formatCode>
                <c:ptCount val="10"/>
                <c:pt idx="0">
                  <c:v>46277.75</c:v>
                </c:pt>
                <c:pt idx="1">
                  <c:v>46277.833333333336</c:v>
                </c:pt>
                <c:pt idx="2">
                  <c:v>46277.916666666664</c:v>
                </c:pt>
                <c:pt idx="3">
                  <c:v>46278</c:v>
                </c:pt>
                <c:pt idx="4">
                  <c:v>46278.083333333336</c:v>
                </c:pt>
                <c:pt idx="5">
                  <c:v>46278.166666666664</c:v>
                </c:pt>
                <c:pt idx="6">
                  <c:v>46278.25</c:v>
                </c:pt>
                <c:pt idx="7">
                  <c:v>46278.333333333336</c:v>
                </c:pt>
                <c:pt idx="8">
                  <c:v>46278.416666666664</c:v>
                </c:pt>
                <c:pt idx="9">
                  <c:v>46278.5</c:v>
                </c:pt>
              </c:numCache>
            </c:numRef>
          </c:xVal>
          <c:yVal>
            <c:numRef>
              <c:f>Sheet1!$B$14:$B$23</c:f>
              <c:numCache>
                <c:formatCode>General</c:formatCode>
                <c:ptCount val="10"/>
                <c:pt idx="0">
                  <c:v>0.39481442305924391</c:v>
                </c:pt>
                <c:pt idx="1">
                  <c:v>0.26301870728835219</c:v>
                </c:pt>
                <c:pt idx="2">
                  <c:v>0.26301870728835219</c:v>
                </c:pt>
                <c:pt idx="3">
                  <c:v>0.26301870728835219</c:v>
                </c:pt>
                <c:pt idx="4">
                  <c:v>0.26301870728835219</c:v>
                </c:pt>
                <c:pt idx="5">
                  <c:v>0.27801870728835221</c:v>
                </c:pt>
                <c:pt idx="6">
                  <c:v>0.27801870728835221</c:v>
                </c:pt>
                <c:pt idx="7">
                  <c:v>0.26551870728835214</c:v>
                </c:pt>
                <c:pt idx="8">
                  <c:v>0.27801870728835221</c:v>
                </c:pt>
                <c:pt idx="9">
                  <c:v>0.27801870728835221</c:v>
                </c:pt>
              </c:numCache>
            </c:numRef>
          </c:yVal>
          <c:smooth val="0"/>
          <c:extLst>
            <c:ext xmlns:c16="http://schemas.microsoft.com/office/drawing/2014/chart" uri="{C3380CC4-5D6E-409C-BE32-E72D297353CC}">
              <c16:uniqueId val="{00000001-6DAB-4F9A-9D63-96BDACB85172}"/>
            </c:ext>
          </c:extLst>
        </c:ser>
        <c:ser>
          <c:idx val="2"/>
          <c:order val="2"/>
          <c:tx>
            <c:strRef>
              <c:f>Sheet1!$B$25</c:f>
              <c:strCache>
                <c:ptCount val="1"/>
                <c:pt idx="0">
                  <c:v>Q3 Disable v4 transactions</c:v>
                </c:pt>
              </c:strCache>
            </c:strRef>
          </c:tx>
          <c:spPr>
            <a:ln w="25400">
              <a:solidFill>
                <a:srgbClr val="2F6FD6"/>
              </a:solidFill>
            </a:ln>
          </c:spPr>
          <c:marker>
            <c:symbol val="circle"/>
            <c:size val="5"/>
            <c:spPr>
              <a:solidFill>
                <a:srgbClr val="2F6FD6"/>
              </a:solidFill>
              <a:ln>
                <a:solidFill>
                  <a:srgbClr val="2F6FD6"/>
                </a:solidFill>
              </a:ln>
            </c:spPr>
          </c:marker>
          <c:xVal>
            <c:numRef>
              <c:f>Sheet1!$A$26:$A$35</c:f>
              <c:numCache>
                <c:formatCode>General</c:formatCode>
                <c:ptCount val="10"/>
                <c:pt idx="0">
                  <c:v>46277.75</c:v>
                </c:pt>
                <c:pt idx="1">
                  <c:v>46277.833333333336</c:v>
                </c:pt>
                <c:pt idx="2">
                  <c:v>46277.916666666664</c:v>
                </c:pt>
                <c:pt idx="3">
                  <c:v>46278</c:v>
                </c:pt>
                <c:pt idx="4">
                  <c:v>46278.083333333336</c:v>
                </c:pt>
                <c:pt idx="5">
                  <c:v>46278.166666666664</c:v>
                </c:pt>
                <c:pt idx="6">
                  <c:v>46278.25</c:v>
                </c:pt>
                <c:pt idx="7">
                  <c:v>46278.333333333336</c:v>
                </c:pt>
                <c:pt idx="8">
                  <c:v>46278.416666666664</c:v>
                </c:pt>
                <c:pt idx="9">
                  <c:v>46278.5</c:v>
                </c:pt>
              </c:numCache>
            </c:numRef>
          </c:xVal>
          <c:yVal>
            <c:numRef>
              <c:f>Sheet1!$B$26:$B$35</c:f>
              <c:numCache>
                <c:formatCode>General</c:formatCode>
                <c:ptCount val="10"/>
                <c:pt idx="0">
                  <c:v>0.23135107321764209</c:v>
                </c:pt>
                <c:pt idx="1">
                  <c:v>0.23135107321764209</c:v>
                </c:pt>
                <c:pt idx="2">
                  <c:v>0.2413510732176421</c:v>
                </c:pt>
                <c:pt idx="3">
                  <c:v>0.2438510732176421</c:v>
                </c:pt>
                <c:pt idx="4">
                  <c:v>0.2438510732176421</c:v>
                </c:pt>
                <c:pt idx="5">
                  <c:v>0.2438510732176421</c:v>
                </c:pt>
                <c:pt idx="6">
                  <c:v>0.26885107321764212</c:v>
                </c:pt>
                <c:pt idx="7">
                  <c:v>0.26885107321764212</c:v>
                </c:pt>
                <c:pt idx="8">
                  <c:v>0.26885107321764212</c:v>
                </c:pt>
                <c:pt idx="9">
                  <c:v>0.26885107321764212</c:v>
                </c:pt>
              </c:numCache>
            </c:numRef>
          </c:yVal>
          <c:smooth val="0"/>
          <c:extLst>
            <c:ext xmlns:c16="http://schemas.microsoft.com/office/drawing/2014/chart" uri="{C3380CC4-5D6E-409C-BE32-E72D297353CC}">
              <c16:uniqueId val="{00000002-6DAB-4F9A-9D63-96BDACB85172}"/>
            </c:ext>
          </c:extLst>
        </c:ser>
        <c:ser>
          <c:idx val="3"/>
          <c:order val="3"/>
          <c:tx>
            <c:strRef>
              <c:f>Sheet1!$B$37</c:f>
              <c:strCache>
                <c:ptCount val="1"/>
                <c:pt idx="0">
                  <c:v>Q4 ZIP-218 faster blocks</c:v>
                </c:pt>
              </c:strCache>
            </c:strRef>
          </c:tx>
          <c:spPr>
            <a:ln w="25400">
              <a:solidFill>
                <a:srgbClr val="1B7F63"/>
              </a:solidFill>
            </a:ln>
          </c:spPr>
          <c:marker>
            <c:symbol val="circle"/>
            <c:size val="5"/>
            <c:spPr>
              <a:solidFill>
                <a:srgbClr val="1B7F63"/>
              </a:solidFill>
              <a:ln>
                <a:solidFill>
                  <a:srgbClr val="1B7F63"/>
                </a:solidFill>
              </a:ln>
            </c:spPr>
          </c:marker>
          <c:xVal>
            <c:numRef>
              <c:f>Sheet1!$A$38:$A$47</c:f>
              <c:numCache>
                <c:formatCode>General</c:formatCode>
                <c:ptCount val="10"/>
                <c:pt idx="0">
                  <c:v>46277.75</c:v>
                </c:pt>
                <c:pt idx="1">
                  <c:v>46277.833333333336</c:v>
                </c:pt>
                <c:pt idx="2">
                  <c:v>46277.916666666664</c:v>
                </c:pt>
                <c:pt idx="3">
                  <c:v>46278</c:v>
                </c:pt>
                <c:pt idx="4">
                  <c:v>46278.083333333336</c:v>
                </c:pt>
                <c:pt idx="5">
                  <c:v>46278.166666666664</c:v>
                </c:pt>
                <c:pt idx="6">
                  <c:v>46278.25</c:v>
                </c:pt>
                <c:pt idx="7">
                  <c:v>46278.333333333336</c:v>
                </c:pt>
                <c:pt idx="8">
                  <c:v>46278.416666666664</c:v>
                </c:pt>
                <c:pt idx="9">
                  <c:v>46278.5</c:v>
                </c:pt>
              </c:numCache>
            </c:numRef>
          </c:xVal>
          <c:yVal>
            <c:numRef>
              <c:f>Sheet1!$B$38:$B$47</c:f>
              <c:numCache>
                <c:formatCode>General</c:formatCode>
                <c:ptCount val="10"/>
                <c:pt idx="0">
                  <c:v>4.7518820390542005E-2</c:v>
                </c:pt>
                <c:pt idx="1">
                  <c:v>5.5018820390542011E-2</c:v>
                </c:pt>
                <c:pt idx="2">
                  <c:v>5.5018820390542011E-2</c:v>
                </c:pt>
                <c:pt idx="3">
                  <c:v>4.7518820390542005E-2</c:v>
                </c:pt>
                <c:pt idx="4">
                  <c:v>4.7518820390542005E-2</c:v>
                </c:pt>
                <c:pt idx="5">
                  <c:v>5.5018820390542011E-2</c:v>
                </c:pt>
                <c:pt idx="6">
                  <c:v>4.7518820390542005E-2</c:v>
                </c:pt>
                <c:pt idx="7">
                  <c:v>4.7518820390542005E-2</c:v>
                </c:pt>
                <c:pt idx="8">
                  <c:v>5.5018820390542011E-2</c:v>
                </c:pt>
                <c:pt idx="9">
                  <c:v>5.5018820390542011E-2</c:v>
                </c:pt>
              </c:numCache>
            </c:numRef>
          </c:yVal>
          <c:smooth val="0"/>
          <c:extLst>
            <c:ext xmlns:c16="http://schemas.microsoft.com/office/drawing/2014/chart" uri="{C3380CC4-5D6E-409C-BE32-E72D297353CC}">
              <c16:uniqueId val="{00000003-6DAB-4F9A-9D63-96BDACB85172}"/>
            </c:ext>
          </c:extLst>
        </c:ser>
        <c:ser>
          <c:idx val="4"/>
          <c:order val="4"/>
          <c:tx>
            <c:strRef>
              <c:f>Sheet1!$B$49</c:f>
              <c:strCache>
                <c:ptCount val="1"/>
                <c:pt idx="0">
                  <c:v>Q5 Sept-30 feature deadline</c:v>
                </c:pt>
              </c:strCache>
            </c:strRef>
          </c:tx>
          <c:spPr>
            <a:ln w="25400">
              <a:solidFill>
                <a:srgbClr val="C4552A"/>
              </a:solidFill>
            </a:ln>
          </c:spPr>
          <c:marker>
            <c:symbol val="circle"/>
            <c:size val="5"/>
            <c:spPr>
              <a:solidFill>
                <a:srgbClr val="C4552A"/>
              </a:solidFill>
              <a:ln>
                <a:solidFill>
                  <a:srgbClr val="C4552A"/>
                </a:solidFill>
              </a:ln>
            </c:spPr>
          </c:marker>
          <c:xVal>
            <c:numRef>
              <c:f>Sheet1!$A$50:$A$59</c:f>
              <c:numCache>
                <c:formatCode>General</c:formatCode>
                <c:ptCount val="10"/>
                <c:pt idx="0">
                  <c:v>46277.75</c:v>
                </c:pt>
                <c:pt idx="1">
                  <c:v>46277.833333333336</c:v>
                </c:pt>
                <c:pt idx="2">
                  <c:v>46277.916666666664</c:v>
                </c:pt>
                <c:pt idx="3">
                  <c:v>46278</c:v>
                </c:pt>
                <c:pt idx="4">
                  <c:v>46278.083333333336</c:v>
                </c:pt>
                <c:pt idx="5">
                  <c:v>46278.166666666664</c:v>
                </c:pt>
                <c:pt idx="6">
                  <c:v>46278.25</c:v>
                </c:pt>
                <c:pt idx="7">
                  <c:v>46278.333333333336</c:v>
                </c:pt>
                <c:pt idx="8">
                  <c:v>46278.416666666664</c:v>
                </c:pt>
                <c:pt idx="9">
                  <c:v>46278.5</c:v>
                </c:pt>
              </c:numCache>
            </c:numRef>
          </c:xVal>
          <c:yVal>
            <c:numRef>
              <c:f>Sheet1!$B$50:$B$59</c:f>
              <c:numCache>
                <c:formatCode>General</c:formatCode>
                <c:ptCount val="10"/>
                <c:pt idx="0">
                  <c:v>0.12929473919661544</c:v>
                </c:pt>
                <c:pt idx="1">
                  <c:v>7.2493718671846868E-2</c:v>
                </c:pt>
                <c:pt idx="2">
                  <c:v>7.2493718671846868E-2</c:v>
                </c:pt>
                <c:pt idx="3">
                  <c:v>8.4993718671846852E-2</c:v>
                </c:pt>
                <c:pt idx="4">
                  <c:v>8.4993718671846852E-2</c:v>
                </c:pt>
                <c:pt idx="5">
                  <c:v>8.4993718671846852E-2</c:v>
                </c:pt>
                <c:pt idx="6">
                  <c:v>0.10999371867184685</c:v>
                </c:pt>
                <c:pt idx="7">
                  <c:v>9.7493718671846835E-2</c:v>
                </c:pt>
                <c:pt idx="8">
                  <c:v>0.10499371867184684</c:v>
                </c:pt>
                <c:pt idx="9">
                  <c:v>0.10499371867184684</c:v>
                </c:pt>
              </c:numCache>
            </c:numRef>
          </c:yVal>
          <c:smooth val="0"/>
          <c:extLst>
            <c:ext xmlns:c16="http://schemas.microsoft.com/office/drawing/2014/chart" uri="{C3380CC4-5D6E-409C-BE32-E72D297353CC}">
              <c16:uniqueId val="{00000004-6DAB-4F9A-9D63-96BDACB85172}"/>
            </c:ext>
          </c:extLst>
        </c:ser>
        <c:dLbls>
          <c:showLegendKey val="0"/>
          <c:showVal val="0"/>
          <c:showCatName val="0"/>
          <c:showSerName val="0"/>
          <c:showPercent val="0"/>
          <c:showBubbleSize val="0"/>
        </c:dLbls>
        <c:axId val="-2128940872"/>
        <c:axId val="-2129643912"/>
      </c:scatterChart>
      <c:valAx>
        <c:axId val="-2128940872"/>
        <c:scaling>
          <c:orientation val="minMax"/>
          <c:max val="46278.75"/>
          <c:min val="46277.5"/>
        </c:scaling>
        <c:delete val="0"/>
        <c:axPos val="b"/>
        <c:numFmt formatCode="dd\ mmm\ hh:mm" sourceLinked="0"/>
        <c:majorTickMark val="out"/>
        <c:minorTickMark val="none"/>
        <c:tickLblPos val="nextTo"/>
        <c:spPr>
          <a:ln>
            <a:solidFill>
              <a:srgbClr val="D6DBE3"/>
            </a:solidFill>
          </a:ln>
        </c:spPr>
        <c:txPr>
          <a:bodyPr/>
          <a:lstStyle/>
          <a:p>
            <a:pPr>
              <a:defRPr sz="900"/>
            </a:pPr>
            <a:endParaRPr lang="en-US"/>
          </a:p>
        </c:txPr>
        <c:crossAx val="-2129643912"/>
        <c:crosses val="autoZero"/>
        <c:crossBetween val="midCat"/>
        <c:majorUnit val="0.5"/>
      </c:valAx>
      <c:valAx>
        <c:axId val="-2129643912"/>
        <c:scaling>
          <c:orientation val="minMax"/>
          <c:max val="0.45"/>
          <c:min val="0"/>
        </c:scaling>
        <c:delete val="0"/>
        <c:axPos val="l"/>
        <c:majorGridlines>
          <c:spPr>
            <a:ln w="6350">
              <a:solidFill>
                <a:srgbClr val="D6DBE3"/>
              </a:solidFill>
            </a:ln>
          </c:spPr>
        </c:majorGridlines>
        <c:numFmt formatCode="0.00" sourceLinked="0"/>
        <c:majorTickMark val="out"/>
        <c:minorTickMark val="none"/>
        <c:tickLblPos val="nextTo"/>
        <c:spPr>
          <a:ln>
            <a:solidFill>
              <a:srgbClr val="D6DBE3"/>
            </a:solidFill>
          </a:ln>
        </c:spPr>
        <c:txPr>
          <a:bodyPr/>
          <a:lstStyle/>
          <a:p>
            <a:pPr>
              <a:defRPr sz="900"/>
            </a:pPr>
            <a:endParaRPr lang="en-US"/>
          </a:p>
        </c:txPr>
        <c:crossAx val="-2128940872"/>
        <c:crosses val="autoZero"/>
        <c:crossBetween val="midCat"/>
        <c:majorUnit val="0.15"/>
      </c:valAx>
    </c:plotArea>
    <c:legend>
      <c:legendPos val="b"/>
      <c:overlay val="0"/>
      <c:txPr>
        <a:bodyPr/>
        <a:lstStyle/>
        <a:p>
          <a:pPr>
            <a:defRPr sz="950"/>
          </a:pPr>
          <a:endParaRPr lang="en-US"/>
        </a:p>
      </c:txPr>
    </c:legend>
    <c:plotVisOnly val="1"/>
    <c:dispBlanksAs val="gap"/>
    <c:showDLblsOverMax val="0"/>
  </c:chart>
  <c:txPr>
    <a:bodyPr/>
    <a:lstStyle/>
    <a:p>
      <a:pPr>
        <a:defRPr sz="900">
          <a:solidFill>
            <a:srgbClr val="5C6675"/>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AD297-C9F1-4727-A8C7-11C0996389B5}"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0A9217-2A89-4182-A49C-625C17453DD5}" type="slidenum">
              <a:rPr lang="en-US" smtClean="0"/>
              <a:t>‹#›</a:t>
            </a:fld>
            <a:endParaRPr lang="en-US"/>
          </a:p>
        </p:txBody>
      </p:sp>
    </p:spTree>
    <p:extLst>
      <p:ext uri="{BB962C8B-B14F-4D97-AF65-F5344CB8AC3E}">
        <p14:creationId xmlns:p14="http://schemas.microsoft.com/office/powerpoint/2010/main" val="1953250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0A9217-2A89-4182-A49C-625C17453DD5}" type="slidenum">
              <a:rPr lang="en-US" smtClean="0"/>
              <a:t>3</a:t>
            </a:fld>
            <a:endParaRPr lang="en-US"/>
          </a:p>
        </p:txBody>
      </p:sp>
    </p:spTree>
    <p:extLst>
      <p:ext uri="{BB962C8B-B14F-4D97-AF65-F5344CB8AC3E}">
        <p14:creationId xmlns:p14="http://schemas.microsoft.com/office/powerpoint/2010/main" val="2767352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A2B"/>
        </a:solidFill>
        <a:effectLst/>
      </p:bgPr>
    </p:bg>
    <p:spTree>
      <p:nvGrpSpPr>
        <p:cNvPr id="1" name=""/>
        <p:cNvGrpSpPr/>
        <p:nvPr/>
      </p:nvGrpSpPr>
      <p:grpSpPr>
        <a:xfrm>
          <a:off x="0" y="0"/>
          <a:ext cx="0" cy="0"/>
          <a:chOff x="0" y="0"/>
          <a:chExt cx="0" cy="0"/>
        </a:xfrm>
      </p:grpSpPr>
      <p:sp>
        <p:nvSpPr>
          <p:cNvPr id="2" name="TextBox 1"/>
          <p:cNvSpPr txBox="1"/>
          <p:nvPr/>
        </p:nvSpPr>
        <p:spPr>
          <a:xfrm>
            <a:off x="731520" y="1325880"/>
            <a:ext cx="10058400" cy="365760"/>
          </a:xfrm>
          <a:prstGeom prst="rect">
            <a:avLst/>
          </a:prstGeom>
          <a:noFill/>
        </p:spPr>
        <p:txBody>
          <a:bodyPr wrap="square" lIns="36576" tIns="18288" rIns="36576" bIns="18288" anchor="t">
            <a:spAutoFit/>
          </a:bodyPr>
          <a:lstStyle/>
          <a:p>
            <a:pPr algn="l">
              <a:spcBef>
                <a:spcPts val="0"/>
              </a:spcBef>
              <a:spcAft>
                <a:spcPts val="0"/>
              </a:spcAft>
            </a:pPr>
            <a:r>
              <a:rPr sz="1100" b="1" i="0">
                <a:solidFill>
                  <a:srgbClr val="D9A21B"/>
                </a:solidFill>
                <a:latin typeface="Segoe UI"/>
              </a:rPr>
              <a:t>SEER PREDICTION MARKETS  ·  ZCASH NU7 COINHOLDER POLL  ·  OPTIMISM</a:t>
            </a:r>
          </a:p>
        </p:txBody>
      </p:sp>
      <p:sp>
        <p:nvSpPr>
          <p:cNvPr id="3" name="TextBox 2"/>
          <p:cNvSpPr txBox="1"/>
          <p:nvPr/>
        </p:nvSpPr>
        <p:spPr>
          <a:xfrm>
            <a:off x="731520" y="1783080"/>
            <a:ext cx="10515600" cy="1463040"/>
          </a:xfrm>
          <a:prstGeom prst="rect">
            <a:avLst/>
          </a:prstGeom>
          <a:noFill/>
        </p:spPr>
        <p:txBody>
          <a:bodyPr wrap="square" lIns="36576" tIns="18288" rIns="36576" bIns="18288" anchor="t">
            <a:spAutoFit/>
          </a:bodyPr>
          <a:lstStyle/>
          <a:p>
            <a:pPr algn="l">
              <a:spcBef>
                <a:spcPts val="0"/>
              </a:spcBef>
              <a:spcAft>
                <a:spcPts val="0"/>
              </a:spcAft>
            </a:pPr>
            <a:r>
              <a:rPr sz="4600" b="1" i="0">
                <a:solidFill>
                  <a:srgbClr val="FFFFFF"/>
                </a:solidFill>
                <a:latin typeface="Bahnschrift"/>
              </a:rPr>
              <a:t>Four models, five markets, one poll</a:t>
            </a:r>
          </a:p>
        </p:txBody>
      </p:sp>
      <p:sp>
        <p:nvSpPr>
          <p:cNvPr id="4" name="Rectangle 3"/>
          <p:cNvSpPr/>
          <p:nvPr/>
        </p:nvSpPr>
        <p:spPr>
          <a:xfrm>
            <a:off x="777240" y="3291840"/>
            <a:ext cx="1280160" cy="54864"/>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3520440"/>
            <a:ext cx="10241280" cy="1371600"/>
          </a:xfrm>
          <a:prstGeom prst="rect">
            <a:avLst/>
          </a:prstGeom>
          <a:noFill/>
        </p:spPr>
        <p:txBody>
          <a:bodyPr wrap="square" lIns="36576" tIns="18288" rIns="36576" bIns="18288" anchor="t">
            <a:spAutoFit/>
          </a:bodyPr>
          <a:lstStyle/>
          <a:p>
            <a:pPr algn="l">
              <a:spcBef>
                <a:spcPts val="0"/>
              </a:spcBef>
              <a:spcAft>
                <a:spcPts val="0"/>
              </a:spcAft>
            </a:pPr>
            <a:r>
              <a:rPr sz="1700" b="0" i="0">
                <a:solidFill>
                  <a:srgbClr val="C9CFD8"/>
                </a:solidFill>
                <a:latin typeface="Segoe UI"/>
              </a:rPr>
              <a:t>What four AI trading agents did with about $1,000 each on the NU7 markets on 13 and 14 September 2026, whether their prices converged, and how they scored once the poll result was published.</a:t>
            </a:r>
          </a:p>
        </p:txBody>
      </p:sp>
      <p:sp>
        <p:nvSpPr>
          <p:cNvPr id="6" name="TextBox 5"/>
          <p:cNvSpPr txBox="1"/>
          <p:nvPr/>
        </p:nvSpPr>
        <p:spPr>
          <a:xfrm>
            <a:off x="731520" y="5074920"/>
            <a:ext cx="10515600" cy="411480"/>
          </a:xfrm>
          <a:prstGeom prst="rect">
            <a:avLst/>
          </a:prstGeom>
          <a:noFill/>
        </p:spPr>
        <p:txBody>
          <a:bodyPr wrap="square" lIns="36576" tIns="18288" rIns="36576" bIns="18288" anchor="t">
            <a:spAutoFit/>
          </a:bodyPr>
          <a:lstStyle/>
          <a:p>
            <a:pPr algn="l">
              <a:spcBef>
                <a:spcPts val="0"/>
              </a:spcBef>
              <a:spcAft>
                <a:spcPts val="0"/>
              </a:spcAft>
            </a:pPr>
            <a:r>
              <a:rPr sz="1300" b="1" i="0">
                <a:solidFill>
                  <a:srgbClr val="D9A21B"/>
                </a:solidFill>
                <a:latin typeface="Segoe UI"/>
              </a:rPr>
              <a:t>Result: </a:t>
            </a:r>
            <a:r>
              <a:rPr sz="1300" b="0" i="0">
                <a:solidFill>
                  <a:srgbClr val="FFFFFF"/>
                </a:solidFill>
                <a:latin typeface="Segoe UI"/>
              </a:rPr>
              <a:t>every ballot leader won. All four agents picked all five winners and are up +455.51 sUSDS together; the market's prices picked three.</a:t>
            </a:r>
          </a:p>
        </p:txBody>
      </p:sp>
      <p:sp>
        <p:nvSpPr>
          <p:cNvPr id="7" name="TextBox 6"/>
          <p:cNvSpPr txBox="1"/>
          <p:nvPr/>
        </p:nvSpPr>
        <p:spPr>
          <a:xfrm>
            <a:off x="731520" y="5669280"/>
            <a:ext cx="10058400" cy="365760"/>
          </a:xfrm>
          <a:prstGeom prst="rect">
            <a:avLst/>
          </a:prstGeom>
          <a:noFill/>
        </p:spPr>
        <p:txBody>
          <a:bodyPr wrap="square" lIns="36576" tIns="18288" rIns="36576" bIns="18288" anchor="t">
            <a:spAutoFit/>
          </a:bodyPr>
          <a:lstStyle/>
          <a:p>
            <a:pPr algn="l">
              <a:spcBef>
                <a:spcPts val="0"/>
              </a:spcBef>
              <a:spcAft>
                <a:spcPts val="0"/>
              </a:spcAft>
            </a:pPr>
            <a:r>
              <a:rPr sz="1300" b="1" i="0">
                <a:solidFill>
                  <a:srgbClr val="FFFFFF"/>
                </a:solidFill>
                <a:latin typeface="Segoe UI"/>
              </a:rPr>
              <a:t>Claude Fable 5.1  ·  Claude Opus 5  ·  GPT-6 Astra  ·  GPT-5.6 Sol</a:t>
            </a:r>
          </a:p>
        </p:txBody>
      </p:sp>
      <p:sp>
        <p:nvSpPr>
          <p:cNvPr id="8" name="TextBox 7"/>
          <p:cNvSpPr txBox="1"/>
          <p:nvPr/>
        </p:nvSpPr>
        <p:spPr>
          <a:xfrm>
            <a:off x="731520" y="6035040"/>
            <a:ext cx="10789920" cy="365760"/>
          </a:xfrm>
          <a:prstGeom prst="rect">
            <a:avLst/>
          </a:prstGeom>
          <a:noFill/>
        </p:spPr>
        <p:txBody>
          <a:bodyPr wrap="square" lIns="36576" tIns="18288" rIns="36576" bIns="18288" anchor="t">
            <a:spAutoFit/>
          </a:bodyPr>
          <a:lstStyle/>
          <a:p>
            <a:pPr algn="l">
              <a:spcBef>
                <a:spcPts val="0"/>
              </a:spcBef>
              <a:spcAft>
                <a:spcPts val="0"/>
              </a:spcAft>
            </a:pPr>
            <a:r>
              <a:rPr sz="1100" b="0" i="0">
                <a:solidFill>
                  <a:srgbClr val="8A94A3"/>
                </a:solidFill>
                <a:latin typeface="Segoe UI"/>
              </a:rPr>
              <a:t>The poll closed 14 Sep 19:00 UTC. Onchain data as of 15 Sep 2026 08:03 UTC; no oracle answer has been posted yet, so nothing is redeemed.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The experiment</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One code base, one trading skill, four models, each with its own wallet and its own opinion.</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2</a:t>
            </a:r>
          </a:p>
        </p:txBody>
      </p:sp>
      <p:sp>
        <p:nvSpPr>
          <p:cNvPr id="7" name="TextBox 6"/>
          <p:cNvSpPr txBox="1"/>
          <p:nvPr/>
        </p:nvSpPr>
        <p:spPr>
          <a:xfrm>
            <a:off x="457200" y="1600200"/>
            <a:ext cx="6035040" cy="4663440"/>
          </a:xfrm>
          <a:prstGeom prst="rect">
            <a:avLst/>
          </a:prstGeom>
          <a:noFill/>
        </p:spPr>
        <p:txBody>
          <a:bodyPr wrap="square" lIns="36576" tIns="18288" rIns="36576" bIns="18288" anchor="t">
            <a:spAutoFit/>
          </a:bodyPr>
          <a:lstStyle/>
          <a:p>
            <a:pPr marL="201168" indent="-201168" algn="l">
              <a:lnSpc>
                <a:spcPct val="108000"/>
              </a:lnSpc>
              <a:spcBef>
                <a:spcPts val="0"/>
              </a:spcBef>
              <a:spcAft>
                <a:spcPts val="700"/>
              </a:spcAft>
              <a:buChar char="•"/>
            </a:pPr>
            <a:r>
              <a:rPr sz="1220" b="0" i="0" dirty="0">
                <a:solidFill>
                  <a:srgbClr val="171C26"/>
                </a:solidFill>
                <a:latin typeface="Segoe UI"/>
              </a:rPr>
              <a:t>The only thing that differs between the four bots is the model. Same code, same skill, same five markets, same public information.</a:t>
            </a:r>
          </a:p>
          <a:p>
            <a:pPr marL="201168" indent="-201168" algn="l">
              <a:lnSpc>
                <a:spcPct val="108000"/>
              </a:lnSpc>
              <a:spcBef>
                <a:spcPts val="0"/>
              </a:spcBef>
              <a:spcAft>
                <a:spcPts val="700"/>
              </a:spcAft>
              <a:buChar char="•"/>
            </a:pPr>
            <a:r>
              <a:rPr sz="1220" b="0" i="0" dirty="0">
                <a:solidFill>
                  <a:srgbClr val="171C26"/>
                </a:solidFill>
                <a:latin typeface="Segoe UI"/>
              </a:rPr>
              <a:t>Each bot owns a wallet funded with 901 to 917 </a:t>
            </a:r>
            <a:r>
              <a:rPr sz="1220" b="0" i="0" dirty="0" err="1">
                <a:solidFill>
                  <a:srgbClr val="171C26"/>
                </a:solidFill>
                <a:latin typeface="Segoe UI"/>
              </a:rPr>
              <a:t>sUSDS</a:t>
            </a:r>
            <a:r>
              <a:rPr sz="1220" b="0" i="0" dirty="0">
                <a:solidFill>
                  <a:srgbClr val="171C26"/>
                </a:solidFill>
                <a:latin typeface="Segoe UI"/>
              </a:rPr>
              <a:t> (≈ $1,000 at 1.11 USD per </a:t>
            </a:r>
            <a:r>
              <a:rPr sz="1220" b="0" i="0" dirty="0" err="1">
                <a:solidFill>
                  <a:srgbClr val="171C26"/>
                </a:solidFill>
                <a:latin typeface="Segoe UI"/>
              </a:rPr>
              <a:t>sUSDS</a:t>
            </a:r>
            <a:r>
              <a:rPr sz="1220" b="0" i="0" dirty="0">
                <a:solidFill>
                  <a:srgbClr val="171C26"/>
                </a:solidFill>
                <a:latin typeface="Segoe UI"/>
              </a:rPr>
              <a:t>). Old positions were unwound first, so all four started as cash.</a:t>
            </a:r>
          </a:p>
          <a:p>
            <a:pPr marL="201168" indent="-201168" algn="l">
              <a:lnSpc>
                <a:spcPct val="108000"/>
              </a:lnSpc>
              <a:spcBef>
                <a:spcPts val="0"/>
              </a:spcBef>
              <a:spcAft>
                <a:spcPts val="700"/>
              </a:spcAft>
              <a:buChar char="•"/>
            </a:pPr>
            <a:r>
              <a:rPr sz="1220" b="0" i="0" dirty="0">
                <a:solidFill>
                  <a:srgbClr val="171C26"/>
                </a:solidFill>
                <a:latin typeface="Segoe UI"/>
              </a:rPr>
              <a:t>Every 2 hours each bot runs a full pass: read the pools, re-read the live ballot counts, re-estimate every outcome, size with quarter-Kelly, queue trades. The bots run 20 minutes apart, so each one sees the others' trades as new prices and volume.</a:t>
            </a:r>
          </a:p>
          <a:p>
            <a:pPr marL="201168" indent="-201168" algn="l">
              <a:lnSpc>
                <a:spcPct val="108000"/>
              </a:lnSpc>
              <a:spcBef>
                <a:spcPts val="0"/>
              </a:spcBef>
              <a:spcAft>
                <a:spcPts val="700"/>
              </a:spcAft>
              <a:buChar char="•"/>
            </a:pPr>
            <a:r>
              <a:rPr sz="1220" b="0" i="0" dirty="0">
                <a:solidFill>
                  <a:srgbClr val="171C26"/>
                </a:solidFill>
                <a:latin typeface="Segoe UI"/>
              </a:rPr>
              <a:t>Guard rails in the code: 5-point minimum edge measured against the real fill, 15% maximum slippage, 20% of bankroll per market, 50% per correlated event, and no adding to a position unless the pass says so.</a:t>
            </a:r>
          </a:p>
          <a:p>
            <a:pPr marL="201168" indent="-201168" algn="l">
              <a:lnSpc>
                <a:spcPct val="108000"/>
              </a:lnSpc>
              <a:spcBef>
                <a:spcPts val="0"/>
              </a:spcBef>
              <a:spcAft>
                <a:spcPts val="700"/>
              </a:spcAft>
              <a:buChar char="•"/>
            </a:pPr>
            <a:r>
              <a:rPr sz="1220" b="0" i="0" dirty="0">
                <a:solidFill>
                  <a:srgbClr val="171C26"/>
                </a:solidFill>
                <a:latin typeface="Segoe UI"/>
              </a:rPr>
              <a:t>No model ever signs. A plain script executes the queue after the pass with that folder's key; anything queued outside the five markets is refused.</a:t>
            </a:r>
          </a:p>
          <a:p>
            <a:pPr marL="201168" indent="-201168" algn="l">
              <a:lnSpc>
                <a:spcPct val="108000"/>
              </a:lnSpc>
              <a:spcBef>
                <a:spcPts val="0"/>
              </a:spcBef>
              <a:spcAft>
                <a:spcPts val="700"/>
              </a:spcAft>
              <a:buChar char="•"/>
            </a:pPr>
            <a:r>
              <a:rPr sz="1220" b="0" i="0" dirty="0">
                <a:solidFill>
                  <a:srgbClr val="171C26"/>
                </a:solidFill>
                <a:latin typeface="Segoe UI"/>
              </a:rPr>
              <a:t>Research inputs are public: live ballot splits from the </a:t>
            </a:r>
            <a:r>
              <a:rPr sz="1220" b="0" i="0" dirty="0" err="1">
                <a:solidFill>
                  <a:srgbClr val="171C26"/>
                </a:solidFill>
                <a:latin typeface="Segoe UI"/>
              </a:rPr>
              <a:t>Zcash</a:t>
            </a:r>
            <a:r>
              <a:rPr sz="1220" b="0" i="0" dirty="0">
                <a:solidFill>
                  <a:srgbClr val="171C26"/>
                </a:solidFill>
                <a:latin typeface="Segoe UI"/>
              </a:rPr>
              <a:t> vote chain (not ZEC-weighted), the ZEC-weighted Feb-2026 sentiment poll as a prior for large holders, and the pools' own swap history.</a:t>
            </a:r>
          </a:p>
        </p:txBody>
      </p:sp>
      <p:graphicFrame>
        <p:nvGraphicFramePr>
          <p:cNvPr id="8" name="Table 7"/>
          <p:cNvGraphicFramePr>
            <a:graphicFrameLocks noGrp="1"/>
          </p:cNvGraphicFramePr>
          <p:nvPr/>
        </p:nvGraphicFramePr>
        <p:xfrm>
          <a:off x="6675120" y="1645920"/>
          <a:ext cx="5349240" cy="1731264"/>
        </p:xfrm>
        <a:graphic>
          <a:graphicData uri="http://schemas.openxmlformats.org/drawingml/2006/table">
            <a:tbl>
              <a:tblPr firstRow="1">
                <a:tableStyleId>{5C22544A-7EE6-4342-B048-85BDC9FD1C3A}</a:tableStyleId>
              </a:tblPr>
              <a:tblGrid>
                <a:gridCol w="13258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329184">
                <a:tc>
                  <a:txBody>
                    <a:bodyPr/>
                    <a:lstStyle/>
                    <a:p>
                      <a:pPr algn="l"/>
                      <a:r>
                        <a:rPr sz="950" b="1">
                          <a:solidFill>
                            <a:srgbClr val="FFFFFF"/>
                          </a:solidFill>
                          <a:latin typeface="Segoe UI"/>
                        </a:rPr>
                        <a:t>Model</a:t>
                      </a:r>
                    </a:p>
                  </a:txBody>
                  <a:tcPr marL="54864" marR="54864" marT="22860" marB="22860" anchor="ctr">
                    <a:solidFill>
                      <a:srgbClr val="141A2B"/>
                    </a:solidFill>
                  </a:tcPr>
                </a:tc>
                <a:tc>
                  <a:txBody>
                    <a:bodyPr/>
                    <a:lstStyle/>
                    <a:p>
                      <a:pPr algn="l"/>
                      <a:r>
                        <a:rPr sz="950" b="1">
                          <a:solidFill>
                            <a:srgbClr val="FFFFFF"/>
                          </a:solidFill>
                          <a:latin typeface="Segoe UI"/>
                        </a:rPr>
                        <a:t>Runs through</a:t>
                      </a:r>
                    </a:p>
                  </a:txBody>
                  <a:tcPr marL="54864" marR="54864" marT="22860" marB="22860" anchor="ctr">
                    <a:solidFill>
                      <a:srgbClr val="141A2B"/>
                    </a:solidFill>
                  </a:tcPr>
                </a:tc>
                <a:tc>
                  <a:txBody>
                    <a:bodyPr/>
                    <a:lstStyle/>
                    <a:p>
                      <a:pPr algn="l"/>
                      <a:r>
                        <a:rPr sz="950" b="1">
                          <a:solidFill>
                            <a:srgbClr val="FFFFFF"/>
                          </a:solidFill>
                          <a:latin typeface="Segoe UI"/>
                        </a:rPr>
                        <a:t>Wallet</a:t>
                      </a:r>
                    </a:p>
                  </a:txBody>
                  <a:tcPr marL="54864" marR="54864" marT="22860" marB="22860" anchor="ctr">
                    <a:solidFill>
                      <a:srgbClr val="141A2B"/>
                    </a:solidFill>
                  </a:tcPr>
                </a:tc>
                <a:tc>
                  <a:txBody>
                    <a:bodyPr/>
                    <a:lstStyle/>
                    <a:p>
                      <a:pPr algn="l"/>
                      <a:r>
                        <a:rPr sz="950" b="1">
                          <a:solidFill>
                            <a:srgbClr val="FFFFFF"/>
                          </a:solidFill>
                          <a:latin typeface="Segoe UI"/>
                        </a:rPr>
                        <a:t>Pass slot</a:t>
                      </a:r>
                    </a:p>
                  </a:txBody>
                  <a:tcPr marL="54864" marR="54864" marT="22860" marB="22860" anchor="ctr">
                    <a:solidFill>
                      <a:srgbClr val="141A2B"/>
                    </a:solidFill>
                  </a:tcPr>
                </a:tc>
                <a:tc>
                  <a:txBody>
                    <a:bodyPr/>
                    <a:lstStyle/>
                    <a:p>
                      <a:pPr algn="r"/>
                      <a:r>
                        <a:rPr sz="950" b="1">
                          <a:solidFill>
                            <a:srgbClr val="FFFFFF"/>
                          </a:solidFill>
                          <a:latin typeface="Segoe UI"/>
                        </a:rPr>
                        <a:t>Start cash</a:t>
                      </a:r>
                    </a:p>
                  </a:txBody>
                  <a:tcPr marL="54864" marR="54864" marT="22860" marB="22860" anchor="ctr">
                    <a:solidFill>
                      <a:srgbClr val="141A2B"/>
                    </a:solidFill>
                  </a:tcPr>
                </a:tc>
                <a:extLst>
                  <a:ext uri="{0D108BD9-81ED-4DB2-BD59-A6C34878D82A}">
                    <a16:rowId xmlns:a16="http://schemas.microsoft.com/office/drawing/2014/main" val="10000"/>
                  </a:ext>
                </a:extLst>
              </a:tr>
              <a:tr h="329184">
                <a:tc>
                  <a:txBody>
                    <a:bodyPr/>
                    <a:lstStyle/>
                    <a:p>
                      <a:pPr algn="l"/>
                      <a:r>
                        <a:rPr sz="1000" b="1">
                          <a:solidFill>
                            <a:srgbClr val="C4552A"/>
                          </a:solidFill>
                          <a:latin typeface="Segoe UI"/>
                        </a:rPr>
                        <a:t>Claude Fable 5.1</a:t>
                      </a:r>
                    </a:p>
                  </a:txBody>
                  <a:tcPr marL="54864" marR="54864" marT="22860" marB="22860" anchor="ctr">
                    <a:solidFill>
                      <a:srgbClr val="FFFFFF"/>
                    </a:solidFill>
                  </a:tcPr>
                </a:tc>
                <a:tc>
                  <a:txBody>
                    <a:bodyPr/>
                    <a:lstStyle/>
                    <a:p>
                      <a:pPr algn="l"/>
                      <a:r>
                        <a:rPr sz="1000" b="0">
                          <a:solidFill>
                            <a:srgbClr val="171C26"/>
                          </a:solidFill>
                          <a:latin typeface="Segoe UI"/>
                        </a:rPr>
                        <a:t>Claude Code CLI</a:t>
                      </a:r>
                    </a:p>
                  </a:txBody>
                  <a:tcPr marL="54864" marR="54864" marT="22860" marB="22860" anchor="ctr">
                    <a:solidFill>
                      <a:srgbClr val="FFFFFF"/>
                    </a:solidFill>
                  </a:tcPr>
                </a:tc>
                <a:tc>
                  <a:txBody>
                    <a:bodyPr/>
                    <a:lstStyle/>
                    <a:p>
                      <a:pPr algn="l"/>
                      <a:r>
                        <a:rPr sz="1000" b="0">
                          <a:solidFill>
                            <a:srgbClr val="171C26"/>
                          </a:solidFill>
                          <a:latin typeface="Consolas"/>
                        </a:rPr>
                        <a:t>0xf1b2…30D9</a:t>
                      </a:r>
                    </a:p>
                  </a:txBody>
                  <a:tcPr marL="54864" marR="54864" marT="22860" marB="22860" anchor="ctr">
                    <a:solidFill>
                      <a:srgbClr val="FFFFFF"/>
                    </a:solidFill>
                  </a:tcPr>
                </a:tc>
                <a:tc>
                  <a:txBody>
                    <a:bodyPr/>
                    <a:lstStyle/>
                    <a:p>
                      <a:pPr algn="l"/>
                      <a:r>
                        <a:rPr sz="1000" b="0">
                          <a:solidFill>
                            <a:srgbClr val="171C26"/>
                          </a:solidFill>
                          <a:latin typeface="Segoe UI"/>
                        </a:rPr>
                        <a:t>xx:35 UTC, even hours</a:t>
                      </a:r>
                    </a:p>
                  </a:txBody>
                  <a:tcPr marL="54864" marR="54864" marT="22860" marB="22860" anchor="ctr">
                    <a:solidFill>
                      <a:srgbClr val="FFFFFF"/>
                    </a:solidFill>
                  </a:tcPr>
                </a:tc>
                <a:tc>
                  <a:txBody>
                    <a:bodyPr/>
                    <a:lstStyle/>
                    <a:p>
                      <a:pPr algn="r"/>
                      <a:r>
                        <a:rPr sz="1000" b="0">
                          <a:solidFill>
                            <a:srgbClr val="171C26"/>
                          </a:solidFill>
                          <a:latin typeface="Consolas"/>
                        </a:rPr>
                        <a:t>916.63</a:t>
                      </a:r>
                    </a:p>
                  </a:txBody>
                  <a:tcPr marL="54864" marR="54864" marT="22860" marB="22860" anchor="ctr">
                    <a:solidFill>
                      <a:srgbClr val="FFFFFF"/>
                    </a:solidFill>
                  </a:tcPr>
                </a:tc>
                <a:extLst>
                  <a:ext uri="{0D108BD9-81ED-4DB2-BD59-A6C34878D82A}">
                    <a16:rowId xmlns:a16="http://schemas.microsoft.com/office/drawing/2014/main" val="10001"/>
                  </a:ext>
                </a:extLst>
              </a:tr>
              <a:tr h="329184">
                <a:tc>
                  <a:txBody>
                    <a:bodyPr/>
                    <a:lstStyle/>
                    <a:p>
                      <a:pPr algn="l"/>
                      <a:r>
                        <a:rPr sz="1000" b="1">
                          <a:solidFill>
                            <a:srgbClr val="7A2E8C"/>
                          </a:solidFill>
                          <a:latin typeface="Segoe UI"/>
                        </a:rPr>
                        <a:t>Claude Opus 5</a:t>
                      </a:r>
                    </a:p>
                  </a:txBody>
                  <a:tcPr marL="54864" marR="54864" marT="22860" marB="22860" anchor="ctr">
                    <a:solidFill>
                      <a:srgbClr val="EEF0F3"/>
                    </a:solidFill>
                  </a:tcPr>
                </a:tc>
                <a:tc>
                  <a:txBody>
                    <a:bodyPr/>
                    <a:lstStyle/>
                    <a:p>
                      <a:pPr algn="l"/>
                      <a:r>
                        <a:rPr sz="1000" b="0">
                          <a:solidFill>
                            <a:srgbClr val="171C26"/>
                          </a:solidFill>
                          <a:latin typeface="Segoe UI"/>
                        </a:rPr>
                        <a:t>Claude Code CLI</a:t>
                      </a:r>
                    </a:p>
                  </a:txBody>
                  <a:tcPr marL="54864" marR="54864" marT="22860" marB="22860" anchor="ctr">
                    <a:solidFill>
                      <a:srgbClr val="EEF0F3"/>
                    </a:solidFill>
                  </a:tcPr>
                </a:tc>
                <a:tc>
                  <a:txBody>
                    <a:bodyPr/>
                    <a:lstStyle/>
                    <a:p>
                      <a:pPr algn="l"/>
                      <a:r>
                        <a:rPr sz="1000" b="0">
                          <a:solidFill>
                            <a:srgbClr val="171C26"/>
                          </a:solidFill>
                          <a:latin typeface="Consolas"/>
                        </a:rPr>
                        <a:t>0x6e82…cc9e</a:t>
                      </a:r>
                    </a:p>
                  </a:txBody>
                  <a:tcPr marL="54864" marR="54864" marT="22860" marB="22860" anchor="ctr">
                    <a:solidFill>
                      <a:srgbClr val="EEF0F3"/>
                    </a:solidFill>
                  </a:tcPr>
                </a:tc>
                <a:tc>
                  <a:txBody>
                    <a:bodyPr/>
                    <a:lstStyle/>
                    <a:p>
                      <a:pPr algn="l"/>
                      <a:r>
                        <a:rPr sz="1000" b="0">
                          <a:solidFill>
                            <a:srgbClr val="171C26"/>
                          </a:solidFill>
                          <a:latin typeface="Segoe UI"/>
                        </a:rPr>
                        <a:t>xx:55 UTC, even hours</a:t>
                      </a:r>
                    </a:p>
                  </a:txBody>
                  <a:tcPr marL="54864" marR="54864" marT="22860" marB="22860" anchor="ctr">
                    <a:solidFill>
                      <a:srgbClr val="EEF0F3"/>
                    </a:solidFill>
                  </a:tcPr>
                </a:tc>
                <a:tc>
                  <a:txBody>
                    <a:bodyPr/>
                    <a:lstStyle/>
                    <a:p>
                      <a:pPr algn="r"/>
                      <a:r>
                        <a:rPr sz="1000" b="0">
                          <a:solidFill>
                            <a:srgbClr val="171C26"/>
                          </a:solidFill>
                          <a:latin typeface="Consolas"/>
                        </a:rPr>
                        <a:t>901.38</a:t>
                      </a:r>
                    </a:p>
                  </a:txBody>
                  <a:tcPr marL="54864" marR="54864" marT="22860" marB="22860" anchor="ctr">
                    <a:solidFill>
                      <a:srgbClr val="EEF0F3"/>
                    </a:solidFill>
                  </a:tcPr>
                </a:tc>
                <a:extLst>
                  <a:ext uri="{0D108BD9-81ED-4DB2-BD59-A6C34878D82A}">
                    <a16:rowId xmlns:a16="http://schemas.microsoft.com/office/drawing/2014/main" val="10002"/>
                  </a:ext>
                </a:extLst>
              </a:tr>
              <a:tr h="329184">
                <a:tc>
                  <a:txBody>
                    <a:bodyPr/>
                    <a:lstStyle/>
                    <a:p>
                      <a:pPr algn="l"/>
                      <a:r>
                        <a:rPr sz="1000" b="1">
                          <a:solidFill>
                            <a:srgbClr val="1B7F63"/>
                          </a:solidFill>
                          <a:latin typeface="Segoe UI"/>
                        </a:rPr>
                        <a:t>GPT-6 Astra</a:t>
                      </a:r>
                    </a:p>
                  </a:txBody>
                  <a:tcPr marL="54864" marR="54864" marT="22860" marB="22860" anchor="ctr">
                    <a:solidFill>
                      <a:srgbClr val="FFFFFF"/>
                    </a:solidFill>
                  </a:tcPr>
                </a:tc>
                <a:tc>
                  <a:txBody>
                    <a:bodyPr/>
                    <a:lstStyle/>
                    <a:p>
                      <a:pPr algn="l"/>
                      <a:r>
                        <a:rPr sz="1000" b="0">
                          <a:solidFill>
                            <a:srgbClr val="171C26"/>
                          </a:solidFill>
                          <a:latin typeface="Segoe UI"/>
                        </a:rPr>
                        <a:t>Codex CLI</a:t>
                      </a:r>
                    </a:p>
                  </a:txBody>
                  <a:tcPr marL="54864" marR="54864" marT="22860" marB="22860" anchor="ctr">
                    <a:solidFill>
                      <a:srgbClr val="FFFFFF"/>
                    </a:solidFill>
                  </a:tcPr>
                </a:tc>
                <a:tc>
                  <a:txBody>
                    <a:bodyPr/>
                    <a:lstStyle/>
                    <a:p>
                      <a:pPr algn="l"/>
                      <a:r>
                        <a:rPr sz="1000" b="0">
                          <a:solidFill>
                            <a:srgbClr val="171C26"/>
                          </a:solidFill>
                          <a:latin typeface="Consolas"/>
                        </a:rPr>
                        <a:t>0x0178…a858</a:t>
                      </a:r>
                    </a:p>
                  </a:txBody>
                  <a:tcPr marL="54864" marR="54864" marT="22860" marB="22860" anchor="ctr">
                    <a:solidFill>
                      <a:srgbClr val="FFFFFF"/>
                    </a:solidFill>
                  </a:tcPr>
                </a:tc>
                <a:tc>
                  <a:txBody>
                    <a:bodyPr/>
                    <a:lstStyle/>
                    <a:p>
                      <a:pPr algn="l"/>
                      <a:r>
                        <a:rPr sz="1000" b="0">
                          <a:solidFill>
                            <a:srgbClr val="171C26"/>
                          </a:solidFill>
                          <a:latin typeface="Segoe UI"/>
                        </a:rPr>
                        <a:t>xx:15 UTC, odd hours</a:t>
                      </a:r>
                    </a:p>
                  </a:txBody>
                  <a:tcPr marL="54864" marR="54864" marT="22860" marB="22860" anchor="ctr">
                    <a:solidFill>
                      <a:srgbClr val="FFFFFF"/>
                    </a:solidFill>
                  </a:tcPr>
                </a:tc>
                <a:tc>
                  <a:txBody>
                    <a:bodyPr/>
                    <a:lstStyle/>
                    <a:p>
                      <a:pPr algn="r"/>
                      <a:r>
                        <a:rPr sz="1000" b="0">
                          <a:solidFill>
                            <a:srgbClr val="171C26"/>
                          </a:solidFill>
                          <a:latin typeface="Consolas"/>
                        </a:rPr>
                        <a:t>901.66</a:t>
                      </a:r>
                    </a:p>
                  </a:txBody>
                  <a:tcPr marL="54864" marR="54864" marT="22860" marB="22860" anchor="ctr">
                    <a:solidFill>
                      <a:srgbClr val="FFFFFF"/>
                    </a:solidFill>
                  </a:tcPr>
                </a:tc>
                <a:extLst>
                  <a:ext uri="{0D108BD9-81ED-4DB2-BD59-A6C34878D82A}">
                    <a16:rowId xmlns:a16="http://schemas.microsoft.com/office/drawing/2014/main" val="10003"/>
                  </a:ext>
                </a:extLst>
              </a:tr>
              <a:tr h="329184">
                <a:tc>
                  <a:txBody>
                    <a:bodyPr/>
                    <a:lstStyle/>
                    <a:p>
                      <a:pPr algn="l"/>
                      <a:r>
                        <a:rPr sz="1000" b="1">
                          <a:solidFill>
                            <a:srgbClr val="2F6FD6"/>
                          </a:solidFill>
                          <a:latin typeface="Segoe UI"/>
                        </a:rPr>
                        <a:t>GPT-5.6 Sol</a:t>
                      </a:r>
                    </a:p>
                  </a:txBody>
                  <a:tcPr marL="54864" marR="54864" marT="22860" marB="22860" anchor="ctr">
                    <a:solidFill>
                      <a:srgbClr val="EEF0F3"/>
                    </a:solidFill>
                  </a:tcPr>
                </a:tc>
                <a:tc>
                  <a:txBody>
                    <a:bodyPr/>
                    <a:lstStyle/>
                    <a:p>
                      <a:pPr algn="l"/>
                      <a:r>
                        <a:rPr sz="1000" b="0">
                          <a:solidFill>
                            <a:srgbClr val="171C26"/>
                          </a:solidFill>
                          <a:latin typeface="Segoe UI"/>
                        </a:rPr>
                        <a:t>Codex CLI</a:t>
                      </a:r>
                    </a:p>
                  </a:txBody>
                  <a:tcPr marL="54864" marR="54864" marT="22860" marB="22860" anchor="ctr">
                    <a:solidFill>
                      <a:srgbClr val="EEF0F3"/>
                    </a:solidFill>
                  </a:tcPr>
                </a:tc>
                <a:tc>
                  <a:txBody>
                    <a:bodyPr/>
                    <a:lstStyle/>
                    <a:p>
                      <a:pPr algn="l"/>
                      <a:r>
                        <a:rPr sz="1000" b="0">
                          <a:solidFill>
                            <a:srgbClr val="171C26"/>
                          </a:solidFill>
                          <a:latin typeface="Consolas"/>
                        </a:rPr>
                        <a:t>0x6156…A6fe</a:t>
                      </a:r>
                    </a:p>
                  </a:txBody>
                  <a:tcPr marL="54864" marR="54864" marT="22860" marB="22860" anchor="ctr">
                    <a:solidFill>
                      <a:srgbClr val="EEF0F3"/>
                    </a:solidFill>
                  </a:tcPr>
                </a:tc>
                <a:tc>
                  <a:txBody>
                    <a:bodyPr/>
                    <a:lstStyle/>
                    <a:p>
                      <a:pPr algn="l"/>
                      <a:r>
                        <a:rPr sz="1000" b="0">
                          <a:solidFill>
                            <a:srgbClr val="171C26"/>
                          </a:solidFill>
                          <a:latin typeface="Segoe UI"/>
                        </a:rPr>
                        <a:t>xx:35 UTC, odd hours</a:t>
                      </a:r>
                    </a:p>
                  </a:txBody>
                  <a:tcPr marL="54864" marR="54864" marT="22860" marB="22860" anchor="ctr">
                    <a:solidFill>
                      <a:srgbClr val="EEF0F3"/>
                    </a:solidFill>
                  </a:tcPr>
                </a:tc>
                <a:tc>
                  <a:txBody>
                    <a:bodyPr/>
                    <a:lstStyle/>
                    <a:p>
                      <a:pPr algn="r"/>
                      <a:r>
                        <a:rPr sz="1000" b="0">
                          <a:solidFill>
                            <a:srgbClr val="171C26"/>
                          </a:solidFill>
                          <a:latin typeface="Consolas"/>
                        </a:rPr>
                        <a:t>902.25</a:t>
                      </a:r>
                    </a:p>
                  </a:txBody>
                  <a:tcPr marL="54864" marR="54864" marT="22860" marB="22860" anchor="ctr">
                    <a:solidFill>
                      <a:srgbClr val="EEF0F3"/>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6675120" y="3429000"/>
            <a:ext cx="5029200" cy="822960"/>
          </a:xfrm>
          <a:prstGeom prst="rect">
            <a:avLst/>
          </a:prstGeom>
          <a:noFill/>
        </p:spPr>
        <p:txBody>
          <a:bodyPr wrap="square" lIns="36576" tIns="18288" rIns="36576" bIns="18288" anchor="t">
            <a:spAutoFit/>
          </a:bodyPr>
          <a:lstStyle/>
          <a:p>
            <a:pPr algn="l">
              <a:spcBef>
                <a:spcPts val="0"/>
              </a:spcBef>
              <a:spcAft>
                <a:spcPts val="0"/>
              </a:spcAft>
            </a:pPr>
            <a:r>
              <a:rPr sz="1000" b="0" i="0">
                <a:solidFill>
                  <a:srgbClr val="5C6675"/>
                </a:solidFill>
                <a:latin typeface="Segoe UI"/>
              </a:rPr>
              <a:t>Cash is sUSDS on Optimism (Spark savings USDS, the markets' collateral). Wallet addresses are public; keys stay in each folder's .env.</a:t>
            </a:r>
          </a:p>
        </p:txBody>
      </p:sp>
      <p:graphicFrame>
        <p:nvGraphicFramePr>
          <p:cNvPr id="10" name="Table 9"/>
          <p:cNvGraphicFramePr>
            <a:graphicFrameLocks noGrp="1"/>
          </p:cNvGraphicFramePr>
          <p:nvPr/>
        </p:nvGraphicFramePr>
        <p:xfrm>
          <a:off x="6675120" y="4160520"/>
          <a:ext cx="4892039" cy="1889760"/>
        </p:xfrm>
        <a:graphic>
          <a:graphicData uri="http://schemas.openxmlformats.org/drawingml/2006/table">
            <a:tbl>
              <a:tblPr firstRow="1">
                <a:tableStyleId>{5C22544A-7EE6-4342-B048-85BDC9FD1C3A}</a:tableStyleId>
              </a:tblPr>
              <a:tblGrid>
                <a:gridCol w="411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310896">
                <a:tc>
                  <a:txBody>
                    <a:bodyPr/>
                    <a:lstStyle/>
                    <a:p>
                      <a:pPr algn="l"/>
                      <a:r>
                        <a:rPr sz="950" b="1">
                          <a:solidFill>
                            <a:srgbClr val="FFFFFF"/>
                          </a:solidFill>
                          <a:latin typeface="Segoe UI"/>
                        </a:rPr>
                        <a:t>#</a:t>
                      </a:r>
                    </a:p>
                  </a:txBody>
                  <a:tcPr marL="54864" marR="54864" marT="22860" marB="22860" anchor="ctr">
                    <a:solidFill>
                      <a:srgbClr val="141A2B"/>
                    </a:solidFill>
                  </a:tcPr>
                </a:tc>
                <a:tc>
                  <a:txBody>
                    <a:bodyPr/>
                    <a:lstStyle/>
                    <a:p>
                      <a:pPr algn="l"/>
                      <a:r>
                        <a:rPr sz="950" b="1">
                          <a:solidFill>
                            <a:srgbClr val="FFFFFF"/>
                          </a:solidFill>
                          <a:latin typeface="Segoe UI"/>
                        </a:rPr>
                        <a:t>Market (all resolve on the NU7 poll)</a:t>
                      </a:r>
                    </a:p>
                  </a:txBody>
                  <a:tcPr marL="54864" marR="54864" marT="22860" marB="22860" anchor="ctr">
                    <a:solidFill>
                      <a:srgbClr val="141A2B"/>
                    </a:solidFill>
                  </a:tcPr>
                </a:tc>
                <a:tc>
                  <a:txBody>
                    <a:bodyPr/>
                    <a:lstStyle/>
                    <a:p>
                      <a:pPr algn="l"/>
                      <a:r>
                        <a:rPr sz="950" b="1">
                          <a:solidFill>
                            <a:srgbClr val="FFFFFF"/>
                          </a:solidFill>
                          <a:latin typeface="Segoe UI"/>
                        </a:rPr>
                        <a:t>Outcome the ballots favored</a:t>
                      </a:r>
                    </a:p>
                  </a:txBody>
                  <a:tcPr marL="54864" marR="54864" marT="22860" marB="22860" anchor="ctr">
                    <a:solidFill>
                      <a:srgbClr val="141A2B"/>
                    </a:solidFill>
                  </a:tcPr>
                </a:tc>
                <a:tc>
                  <a:txBody>
                    <a:bodyPr/>
                    <a:lstStyle/>
                    <a:p>
                      <a:pPr algn="r"/>
                      <a:r>
                        <a:rPr sz="950" b="1">
                          <a:solidFill>
                            <a:srgbClr val="FFFFFF"/>
                          </a:solidFill>
                          <a:latin typeface="Segoe UI"/>
                        </a:rPr>
                        <a:t>Ballots</a:t>
                      </a:r>
                    </a:p>
                  </a:txBody>
                  <a:tcPr marL="54864" marR="54864" marT="22860" marB="22860" anchor="ctr">
                    <a:solidFill>
                      <a:srgbClr val="141A2B"/>
                    </a:solidFill>
                  </a:tcPr>
                </a:tc>
                <a:extLst>
                  <a:ext uri="{0D108BD9-81ED-4DB2-BD59-A6C34878D82A}">
                    <a16:rowId xmlns:a16="http://schemas.microsoft.com/office/drawing/2014/main" val="10000"/>
                  </a:ext>
                </a:extLst>
              </a:tr>
              <a:tr h="310896">
                <a:tc>
                  <a:txBody>
                    <a:bodyPr/>
                    <a:lstStyle/>
                    <a:p>
                      <a:pPr algn="l"/>
                      <a:r>
                        <a:rPr sz="1000" b="0">
                          <a:solidFill>
                            <a:srgbClr val="171C26"/>
                          </a:solidFill>
                          <a:latin typeface="Segoe UI"/>
                        </a:rPr>
                        <a:t>Q1</a:t>
                      </a:r>
                    </a:p>
                  </a:txBody>
                  <a:tcPr marL="54864" marR="54864" marT="22860" marB="22860" anchor="ctr">
                    <a:solidFill>
                      <a:srgbClr val="FFFFFF"/>
                    </a:solidFill>
                  </a:tcPr>
                </a:tc>
                <a:tc>
                  <a:txBody>
                    <a:bodyPr/>
                    <a:lstStyle/>
                    <a:p>
                      <a:pPr algn="l"/>
                      <a:r>
                        <a:rPr sz="1000" b="0">
                          <a:solidFill>
                            <a:srgbClr val="171C26"/>
                          </a:solidFill>
                          <a:latin typeface="Segoe UI"/>
                        </a:rPr>
                        <a:t>NSM issuance smoothing</a:t>
                      </a:r>
                    </a:p>
                  </a:txBody>
                  <a:tcPr marL="54864" marR="54864" marT="22860" marB="22860" anchor="ctr">
                    <a:solidFill>
                      <a:srgbClr val="FFFFFF"/>
                    </a:solidFill>
                  </a:tcPr>
                </a:tc>
                <a:tc>
                  <a:txBody>
                    <a:bodyPr/>
                    <a:lstStyle/>
                    <a:p>
                      <a:pPr algn="l"/>
                      <a:r>
                        <a:rPr sz="1000" b="0">
                          <a:solidFill>
                            <a:srgbClr val="171C26"/>
                          </a:solidFill>
                          <a:latin typeface="Segoe UI"/>
                        </a:rPr>
                        <a:t>Preserve halvings</a:t>
                      </a:r>
                    </a:p>
                  </a:txBody>
                  <a:tcPr marL="54864" marR="54864" marT="22860" marB="22860" anchor="ctr">
                    <a:solidFill>
                      <a:srgbClr val="FFFFFF"/>
                    </a:solidFill>
                  </a:tcPr>
                </a:tc>
                <a:tc>
                  <a:txBody>
                    <a:bodyPr/>
                    <a:lstStyle/>
                    <a:p>
                      <a:pPr algn="r"/>
                      <a:r>
                        <a:rPr sz="1000" b="0">
                          <a:solidFill>
                            <a:srgbClr val="171C26"/>
                          </a:solidFill>
                          <a:latin typeface="Segoe UI"/>
                        </a:rPr>
                        <a:t>58%</a:t>
                      </a:r>
                    </a:p>
                  </a:txBody>
                  <a:tcPr marL="54864" marR="54864" marT="22860" marB="22860" anchor="ctr">
                    <a:solidFill>
                      <a:srgbClr val="FFFFFF"/>
                    </a:solidFill>
                  </a:tcPr>
                </a:tc>
                <a:extLst>
                  <a:ext uri="{0D108BD9-81ED-4DB2-BD59-A6C34878D82A}">
                    <a16:rowId xmlns:a16="http://schemas.microsoft.com/office/drawing/2014/main" val="10001"/>
                  </a:ext>
                </a:extLst>
              </a:tr>
              <a:tr h="310896">
                <a:tc>
                  <a:txBody>
                    <a:bodyPr/>
                    <a:lstStyle/>
                    <a:p>
                      <a:pPr algn="l"/>
                      <a:r>
                        <a:rPr sz="1000" b="0">
                          <a:solidFill>
                            <a:srgbClr val="171C26"/>
                          </a:solidFill>
                          <a:latin typeface="Segoe UI"/>
                        </a:rPr>
                        <a:t>Q2</a:t>
                      </a:r>
                    </a:p>
                  </a:txBody>
                  <a:tcPr marL="54864" marR="54864" marT="22860" marB="22860" anchor="ctr">
                    <a:solidFill>
                      <a:srgbClr val="EEF0F3"/>
                    </a:solidFill>
                  </a:tcPr>
                </a:tc>
                <a:tc>
                  <a:txBody>
                    <a:bodyPr/>
                    <a:lstStyle/>
                    <a:p>
                      <a:pPr algn="l"/>
                      <a:r>
                        <a:rPr sz="1000" b="0">
                          <a:solidFill>
                            <a:srgbClr val="171C26"/>
                          </a:solidFill>
                          <a:latin typeface="Segoe UI"/>
                        </a:rPr>
                        <a:t>NSM reissuance start</a:t>
                      </a:r>
                    </a:p>
                  </a:txBody>
                  <a:tcPr marL="54864" marR="54864" marT="22860" marB="22860" anchor="ctr">
                    <a:solidFill>
                      <a:srgbClr val="EEF0F3"/>
                    </a:solidFill>
                  </a:tcPr>
                </a:tc>
                <a:tc>
                  <a:txBody>
                    <a:bodyPr/>
                    <a:lstStyle/>
                    <a:p>
                      <a:pPr algn="l"/>
                      <a:r>
                        <a:rPr sz="1000" b="0">
                          <a:solidFill>
                            <a:srgbClr val="171C26"/>
                          </a:solidFill>
                          <a:latin typeface="Segoe UI"/>
                        </a:rPr>
                        <a:t>February 2031</a:t>
                      </a:r>
                    </a:p>
                  </a:txBody>
                  <a:tcPr marL="54864" marR="54864" marT="22860" marB="22860" anchor="ctr">
                    <a:solidFill>
                      <a:srgbClr val="EEF0F3"/>
                    </a:solidFill>
                  </a:tcPr>
                </a:tc>
                <a:tc>
                  <a:txBody>
                    <a:bodyPr/>
                    <a:lstStyle/>
                    <a:p>
                      <a:pPr algn="r"/>
                      <a:r>
                        <a:rPr sz="1000" b="0">
                          <a:solidFill>
                            <a:srgbClr val="171C26"/>
                          </a:solidFill>
                          <a:latin typeface="Segoe UI"/>
                        </a:rPr>
                        <a:t>72%</a:t>
                      </a:r>
                    </a:p>
                  </a:txBody>
                  <a:tcPr marL="54864" marR="54864" marT="22860" marB="22860" anchor="ctr">
                    <a:solidFill>
                      <a:srgbClr val="EEF0F3"/>
                    </a:solidFill>
                  </a:tcPr>
                </a:tc>
                <a:extLst>
                  <a:ext uri="{0D108BD9-81ED-4DB2-BD59-A6C34878D82A}">
                    <a16:rowId xmlns:a16="http://schemas.microsoft.com/office/drawing/2014/main" val="10002"/>
                  </a:ext>
                </a:extLst>
              </a:tr>
              <a:tr h="310896">
                <a:tc>
                  <a:txBody>
                    <a:bodyPr/>
                    <a:lstStyle/>
                    <a:p>
                      <a:pPr algn="l"/>
                      <a:r>
                        <a:rPr sz="1000" b="0">
                          <a:solidFill>
                            <a:srgbClr val="171C26"/>
                          </a:solidFill>
                          <a:latin typeface="Segoe UI"/>
                        </a:rPr>
                        <a:t>Q3</a:t>
                      </a:r>
                    </a:p>
                  </a:txBody>
                  <a:tcPr marL="54864" marR="54864" marT="22860" marB="22860" anchor="ctr">
                    <a:solidFill>
                      <a:srgbClr val="FFFFFF"/>
                    </a:solidFill>
                  </a:tcPr>
                </a:tc>
                <a:tc>
                  <a:txBody>
                    <a:bodyPr/>
                    <a:lstStyle/>
                    <a:p>
                      <a:pPr algn="l"/>
                      <a:r>
                        <a:rPr sz="1000" b="0">
                          <a:solidFill>
                            <a:srgbClr val="171C26"/>
                          </a:solidFill>
                          <a:latin typeface="Segoe UI"/>
                        </a:rPr>
                        <a:t>Disable v4 transactions</a:t>
                      </a:r>
                    </a:p>
                  </a:txBody>
                  <a:tcPr marL="54864" marR="54864" marT="22860" marB="22860" anchor="ctr">
                    <a:solidFill>
                      <a:srgbClr val="FFFFFF"/>
                    </a:solidFill>
                  </a:tcPr>
                </a:tc>
                <a:tc>
                  <a:txBody>
                    <a:bodyPr/>
                    <a:lstStyle/>
                    <a:p>
                      <a:pPr algn="l"/>
                      <a:r>
                        <a:rPr sz="1000" b="0">
                          <a:solidFill>
                            <a:srgbClr val="171C26"/>
                          </a:solidFill>
                          <a:latin typeface="Segoe UI"/>
                        </a:rPr>
                        <a:t>Immediately at NU7 activation</a:t>
                      </a:r>
                    </a:p>
                  </a:txBody>
                  <a:tcPr marL="54864" marR="54864" marT="22860" marB="22860" anchor="ctr">
                    <a:solidFill>
                      <a:srgbClr val="FFFFFF"/>
                    </a:solidFill>
                  </a:tcPr>
                </a:tc>
                <a:tc>
                  <a:txBody>
                    <a:bodyPr/>
                    <a:lstStyle/>
                    <a:p>
                      <a:pPr algn="r"/>
                      <a:r>
                        <a:rPr sz="1000" b="0">
                          <a:solidFill>
                            <a:srgbClr val="171C26"/>
                          </a:solidFill>
                          <a:latin typeface="Segoe UI"/>
                        </a:rPr>
                        <a:t>81%</a:t>
                      </a:r>
                    </a:p>
                  </a:txBody>
                  <a:tcPr marL="54864" marR="54864" marT="22860" marB="22860" anchor="ctr">
                    <a:solidFill>
                      <a:srgbClr val="FFFFFF"/>
                    </a:solidFill>
                  </a:tcPr>
                </a:tc>
                <a:extLst>
                  <a:ext uri="{0D108BD9-81ED-4DB2-BD59-A6C34878D82A}">
                    <a16:rowId xmlns:a16="http://schemas.microsoft.com/office/drawing/2014/main" val="10003"/>
                  </a:ext>
                </a:extLst>
              </a:tr>
              <a:tr h="310896">
                <a:tc>
                  <a:txBody>
                    <a:bodyPr/>
                    <a:lstStyle/>
                    <a:p>
                      <a:pPr algn="l"/>
                      <a:r>
                        <a:rPr sz="1000" b="0">
                          <a:solidFill>
                            <a:srgbClr val="171C26"/>
                          </a:solidFill>
                          <a:latin typeface="Segoe UI"/>
                        </a:rPr>
                        <a:t>Q4</a:t>
                      </a:r>
                    </a:p>
                  </a:txBody>
                  <a:tcPr marL="54864" marR="54864" marT="22860" marB="22860" anchor="ctr">
                    <a:solidFill>
                      <a:srgbClr val="EEF0F3"/>
                    </a:solidFill>
                  </a:tcPr>
                </a:tc>
                <a:tc>
                  <a:txBody>
                    <a:bodyPr/>
                    <a:lstStyle/>
                    <a:p>
                      <a:pPr algn="l"/>
                      <a:r>
                        <a:rPr sz="1000" b="0">
                          <a:solidFill>
                            <a:srgbClr val="171C26"/>
                          </a:solidFill>
                          <a:latin typeface="Segoe UI"/>
                        </a:rPr>
                        <a:t>ZIP-218 faster blocks</a:t>
                      </a:r>
                    </a:p>
                  </a:txBody>
                  <a:tcPr marL="54864" marR="54864" marT="22860" marB="22860" anchor="ctr">
                    <a:solidFill>
                      <a:srgbClr val="EEF0F3"/>
                    </a:solidFill>
                  </a:tcPr>
                </a:tc>
                <a:tc>
                  <a:txBody>
                    <a:bodyPr/>
                    <a:lstStyle/>
                    <a:p>
                      <a:pPr algn="l"/>
                      <a:r>
                        <a:rPr sz="1000" b="0">
                          <a:solidFill>
                            <a:srgbClr val="171C26"/>
                          </a:solidFill>
                          <a:latin typeface="Segoe UI"/>
                        </a:rPr>
                        <a:t>Yes</a:t>
                      </a:r>
                    </a:p>
                  </a:txBody>
                  <a:tcPr marL="54864" marR="54864" marT="22860" marB="22860" anchor="ctr">
                    <a:solidFill>
                      <a:srgbClr val="EEF0F3"/>
                    </a:solidFill>
                  </a:tcPr>
                </a:tc>
                <a:tc>
                  <a:txBody>
                    <a:bodyPr/>
                    <a:lstStyle/>
                    <a:p>
                      <a:pPr algn="r"/>
                      <a:r>
                        <a:rPr sz="1000" b="0">
                          <a:solidFill>
                            <a:srgbClr val="171C26"/>
                          </a:solidFill>
                          <a:latin typeface="Segoe UI"/>
                        </a:rPr>
                        <a:t>95%</a:t>
                      </a:r>
                    </a:p>
                  </a:txBody>
                  <a:tcPr marL="54864" marR="54864" marT="22860" marB="22860" anchor="ctr">
                    <a:solidFill>
                      <a:srgbClr val="EEF0F3"/>
                    </a:solidFill>
                  </a:tcPr>
                </a:tc>
                <a:extLst>
                  <a:ext uri="{0D108BD9-81ED-4DB2-BD59-A6C34878D82A}">
                    <a16:rowId xmlns:a16="http://schemas.microsoft.com/office/drawing/2014/main" val="10004"/>
                  </a:ext>
                </a:extLst>
              </a:tr>
              <a:tr h="310896">
                <a:tc>
                  <a:txBody>
                    <a:bodyPr/>
                    <a:lstStyle/>
                    <a:p>
                      <a:pPr algn="l"/>
                      <a:r>
                        <a:rPr sz="1000" b="0">
                          <a:solidFill>
                            <a:srgbClr val="171C26"/>
                          </a:solidFill>
                          <a:latin typeface="Segoe UI"/>
                        </a:rPr>
                        <a:t>Q5</a:t>
                      </a:r>
                    </a:p>
                  </a:txBody>
                  <a:tcPr marL="54864" marR="54864" marT="22860" marB="22860" anchor="ctr">
                    <a:solidFill>
                      <a:srgbClr val="FFFFFF"/>
                    </a:solidFill>
                  </a:tcPr>
                </a:tc>
                <a:tc>
                  <a:txBody>
                    <a:bodyPr/>
                    <a:lstStyle/>
                    <a:p>
                      <a:pPr algn="l"/>
                      <a:r>
                        <a:rPr sz="1000" b="0">
                          <a:solidFill>
                            <a:srgbClr val="171C26"/>
                          </a:solidFill>
                          <a:latin typeface="Segoe UI"/>
                        </a:rPr>
                        <a:t>Sept-30 feature deadline</a:t>
                      </a:r>
                    </a:p>
                  </a:txBody>
                  <a:tcPr marL="54864" marR="54864" marT="22860" marB="22860" anchor="ctr">
                    <a:solidFill>
                      <a:srgbClr val="FFFFFF"/>
                    </a:solidFill>
                  </a:tcPr>
                </a:tc>
                <a:tc>
                  <a:txBody>
                    <a:bodyPr/>
                    <a:lstStyle/>
                    <a:p>
                      <a:pPr algn="l"/>
                      <a:r>
                        <a:rPr sz="1000" b="0">
                          <a:solidFill>
                            <a:srgbClr val="171C26"/>
                          </a:solidFill>
                          <a:latin typeface="Segoe UI"/>
                        </a:rPr>
                        <a:t>Ship NU7 as soon as possible</a:t>
                      </a:r>
                    </a:p>
                  </a:txBody>
                  <a:tcPr marL="54864" marR="54864" marT="22860" marB="22860" anchor="ctr">
                    <a:solidFill>
                      <a:srgbClr val="FFFFFF"/>
                    </a:solidFill>
                  </a:tcPr>
                </a:tc>
                <a:tc>
                  <a:txBody>
                    <a:bodyPr/>
                    <a:lstStyle/>
                    <a:p>
                      <a:pPr algn="r"/>
                      <a:r>
                        <a:rPr sz="1000" b="0">
                          <a:solidFill>
                            <a:srgbClr val="171C26"/>
                          </a:solidFill>
                          <a:latin typeface="Segoe UI"/>
                        </a:rPr>
                        <a:t>88%</a:t>
                      </a:r>
                    </a:p>
                  </a:txBody>
                  <a:tcPr marL="54864" marR="54864" marT="22860" marB="22860"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What happened, hour by hour</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All times UTC. Two calendar days, 38 pass reports, 14 trades, one result.</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3</a:t>
            </a:r>
          </a:p>
        </p:txBody>
      </p:sp>
      <p:sp>
        <p:nvSpPr>
          <p:cNvPr id="7" name="Rectangle 6"/>
          <p:cNvSpPr/>
          <p:nvPr/>
        </p:nvSpPr>
        <p:spPr>
          <a:xfrm>
            <a:off x="822960" y="3415284"/>
            <a:ext cx="10515600" cy="27432"/>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74492" y="3346704"/>
            <a:ext cx="164592" cy="164592"/>
          </a:xfrm>
          <a:prstGeom prst="ellipse">
            <a:avLst/>
          </a:prstGeom>
          <a:solidFill>
            <a:srgbClr val="14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49473" y="2560320"/>
            <a:ext cx="14630" cy="777240"/>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0988" y="1280160"/>
            <a:ext cx="1417320" cy="1280160"/>
          </a:xfrm>
          <a:prstGeom prst="rect">
            <a:avLst/>
          </a:prstGeom>
          <a:noFill/>
        </p:spPr>
        <p:txBody>
          <a:bodyPr wrap="square" lIns="36576" tIns="18288" rIns="36576" bIns="18288" anchor="b">
            <a:spAutoFit/>
          </a:bodyPr>
          <a:lstStyle/>
          <a:p>
            <a:pPr algn="l">
              <a:spcBef>
                <a:spcPts val="0"/>
              </a:spcBef>
              <a:spcAft>
                <a:spcPts val="0"/>
              </a:spcAft>
            </a:pPr>
            <a:r>
              <a:rPr sz="900" b="0" i="0">
                <a:solidFill>
                  <a:srgbClr val="5C6675"/>
                </a:solidFill>
                <a:latin typeface="Consolas"/>
              </a:rPr>
              <a:t>13 Sep 13:30</a:t>
            </a:r>
          </a:p>
          <a:p>
            <a:pPr algn="l">
              <a:spcBef>
                <a:spcPts val="100"/>
              </a:spcBef>
              <a:spcAft>
                <a:spcPts val="0"/>
              </a:spcAft>
            </a:pPr>
            <a:r>
              <a:rPr sz="1050" b="1" i="0">
                <a:solidFill>
                  <a:srgbClr val="171C26"/>
                </a:solidFill>
                <a:latin typeface="Segoe UI"/>
              </a:rPr>
              <a:t>Clean start</a:t>
            </a:r>
          </a:p>
          <a:p>
            <a:pPr algn="l">
              <a:spcBef>
                <a:spcPts val="100"/>
              </a:spcBef>
              <a:spcAft>
                <a:spcPts val="0"/>
              </a:spcAft>
            </a:pPr>
            <a:r>
              <a:rPr sz="880" b="0" i="0">
                <a:solidFill>
                  <a:srgbClr val="5C6675"/>
                </a:solidFill>
                <a:latin typeface="Segoe UI"/>
              </a:rPr>
              <a:t>Old positions unwound; four wallets hold cash only.</a:t>
            </a:r>
          </a:p>
        </p:txBody>
      </p:sp>
      <p:sp>
        <p:nvSpPr>
          <p:cNvPr id="11" name="Oval 10"/>
          <p:cNvSpPr/>
          <p:nvPr/>
        </p:nvSpPr>
        <p:spPr>
          <a:xfrm>
            <a:off x="2103797" y="3346704"/>
            <a:ext cx="164592" cy="164592"/>
          </a:xfrm>
          <a:prstGeom prst="ellipse">
            <a:avLst/>
          </a:prstGeom>
          <a:solidFill>
            <a:srgbClr val="14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178778" y="3520440"/>
            <a:ext cx="14630" cy="777240"/>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500293" y="4297680"/>
            <a:ext cx="1417320" cy="137160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Consolas"/>
              </a:rPr>
              <a:t>16:35</a:t>
            </a:r>
          </a:p>
          <a:p>
            <a:pPr algn="l">
              <a:spcBef>
                <a:spcPts val="100"/>
              </a:spcBef>
              <a:spcAft>
                <a:spcPts val="0"/>
              </a:spcAft>
            </a:pPr>
            <a:r>
              <a:rPr sz="1050" b="1" i="0">
                <a:solidFill>
                  <a:srgbClr val="171C26"/>
                </a:solidFill>
                <a:latin typeface="Segoe UI"/>
              </a:rPr>
              <a:t>First scheduled pass</a:t>
            </a:r>
          </a:p>
          <a:p>
            <a:pPr algn="l">
              <a:spcBef>
                <a:spcPts val="100"/>
              </a:spcBef>
              <a:spcAft>
                <a:spcPts val="0"/>
              </a:spcAft>
            </a:pPr>
            <a:r>
              <a:rPr sz="880" b="0" i="0">
                <a:solidFill>
                  <a:srgbClr val="5C6675"/>
                </a:solidFill>
                <a:latin typeface="Segoe UI"/>
              </a:rPr>
              <a:t>Fable 16:35, Opus 16:55, Astra 17:15, Sol 17:35; then every 2 h.</a:t>
            </a:r>
          </a:p>
        </p:txBody>
      </p:sp>
      <p:sp>
        <p:nvSpPr>
          <p:cNvPr id="14" name="Oval 13"/>
          <p:cNvSpPr/>
          <p:nvPr/>
        </p:nvSpPr>
        <p:spPr>
          <a:xfrm>
            <a:off x="2632359" y="3346704"/>
            <a:ext cx="164592" cy="164592"/>
          </a:xfrm>
          <a:prstGeom prst="ellipse">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707340" y="2560320"/>
            <a:ext cx="14630" cy="777240"/>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028855" y="1280160"/>
            <a:ext cx="1417320" cy="1280160"/>
          </a:xfrm>
          <a:prstGeom prst="rect">
            <a:avLst/>
          </a:prstGeom>
          <a:noFill/>
        </p:spPr>
        <p:txBody>
          <a:bodyPr wrap="square" lIns="36576" tIns="18288" rIns="36576" bIns="18288" anchor="b">
            <a:spAutoFit/>
          </a:bodyPr>
          <a:lstStyle/>
          <a:p>
            <a:pPr algn="l">
              <a:spcBef>
                <a:spcPts val="0"/>
              </a:spcBef>
              <a:spcAft>
                <a:spcPts val="0"/>
              </a:spcAft>
            </a:pPr>
            <a:r>
              <a:rPr sz="900" b="0" i="0">
                <a:solidFill>
                  <a:srgbClr val="5C6675"/>
                </a:solidFill>
                <a:latin typeface="Consolas"/>
              </a:rPr>
              <a:t>16:58 → 19:27</a:t>
            </a:r>
          </a:p>
          <a:p>
            <a:pPr algn="l">
              <a:spcBef>
                <a:spcPts val="100"/>
              </a:spcBef>
              <a:spcAft>
                <a:spcPts val="0"/>
              </a:spcAft>
            </a:pPr>
            <a:r>
              <a:rPr sz="1050" b="1" i="0">
                <a:solidFill>
                  <a:srgbClr val="171C26"/>
                </a:solidFill>
                <a:latin typeface="Segoe UI"/>
              </a:rPr>
              <a:t>11 trades in two cycles</a:t>
            </a:r>
          </a:p>
          <a:p>
            <a:pPr algn="l">
              <a:spcBef>
                <a:spcPts val="100"/>
              </a:spcBef>
              <a:spcAft>
                <a:spcPts val="0"/>
              </a:spcAft>
            </a:pPr>
            <a:r>
              <a:rPr sz="880" b="0" i="0">
                <a:solidFill>
                  <a:srgbClr val="5C6675"/>
                </a:solidFill>
                <a:latin typeface="Segoe UI"/>
              </a:rPr>
              <a:t>Feb-2031 goes 0.29 → 0.43, Ship 0.71 → 0.75, Immediately 0.28 → 0.33.</a:t>
            </a:r>
          </a:p>
        </p:txBody>
      </p:sp>
      <p:sp>
        <p:nvSpPr>
          <p:cNvPr id="17" name="Oval 16"/>
          <p:cNvSpPr/>
          <p:nvPr/>
        </p:nvSpPr>
        <p:spPr>
          <a:xfrm>
            <a:off x="4746606" y="3346704"/>
            <a:ext cx="164592" cy="164592"/>
          </a:xfrm>
          <a:prstGeom prst="ellipse">
            <a:avLst/>
          </a:prstGeom>
          <a:solidFill>
            <a:srgbClr val="14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821587" y="3520440"/>
            <a:ext cx="14630" cy="777240"/>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43102" y="4297680"/>
            <a:ext cx="1417320" cy="137160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Consolas"/>
              </a:rPr>
              <a:t>20:35 → 02:55</a:t>
            </a:r>
          </a:p>
          <a:p>
            <a:pPr algn="l">
              <a:spcBef>
                <a:spcPts val="100"/>
              </a:spcBef>
              <a:spcAft>
                <a:spcPts val="0"/>
              </a:spcAft>
            </a:pPr>
            <a:r>
              <a:rPr sz="1050" b="1" i="0">
                <a:solidFill>
                  <a:srgbClr val="171C26"/>
                </a:solidFill>
                <a:latin typeface="Segoe UI"/>
              </a:rPr>
              <a:t>Quiet night</a:t>
            </a:r>
          </a:p>
          <a:p>
            <a:pPr algn="l">
              <a:spcBef>
                <a:spcPts val="100"/>
              </a:spcBef>
              <a:spcAft>
                <a:spcPts val="0"/>
              </a:spcAft>
            </a:pPr>
            <a:r>
              <a:rPr sz="880" b="0" i="0">
                <a:solidFill>
                  <a:srgbClr val="5C6675"/>
                </a:solidFill>
                <a:latin typeface="Segoe UI"/>
              </a:rPr>
              <a:t>Every pass ends in “no trade”: the remaining edges are under the 5-point floor.</a:t>
            </a:r>
          </a:p>
        </p:txBody>
      </p:sp>
      <p:sp>
        <p:nvSpPr>
          <p:cNvPr id="20" name="Oval 19"/>
          <p:cNvSpPr/>
          <p:nvPr/>
        </p:nvSpPr>
        <p:spPr>
          <a:xfrm>
            <a:off x="6081921" y="3346704"/>
            <a:ext cx="164592" cy="164592"/>
          </a:xfrm>
          <a:prstGeom prst="ellipse">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56901" y="2560320"/>
            <a:ext cx="14630" cy="777240"/>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78417" y="1280160"/>
            <a:ext cx="1417320" cy="1280160"/>
          </a:xfrm>
          <a:prstGeom prst="rect">
            <a:avLst/>
          </a:prstGeom>
          <a:noFill/>
        </p:spPr>
        <p:txBody>
          <a:bodyPr wrap="square" lIns="36576" tIns="18288" rIns="36576" bIns="18288" anchor="b">
            <a:spAutoFit/>
          </a:bodyPr>
          <a:lstStyle/>
          <a:p>
            <a:pPr algn="l">
              <a:spcBef>
                <a:spcPts val="0"/>
              </a:spcBef>
              <a:spcAft>
                <a:spcPts val="0"/>
              </a:spcAft>
            </a:pPr>
            <a:r>
              <a:rPr sz="900" b="0" i="0" dirty="0">
                <a:solidFill>
                  <a:srgbClr val="5C6675"/>
                </a:solidFill>
                <a:latin typeface="Consolas"/>
              </a:rPr>
              <a:t>14 Sep 03:29 → 05:33</a:t>
            </a:r>
          </a:p>
          <a:p>
            <a:pPr algn="l">
              <a:spcBef>
                <a:spcPts val="100"/>
              </a:spcBef>
              <a:spcAft>
                <a:spcPts val="0"/>
              </a:spcAft>
            </a:pPr>
            <a:r>
              <a:rPr sz="1050" b="1" i="0" dirty="0">
                <a:solidFill>
                  <a:srgbClr val="171C26"/>
                </a:solidFill>
                <a:latin typeface="Segoe UI"/>
              </a:rPr>
              <a:t>Astra adds three small trades</a:t>
            </a:r>
          </a:p>
          <a:p>
            <a:pPr algn="l">
              <a:spcBef>
                <a:spcPts val="100"/>
              </a:spcBef>
              <a:spcAft>
                <a:spcPts val="0"/>
              </a:spcAft>
            </a:pPr>
            <a:r>
              <a:rPr sz="880" b="0" i="0" dirty="0">
                <a:solidFill>
                  <a:srgbClr val="5C6675"/>
                </a:solidFill>
                <a:latin typeface="Segoe UI"/>
              </a:rPr>
              <a:t>Its last swap is the last swap on any of the five pools.</a:t>
            </a:r>
          </a:p>
        </p:txBody>
      </p:sp>
      <p:sp>
        <p:nvSpPr>
          <p:cNvPr id="23" name="Oval 22"/>
          <p:cNvSpPr/>
          <p:nvPr/>
        </p:nvSpPr>
        <p:spPr>
          <a:xfrm>
            <a:off x="7584149" y="3346704"/>
            <a:ext cx="164592" cy="164592"/>
          </a:xfrm>
          <a:prstGeom prst="ellipse">
            <a:avLst/>
          </a:prstGeom>
          <a:solidFill>
            <a:srgbClr val="14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659130" y="3520440"/>
            <a:ext cx="14630" cy="777240"/>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80645" y="4297680"/>
            <a:ext cx="1417320" cy="137160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Consolas"/>
              </a:rPr>
              <a:t>05:35 → 14:35</a:t>
            </a:r>
          </a:p>
          <a:p>
            <a:pPr algn="l">
              <a:spcBef>
                <a:spcPts val="100"/>
              </a:spcBef>
              <a:spcAft>
                <a:spcPts val="0"/>
              </a:spcAft>
            </a:pPr>
            <a:r>
              <a:rPr sz="1050" b="1" i="0">
                <a:solidFill>
                  <a:srgbClr val="171C26"/>
                </a:solidFill>
                <a:latin typeface="Segoe UI"/>
              </a:rPr>
              <a:t>12 more “no trade” passes</a:t>
            </a:r>
          </a:p>
          <a:p>
            <a:pPr algn="l">
              <a:spcBef>
                <a:spcPts val="100"/>
              </a:spcBef>
              <a:spcAft>
                <a:spcPts val="0"/>
              </a:spcAft>
            </a:pPr>
            <a:r>
              <a:rPr sz="880" b="0" i="0">
                <a:solidFill>
                  <a:srgbClr val="5C6675"/>
                </a:solidFill>
                <a:latin typeface="Segoe UI"/>
              </a:rPr>
              <a:t>Estimates barely move; prices do not move at all.</a:t>
            </a:r>
          </a:p>
        </p:txBody>
      </p:sp>
      <p:sp>
        <p:nvSpPr>
          <p:cNvPr id="26" name="Oval 25"/>
          <p:cNvSpPr/>
          <p:nvPr/>
        </p:nvSpPr>
        <p:spPr>
          <a:xfrm>
            <a:off x="8808187" y="3346704"/>
            <a:ext cx="164592" cy="164592"/>
          </a:xfrm>
          <a:prstGeom prst="ellipse">
            <a:avLst/>
          </a:prstGeom>
          <a:solidFill>
            <a:srgbClr val="14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883168" y="2560320"/>
            <a:ext cx="14630" cy="777240"/>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04683" y="1629809"/>
            <a:ext cx="1417320" cy="930511"/>
          </a:xfrm>
          <a:prstGeom prst="rect">
            <a:avLst/>
          </a:prstGeom>
          <a:noFill/>
        </p:spPr>
        <p:txBody>
          <a:bodyPr wrap="square" lIns="36576" tIns="18288" rIns="36576" bIns="18288" anchor="b">
            <a:spAutoFit/>
          </a:bodyPr>
          <a:lstStyle/>
          <a:p>
            <a:pPr algn="l">
              <a:spcBef>
                <a:spcPts val="0"/>
              </a:spcBef>
              <a:spcAft>
                <a:spcPts val="0"/>
              </a:spcAft>
            </a:pPr>
            <a:r>
              <a:rPr sz="900" b="0" i="0" dirty="0">
                <a:solidFill>
                  <a:srgbClr val="5C6675"/>
                </a:solidFill>
                <a:latin typeface="Consolas"/>
              </a:rPr>
              <a:t>≈ 12:40 · 12:55</a:t>
            </a:r>
          </a:p>
          <a:p>
            <a:pPr>
              <a:spcBef>
                <a:spcPts val="100"/>
              </a:spcBef>
            </a:pPr>
            <a:r>
              <a:rPr lang="en-US" sz="1050" b="1" dirty="0">
                <a:solidFill>
                  <a:srgbClr val="171C26"/>
                </a:solidFill>
                <a:latin typeface="Segoe UI"/>
              </a:rPr>
              <a:t>Reboot and a rate limit</a:t>
            </a:r>
          </a:p>
          <a:p>
            <a:pPr>
              <a:spcBef>
                <a:spcPts val="100"/>
              </a:spcBef>
            </a:pPr>
            <a:r>
              <a:rPr lang="en-US" sz="880" dirty="0">
                <a:solidFill>
                  <a:srgbClr val="5C6675"/>
                </a:solidFill>
                <a:latin typeface="Segoe UI"/>
              </a:rPr>
              <a:t>A reboot kills three passes; the Opus pass is refused by the Claude session limit</a:t>
            </a:r>
          </a:p>
        </p:txBody>
      </p:sp>
      <p:sp>
        <p:nvSpPr>
          <p:cNvPr id="29" name="Oval 28"/>
          <p:cNvSpPr/>
          <p:nvPr/>
        </p:nvSpPr>
        <p:spPr>
          <a:xfrm>
            <a:off x="9308930" y="3346704"/>
            <a:ext cx="164592" cy="164592"/>
          </a:xfrm>
          <a:prstGeom prst="ellipse">
            <a:avLst/>
          </a:prstGeom>
          <a:solidFill>
            <a:srgbClr val="14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383911" y="3520440"/>
            <a:ext cx="14630" cy="777240"/>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705426" y="4297680"/>
            <a:ext cx="1417320" cy="137160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Consolas"/>
              </a:rPr>
              <a:t>13:35 · 14:40</a:t>
            </a:r>
          </a:p>
          <a:p>
            <a:pPr algn="l">
              <a:spcBef>
                <a:spcPts val="100"/>
              </a:spcBef>
              <a:spcAft>
                <a:spcPts val="0"/>
              </a:spcAft>
            </a:pPr>
            <a:r>
              <a:rPr sz="1050" b="1" i="0">
                <a:solidFill>
                  <a:srgbClr val="171C26"/>
                </a:solidFill>
                <a:latin typeface="Segoe UI"/>
              </a:rPr>
              <a:t>Liquidity withdrawn, bots stopped</a:t>
            </a:r>
          </a:p>
          <a:p>
            <a:pPr algn="l">
              <a:spcBef>
                <a:spcPts val="100"/>
              </a:spcBef>
              <a:spcAft>
                <a:spcPts val="0"/>
              </a:spcAft>
            </a:pPr>
            <a:r>
              <a:rPr sz="880" b="0" i="0">
                <a:solidFill>
                  <a:srgbClr val="5C6675"/>
                </a:solidFill>
                <a:latin typeface="Segoe UI"/>
              </a:rPr>
              <a:t>The wallet that seeded the pools removes all liquidity; scheduled tasks disabled.</a:t>
            </a:r>
          </a:p>
        </p:txBody>
      </p:sp>
      <p:sp>
        <p:nvSpPr>
          <p:cNvPr id="32" name="Oval 31"/>
          <p:cNvSpPr/>
          <p:nvPr/>
        </p:nvSpPr>
        <p:spPr>
          <a:xfrm>
            <a:off x="10922435" y="3346704"/>
            <a:ext cx="164592" cy="164592"/>
          </a:xfrm>
          <a:prstGeom prst="ellipse">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0997416" y="2560320"/>
            <a:ext cx="14630" cy="777240"/>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318931" y="1280160"/>
            <a:ext cx="1417320" cy="1280160"/>
          </a:xfrm>
          <a:prstGeom prst="rect">
            <a:avLst/>
          </a:prstGeom>
          <a:noFill/>
        </p:spPr>
        <p:txBody>
          <a:bodyPr wrap="square" lIns="36576" tIns="18288" rIns="36576" bIns="18288" anchor="b">
            <a:spAutoFit/>
          </a:bodyPr>
          <a:lstStyle/>
          <a:p>
            <a:pPr algn="l">
              <a:spcBef>
                <a:spcPts val="0"/>
              </a:spcBef>
              <a:spcAft>
                <a:spcPts val="0"/>
              </a:spcAft>
            </a:pPr>
            <a:r>
              <a:rPr sz="900" b="0" i="0">
                <a:solidFill>
                  <a:srgbClr val="5C6675"/>
                </a:solidFill>
                <a:latin typeface="Consolas"/>
              </a:rPr>
              <a:t>19:00</a:t>
            </a:r>
          </a:p>
          <a:p>
            <a:pPr algn="l">
              <a:spcBef>
                <a:spcPts val="100"/>
              </a:spcBef>
              <a:spcAft>
                <a:spcPts val="0"/>
              </a:spcAft>
            </a:pPr>
            <a:r>
              <a:rPr sz="1050" b="1" i="0">
                <a:solidFill>
                  <a:srgbClr val="171C26"/>
                </a:solidFill>
                <a:latin typeface="Segoe UI"/>
              </a:rPr>
              <a:t>Poll closes</a:t>
            </a:r>
          </a:p>
          <a:p>
            <a:pPr algn="l">
              <a:spcBef>
                <a:spcPts val="100"/>
              </a:spcBef>
              <a:spcAft>
                <a:spcPts val="0"/>
              </a:spcAft>
            </a:pPr>
            <a:r>
              <a:rPr sz="880" b="0" i="0">
                <a:solidFill>
                  <a:srgbClr val="5C6675"/>
                </a:solidFill>
                <a:latin typeface="Segoe UI"/>
              </a:rPr>
              <a:t>Tally published: every ballot leader wins with 96.6–99.9% of about 2.4M ZEC.</a:t>
            </a:r>
          </a:p>
        </p:txBody>
      </p:sp>
      <p:sp>
        <p:nvSpPr>
          <p:cNvPr id="35" name="TextBox 34"/>
          <p:cNvSpPr txBox="1"/>
          <p:nvPr/>
        </p:nvSpPr>
        <p:spPr>
          <a:xfrm>
            <a:off x="457200" y="5806440"/>
            <a:ext cx="11247120" cy="548640"/>
          </a:xfrm>
          <a:prstGeom prst="rect">
            <a:avLst/>
          </a:prstGeom>
          <a:noFill/>
        </p:spPr>
        <p:txBody>
          <a:bodyPr wrap="square" lIns="36576" tIns="18288" rIns="36576" bIns="18288" anchor="t">
            <a:spAutoFit/>
          </a:bodyPr>
          <a:lstStyle/>
          <a:p>
            <a:pPr algn="l">
              <a:spcBef>
                <a:spcPts val="0"/>
              </a:spcBef>
              <a:spcAft>
                <a:spcPts val="0"/>
              </a:spcAft>
            </a:pPr>
            <a:r>
              <a:rPr sz="1150" b="1" i="0">
                <a:solidFill>
                  <a:srgbClr val="171C26"/>
                </a:solidFill>
                <a:latin typeface="Segoe UI"/>
              </a:rPr>
              <a:t>30 of 38 pass reports ended without a trade, including every pass after 14 Sep 05:33 (12 in a row). The bots stopped trading on their own eight hours before the liquidity was withdrawn.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Every trade that executed</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14 trades, 4 wallets, all on the five NU7 markets. Fills are the real average price paid; spot is the pool price just before.</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4</a:t>
            </a:r>
          </a:p>
        </p:txBody>
      </p:sp>
      <p:graphicFrame>
        <p:nvGraphicFramePr>
          <p:cNvPr id="7" name="Table 6"/>
          <p:cNvGraphicFramePr>
            <a:graphicFrameLocks noGrp="1"/>
          </p:cNvGraphicFramePr>
          <p:nvPr/>
        </p:nvGraphicFramePr>
        <p:xfrm>
          <a:off x="457200" y="1600200"/>
          <a:ext cx="11201399" cy="4183380"/>
        </p:xfrm>
        <a:graphic>
          <a:graphicData uri="http://schemas.openxmlformats.org/drawingml/2006/table">
            <a:tbl>
              <a:tblPr firstRow="1">
                <a:tableStyleId>{5C22544A-7EE6-4342-B048-85BDC9FD1C3A}</a:tableStyleId>
              </a:tblPr>
              <a:tblGrid>
                <a:gridCol w="9601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gridCol w="324612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gridCol w="640080">
                  <a:extLst>
                    <a:ext uri="{9D8B030D-6E8A-4147-A177-3AD203B41FA5}">
                      <a16:colId xmlns:a16="http://schemas.microsoft.com/office/drawing/2014/main" val="20007"/>
                    </a:ext>
                  </a:extLst>
                </a:gridCol>
                <a:gridCol w="868680">
                  <a:extLst>
                    <a:ext uri="{9D8B030D-6E8A-4147-A177-3AD203B41FA5}">
                      <a16:colId xmlns:a16="http://schemas.microsoft.com/office/drawing/2014/main" val="20008"/>
                    </a:ext>
                  </a:extLst>
                </a:gridCol>
              </a:tblGrid>
              <a:tr h="278892">
                <a:tc>
                  <a:txBody>
                    <a:bodyPr/>
                    <a:lstStyle/>
                    <a:p>
                      <a:pPr algn="l"/>
                      <a:r>
                        <a:rPr sz="900" b="1">
                          <a:solidFill>
                            <a:srgbClr val="FFFFFF"/>
                          </a:solidFill>
                          <a:latin typeface="Segoe UI"/>
                        </a:rPr>
                        <a:t>Time (UTC)</a:t>
                      </a:r>
                    </a:p>
                  </a:txBody>
                  <a:tcPr marL="54864" marR="54864" marT="22860" marB="22860" anchor="ctr">
                    <a:solidFill>
                      <a:srgbClr val="141A2B"/>
                    </a:solidFill>
                  </a:tcPr>
                </a:tc>
                <a:tc>
                  <a:txBody>
                    <a:bodyPr/>
                    <a:lstStyle/>
                    <a:p>
                      <a:pPr algn="l"/>
                      <a:r>
                        <a:rPr sz="900" b="1">
                          <a:solidFill>
                            <a:srgbClr val="FFFFFF"/>
                          </a:solidFill>
                          <a:latin typeface="Segoe UI"/>
                        </a:rPr>
                        <a:t>Model</a:t>
                      </a:r>
                    </a:p>
                  </a:txBody>
                  <a:tcPr marL="54864" marR="54864" marT="22860" marB="22860" anchor="ctr">
                    <a:solidFill>
                      <a:srgbClr val="141A2B"/>
                    </a:solidFill>
                  </a:tcPr>
                </a:tc>
                <a:tc>
                  <a:txBody>
                    <a:bodyPr/>
                    <a:lstStyle/>
                    <a:p>
                      <a:pPr algn="l"/>
                      <a:r>
                        <a:rPr sz="900" b="1">
                          <a:solidFill>
                            <a:srgbClr val="FFFFFF"/>
                          </a:solidFill>
                          <a:latin typeface="Segoe UI"/>
                        </a:rPr>
                        <a:t>Market</a:t>
                      </a:r>
                    </a:p>
                  </a:txBody>
                  <a:tcPr marL="54864" marR="54864" marT="22860" marB="22860" anchor="ctr">
                    <a:solidFill>
                      <a:srgbClr val="141A2B"/>
                    </a:solidFill>
                  </a:tcPr>
                </a:tc>
                <a:tc>
                  <a:txBody>
                    <a:bodyPr/>
                    <a:lstStyle/>
                    <a:p>
                      <a:pPr algn="l"/>
                      <a:r>
                        <a:rPr sz="900" b="1">
                          <a:solidFill>
                            <a:srgbClr val="FFFFFF"/>
                          </a:solidFill>
                          <a:latin typeface="Segoe UI"/>
                        </a:rPr>
                        <a:t>Action</a:t>
                      </a:r>
                    </a:p>
                  </a:txBody>
                  <a:tcPr marL="54864" marR="54864" marT="22860" marB="22860" anchor="ctr">
                    <a:solidFill>
                      <a:srgbClr val="141A2B"/>
                    </a:solidFill>
                  </a:tcPr>
                </a:tc>
                <a:tc>
                  <a:txBody>
                    <a:bodyPr/>
                    <a:lstStyle/>
                    <a:p>
                      <a:pPr algn="r"/>
                      <a:r>
                        <a:rPr sz="900" b="1">
                          <a:solidFill>
                            <a:srgbClr val="FFFFFF"/>
                          </a:solidFill>
                          <a:latin typeface="Segoe UI"/>
                        </a:rPr>
                        <a:t>Size</a:t>
                      </a:r>
                    </a:p>
                  </a:txBody>
                  <a:tcPr marL="54864" marR="54864" marT="22860" marB="22860" anchor="ctr">
                    <a:solidFill>
                      <a:srgbClr val="141A2B"/>
                    </a:solidFill>
                  </a:tcPr>
                </a:tc>
                <a:tc>
                  <a:txBody>
                    <a:bodyPr/>
                    <a:lstStyle/>
                    <a:p>
                      <a:pPr algn="r"/>
                      <a:r>
                        <a:rPr sz="900" b="1">
                          <a:solidFill>
                            <a:srgbClr val="FFFFFF"/>
                          </a:solidFill>
                          <a:latin typeface="Segoe UI"/>
                        </a:rPr>
                        <a:t>Avg fill</a:t>
                      </a:r>
                    </a:p>
                  </a:txBody>
                  <a:tcPr marL="54864" marR="54864" marT="22860" marB="22860" anchor="ctr">
                    <a:solidFill>
                      <a:srgbClr val="141A2B"/>
                    </a:solidFill>
                  </a:tcPr>
                </a:tc>
                <a:tc>
                  <a:txBody>
                    <a:bodyPr/>
                    <a:lstStyle/>
                    <a:p>
                      <a:pPr algn="r"/>
                      <a:r>
                        <a:rPr sz="900" b="1">
                          <a:solidFill>
                            <a:srgbClr val="FFFFFF"/>
                          </a:solidFill>
                          <a:latin typeface="Segoe UI"/>
                        </a:rPr>
                        <a:t>Spot before</a:t>
                      </a:r>
                    </a:p>
                  </a:txBody>
                  <a:tcPr marL="54864" marR="54864" marT="22860" marB="22860" anchor="ctr">
                    <a:solidFill>
                      <a:srgbClr val="141A2B"/>
                    </a:solidFill>
                  </a:tcPr>
                </a:tc>
                <a:tc>
                  <a:txBody>
                    <a:bodyPr/>
                    <a:lstStyle/>
                    <a:p>
                      <a:pPr algn="r"/>
                      <a:r>
                        <a:rPr sz="900" b="1">
                          <a:solidFill>
                            <a:srgbClr val="FFFFFF"/>
                          </a:solidFill>
                          <a:latin typeface="Segoe UI"/>
                        </a:rPr>
                        <a:t>Slippage</a:t>
                      </a:r>
                    </a:p>
                  </a:txBody>
                  <a:tcPr marL="54864" marR="54864" marT="22860" marB="22860" anchor="ctr">
                    <a:solidFill>
                      <a:srgbClr val="141A2B"/>
                    </a:solidFill>
                  </a:tcPr>
                </a:tc>
                <a:tc>
                  <a:txBody>
                    <a:bodyPr/>
                    <a:lstStyle/>
                    <a:p>
                      <a:pPr algn="r"/>
                      <a:r>
                        <a:rPr sz="900" b="1">
                          <a:solidFill>
                            <a:srgbClr val="FFFFFF"/>
                          </a:solidFill>
                          <a:latin typeface="Segoe UI"/>
                        </a:rPr>
                        <a:t>Cost sUSDS</a:t>
                      </a:r>
                    </a:p>
                  </a:txBody>
                  <a:tcPr marL="54864" marR="54864" marT="22860" marB="22860" anchor="ctr">
                    <a:solidFill>
                      <a:srgbClr val="141A2B"/>
                    </a:solidFill>
                  </a:tcPr>
                </a:tc>
                <a:extLst>
                  <a:ext uri="{0D108BD9-81ED-4DB2-BD59-A6C34878D82A}">
                    <a16:rowId xmlns:a16="http://schemas.microsoft.com/office/drawing/2014/main" val="10000"/>
                  </a:ext>
                </a:extLst>
              </a:tr>
              <a:tr h="278892">
                <a:tc>
                  <a:txBody>
                    <a:bodyPr/>
                    <a:lstStyle/>
                    <a:p>
                      <a:pPr algn="l"/>
                      <a:r>
                        <a:rPr sz="950" b="0">
                          <a:solidFill>
                            <a:srgbClr val="171C26"/>
                          </a:solidFill>
                          <a:latin typeface="Consolas"/>
                        </a:rPr>
                        <a:t>13 Sep 16:58</a:t>
                      </a:r>
                    </a:p>
                  </a:txBody>
                  <a:tcPr marL="54864" marR="54864" marT="22860" marB="22860" anchor="ctr">
                    <a:solidFill>
                      <a:srgbClr val="FFFFFF"/>
                    </a:solidFill>
                  </a:tcPr>
                </a:tc>
                <a:tc>
                  <a:txBody>
                    <a:bodyPr/>
                    <a:lstStyle/>
                    <a:p>
                      <a:pPr algn="l"/>
                      <a:r>
                        <a:rPr sz="950" b="1">
                          <a:solidFill>
                            <a:srgbClr val="C4552A"/>
                          </a:solidFill>
                          <a:latin typeface="Segoe UI"/>
                        </a:rPr>
                        <a:t>Claude Fable 5.1</a:t>
                      </a:r>
                    </a:p>
                  </a:txBody>
                  <a:tcPr marL="54864" marR="54864" marT="22860" marB="22860" anchor="ctr">
                    <a:solidFill>
                      <a:srgbClr val="FFFFFF"/>
                    </a:solidFill>
                  </a:tcPr>
                </a:tc>
                <a:tc>
                  <a:txBody>
                    <a:bodyPr/>
                    <a:lstStyle/>
                    <a:p>
                      <a:pPr algn="l"/>
                      <a:r>
                        <a:rPr sz="950" b="0">
                          <a:solidFill>
                            <a:srgbClr val="171C26"/>
                          </a:solidFill>
                          <a:latin typeface="Segoe UI"/>
                        </a:rPr>
                        <a:t>Q5 Sept-30 feature deadline</a:t>
                      </a:r>
                    </a:p>
                  </a:txBody>
                  <a:tcPr marL="54864" marR="54864" marT="22860" marB="22860" anchor="ctr">
                    <a:solidFill>
                      <a:srgbClr val="FFFFFF"/>
                    </a:solidFill>
                  </a:tcPr>
                </a:tc>
                <a:tc>
                  <a:txBody>
                    <a:bodyPr/>
                    <a:lstStyle/>
                    <a:p>
                      <a:pPr algn="l"/>
                      <a:r>
                        <a:rPr sz="950" b="0">
                          <a:solidFill>
                            <a:srgbClr val="171C26"/>
                          </a:solidFill>
                          <a:latin typeface="Segoe UI"/>
                        </a:rPr>
                        <a:t>Short Delay NU7 · split &amp; sell</a:t>
                      </a:r>
                    </a:p>
                  </a:txBody>
                  <a:tcPr marL="54864" marR="54864" marT="22860" marB="22860" anchor="ctr">
                    <a:solidFill>
                      <a:srgbClr val="FFFFFF"/>
                    </a:solidFill>
                  </a:tcPr>
                </a:tc>
                <a:tc>
                  <a:txBody>
                    <a:bodyPr/>
                    <a:lstStyle/>
                    <a:p>
                      <a:pPr algn="r"/>
                      <a:r>
                        <a:rPr sz="950" b="0">
                          <a:solidFill>
                            <a:srgbClr val="171C26"/>
                          </a:solidFill>
                          <a:latin typeface="Segoe UI"/>
                        </a:rPr>
                        <a:t>50 sets</a:t>
                      </a:r>
                    </a:p>
                  </a:txBody>
                  <a:tcPr marL="54864" marR="54864" marT="22860" marB="22860" anchor="ctr">
                    <a:solidFill>
                      <a:srgbClr val="FFFFFF"/>
                    </a:solidFill>
                  </a:tcPr>
                </a:tc>
                <a:tc>
                  <a:txBody>
                    <a:bodyPr/>
                    <a:lstStyle/>
                    <a:p>
                      <a:pPr algn="r"/>
                      <a:r>
                        <a:rPr sz="950" b="0">
                          <a:solidFill>
                            <a:srgbClr val="171C26"/>
                          </a:solidFill>
                          <a:latin typeface="Consolas"/>
                        </a:rPr>
                        <a:t>0.7866</a:t>
                      </a:r>
                    </a:p>
                  </a:txBody>
                  <a:tcPr marL="54864" marR="54864" marT="22860" marB="22860" anchor="ctr">
                    <a:solidFill>
                      <a:srgbClr val="FFFFFF"/>
                    </a:solidFill>
                  </a:tcPr>
                </a:tc>
                <a:tc>
                  <a:txBody>
                    <a:bodyPr/>
                    <a:lstStyle/>
                    <a:p>
                      <a:pPr algn="r"/>
                      <a:r>
                        <a:rPr sz="950" b="0">
                          <a:solidFill>
                            <a:srgbClr val="171C26"/>
                          </a:solidFill>
                          <a:latin typeface="Consolas"/>
                        </a:rPr>
                        <a:t>0.7594</a:t>
                      </a:r>
                    </a:p>
                  </a:txBody>
                  <a:tcPr marL="54864" marR="54864" marT="22860" marB="22860" anchor="ctr">
                    <a:solidFill>
                      <a:srgbClr val="FFFFFF"/>
                    </a:solidFill>
                  </a:tcPr>
                </a:tc>
                <a:tc>
                  <a:txBody>
                    <a:bodyPr/>
                    <a:lstStyle/>
                    <a:p>
                      <a:pPr algn="r"/>
                      <a:r>
                        <a:rPr sz="950" b="0">
                          <a:solidFill>
                            <a:srgbClr val="171C26"/>
                          </a:solidFill>
                          <a:latin typeface="Consolas"/>
                        </a:rPr>
                        <a:t>3.6%</a:t>
                      </a:r>
                    </a:p>
                  </a:txBody>
                  <a:tcPr marL="54864" marR="54864" marT="22860" marB="22860" anchor="ctr">
                    <a:solidFill>
                      <a:srgbClr val="FFFFFF"/>
                    </a:solidFill>
                  </a:tcPr>
                </a:tc>
                <a:tc>
                  <a:txBody>
                    <a:bodyPr/>
                    <a:lstStyle/>
                    <a:p>
                      <a:pPr algn="r"/>
                      <a:r>
                        <a:rPr sz="950" b="0">
                          <a:solidFill>
                            <a:srgbClr val="171C26"/>
                          </a:solidFill>
                          <a:latin typeface="Consolas"/>
                        </a:rPr>
                        <a:t>39.33</a:t>
                      </a:r>
                    </a:p>
                  </a:txBody>
                  <a:tcPr marL="54864" marR="54864" marT="22860" marB="22860" anchor="ctr">
                    <a:solidFill>
                      <a:srgbClr val="FFFFFF"/>
                    </a:solidFill>
                  </a:tcPr>
                </a:tc>
                <a:extLst>
                  <a:ext uri="{0D108BD9-81ED-4DB2-BD59-A6C34878D82A}">
                    <a16:rowId xmlns:a16="http://schemas.microsoft.com/office/drawing/2014/main" val="10001"/>
                  </a:ext>
                </a:extLst>
              </a:tr>
              <a:tr h="278892">
                <a:tc>
                  <a:txBody>
                    <a:bodyPr/>
                    <a:lstStyle/>
                    <a:p>
                      <a:pPr algn="l"/>
                      <a:r>
                        <a:rPr sz="950" b="0">
                          <a:solidFill>
                            <a:srgbClr val="171C26"/>
                          </a:solidFill>
                          <a:latin typeface="Consolas"/>
                        </a:rPr>
                        <a:t>13 Sep 16:59</a:t>
                      </a:r>
                    </a:p>
                  </a:txBody>
                  <a:tcPr marL="54864" marR="54864" marT="22860" marB="22860" anchor="ctr">
                    <a:solidFill>
                      <a:srgbClr val="EEF0F3"/>
                    </a:solidFill>
                  </a:tcPr>
                </a:tc>
                <a:tc>
                  <a:txBody>
                    <a:bodyPr/>
                    <a:lstStyle/>
                    <a:p>
                      <a:pPr algn="l"/>
                      <a:r>
                        <a:rPr sz="950" b="1">
                          <a:solidFill>
                            <a:srgbClr val="C4552A"/>
                          </a:solidFill>
                          <a:latin typeface="Segoe UI"/>
                        </a:rPr>
                        <a:t>Claude Fable 5.1</a:t>
                      </a:r>
                    </a:p>
                  </a:txBody>
                  <a:tcPr marL="54864" marR="54864" marT="22860" marB="22860" anchor="ctr">
                    <a:solidFill>
                      <a:srgbClr val="EEF0F3"/>
                    </a:solidFill>
                  </a:tcPr>
                </a:tc>
                <a:tc>
                  <a:txBody>
                    <a:bodyPr/>
                    <a:lstStyle/>
                    <a:p>
                      <a:pPr algn="l"/>
                      <a:r>
                        <a:rPr sz="950" b="0">
                          <a:solidFill>
                            <a:srgbClr val="171C26"/>
                          </a:solidFill>
                          <a:latin typeface="Segoe UI"/>
                        </a:rPr>
                        <a:t>Q1 NSM issuance smoothing</a:t>
                      </a:r>
                    </a:p>
                  </a:txBody>
                  <a:tcPr marL="54864" marR="54864" marT="22860" marB="22860" anchor="ctr">
                    <a:solidFill>
                      <a:srgbClr val="EEF0F3"/>
                    </a:solidFill>
                  </a:tcPr>
                </a:tc>
                <a:tc>
                  <a:txBody>
                    <a:bodyPr/>
                    <a:lstStyle/>
                    <a:p>
                      <a:pPr algn="l"/>
                      <a:r>
                        <a:rPr sz="950" b="0">
                          <a:solidFill>
                            <a:srgbClr val="171C26"/>
                          </a:solidFill>
                          <a:latin typeface="Segoe UI"/>
                        </a:rPr>
                        <a:t>Buy Do not include issuance smoothing in NU7 · split</a:t>
                      </a:r>
                    </a:p>
                  </a:txBody>
                  <a:tcPr marL="54864" marR="54864" marT="22860" marB="22860" anchor="ctr">
                    <a:solidFill>
                      <a:srgbClr val="EEF0F3"/>
                    </a:solidFill>
                  </a:tcPr>
                </a:tc>
                <a:tc>
                  <a:txBody>
                    <a:bodyPr/>
                    <a:lstStyle/>
                    <a:p>
                      <a:pPr algn="r"/>
                      <a:r>
                        <a:rPr sz="950" b="0">
                          <a:solidFill>
                            <a:srgbClr val="171C26"/>
                          </a:solidFill>
                          <a:latin typeface="Segoe UI"/>
                        </a:rPr>
                        <a:t>10 sets</a:t>
                      </a:r>
                    </a:p>
                  </a:txBody>
                  <a:tcPr marL="54864" marR="54864" marT="22860" marB="22860" anchor="ctr">
                    <a:solidFill>
                      <a:srgbClr val="EEF0F3"/>
                    </a:solidFill>
                  </a:tcPr>
                </a:tc>
                <a:tc>
                  <a:txBody>
                    <a:bodyPr/>
                    <a:lstStyle/>
                    <a:p>
                      <a:pPr algn="r"/>
                      <a:r>
                        <a:rPr sz="950" b="0">
                          <a:solidFill>
                            <a:srgbClr val="171C26"/>
                          </a:solidFill>
                          <a:latin typeface="Consolas"/>
                        </a:rPr>
                        <a:t>0.1442</a:t>
                      </a:r>
                    </a:p>
                  </a:txBody>
                  <a:tcPr marL="54864" marR="54864" marT="22860" marB="22860" anchor="ctr">
                    <a:solidFill>
                      <a:srgbClr val="EEF0F3"/>
                    </a:solidFill>
                  </a:tcPr>
                </a:tc>
                <a:tc>
                  <a:txBody>
                    <a:bodyPr/>
                    <a:lstStyle/>
                    <a:p>
                      <a:pPr algn="r"/>
                      <a:r>
                        <a:rPr sz="950" b="0">
                          <a:solidFill>
                            <a:srgbClr val="171C26"/>
                          </a:solidFill>
                          <a:latin typeface="Consolas"/>
                        </a:rPr>
                        <a:t>0.1392</a:t>
                      </a:r>
                    </a:p>
                  </a:txBody>
                  <a:tcPr marL="54864" marR="54864" marT="22860" marB="22860" anchor="ctr">
                    <a:solidFill>
                      <a:srgbClr val="EEF0F3"/>
                    </a:solidFill>
                  </a:tcPr>
                </a:tc>
                <a:tc>
                  <a:txBody>
                    <a:bodyPr/>
                    <a:lstStyle/>
                    <a:p>
                      <a:pPr algn="r"/>
                      <a:r>
                        <a:rPr sz="950" b="0">
                          <a:solidFill>
                            <a:srgbClr val="171C26"/>
                          </a:solidFill>
                          <a:latin typeface="Consolas"/>
                        </a:rPr>
                        <a:t>3.5%</a:t>
                      </a:r>
                    </a:p>
                  </a:txBody>
                  <a:tcPr marL="54864" marR="54864" marT="22860" marB="22860" anchor="ctr">
                    <a:solidFill>
                      <a:srgbClr val="EEF0F3"/>
                    </a:solidFill>
                  </a:tcPr>
                </a:tc>
                <a:tc>
                  <a:txBody>
                    <a:bodyPr/>
                    <a:lstStyle/>
                    <a:p>
                      <a:pPr algn="r"/>
                      <a:r>
                        <a:rPr sz="950" b="0">
                          <a:solidFill>
                            <a:srgbClr val="171C26"/>
                          </a:solidFill>
                          <a:latin typeface="Consolas"/>
                        </a:rPr>
                        <a:t>1.44</a:t>
                      </a:r>
                    </a:p>
                  </a:txBody>
                  <a:tcPr marL="54864" marR="54864" marT="22860" marB="22860" anchor="ctr">
                    <a:solidFill>
                      <a:srgbClr val="EEF0F3"/>
                    </a:solidFill>
                  </a:tcPr>
                </a:tc>
                <a:extLst>
                  <a:ext uri="{0D108BD9-81ED-4DB2-BD59-A6C34878D82A}">
                    <a16:rowId xmlns:a16="http://schemas.microsoft.com/office/drawing/2014/main" val="10002"/>
                  </a:ext>
                </a:extLst>
              </a:tr>
              <a:tr h="278892">
                <a:tc>
                  <a:txBody>
                    <a:bodyPr/>
                    <a:lstStyle/>
                    <a:p>
                      <a:pPr algn="l"/>
                      <a:r>
                        <a:rPr sz="950" b="0">
                          <a:solidFill>
                            <a:srgbClr val="171C26"/>
                          </a:solidFill>
                          <a:latin typeface="Consolas"/>
                        </a:rPr>
                        <a:t>13 Sep 17:39</a:t>
                      </a:r>
                    </a:p>
                  </a:txBody>
                  <a:tcPr marL="54864" marR="54864" marT="22860" marB="22860" anchor="ctr">
                    <a:solidFill>
                      <a:srgbClr val="FFFFFF"/>
                    </a:solidFill>
                  </a:tcPr>
                </a:tc>
                <a:tc>
                  <a:txBody>
                    <a:bodyPr/>
                    <a:lstStyle/>
                    <a:p>
                      <a:pPr algn="l"/>
                      <a:r>
                        <a:rPr sz="950" b="1">
                          <a:solidFill>
                            <a:srgbClr val="7A2E8C"/>
                          </a:solidFill>
                          <a:latin typeface="Segoe UI"/>
                        </a:rPr>
                        <a:t>Claude Opus 5</a:t>
                      </a:r>
                    </a:p>
                  </a:txBody>
                  <a:tcPr marL="54864" marR="54864" marT="22860" marB="22860" anchor="ctr">
                    <a:solidFill>
                      <a:srgbClr val="FFFFFF"/>
                    </a:solidFill>
                  </a:tcPr>
                </a:tc>
                <a:tc>
                  <a:txBody>
                    <a:bodyPr/>
                    <a:lstStyle/>
                    <a:p>
                      <a:pPr algn="l"/>
                      <a:r>
                        <a:rPr sz="950" b="0">
                          <a:solidFill>
                            <a:srgbClr val="171C26"/>
                          </a:solidFill>
                          <a:latin typeface="Segoe UI"/>
                        </a:rPr>
                        <a:t>Q3 Disable v4 transactions</a:t>
                      </a:r>
                    </a:p>
                  </a:txBody>
                  <a:tcPr marL="54864" marR="54864" marT="22860" marB="22860" anchor="ctr">
                    <a:solidFill>
                      <a:srgbClr val="FFFFFF"/>
                    </a:solidFill>
                  </a:tcPr>
                </a:tc>
                <a:tc>
                  <a:txBody>
                    <a:bodyPr/>
                    <a:lstStyle/>
                    <a:p>
                      <a:pPr algn="l"/>
                      <a:r>
                        <a:rPr sz="950" b="0">
                          <a:solidFill>
                            <a:srgbClr val="171C26"/>
                          </a:solidFill>
                          <a:latin typeface="Segoe UI"/>
                        </a:rPr>
                        <a:t>Buy Immediately at NU7 activation</a:t>
                      </a:r>
                    </a:p>
                  </a:txBody>
                  <a:tcPr marL="54864" marR="54864" marT="22860" marB="22860" anchor="ctr">
                    <a:solidFill>
                      <a:srgbClr val="FFFFFF"/>
                    </a:solidFill>
                  </a:tcPr>
                </a:tc>
                <a:tc>
                  <a:txBody>
                    <a:bodyPr/>
                    <a:lstStyle/>
                    <a:p>
                      <a:pPr algn="r"/>
                      <a:r>
                        <a:rPr sz="950" b="0">
                          <a:solidFill>
                            <a:srgbClr val="171C26"/>
                          </a:solidFill>
                          <a:latin typeface="Segoe UI"/>
                        </a:rPr>
                        <a:t>50 sUSDS</a:t>
                      </a:r>
                    </a:p>
                  </a:txBody>
                  <a:tcPr marL="54864" marR="54864" marT="22860" marB="22860" anchor="ctr">
                    <a:solidFill>
                      <a:srgbClr val="FFFFFF"/>
                    </a:solidFill>
                  </a:tcPr>
                </a:tc>
                <a:tc>
                  <a:txBody>
                    <a:bodyPr/>
                    <a:lstStyle/>
                    <a:p>
                      <a:pPr algn="r"/>
                      <a:r>
                        <a:rPr sz="950" b="0">
                          <a:solidFill>
                            <a:srgbClr val="171C26"/>
                          </a:solidFill>
                          <a:latin typeface="Consolas"/>
                        </a:rPr>
                        <a:t>0.3095</a:t>
                      </a:r>
                    </a:p>
                  </a:txBody>
                  <a:tcPr marL="54864" marR="54864" marT="22860" marB="22860" anchor="ctr">
                    <a:solidFill>
                      <a:srgbClr val="FFFFFF"/>
                    </a:solidFill>
                  </a:tcPr>
                </a:tc>
                <a:tc>
                  <a:txBody>
                    <a:bodyPr/>
                    <a:lstStyle/>
                    <a:p>
                      <a:pPr algn="r"/>
                      <a:r>
                        <a:rPr sz="950" b="0">
                          <a:solidFill>
                            <a:srgbClr val="171C26"/>
                          </a:solidFill>
                          <a:latin typeface="Consolas"/>
                        </a:rPr>
                        <a:t>0.2758</a:t>
                      </a:r>
                    </a:p>
                  </a:txBody>
                  <a:tcPr marL="54864" marR="54864" marT="22860" marB="22860" anchor="ctr">
                    <a:solidFill>
                      <a:srgbClr val="FFFFFF"/>
                    </a:solidFill>
                  </a:tcPr>
                </a:tc>
                <a:tc>
                  <a:txBody>
                    <a:bodyPr/>
                    <a:lstStyle/>
                    <a:p>
                      <a:pPr algn="r"/>
                      <a:r>
                        <a:rPr sz="950" b="0">
                          <a:solidFill>
                            <a:srgbClr val="B83A2E"/>
                          </a:solidFill>
                          <a:latin typeface="Consolas"/>
                        </a:rPr>
                        <a:t>12.2%</a:t>
                      </a:r>
                    </a:p>
                  </a:txBody>
                  <a:tcPr marL="54864" marR="54864" marT="22860" marB="22860" anchor="ctr">
                    <a:solidFill>
                      <a:srgbClr val="FFFFFF"/>
                    </a:solidFill>
                  </a:tcPr>
                </a:tc>
                <a:tc>
                  <a:txBody>
                    <a:bodyPr/>
                    <a:lstStyle/>
                    <a:p>
                      <a:pPr algn="r"/>
                      <a:r>
                        <a:rPr sz="950" b="0">
                          <a:solidFill>
                            <a:srgbClr val="171C26"/>
                          </a:solidFill>
                          <a:latin typeface="Consolas"/>
                        </a:rPr>
                        <a:t>50.00</a:t>
                      </a:r>
                    </a:p>
                  </a:txBody>
                  <a:tcPr marL="54864" marR="54864" marT="22860" marB="22860" anchor="ctr">
                    <a:solidFill>
                      <a:srgbClr val="FFFFFF"/>
                    </a:solidFill>
                  </a:tcPr>
                </a:tc>
                <a:extLst>
                  <a:ext uri="{0D108BD9-81ED-4DB2-BD59-A6C34878D82A}">
                    <a16:rowId xmlns:a16="http://schemas.microsoft.com/office/drawing/2014/main" val="10003"/>
                  </a:ext>
                </a:extLst>
              </a:tr>
              <a:tr h="278892">
                <a:tc>
                  <a:txBody>
                    <a:bodyPr/>
                    <a:lstStyle/>
                    <a:p>
                      <a:pPr algn="l"/>
                      <a:r>
                        <a:rPr sz="950" b="0">
                          <a:solidFill>
                            <a:srgbClr val="171C26"/>
                          </a:solidFill>
                          <a:latin typeface="Consolas"/>
                        </a:rPr>
                        <a:t>13 Sep 18:15</a:t>
                      </a:r>
                    </a:p>
                  </a:txBody>
                  <a:tcPr marL="54864" marR="54864" marT="22860" marB="22860" anchor="ctr">
                    <a:solidFill>
                      <a:srgbClr val="EEF0F3"/>
                    </a:solidFill>
                  </a:tcPr>
                </a:tc>
                <a:tc>
                  <a:txBody>
                    <a:bodyPr/>
                    <a:lstStyle/>
                    <a:p>
                      <a:pPr algn="l"/>
                      <a:r>
                        <a:rPr sz="950" b="1">
                          <a:solidFill>
                            <a:srgbClr val="2F6FD6"/>
                          </a:solidFill>
                          <a:latin typeface="Segoe UI"/>
                        </a:rPr>
                        <a:t>GPT-5.6 Sol</a:t>
                      </a:r>
                    </a:p>
                  </a:txBody>
                  <a:tcPr marL="54864" marR="54864" marT="22860" marB="22860" anchor="ctr">
                    <a:solidFill>
                      <a:srgbClr val="EEF0F3"/>
                    </a:solidFill>
                  </a:tcPr>
                </a:tc>
                <a:tc>
                  <a:txBody>
                    <a:bodyPr/>
                    <a:lstStyle/>
                    <a:p>
                      <a:pPr algn="l"/>
                      <a:r>
                        <a:rPr sz="950" b="0">
                          <a:solidFill>
                            <a:srgbClr val="171C26"/>
                          </a:solidFill>
                          <a:latin typeface="Segoe UI"/>
                        </a:rPr>
                        <a:t>Q4 ZIP-218 faster blocks</a:t>
                      </a:r>
                    </a:p>
                  </a:txBody>
                  <a:tcPr marL="54864" marR="54864" marT="22860" marB="22860" anchor="ctr">
                    <a:solidFill>
                      <a:srgbClr val="EEF0F3"/>
                    </a:solidFill>
                  </a:tcPr>
                </a:tc>
                <a:tc>
                  <a:txBody>
                    <a:bodyPr/>
                    <a:lstStyle/>
                    <a:p>
                      <a:pPr algn="l"/>
                      <a:r>
                        <a:rPr sz="950" b="0">
                          <a:solidFill>
                            <a:srgbClr val="171C26"/>
                          </a:solidFill>
                          <a:latin typeface="Segoe UI"/>
                        </a:rPr>
                        <a:t>Short No · split &amp; sell</a:t>
                      </a:r>
                    </a:p>
                  </a:txBody>
                  <a:tcPr marL="54864" marR="54864" marT="22860" marB="22860" anchor="ctr">
                    <a:solidFill>
                      <a:srgbClr val="EEF0F3"/>
                    </a:solidFill>
                  </a:tcPr>
                </a:tc>
                <a:tc>
                  <a:txBody>
                    <a:bodyPr/>
                    <a:lstStyle/>
                    <a:p>
                      <a:pPr algn="r"/>
                      <a:r>
                        <a:rPr sz="950" b="0">
                          <a:solidFill>
                            <a:srgbClr val="171C26"/>
                          </a:solidFill>
                          <a:latin typeface="Segoe UI"/>
                        </a:rPr>
                        <a:t>8.88 sets</a:t>
                      </a:r>
                    </a:p>
                  </a:txBody>
                  <a:tcPr marL="54864" marR="54864" marT="22860" marB="22860" anchor="ctr">
                    <a:solidFill>
                      <a:srgbClr val="EEF0F3"/>
                    </a:solidFill>
                  </a:tcPr>
                </a:tc>
                <a:tc>
                  <a:txBody>
                    <a:bodyPr/>
                    <a:lstStyle/>
                    <a:p>
                      <a:pPr algn="r"/>
                      <a:r>
                        <a:rPr sz="950" b="0">
                          <a:solidFill>
                            <a:srgbClr val="171C26"/>
                          </a:solidFill>
                          <a:latin typeface="Consolas"/>
                        </a:rPr>
                        <a:t>0.8872</a:t>
                      </a:r>
                    </a:p>
                  </a:txBody>
                  <a:tcPr marL="54864" marR="54864" marT="22860" marB="22860" anchor="ctr">
                    <a:solidFill>
                      <a:srgbClr val="EEF0F3"/>
                    </a:solidFill>
                  </a:tcPr>
                </a:tc>
                <a:tc>
                  <a:txBody>
                    <a:bodyPr/>
                    <a:lstStyle/>
                    <a:p>
                      <a:pPr algn="r"/>
                      <a:r>
                        <a:rPr sz="950" b="0">
                          <a:solidFill>
                            <a:srgbClr val="171C26"/>
                          </a:solidFill>
                          <a:latin typeface="Consolas"/>
                        </a:rPr>
                        <a:t>0.8800</a:t>
                      </a:r>
                    </a:p>
                  </a:txBody>
                  <a:tcPr marL="54864" marR="54864" marT="22860" marB="22860" anchor="ctr">
                    <a:solidFill>
                      <a:srgbClr val="EEF0F3"/>
                    </a:solidFill>
                  </a:tcPr>
                </a:tc>
                <a:tc>
                  <a:txBody>
                    <a:bodyPr/>
                    <a:lstStyle/>
                    <a:p>
                      <a:pPr algn="r"/>
                      <a:r>
                        <a:rPr sz="950" b="0">
                          <a:solidFill>
                            <a:srgbClr val="171C26"/>
                          </a:solidFill>
                          <a:latin typeface="Consolas"/>
                        </a:rPr>
                        <a:t>0.8%</a:t>
                      </a:r>
                    </a:p>
                  </a:txBody>
                  <a:tcPr marL="54864" marR="54864" marT="22860" marB="22860" anchor="ctr">
                    <a:solidFill>
                      <a:srgbClr val="EEF0F3"/>
                    </a:solidFill>
                  </a:tcPr>
                </a:tc>
                <a:tc>
                  <a:txBody>
                    <a:bodyPr/>
                    <a:lstStyle/>
                    <a:p>
                      <a:pPr algn="r"/>
                      <a:r>
                        <a:rPr sz="950" b="0">
                          <a:solidFill>
                            <a:srgbClr val="171C26"/>
                          </a:solidFill>
                          <a:latin typeface="Consolas"/>
                        </a:rPr>
                        <a:t>7.88</a:t>
                      </a:r>
                    </a:p>
                  </a:txBody>
                  <a:tcPr marL="54864" marR="54864" marT="22860" marB="22860" anchor="ctr">
                    <a:solidFill>
                      <a:srgbClr val="EEF0F3"/>
                    </a:solidFill>
                  </a:tcPr>
                </a:tc>
                <a:extLst>
                  <a:ext uri="{0D108BD9-81ED-4DB2-BD59-A6C34878D82A}">
                    <a16:rowId xmlns:a16="http://schemas.microsoft.com/office/drawing/2014/main" val="10004"/>
                  </a:ext>
                </a:extLst>
              </a:tr>
              <a:tr h="278892">
                <a:tc>
                  <a:txBody>
                    <a:bodyPr/>
                    <a:lstStyle/>
                    <a:p>
                      <a:pPr algn="l"/>
                      <a:r>
                        <a:rPr sz="950" b="0">
                          <a:solidFill>
                            <a:srgbClr val="171C26"/>
                          </a:solidFill>
                          <a:latin typeface="Consolas"/>
                        </a:rPr>
                        <a:t>13 Sep 18:16</a:t>
                      </a:r>
                    </a:p>
                  </a:txBody>
                  <a:tcPr marL="54864" marR="54864" marT="22860" marB="22860" anchor="ctr">
                    <a:solidFill>
                      <a:srgbClr val="FFFFFF"/>
                    </a:solidFill>
                  </a:tcPr>
                </a:tc>
                <a:tc>
                  <a:txBody>
                    <a:bodyPr/>
                    <a:lstStyle/>
                    <a:p>
                      <a:pPr algn="l"/>
                      <a:r>
                        <a:rPr sz="950" b="1">
                          <a:solidFill>
                            <a:srgbClr val="2F6FD6"/>
                          </a:solidFill>
                          <a:latin typeface="Segoe UI"/>
                        </a:rPr>
                        <a:t>GPT-5.6 Sol</a:t>
                      </a:r>
                    </a:p>
                  </a:txBody>
                  <a:tcPr marL="54864" marR="54864" marT="22860" marB="22860" anchor="ctr">
                    <a:solidFill>
                      <a:srgbClr val="FFFFFF"/>
                    </a:solidFill>
                  </a:tcPr>
                </a:tc>
                <a:tc>
                  <a:txBody>
                    <a:bodyPr/>
                    <a:lstStyle/>
                    <a:p>
                      <a:pPr algn="l"/>
                      <a:r>
                        <a:rPr sz="950" b="0">
                          <a:solidFill>
                            <a:srgbClr val="171C26"/>
                          </a:solidFill>
                          <a:latin typeface="Segoe UI"/>
                        </a:rPr>
                        <a:t>Q5 Sept-30 feature deadline</a:t>
                      </a:r>
                    </a:p>
                  </a:txBody>
                  <a:tcPr marL="54864" marR="54864" marT="22860" marB="22860" anchor="ctr">
                    <a:solidFill>
                      <a:srgbClr val="FFFFFF"/>
                    </a:solidFill>
                  </a:tcPr>
                </a:tc>
                <a:tc>
                  <a:txBody>
                    <a:bodyPr/>
                    <a:lstStyle/>
                    <a:p>
                      <a:pPr algn="l"/>
                      <a:r>
                        <a:rPr sz="950" b="0">
                          <a:solidFill>
                            <a:srgbClr val="171C26"/>
                          </a:solidFill>
                          <a:latin typeface="Segoe UI"/>
                        </a:rPr>
                        <a:t>Buy Ship NU7 as soon as possible</a:t>
                      </a:r>
                    </a:p>
                  </a:txBody>
                  <a:tcPr marL="54864" marR="54864" marT="22860" marB="22860" anchor="ctr">
                    <a:solidFill>
                      <a:srgbClr val="FFFFFF"/>
                    </a:solidFill>
                  </a:tcPr>
                </a:tc>
                <a:tc>
                  <a:txBody>
                    <a:bodyPr/>
                    <a:lstStyle/>
                    <a:p>
                      <a:pPr algn="r"/>
                      <a:r>
                        <a:rPr sz="950" b="0">
                          <a:solidFill>
                            <a:srgbClr val="171C26"/>
                          </a:solidFill>
                          <a:latin typeface="Segoe UI"/>
                        </a:rPr>
                        <a:t>10 sUSDS</a:t>
                      </a:r>
                    </a:p>
                  </a:txBody>
                  <a:tcPr marL="54864" marR="54864" marT="22860" marB="22860" anchor="ctr">
                    <a:solidFill>
                      <a:srgbClr val="FFFFFF"/>
                    </a:solidFill>
                  </a:tcPr>
                </a:tc>
                <a:tc>
                  <a:txBody>
                    <a:bodyPr/>
                    <a:lstStyle/>
                    <a:p>
                      <a:pPr algn="r"/>
                      <a:r>
                        <a:rPr sz="950" b="0">
                          <a:solidFill>
                            <a:srgbClr val="171C26"/>
                          </a:solidFill>
                          <a:latin typeface="Consolas"/>
                        </a:rPr>
                        <a:t>0.7098</a:t>
                      </a:r>
                    </a:p>
                  </a:txBody>
                  <a:tcPr marL="54864" marR="54864" marT="22860" marB="22860" anchor="ctr">
                    <a:solidFill>
                      <a:srgbClr val="FFFFFF"/>
                    </a:solidFill>
                  </a:tcPr>
                </a:tc>
                <a:tc>
                  <a:txBody>
                    <a:bodyPr/>
                    <a:lstStyle/>
                    <a:p>
                      <a:pPr algn="r"/>
                      <a:r>
                        <a:rPr sz="950" b="0">
                          <a:solidFill>
                            <a:srgbClr val="171C26"/>
                          </a:solidFill>
                          <a:latin typeface="Consolas"/>
                        </a:rPr>
                        <a:t>0.7057</a:t>
                      </a:r>
                    </a:p>
                  </a:txBody>
                  <a:tcPr marL="54864" marR="54864" marT="22860" marB="22860" anchor="ctr">
                    <a:solidFill>
                      <a:srgbClr val="FFFFFF"/>
                    </a:solidFill>
                  </a:tcPr>
                </a:tc>
                <a:tc>
                  <a:txBody>
                    <a:bodyPr/>
                    <a:lstStyle/>
                    <a:p>
                      <a:pPr algn="r"/>
                      <a:r>
                        <a:rPr sz="950" b="0">
                          <a:solidFill>
                            <a:srgbClr val="171C26"/>
                          </a:solidFill>
                          <a:latin typeface="Consolas"/>
                        </a:rPr>
                        <a:t>0.6%</a:t>
                      </a:r>
                    </a:p>
                  </a:txBody>
                  <a:tcPr marL="54864" marR="54864" marT="22860" marB="22860" anchor="ctr">
                    <a:solidFill>
                      <a:srgbClr val="FFFFFF"/>
                    </a:solidFill>
                  </a:tcPr>
                </a:tc>
                <a:tc>
                  <a:txBody>
                    <a:bodyPr/>
                    <a:lstStyle/>
                    <a:p>
                      <a:pPr algn="r"/>
                      <a:r>
                        <a:rPr sz="950" b="0">
                          <a:solidFill>
                            <a:srgbClr val="171C26"/>
                          </a:solidFill>
                          <a:latin typeface="Consolas"/>
                        </a:rPr>
                        <a:t>10.00</a:t>
                      </a:r>
                    </a:p>
                  </a:txBody>
                  <a:tcPr marL="54864" marR="54864" marT="22860" marB="22860" anchor="ctr">
                    <a:solidFill>
                      <a:srgbClr val="FFFFFF"/>
                    </a:solidFill>
                  </a:tcPr>
                </a:tc>
                <a:extLst>
                  <a:ext uri="{0D108BD9-81ED-4DB2-BD59-A6C34878D82A}">
                    <a16:rowId xmlns:a16="http://schemas.microsoft.com/office/drawing/2014/main" val="10005"/>
                  </a:ext>
                </a:extLst>
              </a:tr>
              <a:tr h="278892">
                <a:tc>
                  <a:txBody>
                    <a:bodyPr/>
                    <a:lstStyle/>
                    <a:p>
                      <a:pPr algn="l"/>
                      <a:r>
                        <a:rPr sz="950" b="0">
                          <a:solidFill>
                            <a:srgbClr val="171C26"/>
                          </a:solidFill>
                          <a:latin typeface="Consolas"/>
                        </a:rPr>
                        <a:t>13 Sep 18:18</a:t>
                      </a:r>
                    </a:p>
                  </a:txBody>
                  <a:tcPr marL="54864" marR="54864" marT="22860" marB="22860" anchor="ctr">
                    <a:solidFill>
                      <a:srgbClr val="EEF0F3"/>
                    </a:solidFill>
                  </a:tcPr>
                </a:tc>
                <a:tc>
                  <a:txBody>
                    <a:bodyPr/>
                    <a:lstStyle/>
                    <a:p>
                      <a:pPr algn="l"/>
                      <a:r>
                        <a:rPr sz="950" b="1">
                          <a:solidFill>
                            <a:srgbClr val="2F6FD6"/>
                          </a:solidFill>
                          <a:latin typeface="Segoe UI"/>
                        </a:rPr>
                        <a:t>GPT-5.6 Sol</a:t>
                      </a:r>
                    </a:p>
                  </a:txBody>
                  <a:tcPr marL="54864" marR="54864" marT="22860" marB="22860" anchor="ctr">
                    <a:solidFill>
                      <a:srgbClr val="EEF0F3"/>
                    </a:solidFill>
                  </a:tcPr>
                </a:tc>
                <a:tc>
                  <a:txBody>
                    <a:bodyPr/>
                    <a:lstStyle/>
                    <a:p>
                      <a:pPr algn="l"/>
                      <a:r>
                        <a:rPr sz="950" b="0">
                          <a:solidFill>
                            <a:srgbClr val="171C26"/>
                          </a:solidFill>
                          <a:latin typeface="Segoe UI"/>
                        </a:rPr>
                        <a:t>Q3 Disable v4 transactions</a:t>
                      </a:r>
                    </a:p>
                  </a:txBody>
                  <a:tcPr marL="54864" marR="54864" marT="22860" marB="22860" anchor="ctr">
                    <a:solidFill>
                      <a:srgbClr val="EEF0F3"/>
                    </a:solidFill>
                  </a:tcPr>
                </a:tc>
                <a:tc>
                  <a:txBody>
                    <a:bodyPr/>
                    <a:lstStyle/>
                    <a:p>
                      <a:pPr algn="l"/>
                      <a:r>
                        <a:rPr sz="950" b="0">
                          <a:solidFill>
                            <a:srgbClr val="171C26"/>
                          </a:solidFill>
                          <a:latin typeface="Segoe UI"/>
                        </a:rPr>
                        <a:t>Buy Immediately at NU7 activation · split</a:t>
                      </a:r>
                    </a:p>
                  </a:txBody>
                  <a:tcPr marL="54864" marR="54864" marT="22860" marB="22860" anchor="ctr">
                    <a:solidFill>
                      <a:srgbClr val="EEF0F3"/>
                    </a:solidFill>
                  </a:tcPr>
                </a:tc>
                <a:tc>
                  <a:txBody>
                    <a:bodyPr/>
                    <a:lstStyle/>
                    <a:p>
                      <a:pPr algn="r"/>
                      <a:r>
                        <a:rPr sz="950" b="0">
                          <a:solidFill>
                            <a:srgbClr val="171C26"/>
                          </a:solidFill>
                          <a:latin typeface="Segoe UI"/>
                        </a:rPr>
                        <a:t>50 sets</a:t>
                      </a:r>
                    </a:p>
                  </a:txBody>
                  <a:tcPr marL="54864" marR="54864" marT="22860" marB="22860" anchor="ctr">
                    <a:solidFill>
                      <a:srgbClr val="EEF0F3"/>
                    </a:solidFill>
                  </a:tcPr>
                </a:tc>
                <a:tc>
                  <a:txBody>
                    <a:bodyPr/>
                    <a:lstStyle/>
                    <a:p>
                      <a:pPr algn="r"/>
                      <a:r>
                        <a:rPr sz="950" b="0">
                          <a:solidFill>
                            <a:srgbClr val="171C26"/>
                          </a:solidFill>
                          <a:latin typeface="Consolas"/>
                        </a:rPr>
                        <a:t>0.3470</a:t>
                      </a:r>
                    </a:p>
                  </a:txBody>
                  <a:tcPr marL="54864" marR="54864" marT="22860" marB="22860" anchor="ctr">
                    <a:solidFill>
                      <a:srgbClr val="EEF0F3"/>
                    </a:solidFill>
                  </a:tcPr>
                </a:tc>
                <a:tc>
                  <a:txBody>
                    <a:bodyPr/>
                    <a:lstStyle/>
                    <a:p>
                      <a:pPr algn="r"/>
                      <a:r>
                        <a:rPr sz="950" b="0">
                          <a:solidFill>
                            <a:srgbClr val="171C26"/>
                          </a:solidFill>
                          <a:latin typeface="Consolas"/>
                        </a:rPr>
                        <a:t>0.3311</a:t>
                      </a:r>
                    </a:p>
                  </a:txBody>
                  <a:tcPr marL="54864" marR="54864" marT="22860" marB="22860" anchor="ctr">
                    <a:solidFill>
                      <a:srgbClr val="EEF0F3"/>
                    </a:solidFill>
                  </a:tcPr>
                </a:tc>
                <a:tc>
                  <a:txBody>
                    <a:bodyPr/>
                    <a:lstStyle/>
                    <a:p>
                      <a:pPr algn="r"/>
                      <a:r>
                        <a:rPr sz="950" b="0">
                          <a:solidFill>
                            <a:srgbClr val="171C26"/>
                          </a:solidFill>
                          <a:latin typeface="Consolas"/>
                        </a:rPr>
                        <a:t>4.8%</a:t>
                      </a:r>
                    </a:p>
                  </a:txBody>
                  <a:tcPr marL="54864" marR="54864" marT="22860" marB="22860" anchor="ctr">
                    <a:solidFill>
                      <a:srgbClr val="EEF0F3"/>
                    </a:solidFill>
                  </a:tcPr>
                </a:tc>
                <a:tc>
                  <a:txBody>
                    <a:bodyPr/>
                    <a:lstStyle/>
                    <a:p>
                      <a:pPr algn="r"/>
                      <a:r>
                        <a:rPr sz="950" b="0">
                          <a:solidFill>
                            <a:srgbClr val="171C26"/>
                          </a:solidFill>
                          <a:latin typeface="Consolas"/>
                        </a:rPr>
                        <a:t>17.35</a:t>
                      </a:r>
                    </a:p>
                  </a:txBody>
                  <a:tcPr marL="54864" marR="54864" marT="22860" marB="22860" anchor="ctr">
                    <a:solidFill>
                      <a:srgbClr val="EEF0F3"/>
                    </a:solidFill>
                  </a:tcPr>
                </a:tc>
                <a:extLst>
                  <a:ext uri="{0D108BD9-81ED-4DB2-BD59-A6C34878D82A}">
                    <a16:rowId xmlns:a16="http://schemas.microsoft.com/office/drawing/2014/main" val="10006"/>
                  </a:ext>
                </a:extLst>
              </a:tr>
              <a:tr h="278892">
                <a:tc>
                  <a:txBody>
                    <a:bodyPr/>
                    <a:lstStyle/>
                    <a:p>
                      <a:pPr algn="l"/>
                      <a:r>
                        <a:rPr sz="950" b="0">
                          <a:solidFill>
                            <a:srgbClr val="171C26"/>
                          </a:solidFill>
                          <a:latin typeface="Consolas"/>
                        </a:rPr>
                        <a:t>13 Sep 18:19</a:t>
                      </a:r>
                    </a:p>
                  </a:txBody>
                  <a:tcPr marL="54864" marR="54864" marT="22860" marB="22860" anchor="ctr">
                    <a:solidFill>
                      <a:srgbClr val="FFFFFF"/>
                    </a:solidFill>
                  </a:tcPr>
                </a:tc>
                <a:tc>
                  <a:txBody>
                    <a:bodyPr/>
                    <a:lstStyle/>
                    <a:p>
                      <a:pPr algn="l"/>
                      <a:r>
                        <a:rPr sz="950" b="1">
                          <a:solidFill>
                            <a:srgbClr val="2F6FD6"/>
                          </a:solidFill>
                          <a:latin typeface="Segoe UI"/>
                        </a:rPr>
                        <a:t>GPT-5.6 Sol</a:t>
                      </a:r>
                    </a:p>
                  </a:txBody>
                  <a:tcPr marL="54864" marR="54864" marT="22860" marB="22860" anchor="ctr">
                    <a:solidFill>
                      <a:srgbClr val="FFFFFF"/>
                    </a:solidFill>
                  </a:tcPr>
                </a:tc>
                <a:tc>
                  <a:txBody>
                    <a:bodyPr/>
                    <a:lstStyle/>
                    <a:p>
                      <a:pPr algn="l"/>
                      <a:r>
                        <a:rPr sz="950" b="0">
                          <a:solidFill>
                            <a:srgbClr val="171C26"/>
                          </a:solidFill>
                          <a:latin typeface="Segoe UI"/>
                        </a:rPr>
                        <a:t>Q2 NSM reissuance start</a:t>
                      </a:r>
                    </a:p>
                  </a:txBody>
                  <a:tcPr marL="54864" marR="54864" marT="22860" marB="22860" anchor="ctr">
                    <a:solidFill>
                      <a:srgbClr val="FFFFFF"/>
                    </a:solidFill>
                  </a:tcPr>
                </a:tc>
                <a:tc>
                  <a:txBody>
                    <a:bodyPr/>
                    <a:lstStyle/>
                    <a:p>
                      <a:pPr algn="l"/>
                      <a:r>
                        <a:rPr sz="950" b="0">
                          <a:solidFill>
                            <a:srgbClr val="171C26"/>
                          </a:solidFill>
                          <a:latin typeface="Segoe UI"/>
                        </a:rPr>
                        <a:t>Buy February 2031</a:t>
                      </a:r>
                    </a:p>
                  </a:txBody>
                  <a:tcPr marL="54864" marR="54864" marT="22860" marB="22860" anchor="ctr">
                    <a:solidFill>
                      <a:srgbClr val="FFFFFF"/>
                    </a:solidFill>
                  </a:tcPr>
                </a:tc>
                <a:tc>
                  <a:txBody>
                    <a:bodyPr/>
                    <a:lstStyle/>
                    <a:p>
                      <a:pPr algn="r"/>
                      <a:r>
                        <a:rPr sz="950" b="0">
                          <a:solidFill>
                            <a:srgbClr val="171C26"/>
                          </a:solidFill>
                          <a:latin typeface="Segoe UI"/>
                        </a:rPr>
                        <a:t>50 sUSDS</a:t>
                      </a:r>
                    </a:p>
                  </a:txBody>
                  <a:tcPr marL="54864" marR="54864" marT="22860" marB="22860" anchor="ctr">
                    <a:solidFill>
                      <a:srgbClr val="FFFFFF"/>
                    </a:solidFill>
                  </a:tcPr>
                </a:tc>
                <a:tc>
                  <a:txBody>
                    <a:bodyPr/>
                    <a:lstStyle/>
                    <a:p>
                      <a:pPr algn="r"/>
                      <a:r>
                        <a:rPr sz="950" b="0">
                          <a:solidFill>
                            <a:srgbClr val="171C26"/>
                          </a:solidFill>
                          <a:latin typeface="Consolas"/>
                        </a:rPr>
                        <a:t>0.3305</a:t>
                      </a:r>
                    </a:p>
                  </a:txBody>
                  <a:tcPr marL="54864" marR="54864" marT="22860" marB="22860" anchor="ctr">
                    <a:solidFill>
                      <a:srgbClr val="FFFFFF"/>
                    </a:solidFill>
                  </a:tcPr>
                </a:tc>
                <a:tc>
                  <a:txBody>
                    <a:bodyPr/>
                    <a:lstStyle/>
                    <a:p>
                      <a:pPr algn="r"/>
                      <a:r>
                        <a:rPr sz="950" b="0">
                          <a:solidFill>
                            <a:srgbClr val="171C26"/>
                          </a:solidFill>
                          <a:latin typeface="Consolas"/>
                        </a:rPr>
                        <a:t>0.2927</a:t>
                      </a:r>
                    </a:p>
                  </a:txBody>
                  <a:tcPr marL="54864" marR="54864" marT="22860" marB="22860" anchor="ctr">
                    <a:solidFill>
                      <a:srgbClr val="FFFFFF"/>
                    </a:solidFill>
                  </a:tcPr>
                </a:tc>
                <a:tc>
                  <a:txBody>
                    <a:bodyPr/>
                    <a:lstStyle/>
                    <a:p>
                      <a:pPr algn="r"/>
                      <a:r>
                        <a:rPr sz="950" b="0">
                          <a:solidFill>
                            <a:srgbClr val="B83A2E"/>
                          </a:solidFill>
                          <a:latin typeface="Consolas"/>
                        </a:rPr>
                        <a:t>12.9%</a:t>
                      </a:r>
                    </a:p>
                  </a:txBody>
                  <a:tcPr marL="54864" marR="54864" marT="22860" marB="22860" anchor="ctr">
                    <a:solidFill>
                      <a:srgbClr val="FFFFFF"/>
                    </a:solidFill>
                  </a:tcPr>
                </a:tc>
                <a:tc>
                  <a:txBody>
                    <a:bodyPr/>
                    <a:lstStyle/>
                    <a:p>
                      <a:pPr algn="r"/>
                      <a:r>
                        <a:rPr sz="950" b="0">
                          <a:solidFill>
                            <a:srgbClr val="171C26"/>
                          </a:solidFill>
                          <a:latin typeface="Consolas"/>
                        </a:rPr>
                        <a:t>50.00</a:t>
                      </a:r>
                    </a:p>
                  </a:txBody>
                  <a:tcPr marL="54864" marR="54864" marT="22860" marB="22860" anchor="ctr">
                    <a:solidFill>
                      <a:srgbClr val="FFFFFF"/>
                    </a:solidFill>
                  </a:tcPr>
                </a:tc>
                <a:extLst>
                  <a:ext uri="{0D108BD9-81ED-4DB2-BD59-A6C34878D82A}">
                    <a16:rowId xmlns:a16="http://schemas.microsoft.com/office/drawing/2014/main" val="10007"/>
                  </a:ext>
                </a:extLst>
              </a:tr>
              <a:tr h="278892">
                <a:tc>
                  <a:txBody>
                    <a:bodyPr/>
                    <a:lstStyle/>
                    <a:p>
                      <a:pPr algn="l"/>
                      <a:r>
                        <a:rPr sz="950" b="0">
                          <a:solidFill>
                            <a:srgbClr val="171C26"/>
                          </a:solidFill>
                          <a:latin typeface="Consolas"/>
                        </a:rPr>
                        <a:t>13 Sep 19:04</a:t>
                      </a:r>
                    </a:p>
                  </a:txBody>
                  <a:tcPr marL="54864" marR="54864" marT="22860" marB="22860" anchor="ctr">
                    <a:solidFill>
                      <a:srgbClr val="EEF0F3"/>
                    </a:solidFill>
                  </a:tcPr>
                </a:tc>
                <a:tc>
                  <a:txBody>
                    <a:bodyPr/>
                    <a:lstStyle/>
                    <a:p>
                      <a:pPr algn="l"/>
                      <a:r>
                        <a:rPr sz="950" b="1">
                          <a:solidFill>
                            <a:srgbClr val="C4552A"/>
                          </a:solidFill>
                          <a:latin typeface="Segoe UI"/>
                        </a:rPr>
                        <a:t>Claude Fable 5.1</a:t>
                      </a:r>
                    </a:p>
                  </a:txBody>
                  <a:tcPr marL="54864" marR="54864" marT="22860" marB="22860" anchor="ctr">
                    <a:solidFill>
                      <a:srgbClr val="EEF0F3"/>
                    </a:solidFill>
                  </a:tcPr>
                </a:tc>
                <a:tc>
                  <a:txBody>
                    <a:bodyPr/>
                    <a:lstStyle/>
                    <a:p>
                      <a:pPr algn="l"/>
                      <a:r>
                        <a:rPr sz="950" b="0">
                          <a:solidFill>
                            <a:srgbClr val="171C26"/>
                          </a:solidFill>
                          <a:latin typeface="Segoe UI"/>
                        </a:rPr>
                        <a:t>Q2 NSM reissuance start</a:t>
                      </a:r>
                    </a:p>
                  </a:txBody>
                  <a:tcPr marL="54864" marR="54864" marT="22860" marB="22860" anchor="ctr">
                    <a:solidFill>
                      <a:srgbClr val="EEF0F3"/>
                    </a:solidFill>
                  </a:tcPr>
                </a:tc>
                <a:tc>
                  <a:txBody>
                    <a:bodyPr/>
                    <a:lstStyle/>
                    <a:p>
                      <a:pPr algn="l"/>
                      <a:r>
                        <a:rPr sz="950" b="0">
                          <a:solidFill>
                            <a:srgbClr val="171C26"/>
                          </a:solidFill>
                          <a:latin typeface="Segoe UI"/>
                        </a:rPr>
                        <a:t>Buy February 2031 · split</a:t>
                      </a:r>
                    </a:p>
                  </a:txBody>
                  <a:tcPr marL="54864" marR="54864" marT="22860" marB="22860" anchor="ctr">
                    <a:solidFill>
                      <a:srgbClr val="EEF0F3"/>
                    </a:solidFill>
                  </a:tcPr>
                </a:tc>
                <a:tc>
                  <a:txBody>
                    <a:bodyPr/>
                    <a:lstStyle/>
                    <a:p>
                      <a:pPr algn="r"/>
                      <a:r>
                        <a:rPr sz="950" b="0">
                          <a:solidFill>
                            <a:srgbClr val="171C26"/>
                          </a:solidFill>
                          <a:latin typeface="Segoe UI"/>
                        </a:rPr>
                        <a:t>100 sets</a:t>
                      </a:r>
                    </a:p>
                  </a:txBody>
                  <a:tcPr marL="54864" marR="54864" marT="22860" marB="22860" anchor="ctr">
                    <a:solidFill>
                      <a:srgbClr val="EEF0F3"/>
                    </a:solidFill>
                  </a:tcPr>
                </a:tc>
                <a:tc>
                  <a:txBody>
                    <a:bodyPr/>
                    <a:lstStyle/>
                    <a:p>
                      <a:pPr algn="r"/>
                      <a:r>
                        <a:rPr sz="950" b="0">
                          <a:solidFill>
                            <a:srgbClr val="171C26"/>
                          </a:solidFill>
                          <a:latin typeface="Consolas"/>
                        </a:rPr>
                        <a:t>0.3844</a:t>
                      </a:r>
                    </a:p>
                  </a:txBody>
                  <a:tcPr marL="54864" marR="54864" marT="22860" marB="22860" anchor="ctr">
                    <a:solidFill>
                      <a:srgbClr val="EEF0F3"/>
                    </a:solidFill>
                  </a:tcPr>
                </a:tc>
                <a:tc>
                  <a:txBody>
                    <a:bodyPr/>
                    <a:lstStyle/>
                    <a:p>
                      <a:pPr algn="r"/>
                      <a:r>
                        <a:rPr sz="950" b="0">
                          <a:solidFill>
                            <a:srgbClr val="171C26"/>
                          </a:solidFill>
                          <a:latin typeface="Consolas"/>
                        </a:rPr>
                        <a:t>0.3528</a:t>
                      </a:r>
                    </a:p>
                  </a:txBody>
                  <a:tcPr marL="54864" marR="54864" marT="22860" marB="22860" anchor="ctr">
                    <a:solidFill>
                      <a:srgbClr val="EEF0F3"/>
                    </a:solidFill>
                  </a:tcPr>
                </a:tc>
                <a:tc>
                  <a:txBody>
                    <a:bodyPr/>
                    <a:lstStyle/>
                    <a:p>
                      <a:pPr algn="r"/>
                      <a:r>
                        <a:rPr sz="950" b="0">
                          <a:solidFill>
                            <a:srgbClr val="B83A2E"/>
                          </a:solidFill>
                          <a:latin typeface="Consolas"/>
                        </a:rPr>
                        <a:t>9.0%</a:t>
                      </a:r>
                    </a:p>
                  </a:txBody>
                  <a:tcPr marL="54864" marR="54864" marT="22860" marB="22860" anchor="ctr">
                    <a:solidFill>
                      <a:srgbClr val="EEF0F3"/>
                    </a:solidFill>
                  </a:tcPr>
                </a:tc>
                <a:tc>
                  <a:txBody>
                    <a:bodyPr/>
                    <a:lstStyle/>
                    <a:p>
                      <a:pPr algn="r"/>
                      <a:r>
                        <a:rPr sz="950" b="0">
                          <a:solidFill>
                            <a:srgbClr val="171C26"/>
                          </a:solidFill>
                          <a:latin typeface="Consolas"/>
                        </a:rPr>
                        <a:t>38.44</a:t>
                      </a:r>
                    </a:p>
                  </a:txBody>
                  <a:tcPr marL="54864" marR="54864" marT="22860" marB="22860" anchor="ctr">
                    <a:solidFill>
                      <a:srgbClr val="EEF0F3"/>
                    </a:solidFill>
                  </a:tcPr>
                </a:tc>
                <a:extLst>
                  <a:ext uri="{0D108BD9-81ED-4DB2-BD59-A6C34878D82A}">
                    <a16:rowId xmlns:a16="http://schemas.microsoft.com/office/drawing/2014/main" val="10008"/>
                  </a:ext>
                </a:extLst>
              </a:tr>
              <a:tr h="278892">
                <a:tc>
                  <a:txBody>
                    <a:bodyPr/>
                    <a:lstStyle/>
                    <a:p>
                      <a:pPr algn="l"/>
                      <a:r>
                        <a:rPr sz="950" b="0">
                          <a:solidFill>
                            <a:srgbClr val="171C26"/>
                          </a:solidFill>
                          <a:latin typeface="Consolas"/>
                        </a:rPr>
                        <a:t>13 Sep 19:14</a:t>
                      </a:r>
                    </a:p>
                  </a:txBody>
                  <a:tcPr marL="54864" marR="54864" marT="22860" marB="22860" anchor="ctr">
                    <a:solidFill>
                      <a:srgbClr val="FFFFFF"/>
                    </a:solidFill>
                  </a:tcPr>
                </a:tc>
                <a:tc>
                  <a:txBody>
                    <a:bodyPr/>
                    <a:lstStyle/>
                    <a:p>
                      <a:pPr algn="l"/>
                      <a:r>
                        <a:rPr sz="950" b="1">
                          <a:solidFill>
                            <a:srgbClr val="7A2E8C"/>
                          </a:solidFill>
                          <a:latin typeface="Segoe UI"/>
                        </a:rPr>
                        <a:t>Claude Opus 5</a:t>
                      </a:r>
                    </a:p>
                  </a:txBody>
                  <a:tcPr marL="54864" marR="54864" marT="22860" marB="22860" anchor="ctr">
                    <a:solidFill>
                      <a:srgbClr val="FFFFFF"/>
                    </a:solidFill>
                  </a:tcPr>
                </a:tc>
                <a:tc>
                  <a:txBody>
                    <a:bodyPr/>
                    <a:lstStyle/>
                    <a:p>
                      <a:pPr algn="l"/>
                      <a:r>
                        <a:rPr sz="950" b="0">
                          <a:solidFill>
                            <a:srgbClr val="171C26"/>
                          </a:solidFill>
                          <a:latin typeface="Segoe UI"/>
                        </a:rPr>
                        <a:t>Q2 NSM reissuance start</a:t>
                      </a:r>
                    </a:p>
                  </a:txBody>
                  <a:tcPr marL="54864" marR="54864" marT="22860" marB="22860" anchor="ctr">
                    <a:solidFill>
                      <a:srgbClr val="FFFFFF"/>
                    </a:solidFill>
                  </a:tcPr>
                </a:tc>
                <a:tc>
                  <a:txBody>
                    <a:bodyPr/>
                    <a:lstStyle/>
                    <a:p>
                      <a:pPr algn="l"/>
                      <a:r>
                        <a:rPr sz="950" b="0">
                          <a:solidFill>
                            <a:srgbClr val="171C26"/>
                          </a:solidFill>
                          <a:latin typeface="Segoe UI"/>
                        </a:rPr>
                        <a:t>Buy February 2031</a:t>
                      </a:r>
                    </a:p>
                  </a:txBody>
                  <a:tcPr marL="54864" marR="54864" marT="22860" marB="22860" anchor="ctr">
                    <a:solidFill>
                      <a:srgbClr val="FFFFFF"/>
                    </a:solidFill>
                  </a:tcPr>
                </a:tc>
                <a:tc>
                  <a:txBody>
                    <a:bodyPr/>
                    <a:lstStyle/>
                    <a:p>
                      <a:pPr algn="r"/>
                      <a:r>
                        <a:rPr sz="950" b="0">
                          <a:solidFill>
                            <a:srgbClr val="171C26"/>
                          </a:solidFill>
                          <a:latin typeface="Segoe UI"/>
                        </a:rPr>
                        <a:t>50 sUSDS</a:t>
                      </a:r>
                    </a:p>
                  </a:txBody>
                  <a:tcPr marL="54864" marR="54864" marT="22860" marB="22860" anchor="ctr">
                    <a:solidFill>
                      <a:srgbClr val="FFFFFF"/>
                    </a:solidFill>
                  </a:tcPr>
                </a:tc>
                <a:tc>
                  <a:txBody>
                    <a:bodyPr/>
                    <a:lstStyle/>
                    <a:p>
                      <a:pPr algn="r"/>
                      <a:r>
                        <a:rPr sz="950" b="0">
                          <a:solidFill>
                            <a:srgbClr val="171C26"/>
                          </a:solidFill>
                          <a:latin typeface="Consolas"/>
                        </a:rPr>
                        <a:t>0.3944</a:t>
                      </a:r>
                    </a:p>
                  </a:txBody>
                  <a:tcPr marL="54864" marR="54864" marT="22860" marB="22860" anchor="ctr">
                    <a:solidFill>
                      <a:srgbClr val="FFFFFF"/>
                    </a:solidFill>
                  </a:tcPr>
                </a:tc>
                <a:tc>
                  <a:txBody>
                    <a:bodyPr/>
                    <a:lstStyle/>
                    <a:p>
                      <a:pPr algn="r"/>
                      <a:r>
                        <a:rPr sz="950" b="0">
                          <a:solidFill>
                            <a:srgbClr val="171C26"/>
                          </a:solidFill>
                          <a:latin typeface="Consolas"/>
                        </a:rPr>
                        <a:t>0.3528</a:t>
                      </a:r>
                    </a:p>
                  </a:txBody>
                  <a:tcPr marL="54864" marR="54864" marT="22860" marB="22860" anchor="ctr">
                    <a:solidFill>
                      <a:srgbClr val="FFFFFF"/>
                    </a:solidFill>
                  </a:tcPr>
                </a:tc>
                <a:tc>
                  <a:txBody>
                    <a:bodyPr/>
                    <a:lstStyle/>
                    <a:p>
                      <a:pPr algn="r"/>
                      <a:r>
                        <a:rPr sz="950" b="0">
                          <a:solidFill>
                            <a:srgbClr val="B83A2E"/>
                          </a:solidFill>
                          <a:latin typeface="Consolas"/>
                        </a:rPr>
                        <a:t>11.8%</a:t>
                      </a:r>
                    </a:p>
                  </a:txBody>
                  <a:tcPr marL="54864" marR="54864" marT="22860" marB="22860" anchor="ctr">
                    <a:solidFill>
                      <a:srgbClr val="FFFFFF"/>
                    </a:solidFill>
                  </a:tcPr>
                </a:tc>
                <a:tc>
                  <a:txBody>
                    <a:bodyPr/>
                    <a:lstStyle/>
                    <a:p>
                      <a:pPr algn="r"/>
                      <a:r>
                        <a:rPr sz="950" b="0">
                          <a:solidFill>
                            <a:srgbClr val="171C26"/>
                          </a:solidFill>
                          <a:latin typeface="Consolas"/>
                        </a:rPr>
                        <a:t>50.00</a:t>
                      </a:r>
                    </a:p>
                  </a:txBody>
                  <a:tcPr marL="54864" marR="54864" marT="22860" marB="22860" anchor="ctr">
                    <a:solidFill>
                      <a:srgbClr val="FFFFFF"/>
                    </a:solidFill>
                  </a:tcPr>
                </a:tc>
                <a:extLst>
                  <a:ext uri="{0D108BD9-81ED-4DB2-BD59-A6C34878D82A}">
                    <a16:rowId xmlns:a16="http://schemas.microsoft.com/office/drawing/2014/main" val="10009"/>
                  </a:ext>
                </a:extLst>
              </a:tr>
              <a:tr h="278892">
                <a:tc>
                  <a:txBody>
                    <a:bodyPr/>
                    <a:lstStyle/>
                    <a:p>
                      <a:pPr algn="l"/>
                      <a:r>
                        <a:rPr sz="950" b="0">
                          <a:solidFill>
                            <a:srgbClr val="171C26"/>
                          </a:solidFill>
                          <a:latin typeface="Consolas"/>
                        </a:rPr>
                        <a:t>13 Sep 19:15</a:t>
                      </a:r>
                    </a:p>
                  </a:txBody>
                  <a:tcPr marL="54864" marR="54864" marT="22860" marB="22860" anchor="ctr">
                    <a:solidFill>
                      <a:srgbClr val="EEF0F3"/>
                    </a:solidFill>
                  </a:tcPr>
                </a:tc>
                <a:tc>
                  <a:txBody>
                    <a:bodyPr/>
                    <a:lstStyle/>
                    <a:p>
                      <a:pPr algn="l"/>
                      <a:r>
                        <a:rPr sz="950" b="1">
                          <a:solidFill>
                            <a:srgbClr val="7A2E8C"/>
                          </a:solidFill>
                          <a:latin typeface="Segoe UI"/>
                        </a:rPr>
                        <a:t>Claude Opus 5</a:t>
                      </a:r>
                    </a:p>
                  </a:txBody>
                  <a:tcPr marL="54864" marR="54864" marT="22860" marB="22860" anchor="ctr">
                    <a:solidFill>
                      <a:srgbClr val="EEF0F3"/>
                    </a:solidFill>
                  </a:tcPr>
                </a:tc>
                <a:tc>
                  <a:txBody>
                    <a:bodyPr/>
                    <a:lstStyle/>
                    <a:p>
                      <a:pPr algn="l"/>
                      <a:r>
                        <a:rPr sz="950" b="0">
                          <a:solidFill>
                            <a:srgbClr val="171C26"/>
                          </a:solidFill>
                          <a:latin typeface="Segoe UI"/>
                        </a:rPr>
                        <a:t>Q5 Sept-30 feature deadline</a:t>
                      </a:r>
                    </a:p>
                  </a:txBody>
                  <a:tcPr marL="54864" marR="54864" marT="22860" marB="22860" anchor="ctr">
                    <a:solidFill>
                      <a:srgbClr val="EEF0F3"/>
                    </a:solidFill>
                  </a:tcPr>
                </a:tc>
                <a:tc>
                  <a:txBody>
                    <a:bodyPr/>
                    <a:lstStyle/>
                    <a:p>
                      <a:pPr algn="l"/>
                      <a:r>
                        <a:rPr sz="950" b="0">
                          <a:solidFill>
                            <a:srgbClr val="171C26"/>
                          </a:solidFill>
                          <a:latin typeface="Segoe UI"/>
                        </a:rPr>
                        <a:t>Buy Ship NU7 as soon as possible</a:t>
                      </a:r>
                    </a:p>
                  </a:txBody>
                  <a:tcPr marL="54864" marR="54864" marT="22860" marB="22860" anchor="ctr">
                    <a:solidFill>
                      <a:srgbClr val="EEF0F3"/>
                    </a:solidFill>
                  </a:tcPr>
                </a:tc>
                <a:tc>
                  <a:txBody>
                    <a:bodyPr/>
                    <a:lstStyle/>
                    <a:p>
                      <a:pPr algn="r"/>
                      <a:r>
                        <a:rPr sz="950" b="0">
                          <a:solidFill>
                            <a:srgbClr val="171C26"/>
                          </a:solidFill>
                          <a:latin typeface="Segoe UI"/>
                        </a:rPr>
                        <a:t>50 sUSDS</a:t>
                      </a:r>
                    </a:p>
                  </a:txBody>
                  <a:tcPr marL="54864" marR="54864" marT="22860" marB="22860" anchor="ctr">
                    <a:solidFill>
                      <a:srgbClr val="EEF0F3"/>
                    </a:solidFill>
                  </a:tcPr>
                </a:tc>
                <a:tc>
                  <a:txBody>
                    <a:bodyPr/>
                    <a:lstStyle/>
                    <a:p>
                      <a:pPr algn="r"/>
                      <a:r>
                        <a:rPr sz="950" b="0">
                          <a:solidFill>
                            <a:srgbClr val="171C26"/>
                          </a:solidFill>
                          <a:latin typeface="Consolas"/>
                        </a:rPr>
                        <a:t>0.7339</a:t>
                      </a:r>
                    </a:p>
                  </a:txBody>
                  <a:tcPr marL="54864" marR="54864" marT="22860" marB="22860" anchor="ctr">
                    <a:solidFill>
                      <a:srgbClr val="EEF0F3"/>
                    </a:solidFill>
                  </a:tcPr>
                </a:tc>
                <a:tc>
                  <a:txBody>
                    <a:bodyPr/>
                    <a:lstStyle/>
                    <a:p>
                      <a:pPr algn="r"/>
                      <a:r>
                        <a:rPr sz="950" b="0">
                          <a:solidFill>
                            <a:srgbClr val="171C26"/>
                          </a:solidFill>
                          <a:latin typeface="Consolas"/>
                        </a:rPr>
                        <a:t>0.7137</a:t>
                      </a:r>
                    </a:p>
                  </a:txBody>
                  <a:tcPr marL="54864" marR="54864" marT="22860" marB="22860" anchor="ctr">
                    <a:solidFill>
                      <a:srgbClr val="EEF0F3"/>
                    </a:solidFill>
                  </a:tcPr>
                </a:tc>
                <a:tc>
                  <a:txBody>
                    <a:bodyPr/>
                    <a:lstStyle/>
                    <a:p>
                      <a:pPr algn="r"/>
                      <a:r>
                        <a:rPr sz="950" b="0">
                          <a:solidFill>
                            <a:srgbClr val="171C26"/>
                          </a:solidFill>
                          <a:latin typeface="Consolas"/>
                        </a:rPr>
                        <a:t>2.8%</a:t>
                      </a:r>
                    </a:p>
                  </a:txBody>
                  <a:tcPr marL="54864" marR="54864" marT="22860" marB="22860" anchor="ctr">
                    <a:solidFill>
                      <a:srgbClr val="EEF0F3"/>
                    </a:solidFill>
                  </a:tcPr>
                </a:tc>
                <a:tc>
                  <a:txBody>
                    <a:bodyPr/>
                    <a:lstStyle/>
                    <a:p>
                      <a:pPr algn="r"/>
                      <a:r>
                        <a:rPr sz="950" b="0">
                          <a:solidFill>
                            <a:srgbClr val="171C26"/>
                          </a:solidFill>
                          <a:latin typeface="Consolas"/>
                        </a:rPr>
                        <a:t>50.00</a:t>
                      </a:r>
                    </a:p>
                  </a:txBody>
                  <a:tcPr marL="54864" marR="54864" marT="22860" marB="22860" anchor="ctr">
                    <a:solidFill>
                      <a:srgbClr val="EEF0F3"/>
                    </a:solidFill>
                  </a:tcPr>
                </a:tc>
                <a:extLst>
                  <a:ext uri="{0D108BD9-81ED-4DB2-BD59-A6C34878D82A}">
                    <a16:rowId xmlns:a16="http://schemas.microsoft.com/office/drawing/2014/main" val="10010"/>
                  </a:ext>
                </a:extLst>
              </a:tr>
              <a:tr h="278892">
                <a:tc>
                  <a:txBody>
                    <a:bodyPr/>
                    <a:lstStyle/>
                    <a:p>
                      <a:pPr algn="l"/>
                      <a:r>
                        <a:rPr sz="950" b="0">
                          <a:solidFill>
                            <a:srgbClr val="171C26"/>
                          </a:solidFill>
                          <a:latin typeface="Consolas"/>
                        </a:rPr>
                        <a:t>13 Sep 19:27</a:t>
                      </a:r>
                    </a:p>
                  </a:txBody>
                  <a:tcPr marL="54864" marR="54864" marT="22860" marB="22860" anchor="ctr">
                    <a:solidFill>
                      <a:srgbClr val="FFFFFF"/>
                    </a:solidFill>
                  </a:tcPr>
                </a:tc>
                <a:tc>
                  <a:txBody>
                    <a:bodyPr/>
                    <a:lstStyle/>
                    <a:p>
                      <a:pPr algn="l"/>
                      <a:r>
                        <a:rPr sz="950" b="1">
                          <a:solidFill>
                            <a:srgbClr val="1B7F63"/>
                          </a:solidFill>
                          <a:latin typeface="Segoe UI"/>
                        </a:rPr>
                        <a:t>GPT-6 Astra</a:t>
                      </a:r>
                    </a:p>
                  </a:txBody>
                  <a:tcPr marL="54864" marR="54864" marT="22860" marB="22860" anchor="ctr">
                    <a:solidFill>
                      <a:srgbClr val="FFFFFF"/>
                    </a:solidFill>
                  </a:tcPr>
                </a:tc>
                <a:tc>
                  <a:txBody>
                    <a:bodyPr/>
                    <a:lstStyle/>
                    <a:p>
                      <a:pPr algn="l"/>
                      <a:r>
                        <a:rPr sz="950" b="0">
                          <a:solidFill>
                            <a:srgbClr val="171C26"/>
                          </a:solidFill>
                          <a:latin typeface="Segoe UI"/>
                        </a:rPr>
                        <a:t>Q2 NSM reissuance start</a:t>
                      </a:r>
                    </a:p>
                  </a:txBody>
                  <a:tcPr marL="54864" marR="54864" marT="22860" marB="22860" anchor="ctr">
                    <a:solidFill>
                      <a:srgbClr val="FFFFFF"/>
                    </a:solidFill>
                  </a:tcPr>
                </a:tc>
                <a:tc>
                  <a:txBody>
                    <a:bodyPr/>
                    <a:lstStyle/>
                    <a:p>
                      <a:pPr algn="l"/>
                      <a:r>
                        <a:rPr sz="950" b="0">
                          <a:solidFill>
                            <a:srgbClr val="171C26"/>
                          </a:solidFill>
                          <a:latin typeface="Segoe UI"/>
                        </a:rPr>
                        <a:t>Buy February 2031 · split</a:t>
                      </a:r>
                    </a:p>
                  </a:txBody>
                  <a:tcPr marL="54864" marR="54864" marT="22860" marB="22860" anchor="ctr">
                    <a:solidFill>
                      <a:srgbClr val="FFFFFF"/>
                    </a:solidFill>
                  </a:tcPr>
                </a:tc>
                <a:tc>
                  <a:txBody>
                    <a:bodyPr/>
                    <a:lstStyle/>
                    <a:p>
                      <a:pPr algn="r"/>
                      <a:r>
                        <a:rPr sz="950" b="0">
                          <a:solidFill>
                            <a:srgbClr val="171C26"/>
                          </a:solidFill>
                          <a:latin typeface="Segoe UI"/>
                        </a:rPr>
                        <a:t>25 sets</a:t>
                      </a:r>
                    </a:p>
                  </a:txBody>
                  <a:tcPr marL="54864" marR="54864" marT="22860" marB="22860" anchor="ctr">
                    <a:solidFill>
                      <a:srgbClr val="FFFFFF"/>
                    </a:solidFill>
                  </a:tcPr>
                </a:tc>
                <a:tc>
                  <a:txBody>
                    <a:bodyPr/>
                    <a:lstStyle/>
                    <a:p>
                      <a:pPr algn="r"/>
                      <a:r>
                        <a:rPr sz="950" b="0">
                          <a:solidFill>
                            <a:srgbClr val="171C26"/>
                          </a:solidFill>
                          <a:latin typeface="Consolas"/>
                        </a:rPr>
                        <a:t>0.4329</a:t>
                      </a:r>
                    </a:p>
                  </a:txBody>
                  <a:tcPr marL="54864" marR="54864" marT="22860" marB="22860" anchor="ctr">
                    <a:solidFill>
                      <a:srgbClr val="FFFFFF"/>
                    </a:solidFill>
                  </a:tcPr>
                </a:tc>
                <a:tc>
                  <a:txBody>
                    <a:bodyPr/>
                    <a:lstStyle/>
                    <a:p>
                      <a:pPr algn="r"/>
                      <a:r>
                        <a:rPr sz="950" b="0">
                          <a:solidFill>
                            <a:srgbClr val="171C26"/>
                          </a:solidFill>
                          <a:latin typeface="Consolas"/>
                        </a:rPr>
                        <a:t>0.4270</a:t>
                      </a:r>
                    </a:p>
                  </a:txBody>
                  <a:tcPr marL="54864" marR="54864" marT="22860" marB="22860" anchor="ctr">
                    <a:solidFill>
                      <a:srgbClr val="FFFFFF"/>
                    </a:solidFill>
                  </a:tcPr>
                </a:tc>
                <a:tc>
                  <a:txBody>
                    <a:bodyPr/>
                    <a:lstStyle/>
                    <a:p>
                      <a:pPr algn="r"/>
                      <a:r>
                        <a:rPr sz="950" b="0">
                          <a:solidFill>
                            <a:srgbClr val="171C26"/>
                          </a:solidFill>
                          <a:latin typeface="Consolas"/>
                        </a:rPr>
                        <a:t>1.4%</a:t>
                      </a:r>
                    </a:p>
                  </a:txBody>
                  <a:tcPr marL="54864" marR="54864" marT="22860" marB="22860" anchor="ctr">
                    <a:solidFill>
                      <a:srgbClr val="FFFFFF"/>
                    </a:solidFill>
                  </a:tcPr>
                </a:tc>
                <a:tc>
                  <a:txBody>
                    <a:bodyPr/>
                    <a:lstStyle/>
                    <a:p>
                      <a:pPr algn="r"/>
                      <a:r>
                        <a:rPr sz="950" b="0">
                          <a:solidFill>
                            <a:srgbClr val="171C26"/>
                          </a:solidFill>
                          <a:latin typeface="Consolas"/>
                        </a:rPr>
                        <a:t>10.82</a:t>
                      </a:r>
                    </a:p>
                  </a:txBody>
                  <a:tcPr marL="54864" marR="54864" marT="22860" marB="22860" anchor="ctr">
                    <a:solidFill>
                      <a:srgbClr val="FFFFFF"/>
                    </a:solidFill>
                  </a:tcPr>
                </a:tc>
                <a:extLst>
                  <a:ext uri="{0D108BD9-81ED-4DB2-BD59-A6C34878D82A}">
                    <a16:rowId xmlns:a16="http://schemas.microsoft.com/office/drawing/2014/main" val="10011"/>
                  </a:ext>
                </a:extLst>
              </a:tr>
              <a:tr h="278892">
                <a:tc>
                  <a:txBody>
                    <a:bodyPr/>
                    <a:lstStyle/>
                    <a:p>
                      <a:pPr algn="l"/>
                      <a:r>
                        <a:rPr sz="950" b="0">
                          <a:solidFill>
                            <a:srgbClr val="171C26"/>
                          </a:solidFill>
                          <a:latin typeface="Consolas"/>
                        </a:rPr>
                        <a:t>14 Sep 03:29</a:t>
                      </a:r>
                    </a:p>
                  </a:txBody>
                  <a:tcPr marL="54864" marR="54864" marT="22860" marB="22860" anchor="ctr">
                    <a:solidFill>
                      <a:srgbClr val="EEF0F3"/>
                    </a:solidFill>
                  </a:tcPr>
                </a:tc>
                <a:tc>
                  <a:txBody>
                    <a:bodyPr/>
                    <a:lstStyle/>
                    <a:p>
                      <a:pPr algn="l"/>
                      <a:r>
                        <a:rPr sz="950" b="1">
                          <a:solidFill>
                            <a:srgbClr val="1B7F63"/>
                          </a:solidFill>
                          <a:latin typeface="Segoe UI"/>
                        </a:rPr>
                        <a:t>GPT-6 Astra</a:t>
                      </a:r>
                    </a:p>
                  </a:txBody>
                  <a:tcPr marL="54864" marR="54864" marT="22860" marB="22860" anchor="ctr">
                    <a:solidFill>
                      <a:srgbClr val="EEF0F3"/>
                    </a:solidFill>
                  </a:tcPr>
                </a:tc>
                <a:tc>
                  <a:txBody>
                    <a:bodyPr/>
                    <a:lstStyle/>
                    <a:p>
                      <a:pPr algn="l"/>
                      <a:r>
                        <a:rPr sz="950" b="0">
                          <a:solidFill>
                            <a:srgbClr val="171C26"/>
                          </a:solidFill>
                          <a:latin typeface="Segoe UI"/>
                        </a:rPr>
                        <a:t>Q2 NSM reissuance start</a:t>
                      </a:r>
                    </a:p>
                  </a:txBody>
                  <a:tcPr marL="54864" marR="54864" marT="22860" marB="22860" anchor="ctr">
                    <a:solidFill>
                      <a:srgbClr val="EEF0F3"/>
                    </a:solidFill>
                  </a:tcPr>
                </a:tc>
                <a:tc>
                  <a:txBody>
                    <a:bodyPr/>
                    <a:lstStyle/>
                    <a:p>
                      <a:pPr algn="l"/>
                      <a:r>
                        <a:rPr sz="950" b="0">
                          <a:solidFill>
                            <a:srgbClr val="171C26"/>
                          </a:solidFill>
                          <a:latin typeface="Segoe UI"/>
                        </a:rPr>
                        <a:t>Buy February 2031 · split</a:t>
                      </a:r>
                    </a:p>
                  </a:txBody>
                  <a:tcPr marL="54864" marR="54864" marT="22860" marB="22860" anchor="ctr">
                    <a:solidFill>
                      <a:srgbClr val="EEF0F3"/>
                    </a:solidFill>
                  </a:tcPr>
                </a:tc>
                <a:tc>
                  <a:txBody>
                    <a:bodyPr/>
                    <a:lstStyle/>
                    <a:p>
                      <a:pPr algn="r"/>
                      <a:r>
                        <a:rPr sz="950" b="0">
                          <a:solidFill>
                            <a:srgbClr val="171C26"/>
                          </a:solidFill>
                          <a:latin typeface="Segoe UI"/>
                        </a:rPr>
                        <a:t>30 sets</a:t>
                      </a:r>
                    </a:p>
                  </a:txBody>
                  <a:tcPr marL="54864" marR="54864" marT="22860" marB="22860" anchor="ctr">
                    <a:solidFill>
                      <a:srgbClr val="EEF0F3"/>
                    </a:solidFill>
                  </a:tcPr>
                </a:tc>
                <a:tc>
                  <a:txBody>
                    <a:bodyPr/>
                    <a:lstStyle/>
                    <a:p>
                      <a:pPr algn="r"/>
                      <a:r>
                        <a:rPr sz="950" b="0">
                          <a:solidFill>
                            <a:srgbClr val="171C26"/>
                          </a:solidFill>
                          <a:latin typeface="Consolas"/>
                        </a:rPr>
                        <a:t>0.4479</a:t>
                      </a:r>
                    </a:p>
                  </a:txBody>
                  <a:tcPr marL="54864" marR="54864" marT="22860" marB="22860" anchor="ctr">
                    <a:solidFill>
                      <a:srgbClr val="EEF0F3"/>
                    </a:solidFill>
                  </a:tcPr>
                </a:tc>
                <a:tc>
                  <a:txBody>
                    <a:bodyPr/>
                    <a:lstStyle/>
                    <a:p>
                      <a:pPr algn="r"/>
                      <a:r>
                        <a:rPr sz="950" b="0">
                          <a:solidFill>
                            <a:srgbClr val="171C26"/>
                          </a:solidFill>
                          <a:latin typeface="Consolas"/>
                        </a:rPr>
                        <a:t>0.4270</a:t>
                      </a:r>
                    </a:p>
                  </a:txBody>
                  <a:tcPr marL="54864" marR="54864" marT="22860" marB="22860" anchor="ctr">
                    <a:solidFill>
                      <a:srgbClr val="EEF0F3"/>
                    </a:solidFill>
                  </a:tcPr>
                </a:tc>
                <a:tc>
                  <a:txBody>
                    <a:bodyPr/>
                    <a:lstStyle/>
                    <a:p>
                      <a:pPr algn="r"/>
                      <a:r>
                        <a:rPr sz="950" b="0">
                          <a:solidFill>
                            <a:srgbClr val="171C26"/>
                          </a:solidFill>
                          <a:latin typeface="Consolas"/>
                        </a:rPr>
                        <a:t>4.9%</a:t>
                      </a:r>
                    </a:p>
                  </a:txBody>
                  <a:tcPr marL="54864" marR="54864" marT="22860" marB="22860" anchor="ctr">
                    <a:solidFill>
                      <a:srgbClr val="EEF0F3"/>
                    </a:solidFill>
                  </a:tcPr>
                </a:tc>
                <a:tc>
                  <a:txBody>
                    <a:bodyPr/>
                    <a:lstStyle/>
                    <a:p>
                      <a:pPr algn="r"/>
                      <a:r>
                        <a:rPr sz="950" b="0">
                          <a:solidFill>
                            <a:srgbClr val="171C26"/>
                          </a:solidFill>
                          <a:latin typeface="Consolas"/>
                        </a:rPr>
                        <a:t>13.44</a:t>
                      </a:r>
                    </a:p>
                  </a:txBody>
                  <a:tcPr marL="54864" marR="54864" marT="22860" marB="22860" anchor="ctr">
                    <a:solidFill>
                      <a:srgbClr val="EEF0F3"/>
                    </a:solidFill>
                  </a:tcPr>
                </a:tc>
                <a:extLst>
                  <a:ext uri="{0D108BD9-81ED-4DB2-BD59-A6C34878D82A}">
                    <a16:rowId xmlns:a16="http://schemas.microsoft.com/office/drawing/2014/main" val="10012"/>
                  </a:ext>
                </a:extLst>
              </a:tr>
              <a:tr h="278892">
                <a:tc>
                  <a:txBody>
                    <a:bodyPr/>
                    <a:lstStyle/>
                    <a:p>
                      <a:pPr algn="l"/>
                      <a:r>
                        <a:rPr sz="950" b="0">
                          <a:solidFill>
                            <a:srgbClr val="171C26"/>
                          </a:solidFill>
                          <a:latin typeface="Consolas"/>
                        </a:rPr>
                        <a:t>14 Sep 05:32</a:t>
                      </a:r>
                    </a:p>
                  </a:txBody>
                  <a:tcPr marL="54864" marR="54864" marT="22860" marB="22860" anchor="ctr">
                    <a:solidFill>
                      <a:srgbClr val="FFFFFF"/>
                    </a:solidFill>
                  </a:tcPr>
                </a:tc>
                <a:tc>
                  <a:txBody>
                    <a:bodyPr/>
                    <a:lstStyle/>
                    <a:p>
                      <a:pPr algn="l"/>
                      <a:r>
                        <a:rPr sz="950" b="1">
                          <a:solidFill>
                            <a:srgbClr val="1B7F63"/>
                          </a:solidFill>
                          <a:latin typeface="Segoe UI"/>
                        </a:rPr>
                        <a:t>GPT-6 Astra</a:t>
                      </a:r>
                    </a:p>
                  </a:txBody>
                  <a:tcPr marL="54864" marR="54864" marT="22860" marB="22860" anchor="ctr">
                    <a:solidFill>
                      <a:srgbClr val="FFFFFF"/>
                    </a:solidFill>
                  </a:tcPr>
                </a:tc>
                <a:tc>
                  <a:txBody>
                    <a:bodyPr/>
                    <a:lstStyle/>
                    <a:p>
                      <a:pPr algn="l"/>
                      <a:r>
                        <a:rPr sz="950" b="0">
                          <a:solidFill>
                            <a:srgbClr val="171C26"/>
                          </a:solidFill>
                          <a:latin typeface="Segoe UI"/>
                        </a:rPr>
                        <a:t>Q5 Sept-30 feature deadline</a:t>
                      </a:r>
                    </a:p>
                  </a:txBody>
                  <a:tcPr marL="54864" marR="54864" marT="22860" marB="22860" anchor="ctr">
                    <a:solidFill>
                      <a:srgbClr val="FFFFFF"/>
                    </a:solidFill>
                  </a:tcPr>
                </a:tc>
                <a:tc>
                  <a:txBody>
                    <a:bodyPr/>
                    <a:lstStyle/>
                    <a:p>
                      <a:pPr algn="l"/>
                      <a:r>
                        <a:rPr sz="950" b="0">
                          <a:solidFill>
                            <a:srgbClr val="171C26"/>
                          </a:solidFill>
                          <a:latin typeface="Segoe UI"/>
                        </a:rPr>
                        <a:t>Buy Ship NU7 as soon as possible · split</a:t>
                      </a:r>
                    </a:p>
                  </a:txBody>
                  <a:tcPr marL="54864" marR="54864" marT="22860" marB="22860" anchor="ctr">
                    <a:solidFill>
                      <a:srgbClr val="FFFFFF"/>
                    </a:solidFill>
                  </a:tcPr>
                </a:tc>
                <a:tc>
                  <a:txBody>
                    <a:bodyPr/>
                    <a:lstStyle/>
                    <a:p>
                      <a:pPr algn="r"/>
                      <a:r>
                        <a:rPr sz="950" b="0">
                          <a:solidFill>
                            <a:srgbClr val="171C26"/>
                          </a:solidFill>
                          <a:latin typeface="Segoe UI"/>
                        </a:rPr>
                        <a:t>9 sets</a:t>
                      </a:r>
                    </a:p>
                  </a:txBody>
                  <a:tcPr marL="54864" marR="54864" marT="22860" marB="22860" anchor="ctr">
                    <a:solidFill>
                      <a:srgbClr val="FFFFFF"/>
                    </a:solidFill>
                  </a:tcPr>
                </a:tc>
                <a:tc>
                  <a:txBody>
                    <a:bodyPr/>
                    <a:lstStyle/>
                    <a:p>
                      <a:pPr algn="r"/>
                      <a:r>
                        <a:rPr sz="950" b="0">
                          <a:solidFill>
                            <a:srgbClr val="171C26"/>
                          </a:solidFill>
                          <a:latin typeface="Consolas"/>
                        </a:rPr>
                        <a:t>0.7529</a:t>
                      </a:r>
                    </a:p>
                  </a:txBody>
                  <a:tcPr marL="54864" marR="54864" marT="22860" marB="22860" anchor="ctr">
                    <a:solidFill>
                      <a:srgbClr val="FFFFFF"/>
                    </a:solidFill>
                  </a:tcPr>
                </a:tc>
                <a:tc>
                  <a:txBody>
                    <a:bodyPr/>
                    <a:lstStyle/>
                    <a:p>
                      <a:pPr algn="r"/>
                      <a:r>
                        <a:rPr sz="950" b="0">
                          <a:solidFill>
                            <a:srgbClr val="171C26"/>
                          </a:solidFill>
                          <a:latin typeface="Consolas"/>
                        </a:rPr>
                        <a:t>0.7500</a:t>
                      </a:r>
                    </a:p>
                  </a:txBody>
                  <a:tcPr marL="54864" marR="54864" marT="22860" marB="22860" anchor="ctr">
                    <a:solidFill>
                      <a:srgbClr val="FFFFFF"/>
                    </a:solidFill>
                  </a:tcPr>
                </a:tc>
                <a:tc>
                  <a:txBody>
                    <a:bodyPr/>
                    <a:lstStyle/>
                    <a:p>
                      <a:pPr algn="r"/>
                      <a:r>
                        <a:rPr sz="950" b="0">
                          <a:solidFill>
                            <a:srgbClr val="171C26"/>
                          </a:solidFill>
                          <a:latin typeface="Consolas"/>
                        </a:rPr>
                        <a:t>0.4%</a:t>
                      </a:r>
                    </a:p>
                  </a:txBody>
                  <a:tcPr marL="54864" marR="54864" marT="22860" marB="22860" anchor="ctr">
                    <a:solidFill>
                      <a:srgbClr val="FFFFFF"/>
                    </a:solidFill>
                  </a:tcPr>
                </a:tc>
                <a:tc>
                  <a:txBody>
                    <a:bodyPr/>
                    <a:lstStyle/>
                    <a:p>
                      <a:pPr algn="r"/>
                      <a:r>
                        <a:rPr sz="950" b="0">
                          <a:solidFill>
                            <a:srgbClr val="171C26"/>
                          </a:solidFill>
                          <a:latin typeface="Consolas"/>
                        </a:rPr>
                        <a:t>6.78</a:t>
                      </a:r>
                    </a:p>
                  </a:txBody>
                  <a:tcPr marL="54864" marR="54864" marT="22860" marB="22860" anchor="ctr">
                    <a:solidFill>
                      <a:srgbClr val="FFFFFF"/>
                    </a:solidFill>
                  </a:tcPr>
                </a:tc>
                <a:extLst>
                  <a:ext uri="{0D108BD9-81ED-4DB2-BD59-A6C34878D82A}">
                    <a16:rowId xmlns:a16="http://schemas.microsoft.com/office/drawing/2014/main" val="10013"/>
                  </a:ext>
                </a:extLst>
              </a:tr>
              <a:tr h="278892">
                <a:tc>
                  <a:txBody>
                    <a:bodyPr/>
                    <a:lstStyle/>
                    <a:p>
                      <a:pPr algn="l"/>
                      <a:r>
                        <a:rPr sz="950" b="0">
                          <a:solidFill>
                            <a:srgbClr val="171C26"/>
                          </a:solidFill>
                          <a:latin typeface="Consolas"/>
                        </a:rPr>
                        <a:t>14 Sep 05:33</a:t>
                      </a:r>
                    </a:p>
                  </a:txBody>
                  <a:tcPr marL="54864" marR="54864" marT="22860" marB="22860" anchor="ctr">
                    <a:solidFill>
                      <a:srgbClr val="EEF0F3"/>
                    </a:solidFill>
                  </a:tcPr>
                </a:tc>
                <a:tc>
                  <a:txBody>
                    <a:bodyPr/>
                    <a:lstStyle/>
                    <a:p>
                      <a:pPr algn="l"/>
                      <a:r>
                        <a:rPr sz="950" b="1">
                          <a:solidFill>
                            <a:srgbClr val="1B7F63"/>
                          </a:solidFill>
                          <a:latin typeface="Segoe UI"/>
                        </a:rPr>
                        <a:t>GPT-6 Astra</a:t>
                      </a:r>
                    </a:p>
                  </a:txBody>
                  <a:tcPr marL="54864" marR="54864" marT="22860" marB="22860" anchor="ctr">
                    <a:solidFill>
                      <a:srgbClr val="EEF0F3"/>
                    </a:solidFill>
                  </a:tcPr>
                </a:tc>
                <a:tc>
                  <a:txBody>
                    <a:bodyPr/>
                    <a:lstStyle/>
                    <a:p>
                      <a:pPr algn="l"/>
                      <a:r>
                        <a:rPr sz="950" b="0">
                          <a:solidFill>
                            <a:srgbClr val="171C26"/>
                          </a:solidFill>
                          <a:latin typeface="Segoe UI"/>
                        </a:rPr>
                        <a:t>Q3 Disable v4 transactions</a:t>
                      </a:r>
                    </a:p>
                  </a:txBody>
                  <a:tcPr marL="54864" marR="54864" marT="22860" marB="22860" anchor="ctr">
                    <a:solidFill>
                      <a:srgbClr val="EEF0F3"/>
                    </a:solidFill>
                  </a:tcPr>
                </a:tc>
                <a:tc>
                  <a:txBody>
                    <a:bodyPr/>
                    <a:lstStyle/>
                    <a:p>
                      <a:pPr algn="l"/>
                      <a:r>
                        <a:rPr sz="950" b="0">
                          <a:solidFill>
                            <a:srgbClr val="171C26"/>
                          </a:solidFill>
                          <a:latin typeface="Segoe UI"/>
                        </a:rPr>
                        <a:t>Buy Immediately at NU7 activation · split</a:t>
                      </a:r>
                    </a:p>
                  </a:txBody>
                  <a:tcPr marL="54864" marR="54864" marT="22860" marB="22860" anchor="ctr">
                    <a:solidFill>
                      <a:srgbClr val="EEF0F3"/>
                    </a:solidFill>
                  </a:tcPr>
                </a:tc>
                <a:tc>
                  <a:txBody>
                    <a:bodyPr/>
                    <a:lstStyle/>
                    <a:p>
                      <a:pPr algn="r"/>
                      <a:r>
                        <a:rPr sz="950" b="0">
                          <a:solidFill>
                            <a:srgbClr val="171C26"/>
                          </a:solidFill>
                          <a:latin typeface="Segoe UI"/>
                        </a:rPr>
                        <a:t>10 sets</a:t>
                      </a:r>
                    </a:p>
                  </a:txBody>
                  <a:tcPr marL="54864" marR="54864" marT="22860" marB="22860" anchor="ctr">
                    <a:solidFill>
                      <a:srgbClr val="EEF0F3"/>
                    </a:solidFill>
                  </a:tcPr>
                </a:tc>
                <a:tc>
                  <a:txBody>
                    <a:bodyPr/>
                    <a:lstStyle/>
                    <a:p>
                      <a:pPr algn="r"/>
                      <a:r>
                        <a:rPr sz="950" b="0">
                          <a:solidFill>
                            <a:srgbClr val="171C26"/>
                          </a:solidFill>
                          <a:latin typeface="Consolas"/>
                        </a:rPr>
                        <a:t>0.3677</a:t>
                      </a:r>
                    </a:p>
                  </a:txBody>
                  <a:tcPr marL="54864" marR="54864" marT="22860" marB="22860" anchor="ctr">
                    <a:solidFill>
                      <a:srgbClr val="EEF0F3"/>
                    </a:solidFill>
                  </a:tcPr>
                </a:tc>
                <a:tc>
                  <a:txBody>
                    <a:bodyPr/>
                    <a:lstStyle/>
                    <a:p>
                      <a:pPr algn="r"/>
                      <a:r>
                        <a:rPr sz="950" b="0">
                          <a:solidFill>
                            <a:srgbClr val="171C26"/>
                          </a:solidFill>
                          <a:latin typeface="Consolas"/>
                        </a:rPr>
                        <a:t>0.3311</a:t>
                      </a:r>
                    </a:p>
                  </a:txBody>
                  <a:tcPr marL="54864" marR="54864" marT="22860" marB="22860" anchor="ctr">
                    <a:solidFill>
                      <a:srgbClr val="EEF0F3"/>
                    </a:solidFill>
                  </a:tcPr>
                </a:tc>
                <a:tc>
                  <a:txBody>
                    <a:bodyPr/>
                    <a:lstStyle/>
                    <a:p>
                      <a:pPr algn="r"/>
                      <a:r>
                        <a:rPr sz="950" b="0">
                          <a:solidFill>
                            <a:srgbClr val="B83A2E"/>
                          </a:solidFill>
                          <a:latin typeface="Consolas"/>
                        </a:rPr>
                        <a:t>11.0%</a:t>
                      </a:r>
                    </a:p>
                  </a:txBody>
                  <a:tcPr marL="54864" marR="54864" marT="22860" marB="22860" anchor="ctr">
                    <a:solidFill>
                      <a:srgbClr val="EEF0F3"/>
                    </a:solidFill>
                  </a:tcPr>
                </a:tc>
                <a:tc>
                  <a:txBody>
                    <a:bodyPr/>
                    <a:lstStyle/>
                    <a:p>
                      <a:pPr algn="r"/>
                      <a:r>
                        <a:rPr sz="950" b="0">
                          <a:solidFill>
                            <a:srgbClr val="171C26"/>
                          </a:solidFill>
                          <a:latin typeface="Consolas"/>
                        </a:rPr>
                        <a:t>3.68</a:t>
                      </a:r>
                    </a:p>
                  </a:txBody>
                  <a:tcPr marL="54864" marR="54864" marT="22860" marB="22860" anchor="ctr">
                    <a:solidFill>
                      <a:srgbClr val="EEF0F3"/>
                    </a:solidFill>
                  </a:tcPr>
                </a:tc>
                <a:extLst>
                  <a:ext uri="{0D108BD9-81ED-4DB2-BD59-A6C34878D82A}">
                    <a16:rowId xmlns:a16="http://schemas.microsoft.com/office/drawing/2014/main" val="10014"/>
                  </a:ext>
                </a:extLst>
              </a:tr>
            </a:tbl>
          </a:graphicData>
        </a:graphic>
      </p:graphicFrame>
      <p:sp>
        <p:nvSpPr>
          <p:cNvPr id="8" name="TextBox 7"/>
          <p:cNvSpPr txBox="1"/>
          <p:nvPr/>
        </p:nvSpPr>
        <p:spPr>
          <a:xfrm>
            <a:off x="457200" y="5897880"/>
            <a:ext cx="11247120" cy="502920"/>
          </a:xfrm>
          <a:prstGeom prst="rect">
            <a:avLst/>
          </a:prstGeom>
          <a:noFill/>
        </p:spPr>
        <p:txBody>
          <a:bodyPr wrap="square" lIns="36576" tIns="18288" rIns="36576" bIns="18288" anchor="t">
            <a:spAutoFit/>
          </a:bodyPr>
          <a:lstStyle/>
          <a:p>
            <a:pPr algn="l">
              <a:spcBef>
                <a:spcPts val="0"/>
              </a:spcBef>
              <a:spcAft>
                <a:spcPts val="0"/>
              </a:spcAft>
            </a:pPr>
            <a:r>
              <a:rPr sz="950" b="0" i="0">
                <a:solidFill>
                  <a:srgbClr val="5C6675"/>
                </a:solidFill>
                <a:latin typeface="Segoe UI"/>
              </a:rPr>
              <a:t>Direct = buy the outcome token from its pool. Split = mint a complete set for 1 sUSDS each and sell the unwanted legs (the Invalid leg has no pool and is kept). Split &amp; sell = the same, selling the outcome the bot wants to be short. Slippage in red is what a 50-sUSDS order does to a pool this thin. Total cost: 349.15 sUSDS.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The result: every ballot leader won</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Official NU7 tally, published after the poll closed on 14 Sep 19:00 UTC. About 2.4M ZEC took part in each question, above the 1M ZEC participation threshold.</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5</a:t>
            </a:r>
          </a:p>
        </p:txBody>
      </p:sp>
      <p:graphicFrame>
        <p:nvGraphicFramePr>
          <p:cNvPr id="7" name="Table 6"/>
          <p:cNvGraphicFramePr>
            <a:graphicFrameLocks noGrp="1"/>
          </p:cNvGraphicFramePr>
          <p:nvPr/>
        </p:nvGraphicFramePr>
        <p:xfrm>
          <a:off x="457200" y="1645920"/>
          <a:ext cx="11247120" cy="2560320"/>
        </p:xfrm>
        <a:graphic>
          <a:graphicData uri="http://schemas.openxmlformats.org/drawingml/2006/table">
            <a:tbl>
              <a:tblPr firstRow="1">
                <a:tableStyleId>{5C22544A-7EE6-4342-B048-85BDC9FD1C3A}</a:tableStyleId>
              </a:tblPr>
              <a:tblGrid>
                <a:gridCol w="21488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783080">
                  <a:extLst>
                    <a:ext uri="{9D8B030D-6E8A-4147-A177-3AD203B41FA5}">
                      <a16:colId xmlns:a16="http://schemas.microsoft.com/office/drawing/2014/main" val="20006"/>
                    </a:ext>
                  </a:extLst>
                </a:gridCol>
              </a:tblGrid>
              <a:tr h="457200">
                <a:tc>
                  <a:txBody>
                    <a:bodyPr/>
                    <a:lstStyle/>
                    <a:p>
                      <a:pPr algn="l"/>
                      <a:r>
                        <a:rPr sz="950" b="1">
                          <a:solidFill>
                            <a:srgbClr val="FFFFFF"/>
                          </a:solidFill>
                          <a:latin typeface="Segoe UI"/>
                        </a:rPr>
                        <a:t>Market</a:t>
                      </a:r>
                    </a:p>
                  </a:txBody>
                  <a:tcPr marL="54864" marR="54864" marT="22860" marB="22860" anchor="ctr">
                    <a:solidFill>
                      <a:srgbClr val="141A2B"/>
                    </a:solidFill>
                  </a:tcPr>
                </a:tc>
                <a:tc>
                  <a:txBody>
                    <a:bodyPr/>
                    <a:lstStyle/>
                    <a:p>
                      <a:pPr algn="l"/>
                      <a:r>
                        <a:rPr sz="950" b="1">
                          <a:solidFill>
                            <a:srgbClr val="FFFFFF"/>
                          </a:solidFill>
                          <a:latin typeface="Segoe UI"/>
                        </a:rPr>
                        <a:t>Winning outcome</a:t>
                      </a:r>
                    </a:p>
                  </a:txBody>
                  <a:tcPr marL="54864" marR="54864" marT="22860" marB="22860" anchor="ctr">
                    <a:solidFill>
                      <a:srgbClr val="141A2B"/>
                    </a:solidFill>
                  </a:tcPr>
                </a:tc>
                <a:tc>
                  <a:txBody>
                    <a:bodyPr/>
                    <a:lstStyle/>
                    <a:p>
                      <a:pPr algn="r"/>
                      <a:r>
                        <a:rPr sz="950" b="1">
                          <a:solidFill>
                            <a:srgbClr val="FFFFFF"/>
                          </a:solidFill>
                          <a:latin typeface="Segoe UI"/>
                        </a:rPr>
                        <a:t>ZEC share (official)</a:t>
                      </a:r>
                    </a:p>
                  </a:txBody>
                  <a:tcPr marL="54864" marR="54864" marT="22860" marB="22860" anchor="ctr">
                    <a:solidFill>
                      <a:srgbClr val="141A2B"/>
                    </a:solidFill>
                  </a:tcPr>
                </a:tc>
                <a:tc>
                  <a:txBody>
                    <a:bodyPr/>
                    <a:lstStyle/>
                    <a:p>
                      <a:pPr algn="r"/>
                      <a:r>
                        <a:rPr sz="950" b="1">
                          <a:solidFill>
                            <a:srgbClr val="FFFFFF"/>
                          </a:solidFill>
                          <a:latin typeface="Segoe UI"/>
                        </a:rPr>
                        <a:t>Ballot share (ex-abstain)</a:t>
                      </a:r>
                    </a:p>
                  </a:txBody>
                  <a:tcPr marL="54864" marR="54864" marT="22860" marB="22860" anchor="ctr">
                    <a:solidFill>
                      <a:srgbClr val="141A2B"/>
                    </a:solidFill>
                  </a:tcPr>
                </a:tc>
                <a:tc>
                  <a:txBody>
                    <a:bodyPr/>
                    <a:lstStyle/>
                    <a:p>
                      <a:pPr algn="r"/>
                      <a:r>
                        <a:rPr sz="950" b="1">
                          <a:solidFill>
                            <a:srgbClr val="FFFFFF"/>
                          </a:solidFill>
                          <a:latin typeface="Segoe UI"/>
                        </a:rPr>
                        <a:t>Agents' final estimate</a:t>
                      </a:r>
                    </a:p>
                  </a:txBody>
                  <a:tcPr marL="54864" marR="54864" marT="22860" marB="22860" anchor="ctr">
                    <a:solidFill>
                      <a:srgbClr val="141A2B"/>
                    </a:solidFill>
                  </a:tcPr>
                </a:tc>
                <a:tc>
                  <a:txBody>
                    <a:bodyPr/>
                    <a:lstStyle/>
                    <a:p>
                      <a:pPr algn="r"/>
                      <a:r>
                        <a:rPr sz="950" b="1">
                          <a:solidFill>
                            <a:srgbClr val="FFFFFF"/>
                          </a:solidFill>
                          <a:latin typeface="Segoe UI"/>
                        </a:rPr>
                        <a:t>Final pool price</a:t>
                      </a:r>
                    </a:p>
                  </a:txBody>
                  <a:tcPr marL="54864" marR="54864" marT="22860" marB="22860" anchor="ctr">
                    <a:solidFill>
                      <a:srgbClr val="141A2B"/>
                    </a:solidFill>
                  </a:tcPr>
                </a:tc>
                <a:tc>
                  <a:txBody>
                    <a:bodyPr/>
                    <a:lstStyle/>
                    <a:p>
                      <a:pPr algn="l"/>
                      <a:r>
                        <a:rPr sz="950" b="1">
                          <a:solidFill>
                            <a:srgbClr val="FFFFFF"/>
                          </a:solidFill>
                          <a:latin typeface="Segoe UI"/>
                        </a:rPr>
                        <a:t>Market's top pick at the close</a:t>
                      </a:r>
                    </a:p>
                  </a:txBody>
                  <a:tcPr marL="54864" marR="54864" marT="22860" marB="22860" anchor="ctr">
                    <a:solidFill>
                      <a:srgbClr val="141A2B"/>
                    </a:solidFill>
                  </a:tcPr>
                </a:tc>
                <a:extLst>
                  <a:ext uri="{0D108BD9-81ED-4DB2-BD59-A6C34878D82A}">
                    <a16:rowId xmlns:a16="http://schemas.microsoft.com/office/drawing/2014/main" val="10000"/>
                  </a:ext>
                </a:extLst>
              </a:tr>
              <a:tr h="420624">
                <a:tc>
                  <a:txBody>
                    <a:bodyPr/>
                    <a:lstStyle/>
                    <a:p>
                      <a:pPr algn="l"/>
                      <a:r>
                        <a:rPr sz="1050" b="0">
                          <a:solidFill>
                            <a:srgbClr val="171C26"/>
                          </a:solidFill>
                          <a:latin typeface="Segoe UI"/>
                        </a:rPr>
                        <a:t>Q1 NSM issuance smoothing</a:t>
                      </a:r>
                    </a:p>
                  </a:txBody>
                  <a:tcPr marL="54864" marR="54864" marT="22860" marB="22860" anchor="ctr">
                    <a:solidFill>
                      <a:srgbClr val="FFFFFF"/>
                    </a:solidFill>
                  </a:tcPr>
                </a:tc>
                <a:tc>
                  <a:txBody>
                    <a:bodyPr/>
                    <a:lstStyle/>
                    <a:p>
                      <a:pPr algn="l"/>
                      <a:r>
                        <a:rPr sz="1050" b="1">
                          <a:solidFill>
                            <a:srgbClr val="171C26"/>
                          </a:solidFill>
                          <a:latin typeface="Segoe UI"/>
                        </a:rPr>
                        <a:t>Preserve</a:t>
                      </a:r>
                    </a:p>
                  </a:txBody>
                  <a:tcPr marL="54864" marR="54864" marT="22860" marB="22860" anchor="ctr">
                    <a:solidFill>
                      <a:srgbClr val="FFFFFF"/>
                    </a:solidFill>
                  </a:tcPr>
                </a:tc>
                <a:tc>
                  <a:txBody>
                    <a:bodyPr/>
                    <a:lstStyle/>
                    <a:p>
                      <a:pPr algn="r"/>
                      <a:r>
                        <a:rPr sz="1050" b="0">
                          <a:solidFill>
                            <a:srgbClr val="171C26"/>
                          </a:solidFill>
                          <a:latin typeface="Consolas"/>
                        </a:rPr>
                        <a:t>98.85%</a:t>
                      </a:r>
                    </a:p>
                  </a:txBody>
                  <a:tcPr marL="54864" marR="54864" marT="22860" marB="22860" anchor="ctr">
                    <a:solidFill>
                      <a:srgbClr val="FFFFFF"/>
                    </a:solidFill>
                  </a:tcPr>
                </a:tc>
                <a:tc>
                  <a:txBody>
                    <a:bodyPr/>
                    <a:lstStyle/>
                    <a:p>
                      <a:pPr algn="r"/>
                      <a:r>
                        <a:rPr sz="1050" b="0">
                          <a:solidFill>
                            <a:srgbClr val="171C26"/>
                          </a:solidFill>
                          <a:latin typeface="Consolas"/>
                        </a:rPr>
                        <a:t>58.1%</a:t>
                      </a:r>
                    </a:p>
                  </a:txBody>
                  <a:tcPr marL="54864" marR="54864" marT="22860" marB="22860" anchor="ctr">
                    <a:solidFill>
                      <a:srgbClr val="FFFFFF"/>
                    </a:solidFill>
                  </a:tcPr>
                </a:tc>
                <a:tc>
                  <a:txBody>
                    <a:bodyPr/>
                    <a:lstStyle/>
                    <a:p>
                      <a:pPr algn="r"/>
                      <a:r>
                        <a:rPr sz="1050" b="0">
                          <a:solidFill>
                            <a:srgbClr val="171C26"/>
                          </a:solidFill>
                          <a:latin typeface="Consolas"/>
                        </a:rPr>
                        <a:t>0.63 – 0.72</a:t>
                      </a:r>
                    </a:p>
                  </a:txBody>
                  <a:tcPr marL="54864" marR="54864" marT="22860" marB="22860" anchor="ctr">
                    <a:solidFill>
                      <a:srgbClr val="FFFFFF"/>
                    </a:solidFill>
                  </a:tcPr>
                </a:tc>
                <a:tc>
                  <a:txBody>
                    <a:bodyPr/>
                    <a:lstStyle/>
                    <a:p>
                      <a:pPr algn="r"/>
                      <a:r>
                        <a:rPr sz="1050" b="0">
                          <a:solidFill>
                            <a:srgbClr val="171C26"/>
                          </a:solidFill>
                          <a:latin typeface="Consolas"/>
                        </a:rPr>
                        <a:t>0.713</a:t>
                      </a:r>
                    </a:p>
                  </a:txBody>
                  <a:tcPr marL="54864" marR="54864" marT="22860" marB="22860" anchor="ctr">
                    <a:solidFill>
                      <a:srgbClr val="FFFFFF"/>
                    </a:solidFill>
                  </a:tcPr>
                </a:tc>
                <a:tc>
                  <a:txBody>
                    <a:bodyPr/>
                    <a:lstStyle/>
                    <a:p>
                      <a:pPr algn="l"/>
                      <a:r>
                        <a:rPr sz="1050" b="0">
                          <a:solidFill>
                            <a:srgbClr val="1E7A46"/>
                          </a:solidFill>
                          <a:latin typeface="Segoe UI"/>
                        </a:rPr>
                        <a:t>✓ Preserve</a:t>
                      </a:r>
                    </a:p>
                  </a:txBody>
                  <a:tcPr marL="54864" marR="54864" marT="22860" marB="22860" anchor="ctr">
                    <a:solidFill>
                      <a:srgbClr val="FFFFFF"/>
                    </a:solidFill>
                  </a:tcPr>
                </a:tc>
                <a:extLst>
                  <a:ext uri="{0D108BD9-81ED-4DB2-BD59-A6C34878D82A}">
                    <a16:rowId xmlns:a16="http://schemas.microsoft.com/office/drawing/2014/main" val="10001"/>
                  </a:ext>
                </a:extLst>
              </a:tr>
              <a:tr h="420624">
                <a:tc>
                  <a:txBody>
                    <a:bodyPr/>
                    <a:lstStyle/>
                    <a:p>
                      <a:pPr algn="l"/>
                      <a:r>
                        <a:rPr sz="1050" b="0">
                          <a:solidFill>
                            <a:srgbClr val="171C26"/>
                          </a:solidFill>
                          <a:latin typeface="Segoe UI"/>
                        </a:rPr>
                        <a:t>Q2 NSM reissuance start</a:t>
                      </a:r>
                    </a:p>
                  </a:txBody>
                  <a:tcPr marL="54864" marR="54864" marT="22860" marB="22860" anchor="ctr">
                    <a:solidFill>
                      <a:srgbClr val="EEF0F3"/>
                    </a:solidFill>
                  </a:tcPr>
                </a:tc>
                <a:tc>
                  <a:txBody>
                    <a:bodyPr/>
                    <a:lstStyle/>
                    <a:p>
                      <a:pPr algn="l"/>
                      <a:r>
                        <a:rPr sz="1050" b="1">
                          <a:solidFill>
                            <a:srgbClr val="171C26"/>
                          </a:solidFill>
                          <a:latin typeface="Segoe UI"/>
                        </a:rPr>
                        <a:t>Feb-2031</a:t>
                      </a:r>
                    </a:p>
                  </a:txBody>
                  <a:tcPr marL="54864" marR="54864" marT="22860" marB="22860" anchor="ctr">
                    <a:solidFill>
                      <a:srgbClr val="EEF0F3"/>
                    </a:solidFill>
                  </a:tcPr>
                </a:tc>
                <a:tc>
                  <a:txBody>
                    <a:bodyPr/>
                    <a:lstStyle/>
                    <a:p>
                      <a:pPr algn="r"/>
                      <a:r>
                        <a:rPr sz="1050" b="0">
                          <a:solidFill>
                            <a:srgbClr val="171C26"/>
                          </a:solidFill>
                          <a:latin typeface="Consolas"/>
                        </a:rPr>
                        <a:t>96.61%</a:t>
                      </a:r>
                    </a:p>
                  </a:txBody>
                  <a:tcPr marL="54864" marR="54864" marT="22860" marB="22860" anchor="ctr">
                    <a:solidFill>
                      <a:srgbClr val="EEF0F3"/>
                    </a:solidFill>
                  </a:tcPr>
                </a:tc>
                <a:tc>
                  <a:txBody>
                    <a:bodyPr/>
                    <a:lstStyle/>
                    <a:p>
                      <a:pPr algn="r"/>
                      <a:r>
                        <a:rPr sz="1050" b="0">
                          <a:solidFill>
                            <a:srgbClr val="171C26"/>
                          </a:solidFill>
                          <a:latin typeface="Consolas"/>
                        </a:rPr>
                        <a:t>72.2%</a:t>
                      </a:r>
                    </a:p>
                  </a:txBody>
                  <a:tcPr marL="54864" marR="54864" marT="22860" marB="22860" anchor="ctr">
                    <a:solidFill>
                      <a:srgbClr val="EEF0F3"/>
                    </a:solidFill>
                  </a:tcPr>
                </a:tc>
                <a:tc>
                  <a:txBody>
                    <a:bodyPr/>
                    <a:lstStyle/>
                    <a:p>
                      <a:pPr algn="r"/>
                      <a:r>
                        <a:rPr sz="1050" b="0">
                          <a:solidFill>
                            <a:srgbClr val="171C26"/>
                          </a:solidFill>
                          <a:latin typeface="Consolas"/>
                        </a:rPr>
                        <a:t>0.65 – 0.82</a:t>
                      </a:r>
                    </a:p>
                  </a:txBody>
                  <a:tcPr marL="54864" marR="54864" marT="22860" marB="22860" anchor="ctr">
                    <a:solidFill>
                      <a:srgbClr val="EEF0F3"/>
                    </a:solidFill>
                  </a:tcPr>
                </a:tc>
                <a:tc>
                  <a:txBody>
                    <a:bodyPr/>
                    <a:lstStyle/>
                    <a:p>
                      <a:pPr algn="r"/>
                      <a:r>
                        <a:rPr sz="1050" b="0">
                          <a:solidFill>
                            <a:srgbClr val="171C26"/>
                          </a:solidFill>
                          <a:latin typeface="Consolas"/>
                        </a:rPr>
                        <a:t>0.427</a:t>
                      </a:r>
                    </a:p>
                  </a:txBody>
                  <a:tcPr marL="54864" marR="54864" marT="22860" marB="22860" anchor="ctr">
                    <a:solidFill>
                      <a:srgbClr val="EEF0F3"/>
                    </a:solidFill>
                  </a:tcPr>
                </a:tc>
                <a:tc>
                  <a:txBody>
                    <a:bodyPr/>
                    <a:lstStyle/>
                    <a:p>
                      <a:pPr algn="l"/>
                      <a:r>
                        <a:rPr sz="1050" b="0">
                          <a:solidFill>
                            <a:srgbClr val="B83A2E"/>
                          </a:solidFill>
                          <a:latin typeface="Segoe UI"/>
                        </a:rPr>
                        <a:t>✗ As soon as possible (0.439)</a:t>
                      </a:r>
                    </a:p>
                  </a:txBody>
                  <a:tcPr marL="54864" marR="54864" marT="22860" marB="22860" anchor="ctr">
                    <a:solidFill>
                      <a:srgbClr val="EEF0F3"/>
                    </a:solidFill>
                  </a:tcPr>
                </a:tc>
                <a:extLst>
                  <a:ext uri="{0D108BD9-81ED-4DB2-BD59-A6C34878D82A}">
                    <a16:rowId xmlns:a16="http://schemas.microsoft.com/office/drawing/2014/main" val="10002"/>
                  </a:ext>
                </a:extLst>
              </a:tr>
              <a:tr h="420624">
                <a:tc>
                  <a:txBody>
                    <a:bodyPr/>
                    <a:lstStyle/>
                    <a:p>
                      <a:pPr algn="l"/>
                      <a:r>
                        <a:rPr sz="1050" b="0">
                          <a:solidFill>
                            <a:srgbClr val="171C26"/>
                          </a:solidFill>
                          <a:latin typeface="Segoe UI"/>
                        </a:rPr>
                        <a:t>Q3 Disable v4 transactions</a:t>
                      </a:r>
                    </a:p>
                  </a:txBody>
                  <a:tcPr marL="54864" marR="54864" marT="22860" marB="22860" anchor="ctr">
                    <a:solidFill>
                      <a:srgbClr val="FFFFFF"/>
                    </a:solidFill>
                  </a:tcPr>
                </a:tc>
                <a:tc>
                  <a:txBody>
                    <a:bodyPr/>
                    <a:lstStyle/>
                    <a:p>
                      <a:pPr algn="l"/>
                      <a:r>
                        <a:rPr sz="1050" b="1">
                          <a:solidFill>
                            <a:srgbClr val="171C26"/>
                          </a:solidFill>
                          <a:latin typeface="Segoe UI"/>
                        </a:rPr>
                        <a:t>Immediately</a:t>
                      </a:r>
                    </a:p>
                  </a:txBody>
                  <a:tcPr marL="54864" marR="54864" marT="22860" marB="22860" anchor="ctr">
                    <a:solidFill>
                      <a:srgbClr val="FFFFFF"/>
                    </a:solidFill>
                  </a:tcPr>
                </a:tc>
                <a:tc>
                  <a:txBody>
                    <a:bodyPr/>
                    <a:lstStyle/>
                    <a:p>
                      <a:pPr algn="r"/>
                      <a:r>
                        <a:rPr sz="1050" b="0">
                          <a:solidFill>
                            <a:srgbClr val="171C26"/>
                          </a:solidFill>
                          <a:latin typeface="Consolas"/>
                        </a:rPr>
                        <a:t>97.28%</a:t>
                      </a:r>
                    </a:p>
                  </a:txBody>
                  <a:tcPr marL="54864" marR="54864" marT="22860" marB="22860" anchor="ctr">
                    <a:solidFill>
                      <a:srgbClr val="FFFFFF"/>
                    </a:solidFill>
                  </a:tcPr>
                </a:tc>
                <a:tc>
                  <a:txBody>
                    <a:bodyPr/>
                    <a:lstStyle/>
                    <a:p>
                      <a:pPr algn="r"/>
                      <a:r>
                        <a:rPr sz="1050" b="0">
                          <a:solidFill>
                            <a:srgbClr val="171C26"/>
                          </a:solidFill>
                          <a:latin typeface="Consolas"/>
                        </a:rPr>
                        <a:t>80.8%</a:t>
                      </a:r>
                    </a:p>
                  </a:txBody>
                  <a:tcPr marL="54864" marR="54864" marT="22860" marB="22860" anchor="ctr">
                    <a:solidFill>
                      <a:srgbClr val="FFFFFF"/>
                    </a:solidFill>
                  </a:tcPr>
                </a:tc>
                <a:tc>
                  <a:txBody>
                    <a:bodyPr/>
                    <a:lstStyle/>
                    <a:p>
                      <a:pPr algn="r"/>
                      <a:r>
                        <a:rPr sz="1050" b="0">
                          <a:solidFill>
                            <a:srgbClr val="171C26"/>
                          </a:solidFill>
                          <a:latin typeface="Consolas"/>
                        </a:rPr>
                        <a:t>0.50 – 0.77</a:t>
                      </a:r>
                    </a:p>
                  </a:txBody>
                  <a:tcPr marL="54864" marR="54864" marT="22860" marB="22860" anchor="ctr">
                    <a:solidFill>
                      <a:srgbClr val="FFFFFF"/>
                    </a:solidFill>
                  </a:tcPr>
                </a:tc>
                <a:tc>
                  <a:txBody>
                    <a:bodyPr/>
                    <a:lstStyle/>
                    <a:p>
                      <a:pPr algn="r"/>
                      <a:r>
                        <a:rPr sz="1050" b="0">
                          <a:solidFill>
                            <a:srgbClr val="171C26"/>
                          </a:solidFill>
                          <a:latin typeface="Consolas"/>
                        </a:rPr>
                        <a:t>0.331</a:t>
                      </a:r>
                    </a:p>
                  </a:txBody>
                  <a:tcPr marL="54864" marR="54864" marT="22860" marB="22860" anchor="ctr">
                    <a:solidFill>
                      <a:srgbClr val="FFFFFF"/>
                    </a:solidFill>
                  </a:tcPr>
                </a:tc>
                <a:tc>
                  <a:txBody>
                    <a:bodyPr/>
                    <a:lstStyle/>
                    <a:p>
                      <a:pPr algn="l"/>
                      <a:r>
                        <a:rPr sz="1050" b="0">
                          <a:solidFill>
                            <a:srgbClr val="B83A2E"/>
                          </a:solidFill>
                          <a:latin typeface="Segoe UI"/>
                        </a:rPr>
                        <a:t>✗ No date (0.463)</a:t>
                      </a:r>
                    </a:p>
                  </a:txBody>
                  <a:tcPr marL="54864" marR="54864" marT="22860" marB="22860" anchor="ctr">
                    <a:solidFill>
                      <a:srgbClr val="FFFFFF"/>
                    </a:solidFill>
                  </a:tcPr>
                </a:tc>
                <a:extLst>
                  <a:ext uri="{0D108BD9-81ED-4DB2-BD59-A6C34878D82A}">
                    <a16:rowId xmlns:a16="http://schemas.microsoft.com/office/drawing/2014/main" val="10003"/>
                  </a:ext>
                </a:extLst>
              </a:tr>
              <a:tr h="420624">
                <a:tc>
                  <a:txBody>
                    <a:bodyPr/>
                    <a:lstStyle/>
                    <a:p>
                      <a:pPr algn="l"/>
                      <a:r>
                        <a:rPr sz="1050" b="0">
                          <a:solidFill>
                            <a:srgbClr val="171C26"/>
                          </a:solidFill>
                          <a:latin typeface="Segoe UI"/>
                        </a:rPr>
                        <a:t>Q4 ZIP-218 faster blocks</a:t>
                      </a:r>
                    </a:p>
                  </a:txBody>
                  <a:tcPr marL="54864" marR="54864" marT="22860" marB="22860" anchor="ctr">
                    <a:solidFill>
                      <a:srgbClr val="EEF0F3"/>
                    </a:solidFill>
                  </a:tcPr>
                </a:tc>
                <a:tc>
                  <a:txBody>
                    <a:bodyPr/>
                    <a:lstStyle/>
                    <a:p>
                      <a:pPr algn="l"/>
                      <a:r>
                        <a:rPr sz="1050" b="1">
                          <a:solidFill>
                            <a:srgbClr val="171C26"/>
                          </a:solidFill>
                          <a:latin typeface="Segoe UI"/>
                        </a:rPr>
                        <a:t>Yes</a:t>
                      </a:r>
                    </a:p>
                  </a:txBody>
                  <a:tcPr marL="54864" marR="54864" marT="22860" marB="22860" anchor="ctr">
                    <a:solidFill>
                      <a:srgbClr val="EEF0F3"/>
                    </a:solidFill>
                  </a:tcPr>
                </a:tc>
                <a:tc>
                  <a:txBody>
                    <a:bodyPr/>
                    <a:lstStyle/>
                    <a:p>
                      <a:pPr algn="r"/>
                      <a:r>
                        <a:rPr sz="1050" b="0">
                          <a:solidFill>
                            <a:srgbClr val="171C26"/>
                          </a:solidFill>
                          <a:latin typeface="Consolas"/>
                        </a:rPr>
                        <a:t>99.93%</a:t>
                      </a:r>
                    </a:p>
                  </a:txBody>
                  <a:tcPr marL="54864" marR="54864" marT="22860" marB="22860" anchor="ctr">
                    <a:solidFill>
                      <a:srgbClr val="EEF0F3"/>
                    </a:solidFill>
                  </a:tcPr>
                </a:tc>
                <a:tc>
                  <a:txBody>
                    <a:bodyPr/>
                    <a:lstStyle/>
                    <a:p>
                      <a:pPr algn="r"/>
                      <a:r>
                        <a:rPr sz="1050" b="0">
                          <a:solidFill>
                            <a:srgbClr val="171C26"/>
                          </a:solidFill>
                          <a:latin typeface="Consolas"/>
                        </a:rPr>
                        <a:t>94.6%</a:t>
                      </a:r>
                    </a:p>
                  </a:txBody>
                  <a:tcPr marL="54864" marR="54864" marT="22860" marB="22860" anchor="ctr">
                    <a:solidFill>
                      <a:srgbClr val="EEF0F3"/>
                    </a:solidFill>
                  </a:tcPr>
                </a:tc>
                <a:tc>
                  <a:txBody>
                    <a:bodyPr/>
                    <a:lstStyle/>
                    <a:p>
                      <a:pPr algn="r"/>
                      <a:r>
                        <a:rPr sz="1050" b="0">
                          <a:solidFill>
                            <a:srgbClr val="171C26"/>
                          </a:solidFill>
                          <a:latin typeface="Consolas"/>
                        </a:rPr>
                        <a:t>0.90 – 0.96</a:t>
                      </a:r>
                    </a:p>
                  </a:txBody>
                  <a:tcPr marL="54864" marR="54864" marT="22860" marB="22860" anchor="ctr">
                    <a:solidFill>
                      <a:srgbClr val="EEF0F3"/>
                    </a:solidFill>
                  </a:tcPr>
                </a:tc>
                <a:tc>
                  <a:txBody>
                    <a:bodyPr/>
                    <a:lstStyle/>
                    <a:p>
                      <a:pPr algn="r"/>
                      <a:r>
                        <a:rPr sz="1050" b="0">
                          <a:solidFill>
                            <a:srgbClr val="171C26"/>
                          </a:solidFill>
                          <a:latin typeface="Consolas"/>
                        </a:rPr>
                        <a:t>0.880</a:t>
                      </a:r>
                    </a:p>
                  </a:txBody>
                  <a:tcPr marL="54864" marR="54864" marT="22860" marB="22860" anchor="ctr">
                    <a:solidFill>
                      <a:srgbClr val="EEF0F3"/>
                    </a:solidFill>
                  </a:tcPr>
                </a:tc>
                <a:tc>
                  <a:txBody>
                    <a:bodyPr/>
                    <a:lstStyle/>
                    <a:p>
                      <a:pPr algn="l"/>
                      <a:r>
                        <a:rPr sz="1050" b="0">
                          <a:solidFill>
                            <a:srgbClr val="1E7A46"/>
                          </a:solidFill>
                          <a:latin typeface="Segoe UI"/>
                        </a:rPr>
                        <a:t>✓ Yes</a:t>
                      </a:r>
                    </a:p>
                  </a:txBody>
                  <a:tcPr marL="54864" marR="54864" marT="22860" marB="22860" anchor="ctr">
                    <a:solidFill>
                      <a:srgbClr val="EEF0F3"/>
                    </a:solidFill>
                  </a:tcPr>
                </a:tc>
                <a:extLst>
                  <a:ext uri="{0D108BD9-81ED-4DB2-BD59-A6C34878D82A}">
                    <a16:rowId xmlns:a16="http://schemas.microsoft.com/office/drawing/2014/main" val="10004"/>
                  </a:ext>
                </a:extLst>
              </a:tr>
              <a:tr h="420624">
                <a:tc>
                  <a:txBody>
                    <a:bodyPr/>
                    <a:lstStyle/>
                    <a:p>
                      <a:pPr algn="l"/>
                      <a:r>
                        <a:rPr sz="1050" b="0">
                          <a:solidFill>
                            <a:srgbClr val="171C26"/>
                          </a:solidFill>
                          <a:latin typeface="Segoe UI"/>
                        </a:rPr>
                        <a:t>Q5 Sept-30 feature deadline</a:t>
                      </a:r>
                    </a:p>
                  </a:txBody>
                  <a:tcPr marL="54864" marR="54864" marT="22860" marB="22860" anchor="ctr">
                    <a:solidFill>
                      <a:srgbClr val="FFFFFF"/>
                    </a:solidFill>
                  </a:tcPr>
                </a:tc>
                <a:tc>
                  <a:txBody>
                    <a:bodyPr/>
                    <a:lstStyle/>
                    <a:p>
                      <a:pPr algn="l"/>
                      <a:r>
                        <a:rPr sz="1050" b="1">
                          <a:solidFill>
                            <a:srgbClr val="171C26"/>
                          </a:solidFill>
                          <a:latin typeface="Segoe UI"/>
                        </a:rPr>
                        <a:t>Ship</a:t>
                      </a:r>
                    </a:p>
                  </a:txBody>
                  <a:tcPr marL="54864" marR="54864" marT="22860" marB="22860" anchor="ctr">
                    <a:solidFill>
                      <a:srgbClr val="FFFFFF"/>
                    </a:solidFill>
                  </a:tcPr>
                </a:tc>
                <a:tc>
                  <a:txBody>
                    <a:bodyPr/>
                    <a:lstStyle/>
                    <a:p>
                      <a:pPr algn="r"/>
                      <a:r>
                        <a:rPr sz="1050" b="0">
                          <a:solidFill>
                            <a:srgbClr val="171C26"/>
                          </a:solidFill>
                          <a:latin typeface="Consolas"/>
                        </a:rPr>
                        <a:t>99.30%</a:t>
                      </a:r>
                    </a:p>
                  </a:txBody>
                  <a:tcPr marL="54864" marR="54864" marT="22860" marB="22860" anchor="ctr">
                    <a:solidFill>
                      <a:srgbClr val="FFFFFF"/>
                    </a:solidFill>
                  </a:tcPr>
                </a:tc>
                <a:tc>
                  <a:txBody>
                    <a:bodyPr/>
                    <a:lstStyle/>
                    <a:p>
                      <a:pPr algn="r"/>
                      <a:r>
                        <a:rPr sz="1050" b="0">
                          <a:solidFill>
                            <a:srgbClr val="171C26"/>
                          </a:solidFill>
                          <a:latin typeface="Consolas"/>
                        </a:rPr>
                        <a:t>87.6%</a:t>
                      </a:r>
                    </a:p>
                  </a:txBody>
                  <a:tcPr marL="54864" marR="54864" marT="22860" marB="22860" anchor="ctr">
                    <a:solidFill>
                      <a:srgbClr val="FFFFFF"/>
                    </a:solidFill>
                  </a:tcPr>
                </a:tc>
                <a:tc>
                  <a:txBody>
                    <a:bodyPr/>
                    <a:lstStyle/>
                    <a:p>
                      <a:pPr algn="r"/>
                      <a:r>
                        <a:rPr sz="1050" b="0">
                          <a:solidFill>
                            <a:srgbClr val="171C26"/>
                          </a:solidFill>
                          <a:latin typeface="Consolas"/>
                        </a:rPr>
                        <a:t>0.80 – 0.89</a:t>
                      </a:r>
                    </a:p>
                  </a:txBody>
                  <a:tcPr marL="54864" marR="54864" marT="22860" marB="22860" anchor="ctr">
                    <a:solidFill>
                      <a:srgbClr val="FFFFFF"/>
                    </a:solidFill>
                  </a:tcPr>
                </a:tc>
                <a:tc>
                  <a:txBody>
                    <a:bodyPr/>
                    <a:lstStyle/>
                    <a:p>
                      <a:pPr algn="r"/>
                      <a:r>
                        <a:rPr sz="1050" b="0">
                          <a:solidFill>
                            <a:srgbClr val="171C26"/>
                          </a:solidFill>
                          <a:latin typeface="Consolas"/>
                        </a:rPr>
                        <a:t>0.750</a:t>
                      </a:r>
                    </a:p>
                  </a:txBody>
                  <a:tcPr marL="54864" marR="54864" marT="22860" marB="22860" anchor="ctr">
                    <a:solidFill>
                      <a:srgbClr val="FFFFFF"/>
                    </a:solidFill>
                  </a:tcPr>
                </a:tc>
                <a:tc>
                  <a:txBody>
                    <a:bodyPr/>
                    <a:lstStyle/>
                    <a:p>
                      <a:pPr algn="l"/>
                      <a:r>
                        <a:rPr sz="1050" b="0">
                          <a:solidFill>
                            <a:srgbClr val="1E7A46"/>
                          </a:solidFill>
                          <a:latin typeface="Segoe UI"/>
                        </a:rPr>
                        <a:t>✓ Ship</a:t>
                      </a:r>
                    </a:p>
                  </a:txBody>
                  <a:tcPr marL="54864" marR="54864" marT="22860" marB="22860"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457200" y="4343400"/>
            <a:ext cx="11247120" cy="1920240"/>
          </a:xfrm>
          <a:prstGeom prst="rect">
            <a:avLst/>
          </a:prstGeom>
          <a:noFill/>
        </p:spPr>
        <p:txBody>
          <a:bodyPr wrap="square" lIns="36576" tIns="18288" rIns="36576" bIns="18288" anchor="t">
            <a:spAutoFit/>
          </a:bodyPr>
          <a:lstStyle/>
          <a:p>
            <a:pPr marL="201168" indent="-201168" algn="l">
              <a:lnSpc>
                <a:spcPct val="106000"/>
              </a:lnSpc>
              <a:spcBef>
                <a:spcPts val="0"/>
              </a:spcBef>
              <a:spcAft>
                <a:spcPts val="600"/>
              </a:spcAft>
              <a:buChar char="•"/>
            </a:pPr>
            <a:r>
              <a:rPr sz="1150" b="0" i="0" dirty="0">
                <a:solidFill>
                  <a:srgbClr val="171C26"/>
                </a:solidFill>
                <a:latin typeface="Segoe UI"/>
              </a:rPr>
              <a:t>The weighted vote was far more one-sided than the ballot count. Ballots, which the agents could read live, gave the leaders 58–95%; ZEC weight gave them 96.6–99.9%, so large holders voted with the ballot leaders on every question. The agents had shaded their estimates down for the opposite risk.</a:t>
            </a:r>
          </a:p>
          <a:p>
            <a:pPr marL="201168" indent="-201168" algn="l">
              <a:lnSpc>
                <a:spcPct val="106000"/>
              </a:lnSpc>
              <a:spcBef>
                <a:spcPts val="0"/>
              </a:spcBef>
              <a:spcAft>
                <a:spcPts val="600"/>
              </a:spcAft>
              <a:buChar char="•"/>
            </a:pPr>
            <a:r>
              <a:rPr sz="1150" b="0" i="0" dirty="0">
                <a:solidFill>
                  <a:srgbClr val="171C26"/>
                </a:solidFill>
                <a:latin typeface="Segoe UI"/>
              </a:rPr>
              <a:t>The pools ended the poll still favoring the wrong outcome on two questions: As soon as possible over February 2031, and No date over Immediately. Every agent had the winner on top in all five.</a:t>
            </a:r>
          </a:p>
          <a:p>
            <a:pPr marL="201168" indent="-201168" algn="l">
              <a:lnSpc>
                <a:spcPct val="106000"/>
              </a:lnSpc>
              <a:spcBef>
                <a:spcPts val="0"/>
              </a:spcBef>
              <a:spcAft>
                <a:spcPts val="0"/>
              </a:spcAft>
              <a:buChar char="•"/>
            </a:pPr>
            <a:r>
              <a:rPr sz="1050" b="0" i="0" dirty="0">
                <a:solidFill>
                  <a:srgbClr val="5C6675"/>
                </a:solidFill>
                <a:latin typeface="Segoe UI"/>
              </a:rPr>
              <a:t>ZEC share is as published on </a:t>
            </a:r>
            <a:r>
              <a:rPr sz="1050" b="0" i="0" dirty="0" err="1">
                <a:solidFill>
                  <a:srgbClr val="5C6675"/>
                </a:solidFill>
                <a:latin typeface="Segoe UI"/>
              </a:rPr>
              <a:t>cipherscan.app</a:t>
            </a:r>
            <a:r>
              <a:rPr sz="1050" b="0" i="0" dirty="0">
                <a:solidFill>
                  <a:srgbClr val="5C6675"/>
                </a:solidFill>
                <a:latin typeface="Segoe UI"/>
              </a:rPr>
              <a:t>/governance/nu7, abstentions included; the vote chain's decrypted tally gives the same totals. Not yet settled: none of the five </a:t>
            </a:r>
            <a:r>
              <a:rPr sz="1050" b="0" i="0" dirty="0" err="1">
                <a:solidFill>
                  <a:srgbClr val="5C6675"/>
                </a:solidFill>
                <a:latin typeface="Segoe UI"/>
              </a:rPr>
              <a:t>Reality.eth</a:t>
            </a:r>
            <a:r>
              <a:rPr sz="1050" b="0" i="0" dirty="0">
                <a:solidFill>
                  <a:srgbClr val="5C6675"/>
                </a:solidFill>
                <a:latin typeface="Segoe UI"/>
              </a:rPr>
              <a:t> questions has an answer, so no market has resolved.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Profit and loss: all four agents made money</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Settled on the official tally: winning tokens pay 1 sUSDS each, everything else pays nothing. The tokens are held in the wallets and redeem once the oracle finalizes.</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6</a:t>
            </a:r>
          </a:p>
        </p:txBody>
      </p:sp>
      <p:sp>
        <p:nvSpPr>
          <p:cNvPr id="7" name="Rectangle 6"/>
          <p:cNvSpPr/>
          <p:nvPr/>
        </p:nvSpPr>
        <p:spPr>
          <a:xfrm>
            <a:off x="457200" y="1600200"/>
            <a:ext cx="2743200" cy="1874519"/>
          </a:xfrm>
          <a:prstGeom prst="rect">
            <a:avLst/>
          </a:prstGeom>
          <a:solidFill>
            <a:srgbClr val="FFFFFF"/>
          </a:solidFill>
          <a:ln w="9525">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600200"/>
            <a:ext cx="2743200" cy="73152"/>
          </a:xfrm>
          <a:prstGeom prst="rect">
            <a:avLst/>
          </a:prstGeom>
          <a:solidFill>
            <a:srgbClr val="C455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1719072"/>
            <a:ext cx="2542032" cy="1737360"/>
          </a:xfrm>
          <a:prstGeom prst="rect">
            <a:avLst/>
          </a:prstGeom>
          <a:noFill/>
        </p:spPr>
        <p:txBody>
          <a:bodyPr wrap="square" lIns="36576" tIns="18288" rIns="36576" bIns="18288" anchor="t">
            <a:spAutoFit/>
          </a:bodyPr>
          <a:lstStyle/>
          <a:p>
            <a:pPr algn="l">
              <a:spcBef>
                <a:spcPts val="0"/>
              </a:spcBef>
              <a:spcAft>
                <a:spcPts val="0"/>
              </a:spcAft>
            </a:pPr>
            <a:r>
              <a:rPr sz="1400" b="1" i="0">
                <a:solidFill>
                  <a:srgbClr val="C4552A"/>
                </a:solidFill>
                <a:latin typeface="Bahnschrift"/>
              </a:rPr>
              <a:t>Claude Fable 5.1</a:t>
            </a:r>
          </a:p>
          <a:p>
            <a:pPr algn="l">
              <a:spcBef>
                <a:spcPts val="200"/>
              </a:spcBef>
              <a:spcAft>
                <a:spcPts val="0"/>
              </a:spcAft>
            </a:pPr>
            <a:r>
              <a:rPr sz="2600" b="1" i="0">
                <a:solidFill>
                  <a:srgbClr val="1E7A46"/>
                </a:solidFill>
                <a:latin typeface="Bahnschrift"/>
              </a:rPr>
              <a:t>+70.78</a:t>
            </a:r>
            <a:r>
              <a:rPr sz="1100" b="0" i="0">
                <a:solidFill>
                  <a:srgbClr val="5C6675"/>
                </a:solidFill>
                <a:latin typeface="Segoe UI"/>
              </a:rPr>
              <a:t>  sUSDS</a:t>
            </a:r>
          </a:p>
          <a:p>
            <a:pPr algn="l">
              <a:spcBef>
                <a:spcPts val="0"/>
              </a:spcBef>
              <a:spcAft>
                <a:spcPts val="0"/>
              </a:spcAft>
            </a:pPr>
            <a:r>
              <a:rPr sz="1100" b="0" i="0">
                <a:solidFill>
                  <a:srgbClr val="171C26"/>
                </a:solidFill>
                <a:latin typeface="Segoe UI"/>
              </a:rPr>
              <a:t>≈ +$78.54</a:t>
            </a:r>
          </a:p>
          <a:p>
            <a:pPr algn="l">
              <a:spcBef>
                <a:spcPts val="600"/>
              </a:spcBef>
              <a:spcAft>
                <a:spcPts val="0"/>
              </a:spcAft>
            </a:pPr>
            <a:r>
              <a:rPr sz="950" b="0" i="0">
                <a:solidFill>
                  <a:srgbClr val="5C6675"/>
                </a:solidFill>
                <a:latin typeface="Segoe UI"/>
              </a:rPr>
              <a:t>+89% on the 79.21 put in · +7.7% on a 916.63 bankroll</a:t>
            </a:r>
          </a:p>
          <a:p>
            <a:pPr algn="l">
              <a:spcBef>
                <a:spcPts val="200"/>
              </a:spcBef>
              <a:spcAft>
                <a:spcPts val="0"/>
              </a:spcAft>
            </a:pPr>
            <a:r>
              <a:rPr sz="950" b="0" i="0">
                <a:solidFill>
                  <a:srgbClr val="5C6675"/>
                </a:solidFill>
                <a:latin typeface="Segoe UI"/>
              </a:rPr>
              <a:t>Receives 150.00 · gas $0.007 over 17 transactions</a:t>
            </a:r>
          </a:p>
        </p:txBody>
      </p:sp>
      <p:sp>
        <p:nvSpPr>
          <p:cNvPr id="10" name="Rectangle 9"/>
          <p:cNvSpPr/>
          <p:nvPr/>
        </p:nvSpPr>
        <p:spPr>
          <a:xfrm>
            <a:off x="3291840" y="1600200"/>
            <a:ext cx="2743200" cy="1874519"/>
          </a:xfrm>
          <a:prstGeom prst="rect">
            <a:avLst/>
          </a:prstGeom>
          <a:solidFill>
            <a:srgbClr val="FFFFFF"/>
          </a:solidFill>
          <a:ln w="9525">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91840" y="1600200"/>
            <a:ext cx="2743200" cy="73152"/>
          </a:xfrm>
          <a:prstGeom prst="rect">
            <a:avLst/>
          </a:prstGeom>
          <a:solidFill>
            <a:srgbClr val="7A2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01568" y="1719072"/>
            <a:ext cx="2542032" cy="1737360"/>
          </a:xfrm>
          <a:prstGeom prst="rect">
            <a:avLst/>
          </a:prstGeom>
          <a:noFill/>
        </p:spPr>
        <p:txBody>
          <a:bodyPr wrap="square" lIns="36576" tIns="18288" rIns="36576" bIns="18288" anchor="t">
            <a:spAutoFit/>
          </a:bodyPr>
          <a:lstStyle/>
          <a:p>
            <a:pPr algn="l">
              <a:spcBef>
                <a:spcPts val="0"/>
              </a:spcBef>
              <a:spcAft>
                <a:spcPts val="0"/>
              </a:spcAft>
            </a:pPr>
            <a:r>
              <a:rPr sz="1400" b="1" i="0">
                <a:solidFill>
                  <a:srgbClr val="7A2E8C"/>
                </a:solidFill>
                <a:latin typeface="Bahnschrift"/>
              </a:rPr>
              <a:t>Claude Opus 5</a:t>
            </a:r>
          </a:p>
          <a:p>
            <a:pPr algn="l">
              <a:spcBef>
                <a:spcPts val="200"/>
              </a:spcBef>
              <a:spcAft>
                <a:spcPts val="0"/>
              </a:spcAft>
            </a:pPr>
            <a:r>
              <a:rPr sz="2600" b="1" i="0">
                <a:solidFill>
                  <a:srgbClr val="1E7A46"/>
                </a:solidFill>
                <a:latin typeface="Bahnschrift"/>
              </a:rPr>
              <a:t>+206.44</a:t>
            </a:r>
            <a:r>
              <a:rPr sz="1100" b="0" i="0">
                <a:solidFill>
                  <a:srgbClr val="5C6675"/>
                </a:solidFill>
                <a:latin typeface="Segoe UI"/>
              </a:rPr>
              <a:t>  sUSDS</a:t>
            </a:r>
          </a:p>
          <a:p>
            <a:pPr algn="l">
              <a:spcBef>
                <a:spcPts val="0"/>
              </a:spcBef>
              <a:spcAft>
                <a:spcPts val="0"/>
              </a:spcAft>
            </a:pPr>
            <a:r>
              <a:rPr sz="1100" b="0" i="0">
                <a:solidFill>
                  <a:srgbClr val="171C26"/>
                </a:solidFill>
                <a:latin typeface="Segoe UI"/>
              </a:rPr>
              <a:t>≈ +$229.07</a:t>
            </a:r>
          </a:p>
          <a:p>
            <a:pPr algn="l">
              <a:spcBef>
                <a:spcPts val="600"/>
              </a:spcBef>
              <a:spcAft>
                <a:spcPts val="0"/>
              </a:spcAft>
            </a:pPr>
            <a:r>
              <a:rPr sz="950" b="0" i="0">
                <a:solidFill>
                  <a:srgbClr val="5C6675"/>
                </a:solidFill>
                <a:latin typeface="Segoe UI"/>
              </a:rPr>
              <a:t>+138% on the 150.00 put in · +22.9% on a 901.38 bankroll</a:t>
            </a:r>
          </a:p>
          <a:p>
            <a:pPr algn="l">
              <a:spcBef>
                <a:spcPts val="200"/>
              </a:spcBef>
              <a:spcAft>
                <a:spcPts val="0"/>
              </a:spcAft>
            </a:pPr>
            <a:r>
              <a:rPr sz="950" b="0" i="0">
                <a:solidFill>
                  <a:srgbClr val="5C6675"/>
                </a:solidFill>
                <a:latin typeface="Segoe UI"/>
              </a:rPr>
              <a:t>Receives 356.44 · gas $0.002 over 6 transactions</a:t>
            </a:r>
          </a:p>
        </p:txBody>
      </p:sp>
      <p:sp>
        <p:nvSpPr>
          <p:cNvPr id="13" name="Rectangle 12"/>
          <p:cNvSpPr/>
          <p:nvPr/>
        </p:nvSpPr>
        <p:spPr>
          <a:xfrm>
            <a:off x="6126480" y="1600200"/>
            <a:ext cx="2743200" cy="1874519"/>
          </a:xfrm>
          <a:prstGeom prst="rect">
            <a:avLst/>
          </a:prstGeom>
          <a:solidFill>
            <a:srgbClr val="FFFFFF"/>
          </a:solidFill>
          <a:ln w="9525">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26480" y="1600200"/>
            <a:ext cx="2743200" cy="73152"/>
          </a:xfrm>
          <a:prstGeom prst="rect">
            <a:avLst/>
          </a:prstGeom>
          <a:solidFill>
            <a:srgbClr val="1B7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36208" y="1719072"/>
            <a:ext cx="2542032" cy="1737360"/>
          </a:xfrm>
          <a:prstGeom prst="rect">
            <a:avLst/>
          </a:prstGeom>
          <a:noFill/>
        </p:spPr>
        <p:txBody>
          <a:bodyPr wrap="square" lIns="36576" tIns="18288" rIns="36576" bIns="18288" anchor="t">
            <a:spAutoFit/>
          </a:bodyPr>
          <a:lstStyle/>
          <a:p>
            <a:pPr algn="l">
              <a:spcBef>
                <a:spcPts val="0"/>
              </a:spcBef>
              <a:spcAft>
                <a:spcPts val="0"/>
              </a:spcAft>
            </a:pPr>
            <a:r>
              <a:rPr sz="1400" b="1" i="0">
                <a:solidFill>
                  <a:srgbClr val="1B7F63"/>
                </a:solidFill>
                <a:latin typeface="Bahnschrift"/>
              </a:rPr>
              <a:t>GPT-6 Astra</a:t>
            </a:r>
          </a:p>
          <a:p>
            <a:pPr algn="l">
              <a:spcBef>
                <a:spcPts val="200"/>
              </a:spcBef>
              <a:spcAft>
                <a:spcPts val="0"/>
              </a:spcAft>
            </a:pPr>
            <a:r>
              <a:rPr sz="2600" b="1" i="0">
                <a:solidFill>
                  <a:srgbClr val="1E7A46"/>
                </a:solidFill>
                <a:latin typeface="Bahnschrift"/>
              </a:rPr>
              <a:t>+39.28</a:t>
            </a:r>
            <a:r>
              <a:rPr sz="1100" b="0" i="0">
                <a:solidFill>
                  <a:srgbClr val="5C6675"/>
                </a:solidFill>
                <a:latin typeface="Segoe UI"/>
              </a:rPr>
              <a:t>  sUSDS</a:t>
            </a:r>
          </a:p>
          <a:p>
            <a:pPr algn="l">
              <a:spcBef>
                <a:spcPts val="0"/>
              </a:spcBef>
              <a:spcAft>
                <a:spcPts val="0"/>
              </a:spcAft>
            </a:pPr>
            <a:r>
              <a:rPr sz="1100" b="0" i="0">
                <a:solidFill>
                  <a:srgbClr val="171C26"/>
                </a:solidFill>
                <a:latin typeface="Segoe UI"/>
              </a:rPr>
              <a:t>≈ +$43.58</a:t>
            </a:r>
          </a:p>
          <a:p>
            <a:pPr algn="l">
              <a:spcBef>
                <a:spcPts val="600"/>
              </a:spcBef>
              <a:spcAft>
                <a:spcPts val="0"/>
              </a:spcAft>
            </a:pPr>
            <a:r>
              <a:rPr sz="950" b="0" i="0">
                <a:solidFill>
                  <a:srgbClr val="5C6675"/>
                </a:solidFill>
                <a:latin typeface="Segoe UI"/>
              </a:rPr>
              <a:t>+113% on the 34.71 put in · +4.4% on a 901.66 bankroll</a:t>
            </a:r>
          </a:p>
          <a:p>
            <a:pPr algn="l">
              <a:spcBef>
                <a:spcPts val="200"/>
              </a:spcBef>
              <a:spcAft>
                <a:spcPts val="0"/>
              </a:spcAft>
            </a:pPr>
            <a:r>
              <a:rPr sz="950" b="0" i="0">
                <a:solidFill>
                  <a:srgbClr val="5C6675"/>
                </a:solidFill>
                <a:latin typeface="Segoe UI"/>
              </a:rPr>
              <a:t>Receives 74.00 · gas $0.009 over 24 transactions</a:t>
            </a:r>
          </a:p>
        </p:txBody>
      </p:sp>
      <p:sp>
        <p:nvSpPr>
          <p:cNvPr id="16" name="Rectangle 15"/>
          <p:cNvSpPr/>
          <p:nvPr/>
        </p:nvSpPr>
        <p:spPr>
          <a:xfrm>
            <a:off x="8961120" y="1600200"/>
            <a:ext cx="2743200" cy="1874519"/>
          </a:xfrm>
          <a:prstGeom prst="rect">
            <a:avLst/>
          </a:prstGeom>
          <a:solidFill>
            <a:srgbClr val="FFFFFF"/>
          </a:solidFill>
          <a:ln w="9525">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961120" y="1600200"/>
            <a:ext cx="2743200" cy="73152"/>
          </a:xfrm>
          <a:prstGeom prst="rect">
            <a:avLst/>
          </a:prstGeom>
          <a:solidFill>
            <a:srgbClr val="2F6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070848" y="1719072"/>
            <a:ext cx="2542032" cy="1737360"/>
          </a:xfrm>
          <a:prstGeom prst="rect">
            <a:avLst/>
          </a:prstGeom>
          <a:noFill/>
        </p:spPr>
        <p:txBody>
          <a:bodyPr wrap="square" lIns="36576" tIns="18288" rIns="36576" bIns="18288" anchor="t">
            <a:spAutoFit/>
          </a:bodyPr>
          <a:lstStyle/>
          <a:p>
            <a:pPr algn="l">
              <a:spcBef>
                <a:spcPts val="0"/>
              </a:spcBef>
              <a:spcAft>
                <a:spcPts val="0"/>
              </a:spcAft>
            </a:pPr>
            <a:r>
              <a:rPr sz="1400" b="1" i="0">
                <a:solidFill>
                  <a:srgbClr val="2F6FD6"/>
                </a:solidFill>
                <a:latin typeface="Bahnschrift"/>
              </a:rPr>
              <a:t>GPT-5.6 Sol</a:t>
            </a:r>
          </a:p>
          <a:p>
            <a:pPr algn="l">
              <a:spcBef>
                <a:spcPts val="200"/>
              </a:spcBef>
              <a:spcAft>
                <a:spcPts val="0"/>
              </a:spcAft>
            </a:pPr>
            <a:r>
              <a:rPr sz="2600" b="1" i="0">
                <a:solidFill>
                  <a:srgbClr val="1E7A46"/>
                </a:solidFill>
                <a:latin typeface="Bahnschrift"/>
              </a:rPr>
              <a:t>+139.00</a:t>
            </a:r>
            <a:r>
              <a:rPr sz="1100" b="0" i="0">
                <a:solidFill>
                  <a:srgbClr val="5C6675"/>
                </a:solidFill>
                <a:latin typeface="Segoe UI"/>
              </a:rPr>
              <a:t>  sUSDS</a:t>
            </a:r>
          </a:p>
          <a:p>
            <a:pPr algn="l">
              <a:spcBef>
                <a:spcPts val="0"/>
              </a:spcBef>
              <a:spcAft>
                <a:spcPts val="0"/>
              </a:spcAft>
            </a:pPr>
            <a:r>
              <a:rPr sz="1100" b="0" i="0">
                <a:solidFill>
                  <a:srgbClr val="171C26"/>
                </a:solidFill>
                <a:latin typeface="Segoe UI"/>
              </a:rPr>
              <a:t>≈ +$154.24</a:t>
            </a:r>
          </a:p>
          <a:p>
            <a:pPr algn="l">
              <a:spcBef>
                <a:spcPts val="600"/>
              </a:spcBef>
              <a:spcAft>
                <a:spcPts val="0"/>
              </a:spcAft>
            </a:pPr>
            <a:r>
              <a:rPr sz="950" b="0" i="0">
                <a:solidFill>
                  <a:srgbClr val="5C6675"/>
                </a:solidFill>
                <a:latin typeface="Segoe UI"/>
              </a:rPr>
              <a:t>+163% on the 85.23 put in · +15.4% on a 902.25 bankroll</a:t>
            </a:r>
          </a:p>
          <a:p>
            <a:pPr algn="l">
              <a:spcBef>
                <a:spcPts val="200"/>
              </a:spcBef>
              <a:spcAft>
                <a:spcPts val="0"/>
              </a:spcAft>
            </a:pPr>
            <a:r>
              <a:rPr sz="950" b="0" i="0">
                <a:solidFill>
                  <a:srgbClr val="5C6675"/>
                </a:solidFill>
                <a:latin typeface="Segoe UI"/>
              </a:rPr>
              <a:t>Receives 224.23 · gas $0.005 over 14 transactions</a:t>
            </a:r>
          </a:p>
        </p:txBody>
      </p:sp>
      <p:graphicFrame>
        <p:nvGraphicFramePr>
          <p:cNvPr id="19" name="Table 18"/>
          <p:cNvGraphicFramePr>
            <a:graphicFrameLocks noGrp="1"/>
          </p:cNvGraphicFramePr>
          <p:nvPr/>
        </p:nvGraphicFramePr>
        <p:xfrm>
          <a:off x="457200" y="3611880"/>
          <a:ext cx="11247120" cy="2450592"/>
        </p:xfrm>
        <a:graphic>
          <a:graphicData uri="http://schemas.openxmlformats.org/drawingml/2006/table">
            <a:tbl>
              <a:tblPr firstRow="1">
                <a:tableStyleId>{5C22544A-7EE6-4342-B048-85BDC9FD1C3A}</a:tableStyleId>
              </a:tblPr>
              <a:tblGrid>
                <a:gridCol w="21031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256032">
                <a:tc>
                  <a:txBody>
                    <a:bodyPr/>
                    <a:lstStyle/>
                    <a:p>
                      <a:pPr algn="l"/>
                      <a:r>
                        <a:rPr sz="950" b="1">
                          <a:solidFill>
                            <a:srgbClr val="FFFFFF"/>
                          </a:solidFill>
                          <a:latin typeface="Segoe UI"/>
                        </a:rPr>
                        <a:t>Market</a:t>
                      </a:r>
                    </a:p>
                  </a:txBody>
                  <a:tcPr marL="54864" marR="54864" marT="22860" marB="22860" anchor="ctr">
                    <a:solidFill>
                      <a:srgbClr val="141A2B"/>
                    </a:solidFill>
                  </a:tcPr>
                </a:tc>
                <a:tc>
                  <a:txBody>
                    <a:bodyPr/>
                    <a:lstStyle/>
                    <a:p>
                      <a:pPr algn="l"/>
                      <a:r>
                        <a:rPr sz="950" b="1">
                          <a:solidFill>
                            <a:srgbClr val="FFFFFF"/>
                          </a:solidFill>
                          <a:latin typeface="Segoe UI"/>
                        </a:rPr>
                        <a:t>Claude Fable 5.1</a:t>
                      </a:r>
                    </a:p>
                  </a:txBody>
                  <a:tcPr marL="54864" marR="54864" marT="22860" marB="22860" anchor="ctr">
                    <a:solidFill>
                      <a:srgbClr val="141A2B"/>
                    </a:solidFill>
                  </a:tcPr>
                </a:tc>
                <a:tc>
                  <a:txBody>
                    <a:bodyPr/>
                    <a:lstStyle/>
                    <a:p>
                      <a:pPr algn="l"/>
                      <a:r>
                        <a:rPr sz="950" b="1">
                          <a:solidFill>
                            <a:srgbClr val="FFFFFF"/>
                          </a:solidFill>
                          <a:latin typeface="Segoe UI"/>
                        </a:rPr>
                        <a:t>Claude Opus 5</a:t>
                      </a:r>
                    </a:p>
                  </a:txBody>
                  <a:tcPr marL="54864" marR="54864" marT="22860" marB="22860" anchor="ctr">
                    <a:solidFill>
                      <a:srgbClr val="141A2B"/>
                    </a:solidFill>
                  </a:tcPr>
                </a:tc>
                <a:tc>
                  <a:txBody>
                    <a:bodyPr/>
                    <a:lstStyle/>
                    <a:p>
                      <a:pPr algn="l"/>
                      <a:r>
                        <a:rPr sz="950" b="1">
                          <a:solidFill>
                            <a:srgbClr val="FFFFFF"/>
                          </a:solidFill>
                          <a:latin typeface="Segoe UI"/>
                        </a:rPr>
                        <a:t>GPT-6 Astra</a:t>
                      </a:r>
                    </a:p>
                  </a:txBody>
                  <a:tcPr marL="54864" marR="54864" marT="22860" marB="22860" anchor="ctr">
                    <a:solidFill>
                      <a:srgbClr val="141A2B"/>
                    </a:solidFill>
                  </a:tcPr>
                </a:tc>
                <a:tc>
                  <a:txBody>
                    <a:bodyPr/>
                    <a:lstStyle/>
                    <a:p>
                      <a:pPr algn="l"/>
                      <a:r>
                        <a:rPr sz="950" b="1">
                          <a:solidFill>
                            <a:srgbClr val="FFFFFF"/>
                          </a:solidFill>
                          <a:latin typeface="Segoe UI"/>
                        </a:rPr>
                        <a:t>GPT-5.6 Sol</a:t>
                      </a:r>
                    </a:p>
                  </a:txBody>
                  <a:tcPr marL="54864" marR="54864" marT="22860" marB="22860" anchor="ctr">
                    <a:solidFill>
                      <a:srgbClr val="141A2B"/>
                    </a:solidFill>
                  </a:tcPr>
                </a:tc>
                <a:extLst>
                  <a:ext uri="{0D108BD9-81ED-4DB2-BD59-A6C34878D82A}">
                    <a16:rowId xmlns:a16="http://schemas.microsoft.com/office/drawing/2014/main" val="10000"/>
                  </a:ext>
                </a:extLst>
              </a:tr>
              <a:tr h="365760">
                <a:tc>
                  <a:txBody>
                    <a:bodyPr/>
                    <a:lstStyle/>
                    <a:p>
                      <a:pPr algn="l"/>
                      <a:r>
                        <a:rPr sz="1000" b="1">
                          <a:solidFill>
                            <a:srgbClr val="171C26"/>
                          </a:solidFill>
                          <a:latin typeface="Segoe UI"/>
                        </a:rPr>
                        <a:t>Q1 NSM issuance smoothing</a:t>
                      </a:r>
                    </a:p>
                    <a:p>
                      <a:pPr algn="l"/>
                      <a:r>
                        <a:rPr sz="900" b="0">
                          <a:solidFill>
                            <a:srgbClr val="5C6675"/>
                          </a:solidFill>
                          <a:latin typeface="Segoe UI"/>
                        </a:rPr>
                        <a:t>won: Preserve</a:t>
                      </a:r>
                    </a:p>
                  </a:txBody>
                  <a:tcPr marL="54864" marR="54864" marT="22860" marB="22860" anchor="ctr">
                    <a:solidFill>
                      <a:srgbClr val="FFFFFF"/>
                    </a:solidFill>
                  </a:tcPr>
                </a:tc>
                <a:tc>
                  <a:txBody>
                    <a:bodyPr/>
                    <a:lstStyle/>
                    <a:p>
                      <a:pPr algn="l"/>
                      <a:r>
                        <a:rPr sz="1100" b="1">
                          <a:solidFill>
                            <a:srgbClr val="B83A2E"/>
                          </a:solidFill>
                          <a:latin typeface="Consolas"/>
                        </a:rPr>
                        <a:t>-1.44</a:t>
                      </a:r>
                    </a:p>
                    <a:p>
                      <a:pPr algn="l"/>
                      <a:r>
                        <a:rPr sz="850" b="0">
                          <a:solidFill>
                            <a:srgbClr val="5C6675"/>
                          </a:solidFill>
                          <a:latin typeface="Segoe UI"/>
                        </a:rPr>
                        <a:t>10 Do not include for 1.44</a:t>
                      </a:r>
                    </a:p>
                  </a:txBody>
                  <a:tcPr marL="54864" marR="54864" marT="22860" marB="22860" anchor="ctr">
                    <a:solidFill>
                      <a:srgbClr val="FFFFFF"/>
                    </a:solidFill>
                  </a:tcPr>
                </a:tc>
                <a:tc>
                  <a:txBody>
                    <a:bodyPr/>
                    <a:lstStyle/>
                    <a:p>
                      <a:pPr algn="l"/>
                      <a:r>
                        <a:rPr sz="1000" b="0">
                          <a:solidFill>
                            <a:srgbClr val="5C6675"/>
                          </a:solidFill>
                          <a:latin typeface="Segoe UI"/>
                        </a:rPr>
                        <a:t>–</a:t>
                      </a:r>
                    </a:p>
                  </a:txBody>
                  <a:tcPr marL="54864" marR="54864" marT="22860" marB="22860" anchor="ctr">
                    <a:solidFill>
                      <a:srgbClr val="FFFFFF"/>
                    </a:solidFill>
                  </a:tcPr>
                </a:tc>
                <a:tc>
                  <a:txBody>
                    <a:bodyPr/>
                    <a:lstStyle/>
                    <a:p>
                      <a:pPr algn="l"/>
                      <a:r>
                        <a:rPr sz="1000" b="0">
                          <a:solidFill>
                            <a:srgbClr val="5C6675"/>
                          </a:solidFill>
                          <a:latin typeface="Segoe UI"/>
                        </a:rPr>
                        <a:t>–</a:t>
                      </a:r>
                    </a:p>
                  </a:txBody>
                  <a:tcPr marL="54864" marR="54864" marT="22860" marB="22860" anchor="ctr">
                    <a:solidFill>
                      <a:srgbClr val="FFFFFF"/>
                    </a:solidFill>
                  </a:tcPr>
                </a:tc>
                <a:tc>
                  <a:txBody>
                    <a:bodyPr/>
                    <a:lstStyle/>
                    <a:p>
                      <a:pPr algn="l"/>
                      <a:r>
                        <a:rPr sz="1000" b="0">
                          <a:solidFill>
                            <a:srgbClr val="5C6675"/>
                          </a:solidFill>
                          <a:latin typeface="Segoe UI"/>
                        </a:rPr>
                        <a:t>–</a:t>
                      </a:r>
                    </a:p>
                  </a:txBody>
                  <a:tcPr marL="54864" marR="54864" marT="22860" marB="22860" anchor="ctr">
                    <a:solidFill>
                      <a:srgbClr val="FFFFFF"/>
                    </a:solidFill>
                  </a:tcPr>
                </a:tc>
                <a:extLst>
                  <a:ext uri="{0D108BD9-81ED-4DB2-BD59-A6C34878D82A}">
                    <a16:rowId xmlns:a16="http://schemas.microsoft.com/office/drawing/2014/main" val="10001"/>
                  </a:ext>
                </a:extLst>
              </a:tr>
              <a:tr h="365760">
                <a:tc>
                  <a:txBody>
                    <a:bodyPr/>
                    <a:lstStyle/>
                    <a:p>
                      <a:pPr algn="l"/>
                      <a:r>
                        <a:rPr sz="1000" b="1">
                          <a:solidFill>
                            <a:srgbClr val="171C26"/>
                          </a:solidFill>
                          <a:latin typeface="Segoe UI"/>
                        </a:rPr>
                        <a:t>Q2 NSM reissuance start</a:t>
                      </a:r>
                    </a:p>
                    <a:p>
                      <a:pPr algn="l"/>
                      <a:r>
                        <a:rPr sz="900" b="0">
                          <a:solidFill>
                            <a:srgbClr val="5C6675"/>
                          </a:solidFill>
                          <a:latin typeface="Segoe UI"/>
                        </a:rPr>
                        <a:t>won: Feb-2031</a:t>
                      </a:r>
                    </a:p>
                  </a:txBody>
                  <a:tcPr marL="54864" marR="54864" marT="22860" marB="22860" anchor="ctr">
                    <a:solidFill>
                      <a:srgbClr val="EEF0F3"/>
                    </a:solidFill>
                  </a:tcPr>
                </a:tc>
                <a:tc>
                  <a:txBody>
                    <a:bodyPr/>
                    <a:lstStyle/>
                    <a:p>
                      <a:pPr algn="l"/>
                      <a:r>
                        <a:rPr sz="1100" b="1">
                          <a:solidFill>
                            <a:srgbClr val="1E7A46"/>
                          </a:solidFill>
                          <a:latin typeface="Consolas"/>
                        </a:rPr>
                        <a:t>+61.56</a:t>
                      </a:r>
                    </a:p>
                    <a:p>
                      <a:pPr algn="l"/>
                      <a:r>
                        <a:rPr sz="850" b="0">
                          <a:solidFill>
                            <a:srgbClr val="5C6675"/>
                          </a:solidFill>
                          <a:latin typeface="Segoe UI"/>
                        </a:rPr>
                        <a:t>100 Feb-2031 for 38.44</a:t>
                      </a:r>
                    </a:p>
                  </a:txBody>
                  <a:tcPr marL="54864" marR="54864" marT="22860" marB="22860" anchor="ctr">
                    <a:solidFill>
                      <a:srgbClr val="EEF0F3"/>
                    </a:solidFill>
                  </a:tcPr>
                </a:tc>
                <a:tc>
                  <a:txBody>
                    <a:bodyPr/>
                    <a:lstStyle/>
                    <a:p>
                      <a:pPr algn="l"/>
                      <a:r>
                        <a:rPr sz="1100" b="1">
                          <a:solidFill>
                            <a:srgbClr val="1E7A46"/>
                          </a:solidFill>
                          <a:latin typeface="Consolas"/>
                        </a:rPr>
                        <a:t>+76.79</a:t>
                      </a:r>
                    </a:p>
                    <a:p>
                      <a:pPr algn="l"/>
                      <a:r>
                        <a:rPr sz="850" b="0">
                          <a:solidFill>
                            <a:srgbClr val="5C6675"/>
                          </a:solidFill>
                          <a:latin typeface="Segoe UI"/>
                        </a:rPr>
                        <a:t>126.79 Feb-2031 for 50.00</a:t>
                      </a:r>
                    </a:p>
                  </a:txBody>
                  <a:tcPr marL="54864" marR="54864" marT="22860" marB="22860" anchor="ctr">
                    <a:solidFill>
                      <a:srgbClr val="EEF0F3"/>
                    </a:solidFill>
                  </a:tcPr>
                </a:tc>
                <a:tc>
                  <a:txBody>
                    <a:bodyPr/>
                    <a:lstStyle/>
                    <a:p>
                      <a:pPr algn="l"/>
                      <a:r>
                        <a:rPr sz="1100" b="1">
                          <a:solidFill>
                            <a:srgbClr val="1E7A46"/>
                          </a:solidFill>
                          <a:latin typeface="Consolas"/>
                        </a:rPr>
                        <a:t>+30.74</a:t>
                      </a:r>
                    </a:p>
                    <a:p>
                      <a:pPr algn="l"/>
                      <a:r>
                        <a:rPr sz="850" b="0">
                          <a:solidFill>
                            <a:srgbClr val="5C6675"/>
                          </a:solidFill>
                          <a:latin typeface="Segoe UI"/>
                        </a:rPr>
                        <a:t>55 Feb-2031 for 24.26</a:t>
                      </a:r>
                    </a:p>
                  </a:txBody>
                  <a:tcPr marL="54864" marR="54864" marT="22860" marB="22860" anchor="ctr">
                    <a:solidFill>
                      <a:srgbClr val="EEF0F3"/>
                    </a:solidFill>
                  </a:tcPr>
                </a:tc>
                <a:tc>
                  <a:txBody>
                    <a:bodyPr/>
                    <a:lstStyle/>
                    <a:p>
                      <a:pPr algn="l"/>
                      <a:r>
                        <a:rPr sz="1100" b="1">
                          <a:solidFill>
                            <a:srgbClr val="1E7A46"/>
                          </a:solidFill>
                          <a:latin typeface="Consolas"/>
                        </a:rPr>
                        <a:t>+101.27</a:t>
                      </a:r>
                    </a:p>
                    <a:p>
                      <a:pPr algn="l"/>
                      <a:r>
                        <a:rPr sz="850" b="0">
                          <a:solidFill>
                            <a:srgbClr val="5C6675"/>
                          </a:solidFill>
                          <a:latin typeface="Segoe UI"/>
                        </a:rPr>
                        <a:t>151.27 Feb-2031 for 50.00</a:t>
                      </a:r>
                    </a:p>
                  </a:txBody>
                  <a:tcPr marL="54864" marR="54864" marT="22860" marB="22860" anchor="ctr">
                    <a:solidFill>
                      <a:srgbClr val="EEF0F3"/>
                    </a:solidFill>
                  </a:tcPr>
                </a:tc>
                <a:extLst>
                  <a:ext uri="{0D108BD9-81ED-4DB2-BD59-A6C34878D82A}">
                    <a16:rowId xmlns:a16="http://schemas.microsoft.com/office/drawing/2014/main" val="10002"/>
                  </a:ext>
                </a:extLst>
              </a:tr>
              <a:tr h="365760">
                <a:tc>
                  <a:txBody>
                    <a:bodyPr/>
                    <a:lstStyle/>
                    <a:p>
                      <a:pPr algn="l"/>
                      <a:r>
                        <a:rPr sz="1000" b="1">
                          <a:solidFill>
                            <a:srgbClr val="171C26"/>
                          </a:solidFill>
                          <a:latin typeface="Segoe UI"/>
                        </a:rPr>
                        <a:t>Q3 Disable v4 transactions</a:t>
                      </a:r>
                    </a:p>
                    <a:p>
                      <a:pPr algn="l"/>
                      <a:r>
                        <a:rPr sz="900" b="0">
                          <a:solidFill>
                            <a:srgbClr val="5C6675"/>
                          </a:solidFill>
                          <a:latin typeface="Segoe UI"/>
                        </a:rPr>
                        <a:t>won: Immediately</a:t>
                      </a:r>
                    </a:p>
                  </a:txBody>
                  <a:tcPr marL="54864" marR="54864" marT="22860" marB="22860" anchor="ctr">
                    <a:solidFill>
                      <a:srgbClr val="FFFFFF"/>
                    </a:solidFill>
                  </a:tcPr>
                </a:tc>
                <a:tc>
                  <a:txBody>
                    <a:bodyPr/>
                    <a:lstStyle/>
                    <a:p>
                      <a:pPr algn="l"/>
                      <a:r>
                        <a:rPr sz="1000" b="0">
                          <a:solidFill>
                            <a:srgbClr val="5C6675"/>
                          </a:solidFill>
                          <a:latin typeface="Segoe UI"/>
                        </a:rPr>
                        <a:t>–</a:t>
                      </a:r>
                    </a:p>
                  </a:txBody>
                  <a:tcPr marL="54864" marR="54864" marT="22860" marB="22860" anchor="ctr">
                    <a:solidFill>
                      <a:srgbClr val="FFFFFF"/>
                    </a:solidFill>
                  </a:tcPr>
                </a:tc>
                <a:tc>
                  <a:txBody>
                    <a:bodyPr/>
                    <a:lstStyle/>
                    <a:p>
                      <a:pPr algn="l"/>
                      <a:r>
                        <a:rPr sz="1100" b="1">
                          <a:solidFill>
                            <a:srgbClr val="1E7A46"/>
                          </a:solidFill>
                          <a:latin typeface="Consolas"/>
                        </a:rPr>
                        <a:t>+111.53</a:t>
                      </a:r>
                    </a:p>
                    <a:p>
                      <a:pPr algn="l"/>
                      <a:r>
                        <a:rPr sz="850" b="0">
                          <a:solidFill>
                            <a:srgbClr val="5C6675"/>
                          </a:solidFill>
                          <a:latin typeface="Segoe UI"/>
                        </a:rPr>
                        <a:t>161.53 Immediately for 50.00</a:t>
                      </a:r>
                    </a:p>
                  </a:txBody>
                  <a:tcPr marL="54864" marR="54864" marT="22860" marB="22860" anchor="ctr">
                    <a:solidFill>
                      <a:srgbClr val="FFFFFF"/>
                    </a:solidFill>
                  </a:tcPr>
                </a:tc>
                <a:tc>
                  <a:txBody>
                    <a:bodyPr/>
                    <a:lstStyle/>
                    <a:p>
                      <a:pPr algn="l"/>
                      <a:r>
                        <a:rPr sz="1100" b="1">
                          <a:solidFill>
                            <a:srgbClr val="1E7A46"/>
                          </a:solidFill>
                          <a:latin typeface="Consolas"/>
                        </a:rPr>
                        <a:t>+6.32</a:t>
                      </a:r>
                    </a:p>
                    <a:p>
                      <a:pPr algn="l"/>
                      <a:r>
                        <a:rPr sz="850" b="0">
                          <a:solidFill>
                            <a:srgbClr val="5C6675"/>
                          </a:solidFill>
                          <a:latin typeface="Segoe UI"/>
                        </a:rPr>
                        <a:t>10 Immediately for 3.68</a:t>
                      </a:r>
                    </a:p>
                  </a:txBody>
                  <a:tcPr marL="54864" marR="54864" marT="22860" marB="22860" anchor="ctr">
                    <a:solidFill>
                      <a:srgbClr val="FFFFFF"/>
                    </a:solidFill>
                  </a:tcPr>
                </a:tc>
                <a:tc>
                  <a:txBody>
                    <a:bodyPr/>
                    <a:lstStyle/>
                    <a:p>
                      <a:pPr algn="l"/>
                      <a:r>
                        <a:rPr sz="1100" b="1">
                          <a:solidFill>
                            <a:srgbClr val="1E7A46"/>
                          </a:solidFill>
                          <a:latin typeface="Consolas"/>
                        </a:rPr>
                        <a:t>+32.65</a:t>
                      </a:r>
                    </a:p>
                    <a:p>
                      <a:pPr algn="l"/>
                      <a:r>
                        <a:rPr sz="850" b="0">
                          <a:solidFill>
                            <a:srgbClr val="5C6675"/>
                          </a:solidFill>
                          <a:latin typeface="Segoe UI"/>
                        </a:rPr>
                        <a:t>50 Immediately for 17.35</a:t>
                      </a:r>
                    </a:p>
                  </a:txBody>
                  <a:tcPr marL="54864" marR="54864" marT="22860" marB="22860" anchor="ctr">
                    <a:solidFill>
                      <a:srgbClr val="FFFFFF"/>
                    </a:solidFill>
                  </a:tcPr>
                </a:tc>
                <a:extLst>
                  <a:ext uri="{0D108BD9-81ED-4DB2-BD59-A6C34878D82A}">
                    <a16:rowId xmlns:a16="http://schemas.microsoft.com/office/drawing/2014/main" val="10003"/>
                  </a:ext>
                </a:extLst>
              </a:tr>
              <a:tr h="365760">
                <a:tc>
                  <a:txBody>
                    <a:bodyPr/>
                    <a:lstStyle/>
                    <a:p>
                      <a:pPr algn="l"/>
                      <a:r>
                        <a:rPr sz="1000" b="1">
                          <a:solidFill>
                            <a:srgbClr val="171C26"/>
                          </a:solidFill>
                          <a:latin typeface="Segoe UI"/>
                        </a:rPr>
                        <a:t>Q4 ZIP-218 faster blocks</a:t>
                      </a:r>
                    </a:p>
                    <a:p>
                      <a:pPr algn="l"/>
                      <a:r>
                        <a:rPr sz="900" b="0">
                          <a:solidFill>
                            <a:srgbClr val="5C6675"/>
                          </a:solidFill>
                          <a:latin typeface="Segoe UI"/>
                        </a:rPr>
                        <a:t>won: Yes</a:t>
                      </a:r>
                    </a:p>
                  </a:txBody>
                  <a:tcPr marL="54864" marR="54864" marT="22860" marB="22860" anchor="ctr">
                    <a:solidFill>
                      <a:srgbClr val="EEF0F3"/>
                    </a:solidFill>
                  </a:tcPr>
                </a:tc>
                <a:tc>
                  <a:txBody>
                    <a:bodyPr/>
                    <a:lstStyle/>
                    <a:p>
                      <a:pPr algn="l"/>
                      <a:r>
                        <a:rPr sz="1000" b="0">
                          <a:solidFill>
                            <a:srgbClr val="5C6675"/>
                          </a:solidFill>
                          <a:latin typeface="Segoe UI"/>
                        </a:rPr>
                        <a:t>–</a:t>
                      </a:r>
                    </a:p>
                  </a:txBody>
                  <a:tcPr marL="54864" marR="54864" marT="22860" marB="22860" anchor="ctr">
                    <a:solidFill>
                      <a:srgbClr val="EEF0F3"/>
                    </a:solidFill>
                  </a:tcPr>
                </a:tc>
                <a:tc>
                  <a:txBody>
                    <a:bodyPr/>
                    <a:lstStyle/>
                    <a:p>
                      <a:pPr algn="l"/>
                      <a:r>
                        <a:rPr sz="1000" b="0">
                          <a:solidFill>
                            <a:srgbClr val="5C6675"/>
                          </a:solidFill>
                          <a:latin typeface="Segoe UI"/>
                        </a:rPr>
                        <a:t>–</a:t>
                      </a:r>
                    </a:p>
                  </a:txBody>
                  <a:tcPr marL="54864" marR="54864" marT="22860" marB="22860" anchor="ctr">
                    <a:solidFill>
                      <a:srgbClr val="EEF0F3"/>
                    </a:solidFill>
                  </a:tcPr>
                </a:tc>
                <a:tc>
                  <a:txBody>
                    <a:bodyPr/>
                    <a:lstStyle/>
                    <a:p>
                      <a:pPr algn="l"/>
                      <a:r>
                        <a:rPr sz="1000" b="0">
                          <a:solidFill>
                            <a:srgbClr val="5C6675"/>
                          </a:solidFill>
                          <a:latin typeface="Segoe UI"/>
                        </a:rPr>
                        <a:t>–</a:t>
                      </a:r>
                    </a:p>
                  </a:txBody>
                  <a:tcPr marL="54864" marR="54864" marT="22860" marB="22860" anchor="ctr">
                    <a:solidFill>
                      <a:srgbClr val="EEF0F3"/>
                    </a:solidFill>
                  </a:tcPr>
                </a:tc>
                <a:tc>
                  <a:txBody>
                    <a:bodyPr/>
                    <a:lstStyle/>
                    <a:p>
                      <a:pPr algn="l"/>
                      <a:r>
                        <a:rPr sz="1100" b="1">
                          <a:solidFill>
                            <a:srgbClr val="1E7A46"/>
                          </a:solidFill>
                          <a:latin typeface="Consolas"/>
                        </a:rPr>
                        <a:t>+1.00</a:t>
                      </a:r>
                    </a:p>
                    <a:p>
                      <a:pPr algn="l"/>
                      <a:r>
                        <a:rPr sz="850" b="0">
                          <a:solidFill>
                            <a:srgbClr val="5C6675"/>
                          </a:solidFill>
                          <a:latin typeface="Segoe UI"/>
                        </a:rPr>
                        <a:t>8.88 Yes for 7.88</a:t>
                      </a:r>
                    </a:p>
                  </a:txBody>
                  <a:tcPr marL="54864" marR="54864" marT="22860" marB="22860" anchor="ctr">
                    <a:solidFill>
                      <a:srgbClr val="EEF0F3"/>
                    </a:solidFill>
                  </a:tcPr>
                </a:tc>
                <a:extLst>
                  <a:ext uri="{0D108BD9-81ED-4DB2-BD59-A6C34878D82A}">
                    <a16:rowId xmlns:a16="http://schemas.microsoft.com/office/drawing/2014/main" val="10004"/>
                  </a:ext>
                </a:extLst>
              </a:tr>
              <a:tr h="365760">
                <a:tc>
                  <a:txBody>
                    <a:bodyPr/>
                    <a:lstStyle/>
                    <a:p>
                      <a:pPr algn="l"/>
                      <a:r>
                        <a:rPr sz="1000" b="1">
                          <a:solidFill>
                            <a:srgbClr val="171C26"/>
                          </a:solidFill>
                          <a:latin typeface="Segoe UI"/>
                        </a:rPr>
                        <a:t>Q5 Sept-30 feature deadline</a:t>
                      </a:r>
                    </a:p>
                    <a:p>
                      <a:pPr algn="l"/>
                      <a:r>
                        <a:rPr sz="900" b="0">
                          <a:solidFill>
                            <a:srgbClr val="5C6675"/>
                          </a:solidFill>
                          <a:latin typeface="Segoe UI"/>
                        </a:rPr>
                        <a:t>won: Ship</a:t>
                      </a:r>
                    </a:p>
                  </a:txBody>
                  <a:tcPr marL="54864" marR="54864" marT="22860" marB="22860" anchor="ctr">
                    <a:solidFill>
                      <a:srgbClr val="FFFFFF"/>
                    </a:solidFill>
                  </a:tcPr>
                </a:tc>
                <a:tc>
                  <a:txBody>
                    <a:bodyPr/>
                    <a:lstStyle/>
                    <a:p>
                      <a:pPr algn="l"/>
                      <a:r>
                        <a:rPr sz="1100" b="1">
                          <a:solidFill>
                            <a:srgbClr val="1E7A46"/>
                          </a:solidFill>
                          <a:latin typeface="Consolas"/>
                        </a:rPr>
                        <a:t>+10.67</a:t>
                      </a:r>
                    </a:p>
                    <a:p>
                      <a:pPr algn="l"/>
                      <a:r>
                        <a:rPr sz="850" b="0">
                          <a:solidFill>
                            <a:srgbClr val="5C6675"/>
                          </a:solidFill>
                          <a:latin typeface="Segoe UI"/>
                        </a:rPr>
                        <a:t>50 Ship, 50 Do not support for 39.33</a:t>
                      </a:r>
                    </a:p>
                  </a:txBody>
                  <a:tcPr marL="54864" marR="54864" marT="22860" marB="22860" anchor="ctr">
                    <a:solidFill>
                      <a:srgbClr val="FFFFFF"/>
                    </a:solidFill>
                  </a:tcPr>
                </a:tc>
                <a:tc>
                  <a:txBody>
                    <a:bodyPr/>
                    <a:lstStyle/>
                    <a:p>
                      <a:pPr algn="l"/>
                      <a:r>
                        <a:rPr sz="1100" b="1">
                          <a:solidFill>
                            <a:srgbClr val="1E7A46"/>
                          </a:solidFill>
                          <a:latin typeface="Consolas"/>
                        </a:rPr>
                        <a:t>+18.13</a:t>
                      </a:r>
                    </a:p>
                    <a:p>
                      <a:pPr algn="l"/>
                      <a:r>
                        <a:rPr sz="850" b="0">
                          <a:solidFill>
                            <a:srgbClr val="5C6675"/>
                          </a:solidFill>
                          <a:latin typeface="Segoe UI"/>
                        </a:rPr>
                        <a:t>68.13 Ship for 50.00</a:t>
                      </a:r>
                    </a:p>
                  </a:txBody>
                  <a:tcPr marL="54864" marR="54864" marT="22860" marB="22860" anchor="ctr">
                    <a:solidFill>
                      <a:srgbClr val="FFFFFF"/>
                    </a:solidFill>
                  </a:tcPr>
                </a:tc>
                <a:tc>
                  <a:txBody>
                    <a:bodyPr/>
                    <a:lstStyle/>
                    <a:p>
                      <a:pPr algn="l"/>
                      <a:r>
                        <a:rPr sz="1100" b="1">
                          <a:solidFill>
                            <a:srgbClr val="1E7A46"/>
                          </a:solidFill>
                          <a:latin typeface="Consolas"/>
                        </a:rPr>
                        <a:t>+2.22</a:t>
                      </a:r>
                    </a:p>
                    <a:p>
                      <a:pPr algn="l"/>
                      <a:r>
                        <a:rPr sz="850" b="0">
                          <a:solidFill>
                            <a:srgbClr val="5C6675"/>
                          </a:solidFill>
                          <a:latin typeface="Segoe UI"/>
                        </a:rPr>
                        <a:t>9 Ship for 6.78</a:t>
                      </a:r>
                    </a:p>
                  </a:txBody>
                  <a:tcPr marL="54864" marR="54864" marT="22860" marB="22860" anchor="ctr">
                    <a:solidFill>
                      <a:srgbClr val="FFFFFF"/>
                    </a:solidFill>
                  </a:tcPr>
                </a:tc>
                <a:tc>
                  <a:txBody>
                    <a:bodyPr/>
                    <a:lstStyle/>
                    <a:p>
                      <a:pPr algn="l"/>
                      <a:r>
                        <a:rPr sz="1100" b="1">
                          <a:solidFill>
                            <a:srgbClr val="1E7A46"/>
                          </a:solidFill>
                          <a:latin typeface="Consolas"/>
                        </a:rPr>
                        <a:t>+4.09</a:t>
                      </a:r>
                    </a:p>
                    <a:p>
                      <a:pPr algn="l"/>
                      <a:r>
                        <a:rPr sz="850" b="0">
                          <a:solidFill>
                            <a:srgbClr val="5C6675"/>
                          </a:solidFill>
                          <a:latin typeface="Segoe UI"/>
                        </a:rPr>
                        <a:t>14.09 Ship for 10.00</a:t>
                      </a:r>
                    </a:p>
                  </a:txBody>
                  <a:tcPr marL="54864" marR="54864" marT="22860" marB="22860" anchor="ctr">
                    <a:solidFill>
                      <a:srgbClr val="FFFFFF"/>
                    </a:solidFill>
                  </a:tcPr>
                </a:tc>
                <a:extLst>
                  <a:ext uri="{0D108BD9-81ED-4DB2-BD59-A6C34878D82A}">
                    <a16:rowId xmlns:a16="http://schemas.microsoft.com/office/drawing/2014/main" val="10005"/>
                  </a:ext>
                </a:extLst>
              </a:tr>
              <a:tr h="365760">
                <a:tc>
                  <a:txBody>
                    <a:bodyPr/>
                    <a:lstStyle/>
                    <a:p>
                      <a:pPr algn="l"/>
                      <a:r>
                        <a:rPr sz="1000" b="1">
                          <a:solidFill>
                            <a:srgbClr val="171C26"/>
                          </a:solidFill>
                          <a:latin typeface="Segoe UI"/>
                        </a:rPr>
                        <a:t>Total</a:t>
                      </a:r>
                    </a:p>
                  </a:txBody>
                  <a:tcPr marL="54864" marR="54864" marT="22860" marB="22860" anchor="ctr">
                    <a:solidFill>
                      <a:srgbClr val="DFF1E6"/>
                    </a:solidFill>
                  </a:tcPr>
                </a:tc>
                <a:tc>
                  <a:txBody>
                    <a:bodyPr/>
                    <a:lstStyle/>
                    <a:p>
                      <a:pPr algn="l"/>
                      <a:r>
                        <a:rPr sz="1100" b="1">
                          <a:solidFill>
                            <a:srgbClr val="1E7A46"/>
                          </a:solidFill>
                          <a:latin typeface="Consolas"/>
                        </a:rPr>
                        <a:t>+70.78</a:t>
                      </a:r>
                    </a:p>
                    <a:p>
                      <a:pPr algn="l"/>
                      <a:r>
                        <a:rPr sz="850" b="0">
                          <a:solidFill>
                            <a:srgbClr val="5C6675"/>
                          </a:solidFill>
                          <a:latin typeface="Segoe UI"/>
                        </a:rPr>
                        <a:t>paid 79.21 · receives 150.00 · gas 0.0064</a:t>
                      </a:r>
                    </a:p>
                  </a:txBody>
                  <a:tcPr marL="54864" marR="54864" marT="22860" marB="22860" anchor="ctr">
                    <a:solidFill>
                      <a:srgbClr val="DFF1E6"/>
                    </a:solidFill>
                  </a:tcPr>
                </a:tc>
                <a:tc>
                  <a:txBody>
                    <a:bodyPr/>
                    <a:lstStyle/>
                    <a:p>
                      <a:pPr algn="l"/>
                      <a:r>
                        <a:rPr sz="1100" b="1">
                          <a:solidFill>
                            <a:srgbClr val="1E7A46"/>
                          </a:solidFill>
                          <a:latin typeface="Consolas"/>
                        </a:rPr>
                        <a:t>+206.44</a:t>
                      </a:r>
                    </a:p>
                    <a:p>
                      <a:pPr algn="l"/>
                      <a:r>
                        <a:rPr sz="850" b="0">
                          <a:solidFill>
                            <a:srgbClr val="5C6675"/>
                          </a:solidFill>
                          <a:latin typeface="Segoe UI"/>
                        </a:rPr>
                        <a:t>paid 150.00 · receives 356.44 · gas 0.0015</a:t>
                      </a:r>
                    </a:p>
                  </a:txBody>
                  <a:tcPr marL="54864" marR="54864" marT="22860" marB="22860" anchor="ctr">
                    <a:solidFill>
                      <a:srgbClr val="DFF1E6"/>
                    </a:solidFill>
                  </a:tcPr>
                </a:tc>
                <a:tc>
                  <a:txBody>
                    <a:bodyPr/>
                    <a:lstStyle/>
                    <a:p>
                      <a:pPr algn="l"/>
                      <a:r>
                        <a:rPr sz="1100" b="1">
                          <a:solidFill>
                            <a:srgbClr val="1E7A46"/>
                          </a:solidFill>
                          <a:latin typeface="Consolas"/>
                        </a:rPr>
                        <a:t>+39.28</a:t>
                      </a:r>
                    </a:p>
                    <a:p>
                      <a:pPr algn="l"/>
                      <a:r>
                        <a:rPr sz="850" b="0">
                          <a:solidFill>
                            <a:srgbClr val="5C6675"/>
                          </a:solidFill>
                          <a:latin typeface="Segoe UI"/>
                        </a:rPr>
                        <a:t>paid 34.71 · receives 74.00 · gas 0.0085</a:t>
                      </a:r>
                    </a:p>
                  </a:txBody>
                  <a:tcPr marL="54864" marR="54864" marT="22860" marB="22860" anchor="ctr">
                    <a:solidFill>
                      <a:srgbClr val="DFF1E6"/>
                    </a:solidFill>
                  </a:tcPr>
                </a:tc>
                <a:tc>
                  <a:txBody>
                    <a:bodyPr/>
                    <a:lstStyle/>
                    <a:p>
                      <a:pPr algn="l"/>
                      <a:r>
                        <a:rPr sz="1100" b="1">
                          <a:solidFill>
                            <a:srgbClr val="1E7A46"/>
                          </a:solidFill>
                          <a:latin typeface="Consolas"/>
                        </a:rPr>
                        <a:t>+139.00</a:t>
                      </a:r>
                    </a:p>
                    <a:p>
                      <a:pPr algn="l"/>
                      <a:r>
                        <a:rPr sz="850" b="0">
                          <a:solidFill>
                            <a:srgbClr val="5C6675"/>
                          </a:solidFill>
                          <a:latin typeface="Segoe UI"/>
                        </a:rPr>
                        <a:t>paid 85.23 · receives 224.23 · gas 0.0049</a:t>
                      </a:r>
                    </a:p>
                  </a:txBody>
                  <a:tcPr marL="54864" marR="54864" marT="22860" marB="22860" anchor="ctr">
                    <a:solidFill>
                      <a:srgbClr val="DFF1E6"/>
                    </a:solidFill>
                  </a:tcPr>
                </a:tc>
                <a:extLst>
                  <a:ext uri="{0D108BD9-81ED-4DB2-BD59-A6C34878D82A}">
                    <a16:rowId xmlns:a16="http://schemas.microsoft.com/office/drawing/2014/main" val="10006"/>
                  </a:ext>
                </a:extLst>
              </a:tr>
            </a:tbl>
          </a:graphicData>
        </a:graphic>
      </p:graphicFrame>
      <p:sp>
        <p:nvSpPr>
          <p:cNvPr id="20" name="TextBox 19"/>
          <p:cNvSpPr txBox="1"/>
          <p:nvPr/>
        </p:nvSpPr>
        <p:spPr>
          <a:xfrm>
            <a:off x="457200" y="6126480"/>
            <a:ext cx="11247120" cy="274320"/>
          </a:xfrm>
          <a:prstGeom prst="rect">
            <a:avLst/>
          </a:prstGeom>
          <a:noFill/>
        </p:spPr>
        <p:txBody>
          <a:bodyPr wrap="square" lIns="36576" tIns="18288" rIns="36576" bIns="18288" anchor="t">
            <a:spAutoFit/>
          </a:bodyPr>
          <a:lstStyle/>
          <a:p>
            <a:pPr algn="l">
              <a:spcBef>
                <a:spcPts val="0"/>
              </a:spcBef>
              <a:spcAft>
                <a:spcPts val="0"/>
              </a:spcAft>
            </a:pPr>
            <a:r>
              <a:rPr sz="950" b="0" i="0">
                <a:solidFill>
                  <a:srgbClr val="5C6675"/>
                </a:solidFill>
                <a:latin typeface="Segoe UI"/>
              </a:rPr>
              <a:t>Together: 349.15 sUSDS put in, 804.68 back, +455.51 sUSDS (≈ +$505). USD at 1.1096 USDS per sUSDS; gas from 61 receipts at ETH $2471, $0.024 in all.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Forecast scores: the agents beat the market</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Each forecast scored against the official result, averaged over the five markets. Accuracy: higher is better. Brier and log loss: lower is better.</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7</a:t>
            </a:r>
          </a:p>
        </p:txBody>
      </p:sp>
      <p:graphicFrame>
        <p:nvGraphicFramePr>
          <p:cNvPr id="7" name="Table 6"/>
          <p:cNvGraphicFramePr>
            <a:graphicFrameLocks noGrp="1"/>
          </p:cNvGraphicFramePr>
          <p:nvPr/>
        </p:nvGraphicFramePr>
        <p:xfrm>
          <a:off x="457200" y="1645920"/>
          <a:ext cx="6720840" cy="3840480"/>
        </p:xfrm>
        <a:graphic>
          <a:graphicData uri="http://schemas.openxmlformats.org/drawingml/2006/table">
            <a:tbl>
              <a:tblPr firstRow="1">
                <a:tableStyleId>{5C22544A-7EE6-4342-B048-85BDC9FD1C3A}</a:tableStyleId>
              </a:tblPr>
              <a:tblGrid>
                <a:gridCol w="28346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384048">
                <a:tc>
                  <a:txBody>
                    <a:bodyPr/>
                    <a:lstStyle/>
                    <a:p>
                      <a:pPr algn="l"/>
                      <a:r>
                        <a:rPr sz="950" b="1">
                          <a:solidFill>
                            <a:srgbClr val="FFFFFF"/>
                          </a:solidFill>
                          <a:latin typeface="Segoe UI"/>
                        </a:rPr>
                        <a:t>Forecaster</a:t>
                      </a:r>
                    </a:p>
                  </a:txBody>
                  <a:tcPr marL="54864" marR="54864" marT="22860" marB="22860" anchor="ctr">
                    <a:solidFill>
                      <a:srgbClr val="141A2B"/>
                    </a:solidFill>
                  </a:tcPr>
                </a:tc>
                <a:tc>
                  <a:txBody>
                    <a:bodyPr/>
                    <a:lstStyle/>
                    <a:p>
                      <a:pPr algn="l"/>
                      <a:r>
                        <a:rPr sz="950" b="1">
                          <a:solidFill>
                            <a:srgbClr val="FFFFFF"/>
                          </a:solidFill>
                          <a:latin typeface="Segoe UI"/>
                        </a:rPr>
                        <a:t>Forecast as of</a:t>
                      </a:r>
                    </a:p>
                  </a:txBody>
                  <a:tcPr marL="54864" marR="54864" marT="22860" marB="22860" anchor="ctr">
                    <a:solidFill>
                      <a:srgbClr val="141A2B"/>
                    </a:solidFill>
                  </a:tcPr>
                </a:tc>
                <a:tc>
                  <a:txBody>
                    <a:bodyPr/>
                    <a:lstStyle/>
                    <a:p>
                      <a:pPr algn="r"/>
                      <a:r>
                        <a:rPr sz="950" b="1">
                          <a:solidFill>
                            <a:srgbClr val="FFFFFF"/>
                          </a:solidFill>
                          <a:latin typeface="Segoe UI"/>
                        </a:rPr>
                        <a:t>Accuracy</a:t>
                      </a:r>
                    </a:p>
                  </a:txBody>
                  <a:tcPr marL="54864" marR="54864" marT="22860" marB="22860" anchor="ctr">
                    <a:solidFill>
                      <a:srgbClr val="141A2B"/>
                    </a:solidFill>
                  </a:tcPr>
                </a:tc>
                <a:tc>
                  <a:txBody>
                    <a:bodyPr/>
                    <a:lstStyle/>
                    <a:p>
                      <a:pPr algn="r"/>
                      <a:r>
                        <a:rPr sz="950" b="1">
                          <a:solidFill>
                            <a:srgbClr val="FFFFFF"/>
                          </a:solidFill>
                          <a:latin typeface="Segoe UI"/>
                        </a:rPr>
                        <a:t>Brier</a:t>
                      </a:r>
                    </a:p>
                  </a:txBody>
                  <a:tcPr marL="54864" marR="54864" marT="22860" marB="22860" anchor="ctr">
                    <a:solidFill>
                      <a:srgbClr val="141A2B"/>
                    </a:solidFill>
                  </a:tcPr>
                </a:tc>
                <a:tc>
                  <a:txBody>
                    <a:bodyPr/>
                    <a:lstStyle/>
                    <a:p>
                      <a:pPr algn="r"/>
                      <a:r>
                        <a:rPr sz="950" b="1">
                          <a:solidFill>
                            <a:srgbClr val="FFFFFF"/>
                          </a:solidFill>
                          <a:latin typeface="Segoe UI"/>
                        </a:rPr>
                        <a:t>Log loss</a:t>
                      </a:r>
                    </a:p>
                  </a:txBody>
                  <a:tcPr marL="54864" marR="54864" marT="22860" marB="22860" anchor="ctr">
                    <a:solidFill>
                      <a:srgbClr val="141A2B"/>
                    </a:solidFill>
                  </a:tcPr>
                </a:tc>
                <a:extLst>
                  <a:ext uri="{0D108BD9-81ED-4DB2-BD59-A6C34878D82A}">
                    <a16:rowId xmlns:a16="http://schemas.microsoft.com/office/drawing/2014/main" val="10000"/>
                  </a:ext>
                </a:extLst>
              </a:tr>
              <a:tr h="384048">
                <a:tc>
                  <a:txBody>
                    <a:bodyPr/>
                    <a:lstStyle/>
                    <a:p>
                      <a:pPr algn="l"/>
                      <a:r>
                        <a:rPr sz="1050" b="1">
                          <a:solidFill>
                            <a:srgbClr val="C4552A"/>
                          </a:solidFill>
                          <a:latin typeface="Segoe UI"/>
                        </a:rPr>
                        <a:t>Claude Fable 5.1</a:t>
                      </a:r>
                    </a:p>
                  </a:txBody>
                  <a:tcPr marL="54864" marR="54864" marT="22860" marB="22860" anchor="ctr">
                    <a:solidFill>
                      <a:srgbClr val="FFFFFF"/>
                    </a:solidFill>
                  </a:tcPr>
                </a:tc>
                <a:tc>
                  <a:txBody>
                    <a:bodyPr/>
                    <a:lstStyle/>
                    <a:p>
                      <a:pPr algn="l"/>
                      <a:r>
                        <a:rPr sz="1050" b="0">
                          <a:solidFill>
                            <a:srgbClr val="171C26"/>
                          </a:solidFill>
                          <a:latin typeface="Consolas"/>
                        </a:rPr>
                        <a:t>14 Sep 14:35</a:t>
                      </a:r>
                    </a:p>
                  </a:txBody>
                  <a:tcPr marL="54864" marR="54864" marT="22860" marB="22860" anchor="ctr">
                    <a:solidFill>
                      <a:srgbClr val="FFFFFF"/>
                    </a:solidFill>
                  </a:tcPr>
                </a:tc>
                <a:tc>
                  <a:txBody>
                    <a:bodyPr/>
                    <a:lstStyle/>
                    <a:p>
                      <a:pPr algn="r"/>
                      <a:r>
                        <a:rPr sz="1050" b="0">
                          <a:solidFill>
                            <a:srgbClr val="171C26"/>
                          </a:solidFill>
                          <a:latin typeface="Consolas"/>
                        </a:rPr>
                        <a:t>5 of 5</a:t>
                      </a:r>
                    </a:p>
                  </a:txBody>
                  <a:tcPr marL="54864" marR="54864" marT="22860" marB="22860" anchor="ctr">
                    <a:solidFill>
                      <a:srgbClr val="FFFFFF"/>
                    </a:solidFill>
                  </a:tcPr>
                </a:tc>
                <a:tc>
                  <a:txBody>
                    <a:bodyPr/>
                    <a:lstStyle/>
                    <a:p>
                      <a:pPr algn="r"/>
                      <a:r>
                        <a:rPr sz="1050" b="0">
                          <a:solidFill>
                            <a:srgbClr val="171C26"/>
                          </a:solidFill>
                          <a:latin typeface="Consolas"/>
                        </a:rPr>
                        <a:t>0.153</a:t>
                      </a:r>
                    </a:p>
                  </a:txBody>
                  <a:tcPr marL="54864" marR="54864" marT="22860" marB="22860" anchor="ctr">
                    <a:solidFill>
                      <a:srgbClr val="FFFFFF"/>
                    </a:solidFill>
                  </a:tcPr>
                </a:tc>
                <a:tc>
                  <a:txBody>
                    <a:bodyPr/>
                    <a:lstStyle/>
                    <a:p>
                      <a:pPr algn="r"/>
                      <a:r>
                        <a:rPr sz="1050" b="0">
                          <a:solidFill>
                            <a:srgbClr val="171C26"/>
                          </a:solidFill>
                          <a:latin typeface="Consolas"/>
                        </a:rPr>
                        <a:t>0.339</a:t>
                      </a:r>
                    </a:p>
                  </a:txBody>
                  <a:tcPr marL="54864" marR="54864" marT="22860" marB="22860" anchor="ctr">
                    <a:solidFill>
                      <a:srgbClr val="FFFFFF"/>
                    </a:solidFill>
                  </a:tcPr>
                </a:tc>
                <a:extLst>
                  <a:ext uri="{0D108BD9-81ED-4DB2-BD59-A6C34878D82A}">
                    <a16:rowId xmlns:a16="http://schemas.microsoft.com/office/drawing/2014/main" val="10001"/>
                  </a:ext>
                </a:extLst>
              </a:tr>
              <a:tr h="384048">
                <a:tc>
                  <a:txBody>
                    <a:bodyPr/>
                    <a:lstStyle/>
                    <a:p>
                      <a:pPr algn="l"/>
                      <a:r>
                        <a:rPr sz="1050" b="1">
                          <a:solidFill>
                            <a:srgbClr val="7A2E8C"/>
                          </a:solidFill>
                          <a:latin typeface="Segoe UI"/>
                        </a:rPr>
                        <a:t>Claude Opus 5</a:t>
                      </a:r>
                    </a:p>
                  </a:txBody>
                  <a:tcPr marL="54864" marR="54864" marT="22860" marB="22860" anchor="ctr">
                    <a:solidFill>
                      <a:srgbClr val="EEF0F3"/>
                    </a:solidFill>
                  </a:tcPr>
                </a:tc>
                <a:tc>
                  <a:txBody>
                    <a:bodyPr/>
                    <a:lstStyle/>
                    <a:p>
                      <a:pPr algn="l"/>
                      <a:r>
                        <a:rPr sz="1050" b="0">
                          <a:solidFill>
                            <a:srgbClr val="171C26"/>
                          </a:solidFill>
                          <a:latin typeface="Consolas"/>
                        </a:rPr>
                        <a:t>14 Sep 08:55</a:t>
                      </a:r>
                    </a:p>
                  </a:txBody>
                  <a:tcPr marL="54864" marR="54864" marT="22860" marB="22860" anchor="ctr">
                    <a:solidFill>
                      <a:srgbClr val="EEF0F3"/>
                    </a:solidFill>
                  </a:tcPr>
                </a:tc>
                <a:tc>
                  <a:txBody>
                    <a:bodyPr/>
                    <a:lstStyle/>
                    <a:p>
                      <a:pPr algn="r"/>
                      <a:r>
                        <a:rPr sz="1050" b="0">
                          <a:solidFill>
                            <a:srgbClr val="171C26"/>
                          </a:solidFill>
                          <a:latin typeface="Consolas"/>
                        </a:rPr>
                        <a:t>5 of 5</a:t>
                      </a:r>
                    </a:p>
                  </a:txBody>
                  <a:tcPr marL="54864" marR="54864" marT="22860" marB="22860" anchor="ctr">
                    <a:solidFill>
                      <a:srgbClr val="EEF0F3"/>
                    </a:solidFill>
                  </a:tcPr>
                </a:tc>
                <a:tc>
                  <a:txBody>
                    <a:bodyPr/>
                    <a:lstStyle/>
                    <a:p>
                      <a:pPr algn="r"/>
                      <a:r>
                        <a:rPr sz="1050" b="1">
                          <a:solidFill>
                            <a:srgbClr val="1E7A46"/>
                          </a:solidFill>
                          <a:latin typeface="Consolas"/>
                        </a:rPr>
                        <a:t>0.052</a:t>
                      </a:r>
                    </a:p>
                  </a:txBody>
                  <a:tcPr marL="54864" marR="54864" marT="22860" marB="22860" anchor="ctr">
                    <a:solidFill>
                      <a:srgbClr val="EEF0F3"/>
                    </a:solidFill>
                  </a:tcPr>
                </a:tc>
                <a:tc>
                  <a:txBody>
                    <a:bodyPr/>
                    <a:lstStyle/>
                    <a:p>
                      <a:pPr algn="r"/>
                      <a:r>
                        <a:rPr sz="1050" b="1">
                          <a:solidFill>
                            <a:srgbClr val="1E7A46"/>
                          </a:solidFill>
                          <a:latin typeface="Consolas"/>
                        </a:rPr>
                        <a:t>0.179</a:t>
                      </a:r>
                    </a:p>
                  </a:txBody>
                  <a:tcPr marL="54864" marR="54864" marT="22860" marB="22860" anchor="ctr">
                    <a:solidFill>
                      <a:srgbClr val="EEF0F3"/>
                    </a:solidFill>
                  </a:tcPr>
                </a:tc>
                <a:extLst>
                  <a:ext uri="{0D108BD9-81ED-4DB2-BD59-A6C34878D82A}">
                    <a16:rowId xmlns:a16="http://schemas.microsoft.com/office/drawing/2014/main" val="10002"/>
                  </a:ext>
                </a:extLst>
              </a:tr>
              <a:tr h="384048">
                <a:tc>
                  <a:txBody>
                    <a:bodyPr/>
                    <a:lstStyle/>
                    <a:p>
                      <a:pPr algn="l"/>
                      <a:r>
                        <a:rPr sz="1050" b="1">
                          <a:solidFill>
                            <a:srgbClr val="1B7F63"/>
                          </a:solidFill>
                          <a:latin typeface="Segoe UI"/>
                        </a:rPr>
                        <a:t>GPT-6 Astra</a:t>
                      </a:r>
                    </a:p>
                  </a:txBody>
                  <a:tcPr marL="54864" marR="54864" marT="22860" marB="22860" anchor="ctr">
                    <a:solidFill>
                      <a:srgbClr val="FFFFFF"/>
                    </a:solidFill>
                  </a:tcPr>
                </a:tc>
                <a:tc>
                  <a:txBody>
                    <a:bodyPr/>
                    <a:lstStyle/>
                    <a:p>
                      <a:pPr algn="l"/>
                      <a:r>
                        <a:rPr sz="1050" b="0">
                          <a:solidFill>
                            <a:srgbClr val="171C26"/>
                          </a:solidFill>
                          <a:latin typeface="Consolas"/>
                        </a:rPr>
                        <a:t>14 Sep 13:15</a:t>
                      </a:r>
                    </a:p>
                  </a:txBody>
                  <a:tcPr marL="54864" marR="54864" marT="22860" marB="22860" anchor="ctr">
                    <a:solidFill>
                      <a:srgbClr val="FFFFFF"/>
                    </a:solidFill>
                  </a:tcPr>
                </a:tc>
                <a:tc>
                  <a:txBody>
                    <a:bodyPr/>
                    <a:lstStyle/>
                    <a:p>
                      <a:pPr algn="r"/>
                      <a:r>
                        <a:rPr sz="1050" b="0">
                          <a:solidFill>
                            <a:srgbClr val="171C26"/>
                          </a:solidFill>
                          <a:latin typeface="Consolas"/>
                        </a:rPr>
                        <a:t>5 of 5</a:t>
                      </a:r>
                    </a:p>
                  </a:txBody>
                  <a:tcPr marL="54864" marR="54864" marT="22860" marB="22860" anchor="ctr">
                    <a:solidFill>
                      <a:srgbClr val="FFFFFF"/>
                    </a:solidFill>
                  </a:tcPr>
                </a:tc>
                <a:tc>
                  <a:txBody>
                    <a:bodyPr/>
                    <a:lstStyle/>
                    <a:p>
                      <a:pPr algn="r"/>
                      <a:r>
                        <a:rPr sz="1050" b="0">
                          <a:solidFill>
                            <a:srgbClr val="171C26"/>
                          </a:solidFill>
                          <a:latin typeface="Consolas"/>
                        </a:rPr>
                        <a:t>0.103</a:t>
                      </a:r>
                    </a:p>
                  </a:txBody>
                  <a:tcPr marL="54864" marR="54864" marT="22860" marB="22860" anchor="ctr">
                    <a:solidFill>
                      <a:srgbClr val="FFFFFF"/>
                    </a:solidFill>
                  </a:tcPr>
                </a:tc>
                <a:tc>
                  <a:txBody>
                    <a:bodyPr/>
                    <a:lstStyle/>
                    <a:p>
                      <a:pPr algn="r"/>
                      <a:r>
                        <a:rPr sz="1050" b="0">
                          <a:solidFill>
                            <a:srgbClr val="171C26"/>
                          </a:solidFill>
                          <a:latin typeface="Consolas"/>
                        </a:rPr>
                        <a:t>0.262</a:t>
                      </a:r>
                    </a:p>
                  </a:txBody>
                  <a:tcPr marL="54864" marR="54864" marT="22860" marB="22860" anchor="ctr">
                    <a:solidFill>
                      <a:srgbClr val="FFFFFF"/>
                    </a:solidFill>
                  </a:tcPr>
                </a:tc>
                <a:extLst>
                  <a:ext uri="{0D108BD9-81ED-4DB2-BD59-A6C34878D82A}">
                    <a16:rowId xmlns:a16="http://schemas.microsoft.com/office/drawing/2014/main" val="10003"/>
                  </a:ext>
                </a:extLst>
              </a:tr>
              <a:tr h="384048">
                <a:tc>
                  <a:txBody>
                    <a:bodyPr/>
                    <a:lstStyle/>
                    <a:p>
                      <a:pPr algn="l"/>
                      <a:r>
                        <a:rPr sz="1050" b="1">
                          <a:solidFill>
                            <a:srgbClr val="2F6FD6"/>
                          </a:solidFill>
                          <a:latin typeface="Segoe UI"/>
                        </a:rPr>
                        <a:t>GPT-5.6 Sol</a:t>
                      </a:r>
                    </a:p>
                  </a:txBody>
                  <a:tcPr marL="54864" marR="54864" marT="22860" marB="22860" anchor="ctr">
                    <a:solidFill>
                      <a:srgbClr val="EEF0F3"/>
                    </a:solidFill>
                  </a:tcPr>
                </a:tc>
                <a:tc>
                  <a:txBody>
                    <a:bodyPr/>
                    <a:lstStyle/>
                    <a:p>
                      <a:pPr algn="l"/>
                      <a:r>
                        <a:rPr sz="1050" b="0">
                          <a:solidFill>
                            <a:srgbClr val="171C26"/>
                          </a:solidFill>
                          <a:latin typeface="Consolas"/>
                        </a:rPr>
                        <a:t>14 Sep 09:35</a:t>
                      </a:r>
                    </a:p>
                  </a:txBody>
                  <a:tcPr marL="54864" marR="54864" marT="22860" marB="22860" anchor="ctr">
                    <a:solidFill>
                      <a:srgbClr val="EEF0F3"/>
                    </a:solidFill>
                  </a:tcPr>
                </a:tc>
                <a:tc>
                  <a:txBody>
                    <a:bodyPr/>
                    <a:lstStyle/>
                    <a:p>
                      <a:pPr algn="r"/>
                      <a:r>
                        <a:rPr sz="1050" b="0">
                          <a:solidFill>
                            <a:srgbClr val="171C26"/>
                          </a:solidFill>
                          <a:latin typeface="Consolas"/>
                        </a:rPr>
                        <a:t>5 of 5</a:t>
                      </a:r>
                    </a:p>
                  </a:txBody>
                  <a:tcPr marL="54864" marR="54864" marT="22860" marB="22860" anchor="ctr">
                    <a:solidFill>
                      <a:srgbClr val="EEF0F3"/>
                    </a:solidFill>
                  </a:tcPr>
                </a:tc>
                <a:tc>
                  <a:txBody>
                    <a:bodyPr/>
                    <a:lstStyle/>
                    <a:p>
                      <a:pPr algn="r"/>
                      <a:r>
                        <a:rPr sz="1050" b="0">
                          <a:solidFill>
                            <a:srgbClr val="171C26"/>
                          </a:solidFill>
                          <a:latin typeface="Consolas"/>
                        </a:rPr>
                        <a:t>0.140</a:t>
                      </a:r>
                    </a:p>
                  </a:txBody>
                  <a:tcPr marL="54864" marR="54864" marT="22860" marB="22860" anchor="ctr">
                    <a:solidFill>
                      <a:srgbClr val="EEF0F3"/>
                    </a:solidFill>
                  </a:tcPr>
                </a:tc>
                <a:tc>
                  <a:txBody>
                    <a:bodyPr/>
                    <a:lstStyle/>
                    <a:p>
                      <a:pPr algn="r"/>
                      <a:r>
                        <a:rPr sz="1050" b="0">
                          <a:solidFill>
                            <a:srgbClr val="171C26"/>
                          </a:solidFill>
                          <a:latin typeface="Consolas"/>
                        </a:rPr>
                        <a:t>0.307</a:t>
                      </a:r>
                    </a:p>
                  </a:txBody>
                  <a:tcPr marL="54864" marR="54864" marT="22860" marB="22860" anchor="ctr">
                    <a:solidFill>
                      <a:srgbClr val="EEF0F3"/>
                    </a:solidFill>
                  </a:tcPr>
                </a:tc>
                <a:extLst>
                  <a:ext uri="{0D108BD9-81ED-4DB2-BD59-A6C34878D82A}">
                    <a16:rowId xmlns:a16="http://schemas.microsoft.com/office/drawing/2014/main" val="10004"/>
                  </a:ext>
                </a:extLst>
              </a:tr>
              <a:tr h="384048">
                <a:tc>
                  <a:txBody>
                    <a:bodyPr/>
                    <a:lstStyle/>
                    <a:p>
                      <a:pPr algn="l"/>
                      <a:r>
                        <a:rPr sz="1050" b="0">
                          <a:solidFill>
                            <a:srgbClr val="171C26"/>
                          </a:solidFill>
                          <a:latin typeface="Segoe UI"/>
                        </a:rPr>
                        <a:t>Mean of the four agents</a:t>
                      </a:r>
                    </a:p>
                  </a:txBody>
                  <a:tcPr marL="54864" marR="54864" marT="22860" marB="22860" anchor="ctr">
                    <a:solidFill>
                      <a:srgbClr val="FFFFFF"/>
                    </a:solidFill>
                  </a:tcPr>
                </a:tc>
                <a:tc>
                  <a:txBody>
                    <a:bodyPr/>
                    <a:lstStyle/>
                    <a:p>
                      <a:pPr algn="l"/>
                      <a:r>
                        <a:rPr sz="1050" b="0">
                          <a:solidFill>
                            <a:srgbClr val="171C26"/>
                          </a:solidFill>
                          <a:latin typeface="Consolas"/>
                        </a:rPr>
                        <a:t>final estimates</a:t>
                      </a:r>
                    </a:p>
                  </a:txBody>
                  <a:tcPr marL="54864" marR="54864" marT="22860" marB="22860" anchor="ctr">
                    <a:solidFill>
                      <a:srgbClr val="FFFFFF"/>
                    </a:solidFill>
                  </a:tcPr>
                </a:tc>
                <a:tc>
                  <a:txBody>
                    <a:bodyPr/>
                    <a:lstStyle/>
                    <a:p>
                      <a:pPr algn="r"/>
                      <a:r>
                        <a:rPr sz="1050" b="0">
                          <a:solidFill>
                            <a:srgbClr val="171C26"/>
                          </a:solidFill>
                          <a:latin typeface="Consolas"/>
                        </a:rPr>
                        <a:t>5 of 5</a:t>
                      </a:r>
                    </a:p>
                  </a:txBody>
                  <a:tcPr marL="54864" marR="54864" marT="22860" marB="22860" anchor="ctr">
                    <a:solidFill>
                      <a:srgbClr val="FFFFFF"/>
                    </a:solidFill>
                  </a:tcPr>
                </a:tc>
                <a:tc>
                  <a:txBody>
                    <a:bodyPr/>
                    <a:lstStyle/>
                    <a:p>
                      <a:pPr algn="r"/>
                      <a:r>
                        <a:rPr sz="1050" b="0">
                          <a:solidFill>
                            <a:srgbClr val="171C26"/>
                          </a:solidFill>
                          <a:latin typeface="Consolas"/>
                        </a:rPr>
                        <a:t>0.106</a:t>
                      </a:r>
                    </a:p>
                  </a:txBody>
                  <a:tcPr marL="54864" marR="54864" marT="22860" marB="22860" anchor="ctr">
                    <a:solidFill>
                      <a:srgbClr val="FFFFFF"/>
                    </a:solidFill>
                  </a:tcPr>
                </a:tc>
                <a:tc>
                  <a:txBody>
                    <a:bodyPr/>
                    <a:lstStyle/>
                    <a:p>
                      <a:pPr algn="r"/>
                      <a:r>
                        <a:rPr sz="1050" b="0">
                          <a:solidFill>
                            <a:srgbClr val="171C26"/>
                          </a:solidFill>
                          <a:latin typeface="Consolas"/>
                        </a:rPr>
                        <a:t>0.268</a:t>
                      </a:r>
                    </a:p>
                  </a:txBody>
                  <a:tcPr marL="54864" marR="54864" marT="22860" marB="22860" anchor="ctr">
                    <a:solidFill>
                      <a:srgbClr val="FFFFFF"/>
                    </a:solidFill>
                  </a:tcPr>
                </a:tc>
                <a:extLst>
                  <a:ext uri="{0D108BD9-81ED-4DB2-BD59-A6C34878D82A}">
                    <a16:rowId xmlns:a16="http://schemas.microsoft.com/office/drawing/2014/main" val="10005"/>
                  </a:ext>
                </a:extLst>
              </a:tr>
              <a:tr h="384048">
                <a:tc>
                  <a:txBody>
                    <a:bodyPr/>
                    <a:lstStyle/>
                    <a:p>
                      <a:pPr algn="l"/>
                      <a:r>
                        <a:rPr sz="1050" b="0">
                          <a:solidFill>
                            <a:srgbClr val="171C26"/>
                          </a:solidFill>
                          <a:latin typeface="Segoe UI"/>
                        </a:rPr>
                        <a:t>Base rate: opening price (pool seed)</a:t>
                      </a:r>
                    </a:p>
                  </a:txBody>
                  <a:tcPr marL="54864" marR="54864" marT="22860" marB="22860" anchor="ctr">
                    <a:solidFill>
                      <a:srgbClr val="ECE8DC"/>
                    </a:solidFill>
                  </a:tcPr>
                </a:tc>
                <a:tc>
                  <a:txBody>
                    <a:bodyPr/>
                    <a:lstStyle/>
                    <a:p>
                      <a:pPr algn="l"/>
                      <a:r>
                        <a:rPr sz="1050" b="0">
                          <a:solidFill>
                            <a:srgbClr val="171C26"/>
                          </a:solidFill>
                          <a:latin typeface="Consolas"/>
                        </a:rPr>
                        <a:t>9 Sep 02:58</a:t>
                      </a:r>
                    </a:p>
                  </a:txBody>
                  <a:tcPr marL="54864" marR="54864" marT="22860" marB="22860" anchor="ctr">
                    <a:solidFill>
                      <a:srgbClr val="ECE8DC"/>
                    </a:solidFill>
                  </a:tcPr>
                </a:tc>
                <a:tc>
                  <a:txBody>
                    <a:bodyPr/>
                    <a:lstStyle/>
                    <a:p>
                      <a:pPr algn="r"/>
                      <a:r>
                        <a:rPr sz="1050" b="0">
                          <a:solidFill>
                            <a:srgbClr val="B83A2E"/>
                          </a:solidFill>
                          <a:latin typeface="Consolas"/>
                        </a:rPr>
                        <a:t>3 of 5</a:t>
                      </a:r>
                    </a:p>
                  </a:txBody>
                  <a:tcPr marL="54864" marR="54864" marT="22860" marB="22860" anchor="ctr">
                    <a:solidFill>
                      <a:srgbClr val="ECE8DC"/>
                    </a:solidFill>
                  </a:tcPr>
                </a:tc>
                <a:tc>
                  <a:txBody>
                    <a:bodyPr/>
                    <a:lstStyle/>
                    <a:p>
                      <a:pPr algn="r"/>
                      <a:r>
                        <a:rPr sz="1050" b="0">
                          <a:solidFill>
                            <a:srgbClr val="171C26"/>
                          </a:solidFill>
                          <a:latin typeface="Consolas"/>
                        </a:rPr>
                        <a:t>0.373</a:t>
                      </a:r>
                    </a:p>
                  </a:txBody>
                  <a:tcPr marL="54864" marR="54864" marT="22860" marB="22860" anchor="ctr">
                    <a:solidFill>
                      <a:srgbClr val="ECE8DC"/>
                    </a:solidFill>
                  </a:tcPr>
                </a:tc>
                <a:tc>
                  <a:txBody>
                    <a:bodyPr/>
                    <a:lstStyle/>
                    <a:p>
                      <a:pPr algn="r"/>
                      <a:r>
                        <a:rPr sz="1050" b="0">
                          <a:solidFill>
                            <a:srgbClr val="171C26"/>
                          </a:solidFill>
                          <a:latin typeface="Consolas"/>
                        </a:rPr>
                        <a:t>0.632</a:t>
                      </a:r>
                    </a:p>
                  </a:txBody>
                  <a:tcPr marL="54864" marR="54864" marT="22860" marB="22860" anchor="ctr">
                    <a:solidFill>
                      <a:srgbClr val="ECE8DC"/>
                    </a:solidFill>
                  </a:tcPr>
                </a:tc>
                <a:extLst>
                  <a:ext uri="{0D108BD9-81ED-4DB2-BD59-A6C34878D82A}">
                    <a16:rowId xmlns:a16="http://schemas.microsoft.com/office/drawing/2014/main" val="10006"/>
                  </a:ext>
                </a:extLst>
              </a:tr>
              <a:tr h="384048">
                <a:tc>
                  <a:txBody>
                    <a:bodyPr/>
                    <a:lstStyle/>
                    <a:p>
                      <a:pPr algn="l"/>
                      <a:r>
                        <a:rPr sz="1050" b="0">
                          <a:solidFill>
                            <a:srgbClr val="171C26"/>
                          </a:solidFill>
                          <a:latin typeface="Segoe UI"/>
                        </a:rPr>
                        <a:t>Base rate: market before the bots traded</a:t>
                      </a:r>
                    </a:p>
                  </a:txBody>
                  <a:tcPr marL="54864" marR="54864" marT="22860" marB="22860" anchor="ctr">
                    <a:solidFill>
                      <a:srgbClr val="F4F1E8"/>
                    </a:solidFill>
                  </a:tcPr>
                </a:tc>
                <a:tc>
                  <a:txBody>
                    <a:bodyPr/>
                    <a:lstStyle/>
                    <a:p>
                      <a:pPr algn="l"/>
                      <a:r>
                        <a:rPr sz="1050" b="0">
                          <a:solidFill>
                            <a:srgbClr val="171C26"/>
                          </a:solidFill>
                          <a:latin typeface="Consolas"/>
                        </a:rPr>
                        <a:t>13 Sep 16:58</a:t>
                      </a:r>
                    </a:p>
                  </a:txBody>
                  <a:tcPr marL="54864" marR="54864" marT="22860" marB="22860" anchor="ctr">
                    <a:solidFill>
                      <a:srgbClr val="F4F1E8"/>
                    </a:solidFill>
                  </a:tcPr>
                </a:tc>
                <a:tc>
                  <a:txBody>
                    <a:bodyPr/>
                    <a:lstStyle/>
                    <a:p>
                      <a:pPr algn="r"/>
                      <a:r>
                        <a:rPr sz="1050" b="0">
                          <a:solidFill>
                            <a:srgbClr val="B83A2E"/>
                          </a:solidFill>
                          <a:latin typeface="Consolas"/>
                        </a:rPr>
                        <a:t>3 of 5</a:t>
                      </a:r>
                    </a:p>
                  </a:txBody>
                  <a:tcPr marL="54864" marR="54864" marT="22860" marB="22860" anchor="ctr">
                    <a:solidFill>
                      <a:srgbClr val="F4F1E8"/>
                    </a:solidFill>
                  </a:tcPr>
                </a:tc>
                <a:tc>
                  <a:txBody>
                    <a:bodyPr/>
                    <a:lstStyle/>
                    <a:p>
                      <a:pPr algn="r"/>
                      <a:r>
                        <a:rPr sz="1050" b="0">
                          <a:solidFill>
                            <a:srgbClr val="171C26"/>
                          </a:solidFill>
                          <a:latin typeface="Consolas"/>
                        </a:rPr>
                        <a:t>0.381</a:t>
                      </a:r>
                    </a:p>
                  </a:txBody>
                  <a:tcPr marL="54864" marR="54864" marT="22860" marB="22860" anchor="ctr">
                    <a:solidFill>
                      <a:srgbClr val="F4F1E8"/>
                    </a:solidFill>
                  </a:tcPr>
                </a:tc>
                <a:tc>
                  <a:txBody>
                    <a:bodyPr/>
                    <a:lstStyle/>
                    <a:p>
                      <a:pPr algn="r"/>
                      <a:r>
                        <a:rPr sz="1050" b="0">
                          <a:solidFill>
                            <a:srgbClr val="171C26"/>
                          </a:solidFill>
                          <a:latin typeface="Consolas"/>
                        </a:rPr>
                        <a:t>0.649</a:t>
                      </a:r>
                    </a:p>
                  </a:txBody>
                  <a:tcPr marL="54864" marR="54864" marT="22860" marB="22860" anchor="ctr">
                    <a:solidFill>
                      <a:srgbClr val="F4F1E8"/>
                    </a:solidFill>
                  </a:tcPr>
                </a:tc>
                <a:extLst>
                  <a:ext uri="{0D108BD9-81ED-4DB2-BD59-A6C34878D82A}">
                    <a16:rowId xmlns:a16="http://schemas.microsoft.com/office/drawing/2014/main" val="10007"/>
                  </a:ext>
                </a:extLst>
              </a:tr>
              <a:tr h="384048">
                <a:tc>
                  <a:txBody>
                    <a:bodyPr/>
                    <a:lstStyle/>
                    <a:p>
                      <a:pPr algn="l"/>
                      <a:r>
                        <a:rPr sz="1050" b="0">
                          <a:solidFill>
                            <a:srgbClr val="171C26"/>
                          </a:solidFill>
                          <a:latin typeface="Segoe UI"/>
                        </a:rPr>
                        <a:t>Market rate: final pool price</a:t>
                      </a:r>
                    </a:p>
                  </a:txBody>
                  <a:tcPr marL="54864" marR="54864" marT="22860" marB="22860" anchor="ctr">
                    <a:solidFill>
                      <a:srgbClr val="ECE8DC"/>
                    </a:solidFill>
                  </a:tcPr>
                </a:tc>
                <a:tc>
                  <a:txBody>
                    <a:bodyPr/>
                    <a:lstStyle/>
                    <a:p>
                      <a:pPr algn="l"/>
                      <a:r>
                        <a:rPr sz="1050" b="0">
                          <a:solidFill>
                            <a:srgbClr val="171C26"/>
                          </a:solidFill>
                          <a:latin typeface="Consolas"/>
                        </a:rPr>
                        <a:t>14 Sep 19:00</a:t>
                      </a:r>
                    </a:p>
                  </a:txBody>
                  <a:tcPr marL="54864" marR="54864" marT="22860" marB="22860" anchor="ctr">
                    <a:solidFill>
                      <a:srgbClr val="ECE8DC"/>
                    </a:solidFill>
                  </a:tcPr>
                </a:tc>
                <a:tc>
                  <a:txBody>
                    <a:bodyPr/>
                    <a:lstStyle/>
                    <a:p>
                      <a:pPr algn="r"/>
                      <a:r>
                        <a:rPr sz="1050" b="0">
                          <a:solidFill>
                            <a:srgbClr val="B83A2E"/>
                          </a:solidFill>
                          <a:latin typeface="Consolas"/>
                        </a:rPr>
                        <a:t>3 of 5</a:t>
                      </a:r>
                    </a:p>
                  </a:txBody>
                  <a:tcPr marL="54864" marR="54864" marT="22860" marB="22860" anchor="ctr">
                    <a:solidFill>
                      <a:srgbClr val="ECE8DC"/>
                    </a:solidFill>
                  </a:tcPr>
                </a:tc>
                <a:tc>
                  <a:txBody>
                    <a:bodyPr/>
                    <a:lstStyle/>
                    <a:p>
                      <a:pPr algn="r"/>
                      <a:r>
                        <a:rPr sz="1050" b="0">
                          <a:solidFill>
                            <a:srgbClr val="171C26"/>
                          </a:solidFill>
                          <a:latin typeface="Consolas"/>
                        </a:rPr>
                        <a:t>0.293</a:t>
                      </a:r>
                    </a:p>
                  </a:txBody>
                  <a:tcPr marL="54864" marR="54864" marT="22860" marB="22860" anchor="ctr">
                    <a:solidFill>
                      <a:srgbClr val="ECE8DC"/>
                    </a:solidFill>
                  </a:tcPr>
                </a:tc>
                <a:tc>
                  <a:txBody>
                    <a:bodyPr/>
                    <a:lstStyle/>
                    <a:p>
                      <a:pPr algn="r"/>
                      <a:r>
                        <a:rPr sz="1050" b="0">
                          <a:solidFill>
                            <a:srgbClr val="171C26"/>
                          </a:solidFill>
                          <a:latin typeface="Consolas"/>
                        </a:rPr>
                        <a:t>0.522</a:t>
                      </a:r>
                    </a:p>
                  </a:txBody>
                  <a:tcPr marL="54864" marR="54864" marT="22860" marB="22860" anchor="ctr">
                    <a:solidFill>
                      <a:srgbClr val="ECE8DC"/>
                    </a:solidFill>
                  </a:tcPr>
                </a:tc>
                <a:extLst>
                  <a:ext uri="{0D108BD9-81ED-4DB2-BD59-A6C34878D82A}">
                    <a16:rowId xmlns:a16="http://schemas.microsoft.com/office/drawing/2014/main" val="10008"/>
                  </a:ext>
                </a:extLst>
              </a:tr>
              <a:tr h="384048">
                <a:tc>
                  <a:txBody>
                    <a:bodyPr/>
                    <a:lstStyle/>
                    <a:p>
                      <a:pPr algn="l"/>
                      <a:r>
                        <a:rPr sz="1050" b="0">
                          <a:solidFill>
                            <a:srgbClr val="5C6675"/>
                          </a:solidFill>
                          <a:latin typeface="Segoe UI"/>
                        </a:rPr>
                        <a:t>Reference: live ballot share</a:t>
                      </a:r>
                    </a:p>
                  </a:txBody>
                  <a:tcPr marL="54864" marR="54864" marT="22860" marB="22860" anchor="ctr">
                    <a:solidFill>
                      <a:srgbClr val="FFFFFF"/>
                    </a:solidFill>
                  </a:tcPr>
                </a:tc>
                <a:tc>
                  <a:txBody>
                    <a:bodyPr/>
                    <a:lstStyle/>
                    <a:p>
                      <a:pPr algn="l"/>
                      <a:r>
                        <a:rPr sz="1050" b="0">
                          <a:solidFill>
                            <a:srgbClr val="5C6675"/>
                          </a:solidFill>
                          <a:latin typeface="Consolas"/>
                        </a:rPr>
                        <a:t>14 Sep 19:00</a:t>
                      </a:r>
                    </a:p>
                  </a:txBody>
                  <a:tcPr marL="54864" marR="54864" marT="22860" marB="22860" anchor="ctr">
                    <a:solidFill>
                      <a:srgbClr val="FFFFFF"/>
                    </a:solidFill>
                  </a:tcPr>
                </a:tc>
                <a:tc>
                  <a:txBody>
                    <a:bodyPr/>
                    <a:lstStyle/>
                    <a:p>
                      <a:pPr algn="r"/>
                      <a:r>
                        <a:rPr sz="1050" b="0">
                          <a:solidFill>
                            <a:srgbClr val="5C6675"/>
                          </a:solidFill>
                          <a:latin typeface="Consolas"/>
                        </a:rPr>
                        <a:t>5 of 5</a:t>
                      </a:r>
                    </a:p>
                  </a:txBody>
                  <a:tcPr marL="54864" marR="54864" marT="22860" marB="22860" anchor="ctr">
                    <a:solidFill>
                      <a:srgbClr val="FFFFFF"/>
                    </a:solidFill>
                  </a:tcPr>
                </a:tc>
                <a:tc>
                  <a:txBody>
                    <a:bodyPr/>
                    <a:lstStyle/>
                    <a:p>
                      <a:pPr algn="r"/>
                      <a:r>
                        <a:rPr sz="1050" b="0">
                          <a:solidFill>
                            <a:srgbClr val="5C6675"/>
                          </a:solidFill>
                          <a:latin typeface="Consolas"/>
                        </a:rPr>
                        <a:t>0.096</a:t>
                      </a:r>
                    </a:p>
                  </a:txBody>
                  <a:tcPr marL="54864" marR="54864" marT="22860" marB="22860" anchor="ctr">
                    <a:solidFill>
                      <a:srgbClr val="FFFFFF"/>
                    </a:solidFill>
                  </a:tcPr>
                </a:tc>
                <a:tc>
                  <a:txBody>
                    <a:bodyPr/>
                    <a:lstStyle/>
                    <a:p>
                      <a:pPr algn="r"/>
                      <a:r>
                        <a:rPr sz="1050" b="0">
                          <a:solidFill>
                            <a:srgbClr val="5C6675"/>
                          </a:solidFill>
                          <a:latin typeface="Consolas"/>
                        </a:rPr>
                        <a:t>0.254</a:t>
                      </a:r>
                    </a:p>
                  </a:txBody>
                  <a:tcPr marL="54864" marR="54864" marT="22860" marB="22860" anchor="ctr">
                    <a:solidFill>
                      <a:srgbClr val="FFFFFF"/>
                    </a:solidFill>
                  </a:tcPr>
                </a:tc>
                <a:extLst>
                  <a:ext uri="{0D108BD9-81ED-4DB2-BD59-A6C34878D82A}">
                    <a16:rowId xmlns:a16="http://schemas.microsoft.com/office/drawing/2014/main" val="10009"/>
                  </a:ext>
                </a:extLst>
              </a:tr>
            </a:tbl>
          </a:graphicData>
        </a:graphic>
      </p:graphicFrame>
      <p:sp>
        <p:nvSpPr>
          <p:cNvPr id="8" name="Rectangle 7"/>
          <p:cNvSpPr/>
          <p:nvPr/>
        </p:nvSpPr>
        <p:spPr>
          <a:xfrm>
            <a:off x="7498079" y="1645920"/>
            <a:ext cx="4233672" cy="4224528"/>
          </a:xfrm>
          <a:prstGeom prst="rect">
            <a:avLst/>
          </a:prstGeom>
          <a:solidFill>
            <a:srgbClr val="FFFFFF"/>
          </a:solidFill>
          <a:ln w="9525">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498079" y="1645920"/>
            <a:ext cx="4233672" cy="73152"/>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35240" y="1783080"/>
            <a:ext cx="3977639" cy="4069080"/>
          </a:xfrm>
          <a:prstGeom prst="rect">
            <a:avLst/>
          </a:prstGeom>
          <a:noFill/>
        </p:spPr>
        <p:txBody>
          <a:bodyPr wrap="square" lIns="36576" tIns="18288" rIns="36576" bIns="18288" anchor="t">
            <a:spAutoFit/>
          </a:bodyPr>
          <a:lstStyle/>
          <a:p>
            <a:pPr algn="l">
              <a:spcBef>
                <a:spcPts val="0"/>
              </a:spcBef>
              <a:spcAft>
                <a:spcPts val="0"/>
              </a:spcAft>
            </a:pPr>
            <a:r>
              <a:rPr sz="1300" b="1" i="0">
                <a:solidFill>
                  <a:srgbClr val="171C26"/>
                </a:solidFill>
                <a:latin typeface="Bahnschrift"/>
              </a:rPr>
              <a:t>How to read it</a:t>
            </a:r>
          </a:p>
          <a:p>
            <a:pPr marL="201168" indent="-201168" algn="l">
              <a:spcBef>
                <a:spcPts val="600"/>
              </a:spcBef>
              <a:spcAft>
                <a:spcPts val="0"/>
              </a:spcAft>
              <a:buChar char="•"/>
            </a:pPr>
            <a:r>
              <a:rPr sz="1050" b="1" i="0">
                <a:solidFill>
                  <a:srgbClr val="171C26"/>
                </a:solidFill>
                <a:latin typeface="Segoe UI"/>
              </a:rPr>
              <a:t>Accuracy  </a:t>
            </a:r>
            <a:r>
              <a:rPr sz="1050" b="0" i="0">
                <a:solidFill>
                  <a:srgbClr val="171C26"/>
                </a:solidFill>
                <a:latin typeface="Segoe UI"/>
              </a:rPr>
              <a:t>markets where the forecaster's most likely outcome won.</a:t>
            </a:r>
          </a:p>
          <a:p>
            <a:pPr marL="201168" indent="-201168" algn="l">
              <a:spcBef>
                <a:spcPts val="400"/>
              </a:spcBef>
              <a:spcAft>
                <a:spcPts val="0"/>
              </a:spcAft>
              <a:buChar char="•"/>
            </a:pPr>
            <a:r>
              <a:rPr sz="1050" b="1" i="0">
                <a:solidFill>
                  <a:srgbClr val="171C26"/>
                </a:solidFill>
                <a:latin typeface="Segoe UI"/>
              </a:rPr>
              <a:t>Brier  </a:t>
            </a:r>
            <a:r>
              <a:rPr sz="1050" b="0" i="0">
                <a:solidFill>
                  <a:srgbClr val="171C26"/>
                </a:solidFill>
                <a:latin typeface="Segoe UI"/>
              </a:rPr>
              <a:t>squared error summed over a market's outcomes: 0 is perfect, 2 is certain and wrong. A forecast of 0.72 on a winner in a three-way market with 0.14 on each loser scores 0.12.</a:t>
            </a:r>
          </a:p>
          <a:p>
            <a:pPr marL="201168" indent="-201168" algn="l">
              <a:spcBef>
                <a:spcPts val="400"/>
              </a:spcBef>
              <a:spcAft>
                <a:spcPts val="0"/>
              </a:spcAft>
              <a:buChar char="•"/>
            </a:pPr>
            <a:r>
              <a:rPr sz="1050" b="1" i="0">
                <a:solidFill>
                  <a:srgbClr val="171C26"/>
                </a:solidFill>
                <a:latin typeface="Segoe UI"/>
              </a:rPr>
              <a:t>Log loss  </a:t>
            </a:r>
            <a:r>
              <a:rPr sz="1050" b="0" i="0">
                <a:solidFill>
                  <a:srgbClr val="171C26"/>
                </a:solidFill>
                <a:latin typeface="Segoe UI"/>
              </a:rPr>
              <a:t>−ln of the probability given to the winner: 0.72 scores 0.33, 0.33 scores 1.11. It punishes confident misses hardest.</a:t>
            </a:r>
          </a:p>
          <a:p>
            <a:pPr algn="l">
              <a:spcBef>
                <a:spcPts val="800"/>
              </a:spcBef>
              <a:spcAft>
                <a:spcPts val="0"/>
              </a:spcAft>
            </a:pPr>
            <a:r>
              <a:rPr sz="1000" b="0" i="0">
                <a:solidFill>
                  <a:srgbClr val="5C6675"/>
                </a:solidFill>
                <a:latin typeface="Segoe UI"/>
              </a:rPr>
              <a:t>Pools do not price Invalid, so every forecast drops its Invalid share and is rescaled to sum to 1. Counting the agents' Invalid share as a losing outcome instead raises their Brier by 0.002–0.015 and changes no ranking.</a:t>
            </a:r>
          </a:p>
          <a:p>
            <a:pPr algn="l">
              <a:spcBef>
                <a:spcPts val="400"/>
              </a:spcBef>
              <a:spcAft>
                <a:spcPts val="0"/>
              </a:spcAft>
            </a:pPr>
            <a:r>
              <a:rPr sz="1000" b="0" i="0">
                <a:solidFill>
                  <a:srgbClr val="5C6675"/>
                </a:solidFill>
                <a:latin typeface="Segoe UI"/>
              </a:rPr>
              <a:t>The ballot share is a public signal, not anyone's forecast, and was not scored for ranking.</a:t>
            </a:r>
          </a:p>
        </p:txBody>
      </p:sp>
      <p:sp>
        <p:nvSpPr>
          <p:cNvPr id="11" name="TextBox 10"/>
          <p:cNvSpPr txBox="1"/>
          <p:nvPr/>
        </p:nvSpPr>
        <p:spPr>
          <a:xfrm>
            <a:off x="457200" y="5715000"/>
            <a:ext cx="6858000" cy="685800"/>
          </a:xfrm>
          <a:prstGeom prst="rect">
            <a:avLst/>
          </a:prstGeom>
          <a:noFill/>
        </p:spPr>
        <p:txBody>
          <a:bodyPr wrap="square" lIns="36576" tIns="18288" rIns="36576" bIns="18288" anchor="t">
            <a:spAutoFit/>
          </a:bodyPr>
          <a:lstStyle/>
          <a:p>
            <a:pPr algn="l">
              <a:spcBef>
                <a:spcPts val="0"/>
              </a:spcBef>
              <a:spcAft>
                <a:spcPts val="0"/>
              </a:spcAft>
            </a:pPr>
            <a:r>
              <a:rPr sz="1050" b="1" i="0">
                <a:solidFill>
                  <a:srgbClr val="171C26"/>
                </a:solidFill>
                <a:latin typeface="Segoe UI"/>
              </a:rPr>
              <a:t>Every agent picked all five winners; every market snapshot picked three. The agents' Brier scores (0.052–0.153) are 18–52% of the final market's 0.293. Opus 5 scored best on both measures and was the only agent to beat the raw ballot share.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Probability given to the winner, market by market</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Higher is better. Shading deepens with the probability; red marks a forecaster whose most likely outcome lost.</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8</a:t>
            </a:r>
          </a:p>
        </p:txBody>
      </p:sp>
      <p:graphicFrame>
        <p:nvGraphicFramePr>
          <p:cNvPr id="7" name="Table 6"/>
          <p:cNvGraphicFramePr>
            <a:graphicFrameLocks noGrp="1"/>
          </p:cNvGraphicFramePr>
          <p:nvPr/>
        </p:nvGraphicFramePr>
        <p:xfrm>
          <a:off x="457200" y="1572768"/>
          <a:ext cx="11247120" cy="3913632"/>
        </p:xfrm>
        <a:graphic>
          <a:graphicData uri="http://schemas.openxmlformats.org/drawingml/2006/table">
            <a:tbl>
              <a:tblPr firstRow="1">
                <a:tableStyleId>{5C22544A-7EE6-4342-B048-85BDC9FD1C3A}</a:tableStyleId>
              </a:tblPr>
              <a:tblGrid>
                <a:gridCol w="26517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292608">
                <a:tc>
                  <a:txBody>
                    <a:bodyPr/>
                    <a:lstStyle/>
                    <a:p>
                      <a:pPr algn="l"/>
                      <a:r>
                        <a:rPr sz="950" b="1">
                          <a:solidFill>
                            <a:srgbClr val="FFFFFF"/>
                          </a:solidFill>
                          <a:latin typeface="Segoe UI"/>
                        </a:rPr>
                        <a:t>Forecaster</a:t>
                      </a:r>
                    </a:p>
                  </a:txBody>
                  <a:tcPr marL="54864" marR="54864" marT="22860" marB="22860" anchor="ctr">
                    <a:solidFill>
                      <a:srgbClr val="141A2B"/>
                    </a:solidFill>
                  </a:tcPr>
                </a:tc>
                <a:tc>
                  <a:txBody>
                    <a:bodyPr/>
                    <a:lstStyle/>
                    <a:p>
                      <a:pPr algn="ctr"/>
                      <a:r>
                        <a:rPr sz="950" b="1">
                          <a:solidFill>
                            <a:srgbClr val="FFFFFF"/>
                          </a:solidFill>
                          <a:latin typeface="Segoe UI"/>
                        </a:rPr>
                        <a:t>Q1 Preserve halvings</a:t>
                      </a:r>
                    </a:p>
                  </a:txBody>
                  <a:tcPr marL="54864" marR="54864" marT="22860" marB="22860" anchor="ctr">
                    <a:solidFill>
                      <a:srgbClr val="141A2B"/>
                    </a:solidFill>
                  </a:tcPr>
                </a:tc>
                <a:tc>
                  <a:txBody>
                    <a:bodyPr/>
                    <a:lstStyle/>
                    <a:p>
                      <a:pPr algn="ctr"/>
                      <a:r>
                        <a:rPr sz="950" b="1">
                          <a:solidFill>
                            <a:srgbClr val="FFFFFF"/>
                          </a:solidFill>
                          <a:latin typeface="Segoe UI"/>
                        </a:rPr>
                        <a:t>Q2 February 2031</a:t>
                      </a:r>
                    </a:p>
                  </a:txBody>
                  <a:tcPr marL="54864" marR="54864" marT="22860" marB="22860" anchor="ctr">
                    <a:solidFill>
                      <a:srgbClr val="141A2B"/>
                    </a:solidFill>
                  </a:tcPr>
                </a:tc>
                <a:tc>
                  <a:txBody>
                    <a:bodyPr/>
                    <a:lstStyle/>
                    <a:p>
                      <a:pPr algn="ctr"/>
                      <a:r>
                        <a:rPr sz="950" b="1">
                          <a:solidFill>
                            <a:srgbClr val="FFFFFF"/>
                          </a:solidFill>
                          <a:latin typeface="Segoe UI"/>
                        </a:rPr>
                        <a:t>Q3 Immediately</a:t>
                      </a:r>
                    </a:p>
                  </a:txBody>
                  <a:tcPr marL="54864" marR="54864" marT="22860" marB="22860" anchor="ctr">
                    <a:solidFill>
                      <a:srgbClr val="141A2B"/>
                    </a:solidFill>
                  </a:tcPr>
                </a:tc>
                <a:tc>
                  <a:txBody>
                    <a:bodyPr/>
                    <a:lstStyle/>
                    <a:p>
                      <a:pPr algn="ctr"/>
                      <a:r>
                        <a:rPr sz="950" b="1">
                          <a:solidFill>
                            <a:srgbClr val="FFFFFF"/>
                          </a:solidFill>
                          <a:latin typeface="Segoe UI"/>
                        </a:rPr>
                        <a:t>Q4 Yes</a:t>
                      </a:r>
                    </a:p>
                  </a:txBody>
                  <a:tcPr marL="54864" marR="54864" marT="22860" marB="22860" anchor="ctr">
                    <a:solidFill>
                      <a:srgbClr val="141A2B"/>
                    </a:solidFill>
                  </a:tcPr>
                </a:tc>
                <a:tc>
                  <a:txBody>
                    <a:bodyPr/>
                    <a:lstStyle/>
                    <a:p>
                      <a:pPr algn="ctr"/>
                      <a:r>
                        <a:rPr sz="950" b="1">
                          <a:solidFill>
                            <a:srgbClr val="FFFFFF"/>
                          </a:solidFill>
                          <a:latin typeface="Segoe UI"/>
                        </a:rPr>
                        <a:t>Q5 Ship NU7 asap</a:t>
                      </a:r>
                    </a:p>
                  </a:txBody>
                  <a:tcPr marL="54864" marR="54864" marT="22860" marB="22860" anchor="ctr">
                    <a:solidFill>
                      <a:srgbClr val="141A2B"/>
                    </a:solidFill>
                  </a:tcPr>
                </a:tc>
                <a:tc>
                  <a:txBody>
                    <a:bodyPr/>
                    <a:lstStyle/>
                    <a:p>
                      <a:pPr algn="ctr"/>
                      <a:r>
                        <a:rPr sz="950" b="1">
                          <a:solidFill>
                            <a:srgbClr val="FFFFFF"/>
                          </a:solidFill>
                          <a:latin typeface="Segoe UI"/>
                        </a:rPr>
                        <a:t>Mean</a:t>
                      </a:r>
                    </a:p>
                  </a:txBody>
                  <a:tcPr marL="54864" marR="54864" marT="22860" marB="22860" anchor="ctr">
                    <a:solidFill>
                      <a:srgbClr val="141A2B"/>
                    </a:solidFill>
                  </a:tcPr>
                </a:tc>
                <a:extLst>
                  <a:ext uri="{0D108BD9-81ED-4DB2-BD59-A6C34878D82A}">
                    <a16:rowId xmlns:a16="http://schemas.microsoft.com/office/drawing/2014/main" val="10000"/>
                  </a:ext>
                </a:extLst>
              </a:tr>
              <a:tr h="402336">
                <a:tc>
                  <a:txBody>
                    <a:bodyPr/>
                    <a:lstStyle/>
                    <a:p>
                      <a:pPr algn="l"/>
                      <a:r>
                        <a:rPr sz="1050" b="1">
                          <a:solidFill>
                            <a:srgbClr val="C4552A"/>
                          </a:solidFill>
                          <a:latin typeface="Segoe UI"/>
                        </a:rPr>
                        <a:t>Claude Fable 5.1</a:t>
                      </a:r>
                    </a:p>
                  </a:txBody>
                  <a:tcPr marL="54864" marR="54864" marT="22860" marB="22860" anchor="ctr">
                    <a:solidFill>
                      <a:srgbClr val="FFFFFF"/>
                    </a:solidFill>
                  </a:tcPr>
                </a:tc>
                <a:tc>
                  <a:txBody>
                    <a:bodyPr/>
                    <a:lstStyle/>
                    <a:p>
                      <a:pPr algn="ctr"/>
                      <a:r>
                        <a:rPr sz="1100" b="1">
                          <a:solidFill>
                            <a:srgbClr val="171C26"/>
                          </a:solidFill>
                          <a:latin typeface="Consolas"/>
                        </a:rPr>
                        <a:t>0.724</a:t>
                      </a:r>
                    </a:p>
                  </a:txBody>
                  <a:tcPr marL="54864" marR="54864" marT="22860" marB="22860" anchor="ctr">
                    <a:solidFill>
                      <a:srgbClr val="D5ECDC"/>
                    </a:solidFill>
                  </a:tcPr>
                </a:tc>
                <a:tc>
                  <a:txBody>
                    <a:bodyPr/>
                    <a:lstStyle/>
                    <a:p>
                      <a:pPr algn="ctr"/>
                      <a:r>
                        <a:rPr sz="1100" b="1">
                          <a:solidFill>
                            <a:srgbClr val="171C26"/>
                          </a:solidFill>
                          <a:latin typeface="Consolas"/>
                        </a:rPr>
                        <a:t>0.663</a:t>
                      </a:r>
                    </a:p>
                  </a:txBody>
                  <a:tcPr marL="54864" marR="54864" marT="22860" marB="22860" anchor="ctr">
                    <a:solidFill>
                      <a:srgbClr val="DBEEE1"/>
                    </a:solidFill>
                  </a:tcPr>
                </a:tc>
                <a:tc>
                  <a:txBody>
                    <a:bodyPr/>
                    <a:lstStyle/>
                    <a:p>
                      <a:pPr algn="ctr"/>
                      <a:r>
                        <a:rPr sz="1100" b="1">
                          <a:solidFill>
                            <a:srgbClr val="171C26"/>
                          </a:solidFill>
                          <a:latin typeface="Consolas"/>
                        </a:rPr>
                        <a:t>0.510</a:t>
                      </a:r>
                    </a:p>
                  </a:txBody>
                  <a:tcPr marL="54864" marR="54864" marT="22860" marB="22860" anchor="ctr">
                    <a:solidFill>
                      <a:srgbClr val="EAF5EE"/>
                    </a:solidFill>
                  </a:tcPr>
                </a:tc>
                <a:tc>
                  <a:txBody>
                    <a:bodyPr/>
                    <a:lstStyle/>
                    <a:p>
                      <a:pPr algn="ctr"/>
                      <a:r>
                        <a:rPr sz="1100" b="1">
                          <a:solidFill>
                            <a:srgbClr val="171C26"/>
                          </a:solidFill>
                          <a:latin typeface="Consolas"/>
                        </a:rPr>
                        <a:t>0.918</a:t>
                      </a:r>
                    </a:p>
                  </a:txBody>
                  <a:tcPr marL="54864" marR="54864" marT="22860" marB="22860" anchor="ctr">
                    <a:solidFill>
                      <a:srgbClr val="C1E3CD"/>
                    </a:solidFill>
                  </a:tcPr>
                </a:tc>
                <a:tc>
                  <a:txBody>
                    <a:bodyPr/>
                    <a:lstStyle/>
                    <a:p>
                      <a:pPr algn="ctr"/>
                      <a:r>
                        <a:rPr sz="1100" b="1">
                          <a:solidFill>
                            <a:srgbClr val="171C26"/>
                          </a:solidFill>
                          <a:latin typeface="Consolas"/>
                        </a:rPr>
                        <a:t>0.816</a:t>
                      </a:r>
                    </a:p>
                  </a:txBody>
                  <a:tcPr marL="54864" marR="54864" marT="22860" marB="22860" anchor="ctr">
                    <a:solidFill>
                      <a:srgbClr val="CBE7D5"/>
                    </a:solidFill>
                  </a:tcPr>
                </a:tc>
                <a:tc>
                  <a:txBody>
                    <a:bodyPr/>
                    <a:lstStyle/>
                    <a:p>
                      <a:pPr algn="ctr"/>
                      <a:r>
                        <a:rPr sz="1100" b="1">
                          <a:solidFill>
                            <a:srgbClr val="171C26"/>
                          </a:solidFill>
                          <a:latin typeface="Consolas"/>
                        </a:rPr>
                        <a:t>0.727</a:t>
                      </a:r>
                    </a:p>
                  </a:txBody>
                  <a:tcPr marL="54864" marR="54864" marT="22860" marB="22860" anchor="ctr">
                    <a:solidFill>
                      <a:srgbClr val="FFFFFF"/>
                    </a:solidFill>
                  </a:tcPr>
                </a:tc>
                <a:extLst>
                  <a:ext uri="{0D108BD9-81ED-4DB2-BD59-A6C34878D82A}">
                    <a16:rowId xmlns:a16="http://schemas.microsoft.com/office/drawing/2014/main" val="10001"/>
                  </a:ext>
                </a:extLst>
              </a:tr>
              <a:tr h="402336">
                <a:tc>
                  <a:txBody>
                    <a:bodyPr/>
                    <a:lstStyle/>
                    <a:p>
                      <a:pPr algn="l"/>
                      <a:r>
                        <a:rPr sz="1050" b="1">
                          <a:solidFill>
                            <a:srgbClr val="7A2E8C"/>
                          </a:solidFill>
                          <a:latin typeface="Segoe UI"/>
                        </a:rPr>
                        <a:t>Claude Opus 5</a:t>
                      </a:r>
                    </a:p>
                  </a:txBody>
                  <a:tcPr marL="54864" marR="54864" marT="22860" marB="22860" anchor="ctr">
                    <a:solidFill>
                      <a:srgbClr val="EEF0F3"/>
                    </a:solidFill>
                  </a:tcPr>
                </a:tc>
                <a:tc>
                  <a:txBody>
                    <a:bodyPr/>
                    <a:lstStyle/>
                    <a:p>
                      <a:pPr algn="ctr"/>
                      <a:r>
                        <a:rPr sz="1100" b="1">
                          <a:solidFill>
                            <a:srgbClr val="171C26"/>
                          </a:solidFill>
                          <a:latin typeface="Consolas"/>
                        </a:rPr>
                        <a:t>0.727</a:t>
                      </a:r>
                    </a:p>
                  </a:txBody>
                  <a:tcPr marL="54864" marR="54864" marT="22860" marB="22860" anchor="ctr">
                    <a:solidFill>
                      <a:srgbClr val="D4EBDC"/>
                    </a:solidFill>
                  </a:tcPr>
                </a:tc>
                <a:tc>
                  <a:txBody>
                    <a:bodyPr/>
                    <a:lstStyle/>
                    <a:p>
                      <a:pPr algn="ctr"/>
                      <a:r>
                        <a:rPr sz="1100" b="1">
                          <a:solidFill>
                            <a:srgbClr val="171C26"/>
                          </a:solidFill>
                          <a:latin typeface="Consolas"/>
                        </a:rPr>
                        <a:t>0.828</a:t>
                      </a:r>
                    </a:p>
                  </a:txBody>
                  <a:tcPr marL="54864" marR="54864" marT="22860" marB="22860" anchor="ctr">
                    <a:solidFill>
                      <a:srgbClr val="CAE7D4"/>
                    </a:solidFill>
                  </a:tcPr>
                </a:tc>
                <a:tc>
                  <a:txBody>
                    <a:bodyPr/>
                    <a:lstStyle/>
                    <a:p>
                      <a:pPr algn="ctr"/>
                      <a:r>
                        <a:rPr sz="1100" b="1">
                          <a:solidFill>
                            <a:srgbClr val="171C26"/>
                          </a:solidFill>
                          <a:latin typeface="Consolas"/>
                        </a:rPr>
                        <a:t>0.778</a:t>
                      </a:r>
                    </a:p>
                  </a:txBody>
                  <a:tcPr marL="54864" marR="54864" marT="22860" marB="22860" anchor="ctr">
                    <a:solidFill>
                      <a:srgbClr val="CFE9D8"/>
                    </a:solidFill>
                  </a:tcPr>
                </a:tc>
                <a:tc>
                  <a:txBody>
                    <a:bodyPr/>
                    <a:lstStyle/>
                    <a:p>
                      <a:pPr algn="ctr"/>
                      <a:r>
                        <a:rPr sz="1100" b="1">
                          <a:solidFill>
                            <a:srgbClr val="171C26"/>
                          </a:solidFill>
                          <a:latin typeface="Consolas"/>
                        </a:rPr>
                        <a:t>0.970</a:t>
                      </a:r>
                    </a:p>
                  </a:txBody>
                  <a:tcPr marL="54864" marR="54864" marT="22860" marB="22860" anchor="ctr">
                    <a:solidFill>
                      <a:srgbClr val="BCE0C8"/>
                    </a:solidFill>
                  </a:tcPr>
                </a:tc>
                <a:tc>
                  <a:txBody>
                    <a:bodyPr/>
                    <a:lstStyle/>
                    <a:p>
                      <a:pPr algn="ctr"/>
                      <a:r>
                        <a:rPr sz="1100" b="1">
                          <a:solidFill>
                            <a:srgbClr val="171C26"/>
                          </a:solidFill>
                          <a:latin typeface="Consolas"/>
                        </a:rPr>
                        <a:t>0.899</a:t>
                      </a:r>
                    </a:p>
                  </a:txBody>
                  <a:tcPr marL="54864" marR="54864" marT="22860" marB="22860" anchor="ctr">
                    <a:solidFill>
                      <a:srgbClr val="C3E4CE"/>
                    </a:solidFill>
                  </a:tcPr>
                </a:tc>
                <a:tc>
                  <a:txBody>
                    <a:bodyPr/>
                    <a:lstStyle/>
                    <a:p>
                      <a:pPr algn="ctr"/>
                      <a:r>
                        <a:rPr sz="1100" b="1">
                          <a:solidFill>
                            <a:srgbClr val="171C26"/>
                          </a:solidFill>
                          <a:latin typeface="Consolas"/>
                        </a:rPr>
                        <a:t>0.840</a:t>
                      </a:r>
                    </a:p>
                  </a:txBody>
                  <a:tcPr marL="54864" marR="54864" marT="22860" marB="22860" anchor="ctr">
                    <a:solidFill>
                      <a:srgbClr val="EEF0F3"/>
                    </a:solidFill>
                  </a:tcPr>
                </a:tc>
                <a:extLst>
                  <a:ext uri="{0D108BD9-81ED-4DB2-BD59-A6C34878D82A}">
                    <a16:rowId xmlns:a16="http://schemas.microsoft.com/office/drawing/2014/main" val="10002"/>
                  </a:ext>
                </a:extLst>
              </a:tr>
              <a:tr h="402336">
                <a:tc>
                  <a:txBody>
                    <a:bodyPr/>
                    <a:lstStyle/>
                    <a:p>
                      <a:pPr algn="l"/>
                      <a:r>
                        <a:rPr sz="1050" b="1">
                          <a:solidFill>
                            <a:srgbClr val="1B7F63"/>
                          </a:solidFill>
                          <a:latin typeface="Segoe UI"/>
                        </a:rPr>
                        <a:t>GPT-6 Astra</a:t>
                      </a:r>
                    </a:p>
                  </a:txBody>
                  <a:tcPr marL="54864" marR="54864" marT="22860" marB="22860" anchor="ctr">
                    <a:solidFill>
                      <a:srgbClr val="FFFFFF"/>
                    </a:solidFill>
                  </a:tcPr>
                </a:tc>
                <a:tc>
                  <a:txBody>
                    <a:bodyPr/>
                    <a:lstStyle/>
                    <a:p>
                      <a:pPr algn="ctr"/>
                      <a:r>
                        <a:rPr sz="1100" b="1">
                          <a:solidFill>
                            <a:srgbClr val="171C26"/>
                          </a:solidFill>
                          <a:latin typeface="Consolas"/>
                        </a:rPr>
                        <a:t>0.737</a:t>
                      </a:r>
                    </a:p>
                  </a:txBody>
                  <a:tcPr marL="54864" marR="54864" marT="22860" marB="22860" anchor="ctr">
                    <a:solidFill>
                      <a:srgbClr val="D3EBDB"/>
                    </a:solidFill>
                  </a:tcPr>
                </a:tc>
                <a:tc>
                  <a:txBody>
                    <a:bodyPr/>
                    <a:lstStyle/>
                    <a:p>
                      <a:pPr algn="ctr"/>
                      <a:r>
                        <a:rPr sz="1100" b="1">
                          <a:solidFill>
                            <a:srgbClr val="171C26"/>
                          </a:solidFill>
                          <a:latin typeface="Consolas"/>
                        </a:rPr>
                        <a:t>0.684</a:t>
                      </a:r>
                    </a:p>
                  </a:txBody>
                  <a:tcPr marL="54864" marR="54864" marT="22860" marB="22860" anchor="ctr">
                    <a:solidFill>
                      <a:srgbClr val="D9EDE0"/>
                    </a:solidFill>
                  </a:tcPr>
                </a:tc>
                <a:tc>
                  <a:txBody>
                    <a:bodyPr/>
                    <a:lstStyle/>
                    <a:p>
                      <a:pPr algn="ctr"/>
                      <a:r>
                        <a:rPr sz="1100" b="1">
                          <a:solidFill>
                            <a:srgbClr val="171C26"/>
                          </a:solidFill>
                          <a:latin typeface="Consolas"/>
                        </a:rPr>
                        <a:t>0.632</a:t>
                      </a:r>
                    </a:p>
                  </a:txBody>
                  <a:tcPr marL="54864" marR="54864" marT="22860" marB="22860" anchor="ctr">
                    <a:solidFill>
                      <a:srgbClr val="DEF0E4"/>
                    </a:solidFill>
                  </a:tcPr>
                </a:tc>
                <a:tc>
                  <a:txBody>
                    <a:bodyPr/>
                    <a:lstStyle/>
                    <a:p>
                      <a:pPr algn="ctr"/>
                      <a:r>
                        <a:rPr sz="1100" b="1">
                          <a:solidFill>
                            <a:srgbClr val="171C26"/>
                          </a:solidFill>
                          <a:latin typeface="Consolas"/>
                        </a:rPr>
                        <a:t>0.948</a:t>
                      </a:r>
                    </a:p>
                  </a:txBody>
                  <a:tcPr marL="54864" marR="54864" marT="22860" marB="22860" anchor="ctr">
                    <a:solidFill>
                      <a:srgbClr val="BEE1CA"/>
                    </a:solidFill>
                  </a:tcPr>
                </a:tc>
                <a:tc>
                  <a:txBody>
                    <a:bodyPr/>
                    <a:lstStyle/>
                    <a:p>
                      <a:pPr algn="ctr"/>
                      <a:r>
                        <a:rPr sz="1100" b="1">
                          <a:solidFill>
                            <a:srgbClr val="171C26"/>
                          </a:solidFill>
                          <a:latin typeface="Consolas"/>
                        </a:rPr>
                        <a:t>0.895</a:t>
                      </a:r>
                    </a:p>
                  </a:txBody>
                  <a:tcPr marL="54864" marR="54864" marT="22860" marB="22860" anchor="ctr">
                    <a:solidFill>
                      <a:srgbClr val="C4E4CF"/>
                    </a:solidFill>
                  </a:tcPr>
                </a:tc>
                <a:tc>
                  <a:txBody>
                    <a:bodyPr/>
                    <a:lstStyle/>
                    <a:p>
                      <a:pPr algn="ctr"/>
                      <a:r>
                        <a:rPr sz="1100" b="1">
                          <a:solidFill>
                            <a:srgbClr val="171C26"/>
                          </a:solidFill>
                          <a:latin typeface="Consolas"/>
                        </a:rPr>
                        <a:t>0.779</a:t>
                      </a:r>
                    </a:p>
                  </a:txBody>
                  <a:tcPr marL="54864" marR="54864" marT="22860" marB="22860" anchor="ctr">
                    <a:solidFill>
                      <a:srgbClr val="FFFFFF"/>
                    </a:solidFill>
                  </a:tcPr>
                </a:tc>
                <a:extLst>
                  <a:ext uri="{0D108BD9-81ED-4DB2-BD59-A6C34878D82A}">
                    <a16:rowId xmlns:a16="http://schemas.microsoft.com/office/drawing/2014/main" val="10003"/>
                  </a:ext>
                </a:extLst>
              </a:tr>
              <a:tr h="402336">
                <a:tc>
                  <a:txBody>
                    <a:bodyPr/>
                    <a:lstStyle/>
                    <a:p>
                      <a:pPr algn="l"/>
                      <a:r>
                        <a:rPr sz="1050" b="1">
                          <a:solidFill>
                            <a:srgbClr val="2F6FD6"/>
                          </a:solidFill>
                          <a:latin typeface="Segoe UI"/>
                        </a:rPr>
                        <a:t>GPT-5.6 Sol</a:t>
                      </a:r>
                    </a:p>
                  </a:txBody>
                  <a:tcPr marL="54864" marR="54864" marT="22860" marB="22860" anchor="ctr">
                    <a:solidFill>
                      <a:srgbClr val="EEF0F3"/>
                    </a:solidFill>
                  </a:tcPr>
                </a:tc>
                <a:tc>
                  <a:txBody>
                    <a:bodyPr/>
                    <a:lstStyle/>
                    <a:p>
                      <a:pPr algn="ctr"/>
                      <a:r>
                        <a:rPr sz="1100" b="1">
                          <a:solidFill>
                            <a:srgbClr val="171C26"/>
                          </a:solidFill>
                          <a:latin typeface="Consolas"/>
                        </a:rPr>
                        <a:t>0.643</a:t>
                      </a:r>
                    </a:p>
                  </a:txBody>
                  <a:tcPr marL="54864" marR="54864" marT="22860" marB="22860" anchor="ctr">
                    <a:solidFill>
                      <a:srgbClr val="DDEFE3"/>
                    </a:solidFill>
                  </a:tcPr>
                </a:tc>
                <a:tc>
                  <a:txBody>
                    <a:bodyPr/>
                    <a:lstStyle/>
                    <a:p>
                      <a:pPr algn="ctr"/>
                      <a:r>
                        <a:rPr sz="1100" b="1">
                          <a:solidFill>
                            <a:srgbClr val="171C26"/>
                          </a:solidFill>
                          <a:latin typeface="Consolas"/>
                        </a:rPr>
                        <a:t>0.722</a:t>
                      </a:r>
                    </a:p>
                  </a:txBody>
                  <a:tcPr marL="54864" marR="54864" marT="22860" marB="22860" anchor="ctr">
                    <a:solidFill>
                      <a:srgbClr val="D5ECDD"/>
                    </a:solidFill>
                  </a:tcPr>
                </a:tc>
                <a:tc>
                  <a:txBody>
                    <a:bodyPr/>
                    <a:lstStyle/>
                    <a:p>
                      <a:pPr algn="ctr"/>
                      <a:r>
                        <a:rPr sz="1100" b="1">
                          <a:solidFill>
                            <a:srgbClr val="171C26"/>
                          </a:solidFill>
                          <a:latin typeface="Consolas"/>
                        </a:rPr>
                        <a:t>0.546</a:t>
                      </a:r>
                    </a:p>
                  </a:txBody>
                  <a:tcPr marL="54864" marR="54864" marT="22860" marB="22860" anchor="ctr">
                    <a:solidFill>
                      <a:srgbClr val="E6F4EB"/>
                    </a:solidFill>
                  </a:tcPr>
                </a:tc>
                <a:tc>
                  <a:txBody>
                    <a:bodyPr/>
                    <a:lstStyle/>
                    <a:p>
                      <a:pPr algn="ctr"/>
                      <a:r>
                        <a:rPr sz="1100" b="1">
                          <a:solidFill>
                            <a:srgbClr val="171C26"/>
                          </a:solidFill>
                          <a:latin typeface="Consolas"/>
                        </a:rPr>
                        <a:t>0.969</a:t>
                      </a:r>
                    </a:p>
                  </a:txBody>
                  <a:tcPr marL="54864" marR="54864" marT="22860" marB="22860" anchor="ctr">
                    <a:solidFill>
                      <a:srgbClr val="BCE0C8"/>
                    </a:solidFill>
                  </a:tcPr>
                </a:tc>
                <a:tc>
                  <a:txBody>
                    <a:bodyPr/>
                    <a:lstStyle/>
                    <a:p>
                      <a:pPr algn="ctr"/>
                      <a:r>
                        <a:rPr sz="1100" b="1">
                          <a:solidFill>
                            <a:srgbClr val="171C26"/>
                          </a:solidFill>
                          <a:latin typeface="Consolas"/>
                        </a:rPr>
                        <a:t>0.876</a:t>
                      </a:r>
                    </a:p>
                  </a:txBody>
                  <a:tcPr marL="54864" marR="54864" marT="22860" marB="22860" anchor="ctr">
                    <a:solidFill>
                      <a:srgbClr val="C5E5D0"/>
                    </a:solidFill>
                  </a:tcPr>
                </a:tc>
                <a:tc>
                  <a:txBody>
                    <a:bodyPr/>
                    <a:lstStyle/>
                    <a:p>
                      <a:pPr algn="ctr"/>
                      <a:r>
                        <a:rPr sz="1100" b="1">
                          <a:solidFill>
                            <a:srgbClr val="171C26"/>
                          </a:solidFill>
                          <a:latin typeface="Consolas"/>
                        </a:rPr>
                        <a:t>0.751</a:t>
                      </a:r>
                    </a:p>
                  </a:txBody>
                  <a:tcPr marL="54864" marR="54864" marT="22860" marB="22860" anchor="ctr">
                    <a:solidFill>
                      <a:srgbClr val="EEF0F3"/>
                    </a:solidFill>
                  </a:tcPr>
                </a:tc>
                <a:extLst>
                  <a:ext uri="{0D108BD9-81ED-4DB2-BD59-A6C34878D82A}">
                    <a16:rowId xmlns:a16="http://schemas.microsoft.com/office/drawing/2014/main" val="10004"/>
                  </a:ext>
                </a:extLst>
              </a:tr>
              <a:tr h="402336">
                <a:tc>
                  <a:txBody>
                    <a:bodyPr/>
                    <a:lstStyle/>
                    <a:p>
                      <a:pPr algn="l"/>
                      <a:r>
                        <a:rPr sz="1050" b="0">
                          <a:solidFill>
                            <a:srgbClr val="171C26"/>
                          </a:solidFill>
                          <a:latin typeface="Segoe UI"/>
                        </a:rPr>
                        <a:t>Mean of the four agents</a:t>
                      </a:r>
                    </a:p>
                  </a:txBody>
                  <a:tcPr marL="54864" marR="54864" marT="22860" marB="22860" anchor="ctr">
                    <a:solidFill>
                      <a:srgbClr val="FFFFFF"/>
                    </a:solidFill>
                  </a:tcPr>
                </a:tc>
                <a:tc>
                  <a:txBody>
                    <a:bodyPr/>
                    <a:lstStyle/>
                    <a:p>
                      <a:pPr algn="ctr"/>
                      <a:r>
                        <a:rPr sz="1100" b="1">
                          <a:solidFill>
                            <a:srgbClr val="171C26"/>
                          </a:solidFill>
                          <a:latin typeface="Consolas"/>
                        </a:rPr>
                        <a:t>0.708</a:t>
                      </a:r>
                    </a:p>
                  </a:txBody>
                  <a:tcPr marL="54864" marR="54864" marT="22860" marB="22860" anchor="ctr">
                    <a:solidFill>
                      <a:srgbClr val="D6ECDE"/>
                    </a:solidFill>
                  </a:tcPr>
                </a:tc>
                <a:tc>
                  <a:txBody>
                    <a:bodyPr/>
                    <a:lstStyle/>
                    <a:p>
                      <a:pPr algn="ctr"/>
                      <a:r>
                        <a:rPr sz="1100" b="1">
                          <a:solidFill>
                            <a:srgbClr val="171C26"/>
                          </a:solidFill>
                          <a:latin typeface="Consolas"/>
                        </a:rPr>
                        <a:t>0.724</a:t>
                      </a:r>
                    </a:p>
                  </a:txBody>
                  <a:tcPr marL="54864" marR="54864" marT="22860" marB="22860" anchor="ctr">
                    <a:solidFill>
                      <a:srgbClr val="D5ECDC"/>
                    </a:solidFill>
                  </a:tcPr>
                </a:tc>
                <a:tc>
                  <a:txBody>
                    <a:bodyPr/>
                    <a:lstStyle/>
                    <a:p>
                      <a:pPr algn="ctr"/>
                      <a:r>
                        <a:rPr sz="1100" b="1">
                          <a:solidFill>
                            <a:srgbClr val="171C26"/>
                          </a:solidFill>
                          <a:latin typeface="Consolas"/>
                        </a:rPr>
                        <a:t>0.616</a:t>
                      </a:r>
                    </a:p>
                  </a:txBody>
                  <a:tcPr marL="54864" marR="54864" marT="22860" marB="22860" anchor="ctr">
                    <a:solidFill>
                      <a:srgbClr val="DFF1E5"/>
                    </a:solidFill>
                  </a:tcPr>
                </a:tc>
                <a:tc>
                  <a:txBody>
                    <a:bodyPr/>
                    <a:lstStyle/>
                    <a:p>
                      <a:pPr algn="ctr"/>
                      <a:r>
                        <a:rPr sz="1100" b="1">
                          <a:solidFill>
                            <a:srgbClr val="171C26"/>
                          </a:solidFill>
                          <a:latin typeface="Consolas"/>
                        </a:rPr>
                        <a:t>0.951</a:t>
                      </a:r>
                    </a:p>
                  </a:txBody>
                  <a:tcPr marL="54864" marR="54864" marT="22860" marB="22860" anchor="ctr">
                    <a:solidFill>
                      <a:srgbClr val="BEE1CA"/>
                    </a:solidFill>
                  </a:tcPr>
                </a:tc>
                <a:tc>
                  <a:txBody>
                    <a:bodyPr/>
                    <a:lstStyle/>
                    <a:p>
                      <a:pPr algn="ctr"/>
                      <a:r>
                        <a:rPr sz="1100" b="1">
                          <a:solidFill>
                            <a:srgbClr val="171C26"/>
                          </a:solidFill>
                          <a:latin typeface="Consolas"/>
                        </a:rPr>
                        <a:t>0.872</a:t>
                      </a:r>
                    </a:p>
                  </a:txBody>
                  <a:tcPr marL="54864" marR="54864" marT="22860" marB="22860" anchor="ctr">
                    <a:solidFill>
                      <a:srgbClr val="C6E5D0"/>
                    </a:solidFill>
                  </a:tcPr>
                </a:tc>
                <a:tc>
                  <a:txBody>
                    <a:bodyPr/>
                    <a:lstStyle/>
                    <a:p>
                      <a:pPr algn="ctr"/>
                      <a:r>
                        <a:rPr sz="1100" b="1">
                          <a:solidFill>
                            <a:srgbClr val="171C26"/>
                          </a:solidFill>
                          <a:latin typeface="Consolas"/>
                        </a:rPr>
                        <a:t>0.774</a:t>
                      </a:r>
                    </a:p>
                  </a:txBody>
                  <a:tcPr marL="54864" marR="54864" marT="22860" marB="22860" anchor="ctr">
                    <a:solidFill>
                      <a:srgbClr val="FFFFFF"/>
                    </a:solidFill>
                  </a:tcPr>
                </a:tc>
                <a:extLst>
                  <a:ext uri="{0D108BD9-81ED-4DB2-BD59-A6C34878D82A}">
                    <a16:rowId xmlns:a16="http://schemas.microsoft.com/office/drawing/2014/main" val="10005"/>
                  </a:ext>
                </a:extLst>
              </a:tr>
              <a:tr h="402336">
                <a:tc>
                  <a:txBody>
                    <a:bodyPr/>
                    <a:lstStyle/>
                    <a:p>
                      <a:pPr algn="l"/>
                      <a:r>
                        <a:rPr sz="1050" b="0">
                          <a:solidFill>
                            <a:srgbClr val="171C26"/>
                          </a:solidFill>
                          <a:latin typeface="Segoe UI"/>
                        </a:rPr>
                        <a:t>Base rate: opening price (pool seed)</a:t>
                      </a:r>
                    </a:p>
                  </a:txBody>
                  <a:tcPr marL="54864" marR="54864" marT="22860" marB="22860" anchor="ctr">
                    <a:solidFill>
                      <a:srgbClr val="EEF0F3"/>
                    </a:solidFill>
                  </a:tcPr>
                </a:tc>
                <a:tc>
                  <a:txBody>
                    <a:bodyPr/>
                    <a:lstStyle/>
                    <a:p>
                      <a:pPr algn="ctr"/>
                      <a:r>
                        <a:rPr sz="1100" b="1">
                          <a:solidFill>
                            <a:srgbClr val="171C26"/>
                          </a:solidFill>
                          <a:latin typeface="Consolas"/>
                        </a:rPr>
                        <a:t>0.750</a:t>
                      </a:r>
                    </a:p>
                  </a:txBody>
                  <a:tcPr marL="54864" marR="54864" marT="22860" marB="22860" anchor="ctr">
                    <a:solidFill>
                      <a:srgbClr val="D2EADA"/>
                    </a:solidFill>
                  </a:tcPr>
                </a:tc>
                <a:tc>
                  <a:txBody>
                    <a:bodyPr/>
                    <a:lstStyle/>
                    <a:p>
                      <a:pPr algn="ctr"/>
                      <a:r>
                        <a:rPr sz="1100" b="1">
                          <a:solidFill>
                            <a:srgbClr val="B83A2E"/>
                          </a:solidFill>
                          <a:latin typeface="Consolas"/>
                        </a:rPr>
                        <a:t>0.300</a:t>
                      </a:r>
                    </a:p>
                    <a:p>
                      <a:pPr algn="ctr"/>
                      <a:r>
                        <a:rPr sz="850" b="0">
                          <a:solidFill>
                            <a:srgbClr val="B83A2E"/>
                          </a:solidFill>
                          <a:latin typeface="Segoe UI"/>
                        </a:rPr>
                        <a:t>top pick: ASAP</a:t>
                      </a:r>
                    </a:p>
                  </a:txBody>
                  <a:tcPr marL="54864" marR="54864" marT="22860" marB="22860" anchor="ctr">
                    <a:solidFill>
                      <a:srgbClr val="F6E1DE"/>
                    </a:solidFill>
                  </a:tcPr>
                </a:tc>
                <a:tc>
                  <a:txBody>
                    <a:bodyPr/>
                    <a:lstStyle/>
                    <a:p>
                      <a:pPr algn="ctr"/>
                      <a:r>
                        <a:rPr sz="1100" b="1">
                          <a:solidFill>
                            <a:srgbClr val="B83A2E"/>
                          </a:solidFill>
                          <a:latin typeface="Consolas"/>
                        </a:rPr>
                        <a:t>0.300</a:t>
                      </a:r>
                    </a:p>
                    <a:p>
                      <a:pPr algn="ctr"/>
                      <a:r>
                        <a:rPr sz="850" b="0">
                          <a:solidFill>
                            <a:srgbClr val="B83A2E"/>
                          </a:solidFill>
                          <a:latin typeface="Segoe UI"/>
                        </a:rPr>
                        <a:t>top pick: No date</a:t>
                      </a:r>
                    </a:p>
                  </a:txBody>
                  <a:tcPr marL="54864" marR="54864" marT="22860" marB="22860" anchor="ctr">
                    <a:solidFill>
                      <a:srgbClr val="F6E1DE"/>
                    </a:solidFill>
                  </a:tcPr>
                </a:tc>
                <a:tc>
                  <a:txBody>
                    <a:bodyPr/>
                    <a:lstStyle/>
                    <a:p>
                      <a:pPr algn="ctr"/>
                      <a:r>
                        <a:rPr sz="1100" b="1">
                          <a:solidFill>
                            <a:srgbClr val="171C26"/>
                          </a:solidFill>
                          <a:latin typeface="Consolas"/>
                        </a:rPr>
                        <a:t>0.900</a:t>
                      </a:r>
                    </a:p>
                  </a:txBody>
                  <a:tcPr marL="54864" marR="54864" marT="22860" marB="22860" anchor="ctr">
                    <a:solidFill>
                      <a:srgbClr val="C3E4CE"/>
                    </a:solidFill>
                  </a:tcPr>
                </a:tc>
                <a:tc>
                  <a:txBody>
                    <a:bodyPr/>
                    <a:lstStyle/>
                    <a:p>
                      <a:pPr algn="ctr"/>
                      <a:r>
                        <a:rPr sz="1100" b="1">
                          <a:solidFill>
                            <a:srgbClr val="171C26"/>
                          </a:solidFill>
                          <a:latin typeface="Consolas"/>
                        </a:rPr>
                        <a:t>0.700</a:t>
                      </a:r>
                    </a:p>
                  </a:txBody>
                  <a:tcPr marL="54864" marR="54864" marT="22860" marB="22860" anchor="ctr">
                    <a:solidFill>
                      <a:srgbClr val="D7EDDE"/>
                    </a:solidFill>
                  </a:tcPr>
                </a:tc>
                <a:tc>
                  <a:txBody>
                    <a:bodyPr/>
                    <a:lstStyle/>
                    <a:p>
                      <a:pPr algn="ctr"/>
                      <a:r>
                        <a:rPr sz="1100" b="1">
                          <a:solidFill>
                            <a:srgbClr val="171C26"/>
                          </a:solidFill>
                          <a:latin typeface="Consolas"/>
                        </a:rPr>
                        <a:t>0.590</a:t>
                      </a:r>
                    </a:p>
                  </a:txBody>
                  <a:tcPr marL="54864" marR="54864" marT="22860" marB="22860" anchor="ctr">
                    <a:solidFill>
                      <a:srgbClr val="EEF0F3"/>
                    </a:solidFill>
                  </a:tcPr>
                </a:tc>
                <a:extLst>
                  <a:ext uri="{0D108BD9-81ED-4DB2-BD59-A6C34878D82A}">
                    <a16:rowId xmlns:a16="http://schemas.microsoft.com/office/drawing/2014/main" val="10006"/>
                  </a:ext>
                </a:extLst>
              </a:tr>
              <a:tr h="402336">
                <a:tc>
                  <a:txBody>
                    <a:bodyPr/>
                    <a:lstStyle/>
                    <a:p>
                      <a:pPr algn="l"/>
                      <a:r>
                        <a:rPr sz="1050" b="0">
                          <a:solidFill>
                            <a:srgbClr val="171C26"/>
                          </a:solidFill>
                          <a:latin typeface="Segoe UI"/>
                        </a:rPr>
                        <a:t>Base rate: market before the bots traded</a:t>
                      </a:r>
                    </a:p>
                  </a:txBody>
                  <a:tcPr marL="54864" marR="54864" marT="22860" marB="22860" anchor="ctr">
                    <a:solidFill>
                      <a:srgbClr val="FFFFFF"/>
                    </a:solidFill>
                  </a:tcPr>
                </a:tc>
                <a:tc>
                  <a:txBody>
                    <a:bodyPr/>
                    <a:lstStyle/>
                    <a:p>
                      <a:pPr algn="ctr"/>
                      <a:r>
                        <a:rPr sz="1100" b="1">
                          <a:solidFill>
                            <a:srgbClr val="171C26"/>
                          </a:solidFill>
                          <a:latin typeface="Consolas"/>
                        </a:rPr>
                        <a:t>0.718</a:t>
                      </a:r>
                    </a:p>
                  </a:txBody>
                  <a:tcPr marL="54864" marR="54864" marT="22860" marB="22860" anchor="ctr">
                    <a:solidFill>
                      <a:srgbClr val="D5ECDD"/>
                    </a:solidFill>
                  </a:tcPr>
                </a:tc>
                <a:tc>
                  <a:txBody>
                    <a:bodyPr/>
                    <a:lstStyle/>
                    <a:p>
                      <a:pPr algn="ctr"/>
                      <a:r>
                        <a:rPr sz="1100" b="1">
                          <a:solidFill>
                            <a:srgbClr val="B83A2E"/>
                          </a:solidFill>
                          <a:latin typeface="Consolas"/>
                        </a:rPr>
                        <a:t>0.303</a:t>
                      </a:r>
                    </a:p>
                    <a:p>
                      <a:pPr algn="ctr"/>
                      <a:r>
                        <a:rPr sz="850" b="0">
                          <a:solidFill>
                            <a:srgbClr val="B83A2E"/>
                          </a:solidFill>
                          <a:latin typeface="Segoe UI"/>
                        </a:rPr>
                        <a:t>top pick: ASAP</a:t>
                      </a:r>
                    </a:p>
                  </a:txBody>
                  <a:tcPr marL="54864" marR="54864" marT="22860" marB="22860" anchor="ctr">
                    <a:solidFill>
                      <a:srgbClr val="F6E1DE"/>
                    </a:solidFill>
                  </a:tcPr>
                </a:tc>
                <a:tc>
                  <a:txBody>
                    <a:bodyPr/>
                    <a:lstStyle/>
                    <a:p>
                      <a:pPr algn="ctr"/>
                      <a:r>
                        <a:rPr sz="1100" b="1">
                          <a:solidFill>
                            <a:srgbClr val="B83A2E"/>
                          </a:solidFill>
                          <a:latin typeface="Consolas"/>
                        </a:rPr>
                        <a:t>0.284</a:t>
                      </a:r>
                    </a:p>
                    <a:p>
                      <a:pPr algn="ctr"/>
                      <a:r>
                        <a:rPr sz="850" b="0">
                          <a:solidFill>
                            <a:srgbClr val="B83A2E"/>
                          </a:solidFill>
                          <a:latin typeface="Segoe UI"/>
                        </a:rPr>
                        <a:t>top pick: No date</a:t>
                      </a:r>
                    </a:p>
                  </a:txBody>
                  <a:tcPr marL="54864" marR="54864" marT="22860" marB="22860" anchor="ctr">
                    <a:solidFill>
                      <a:srgbClr val="F6E1DE"/>
                    </a:solidFill>
                  </a:tcPr>
                </a:tc>
                <a:tc>
                  <a:txBody>
                    <a:bodyPr/>
                    <a:lstStyle/>
                    <a:p>
                      <a:pPr algn="ctr"/>
                      <a:r>
                        <a:rPr sz="1100" b="1">
                          <a:solidFill>
                            <a:srgbClr val="171C26"/>
                          </a:solidFill>
                          <a:latin typeface="Consolas"/>
                        </a:rPr>
                        <a:t>0.880</a:t>
                      </a:r>
                    </a:p>
                  </a:txBody>
                  <a:tcPr marL="54864" marR="54864" marT="22860" marB="22860" anchor="ctr">
                    <a:solidFill>
                      <a:srgbClr val="C5E4D0"/>
                    </a:solidFill>
                  </a:tcPr>
                </a:tc>
                <a:tc>
                  <a:txBody>
                    <a:bodyPr/>
                    <a:lstStyle/>
                    <a:p>
                      <a:pPr algn="ctr"/>
                      <a:r>
                        <a:rPr sz="1100" b="1">
                          <a:solidFill>
                            <a:srgbClr val="171C26"/>
                          </a:solidFill>
                          <a:latin typeface="Consolas"/>
                        </a:rPr>
                        <a:t>0.716</a:t>
                      </a:r>
                    </a:p>
                  </a:txBody>
                  <a:tcPr marL="54864" marR="54864" marT="22860" marB="22860" anchor="ctr">
                    <a:solidFill>
                      <a:srgbClr val="D5ECDD"/>
                    </a:solidFill>
                  </a:tcPr>
                </a:tc>
                <a:tc>
                  <a:txBody>
                    <a:bodyPr/>
                    <a:lstStyle/>
                    <a:p>
                      <a:pPr algn="ctr"/>
                      <a:r>
                        <a:rPr sz="1100" b="1">
                          <a:solidFill>
                            <a:srgbClr val="171C26"/>
                          </a:solidFill>
                          <a:latin typeface="Consolas"/>
                        </a:rPr>
                        <a:t>0.580</a:t>
                      </a:r>
                    </a:p>
                  </a:txBody>
                  <a:tcPr marL="54864" marR="54864" marT="22860" marB="22860" anchor="ctr">
                    <a:solidFill>
                      <a:srgbClr val="FFFFFF"/>
                    </a:solidFill>
                  </a:tcPr>
                </a:tc>
                <a:extLst>
                  <a:ext uri="{0D108BD9-81ED-4DB2-BD59-A6C34878D82A}">
                    <a16:rowId xmlns:a16="http://schemas.microsoft.com/office/drawing/2014/main" val="10007"/>
                  </a:ext>
                </a:extLst>
              </a:tr>
              <a:tr h="402336">
                <a:tc>
                  <a:txBody>
                    <a:bodyPr/>
                    <a:lstStyle/>
                    <a:p>
                      <a:pPr algn="l"/>
                      <a:r>
                        <a:rPr sz="1050" b="0">
                          <a:solidFill>
                            <a:srgbClr val="171C26"/>
                          </a:solidFill>
                          <a:latin typeface="Segoe UI"/>
                        </a:rPr>
                        <a:t>Market rate: final pool price</a:t>
                      </a:r>
                    </a:p>
                  </a:txBody>
                  <a:tcPr marL="54864" marR="54864" marT="22860" marB="22860" anchor="ctr">
                    <a:solidFill>
                      <a:srgbClr val="EEF0F3"/>
                    </a:solidFill>
                  </a:tcPr>
                </a:tc>
                <a:tc>
                  <a:txBody>
                    <a:bodyPr/>
                    <a:lstStyle/>
                    <a:p>
                      <a:pPr algn="ctr"/>
                      <a:r>
                        <a:rPr sz="1100" b="1">
                          <a:solidFill>
                            <a:srgbClr val="171C26"/>
                          </a:solidFill>
                          <a:latin typeface="Consolas"/>
                        </a:rPr>
                        <a:t>0.721</a:t>
                      </a:r>
                    </a:p>
                  </a:txBody>
                  <a:tcPr marL="54864" marR="54864" marT="22860" marB="22860" anchor="ctr">
                    <a:solidFill>
                      <a:srgbClr val="D5ECDD"/>
                    </a:solidFill>
                  </a:tcPr>
                </a:tc>
                <a:tc>
                  <a:txBody>
                    <a:bodyPr/>
                    <a:lstStyle/>
                    <a:p>
                      <a:pPr algn="ctr"/>
                      <a:r>
                        <a:rPr sz="1100" b="1">
                          <a:solidFill>
                            <a:srgbClr val="B83A2E"/>
                          </a:solidFill>
                          <a:latin typeface="Consolas"/>
                        </a:rPr>
                        <a:t>0.440</a:t>
                      </a:r>
                    </a:p>
                    <a:p>
                      <a:pPr algn="ctr"/>
                      <a:r>
                        <a:rPr sz="850" b="0">
                          <a:solidFill>
                            <a:srgbClr val="B83A2E"/>
                          </a:solidFill>
                          <a:latin typeface="Segoe UI"/>
                        </a:rPr>
                        <a:t>top pick: ASAP</a:t>
                      </a:r>
                    </a:p>
                  </a:txBody>
                  <a:tcPr marL="54864" marR="54864" marT="22860" marB="22860" anchor="ctr">
                    <a:solidFill>
                      <a:srgbClr val="F6E1DE"/>
                    </a:solidFill>
                  </a:tcPr>
                </a:tc>
                <a:tc>
                  <a:txBody>
                    <a:bodyPr/>
                    <a:lstStyle/>
                    <a:p>
                      <a:pPr algn="ctr"/>
                      <a:r>
                        <a:rPr sz="1100" b="1">
                          <a:solidFill>
                            <a:srgbClr val="B83A2E"/>
                          </a:solidFill>
                          <a:latin typeface="Consolas"/>
                        </a:rPr>
                        <a:t>0.345</a:t>
                      </a:r>
                    </a:p>
                    <a:p>
                      <a:pPr algn="ctr"/>
                      <a:r>
                        <a:rPr sz="850" b="0">
                          <a:solidFill>
                            <a:srgbClr val="B83A2E"/>
                          </a:solidFill>
                          <a:latin typeface="Segoe UI"/>
                        </a:rPr>
                        <a:t>top pick: No date</a:t>
                      </a:r>
                    </a:p>
                  </a:txBody>
                  <a:tcPr marL="54864" marR="54864" marT="22860" marB="22860" anchor="ctr">
                    <a:solidFill>
                      <a:srgbClr val="F6E1DE"/>
                    </a:solidFill>
                  </a:tcPr>
                </a:tc>
                <a:tc>
                  <a:txBody>
                    <a:bodyPr/>
                    <a:lstStyle/>
                    <a:p>
                      <a:pPr algn="ctr"/>
                      <a:r>
                        <a:rPr sz="1100" b="1">
                          <a:solidFill>
                            <a:srgbClr val="171C26"/>
                          </a:solidFill>
                          <a:latin typeface="Consolas"/>
                        </a:rPr>
                        <a:t>0.892</a:t>
                      </a:r>
                    </a:p>
                  </a:txBody>
                  <a:tcPr marL="54864" marR="54864" marT="22860" marB="22860" anchor="ctr">
                    <a:solidFill>
                      <a:srgbClr val="C4E4CF"/>
                    </a:solidFill>
                  </a:tcPr>
                </a:tc>
                <a:tc>
                  <a:txBody>
                    <a:bodyPr/>
                    <a:lstStyle/>
                    <a:p>
                      <a:pPr algn="ctr"/>
                      <a:r>
                        <a:rPr sz="1100" b="1">
                          <a:solidFill>
                            <a:srgbClr val="171C26"/>
                          </a:solidFill>
                          <a:latin typeface="Consolas"/>
                        </a:rPr>
                        <a:t>0.754</a:t>
                      </a:r>
                    </a:p>
                  </a:txBody>
                  <a:tcPr marL="54864" marR="54864" marT="22860" marB="22860" anchor="ctr">
                    <a:solidFill>
                      <a:srgbClr val="D2EADA"/>
                    </a:solidFill>
                  </a:tcPr>
                </a:tc>
                <a:tc>
                  <a:txBody>
                    <a:bodyPr/>
                    <a:lstStyle/>
                    <a:p>
                      <a:pPr algn="ctr"/>
                      <a:r>
                        <a:rPr sz="1100" b="1">
                          <a:solidFill>
                            <a:srgbClr val="171C26"/>
                          </a:solidFill>
                          <a:latin typeface="Consolas"/>
                        </a:rPr>
                        <a:t>0.630</a:t>
                      </a:r>
                    </a:p>
                  </a:txBody>
                  <a:tcPr marL="54864" marR="54864" marT="22860" marB="22860" anchor="ctr">
                    <a:solidFill>
                      <a:srgbClr val="EEF0F3"/>
                    </a:solidFill>
                  </a:tcPr>
                </a:tc>
                <a:extLst>
                  <a:ext uri="{0D108BD9-81ED-4DB2-BD59-A6C34878D82A}">
                    <a16:rowId xmlns:a16="http://schemas.microsoft.com/office/drawing/2014/main" val="10008"/>
                  </a:ext>
                </a:extLst>
              </a:tr>
              <a:tr h="402336">
                <a:tc>
                  <a:txBody>
                    <a:bodyPr/>
                    <a:lstStyle/>
                    <a:p>
                      <a:pPr algn="l"/>
                      <a:r>
                        <a:rPr sz="1050" b="0">
                          <a:solidFill>
                            <a:srgbClr val="5C6675"/>
                          </a:solidFill>
                          <a:latin typeface="Segoe UI"/>
                        </a:rPr>
                        <a:t>Reference: live ballot share</a:t>
                      </a:r>
                    </a:p>
                  </a:txBody>
                  <a:tcPr marL="54864" marR="54864" marT="22860" marB="22860" anchor="ctr">
                    <a:solidFill>
                      <a:srgbClr val="FFFFFF"/>
                    </a:solidFill>
                  </a:tcPr>
                </a:tc>
                <a:tc>
                  <a:txBody>
                    <a:bodyPr/>
                    <a:lstStyle/>
                    <a:p>
                      <a:pPr algn="ctr"/>
                      <a:r>
                        <a:rPr sz="1100" b="1">
                          <a:solidFill>
                            <a:srgbClr val="171C26"/>
                          </a:solidFill>
                          <a:latin typeface="Consolas"/>
                        </a:rPr>
                        <a:t>0.581</a:t>
                      </a:r>
                    </a:p>
                  </a:txBody>
                  <a:tcPr marL="54864" marR="54864" marT="22860" marB="22860" anchor="ctr">
                    <a:solidFill>
                      <a:srgbClr val="E3F2E8"/>
                    </a:solidFill>
                  </a:tcPr>
                </a:tc>
                <a:tc>
                  <a:txBody>
                    <a:bodyPr/>
                    <a:lstStyle/>
                    <a:p>
                      <a:pPr algn="ctr"/>
                      <a:r>
                        <a:rPr sz="1100" b="1">
                          <a:solidFill>
                            <a:srgbClr val="171C26"/>
                          </a:solidFill>
                          <a:latin typeface="Consolas"/>
                        </a:rPr>
                        <a:t>0.722</a:t>
                      </a:r>
                    </a:p>
                  </a:txBody>
                  <a:tcPr marL="54864" marR="54864" marT="22860" marB="22860" anchor="ctr">
                    <a:solidFill>
                      <a:srgbClr val="D5ECDD"/>
                    </a:solidFill>
                  </a:tcPr>
                </a:tc>
                <a:tc>
                  <a:txBody>
                    <a:bodyPr/>
                    <a:lstStyle/>
                    <a:p>
                      <a:pPr algn="ctr"/>
                      <a:r>
                        <a:rPr sz="1100" b="1">
                          <a:solidFill>
                            <a:srgbClr val="171C26"/>
                          </a:solidFill>
                          <a:latin typeface="Consolas"/>
                        </a:rPr>
                        <a:t>0.808</a:t>
                      </a:r>
                    </a:p>
                  </a:txBody>
                  <a:tcPr marL="54864" marR="54864" marT="22860" marB="22860" anchor="ctr">
                    <a:solidFill>
                      <a:srgbClr val="CCE8D6"/>
                    </a:solidFill>
                  </a:tcPr>
                </a:tc>
                <a:tc>
                  <a:txBody>
                    <a:bodyPr/>
                    <a:lstStyle/>
                    <a:p>
                      <a:pPr algn="ctr"/>
                      <a:r>
                        <a:rPr sz="1100" b="1">
                          <a:solidFill>
                            <a:srgbClr val="171C26"/>
                          </a:solidFill>
                          <a:latin typeface="Consolas"/>
                        </a:rPr>
                        <a:t>0.946</a:t>
                      </a:r>
                    </a:p>
                  </a:txBody>
                  <a:tcPr marL="54864" marR="54864" marT="22860" marB="22860" anchor="ctr">
                    <a:solidFill>
                      <a:srgbClr val="BEE1CA"/>
                    </a:solidFill>
                  </a:tcPr>
                </a:tc>
                <a:tc>
                  <a:txBody>
                    <a:bodyPr/>
                    <a:lstStyle/>
                    <a:p>
                      <a:pPr algn="ctr"/>
                      <a:r>
                        <a:rPr sz="1100" b="1">
                          <a:solidFill>
                            <a:srgbClr val="171C26"/>
                          </a:solidFill>
                          <a:latin typeface="Consolas"/>
                        </a:rPr>
                        <a:t>0.876</a:t>
                      </a:r>
                    </a:p>
                  </a:txBody>
                  <a:tcPr marL="54864" marR="54864" marT="22860" marB="22860" anchor="ctr">
                    <a:solidFill>
                      <a:srgbClr val="C5E5D0"/>
                    </a:solidFill>
                  </a:tcPr>
                </a:tc>
                <a:tc>
                  <a:txBody>
                    <a:bodyPr/>
                    <a:lstStyle/>
                    <a:p>
                      <a:pPr algn="ctr"/>
                      <a:r>
                        <a:rPr sz="1100" b="1">
                          <a:solidFill>
                            <a:srgbClr val="171C26"/>
                          </a:solidFill>
                          <a:latin typeface="Consolas"/>
                        </a:rPr>
                        <a:t>0.786</a:t>
                      </a:r>
                    </a:p>
                  </a:txBody>
                  <a:tcPr marL="54864" marR="54864" marT="22860" marB="22860" anchor="ctr">
                    <a:solidFill>
                      <a:srgbClr val="FFFFFF"/>
                    </a:solidFill>
                  </a:tcPr>
                </a:tc>
                <a:extLst>
                  <a:ext uri="{0D108BD9-81ED-4DB2-BD59-A6C34878D82A}">
                    <a16:rowId xmlns:a16="http://schemas.microsoft.com/office/drawing/2014/main" val="10009"/>
                  </a:ext>
                </a:extLst>
              </a:tr>
            </a:tbl>
          </a:graphicData>
        </a:graphic>
      </p:graphicFrame>
      <p:sp>
        <p:nvSpPr>
          <p:cNvPr id="8" name="TextBox 7"/>
          <p:cNvSpPr txBox="1"/>
          <p:nvPr/>
        </p:nvSpPr>
        <p:spPr>
          <a:xfrm>
            <a:off x="457200" y="5833872"/>
            <a:ext cx="11247120" cy="566928"/>
          </a:xfrm>
          <a:prstGeom prst="rect">
            <a:avLst/>
          </a:prstGeom>
          <a:noFill/>
        </p:spPr>
        <p:txBody>
          <a:bodyPr wrap="square" lIns="36576" tIns="18288" rIns="36576" bIns="18288" anchor="t">
            <a:spAutoFit/>
          </a:bodyPr>
          <a:lstStyle/>
          <a:p>
            <a:pPr algn="l">
              <a:spcBef>
                <a:spcPts val="0"/>
              </a:spcBef>
              <a:spcAft>
                <a:spcPts val="0"/>
              </a:spcAft>
            </a:pPr>
            <a:r>
              <a:rPr sz="1050" b="0" i="0">
                <a:solidFill>
                  <a:srgbClr val="171C26"/>
                </a:solidFill>
                <a:latin typeface="Segoe UI"/>
              </a:rPr>
              <a:t>The pools never flipped their top pick on v4 and reissuance. The agents bought the ballot leader there until their position limits or the edge floor stopped them, and one wallet sold complete sets back into the pools after each direct purchase. The agents were least sure where the pools disagreed most (v4: 0.51–0.78).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Scores over time: trading made the market more accurate</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Mean Brier score over the five markets, recomputed every hour against the final result. Each agent is scored on its latest estimate at that hour; the market on the pool prices at that hour.</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9</a:t>
            </a:r>
          </a:p>
        </p:txBody>
      </p:sp>
      <p:graphicFrame>
        <p:nvGraphicFramePr>
          <p:cNvPr id="7" name="Chart 6"/>
          <p:cNvGraphicFramePr>
            <a:graphicFrameLocks noGrp="1"/>
          </p:cNvGraphicFramePr>
          <p:nvPr/>
        </p:nvGraphicFramePr>
        <p:xfrm>
          <a:off x="365760" y="1600200"/>
          <a:ext cx="7863840" cy="475488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8412480" y="1645920"/>
            <a:ext cx="3337560" cy="4663440"/>
          </a:xfrm>
          <a:prstGeom prst="rect">
            <a:avLst/>
          </a:prstGeom>
          <a:noFill/>
        </p:spPr>
        <p:txBody>
          <a:bodyPr wrap="square" lIns="36576" tIns="18288" rIns="36576" bIns="18288" anchor="t">
            <a:spAutoFit/>
          </a:bodyPr>
          <a:lstStyle/>
          <a:p>
            <a:pPr algn="l">
              <a:spcBef>
                <a:spcPts val="0"/>
              </a:spcBef>
              <a:spcAft>
                <a:spcPts val="0"/>
              </a:spcAft>
            </a:pPr>
            <a:r>
              <a:rPr sz="1100" b="1" i="0">
                <a:solidFill>
                  <a:srgbClr val="171C26"/>
                </a:solidFill>
                <a:latin typeface="Segoe UI"/>
              </a:rPr>
              <a:t>Market  </a:t>
            </a:r>
            <a:r>
              <a:rPr sz="1100" b="0" i="0">
                <a:solidFill>
                  <a:srgbClr val="171C26"/>
                </a:solidFill>
                <a:latin typeface="Consolas"/>
              </a:rPr>
              <a:t>0.381 → 0.293</a:t>
            </a:r>
          </a:p>
          <a:p>
            <a:pPr algn="l">
              <a:spcBef>
                <a:spcPts val="200"/>
              </a:spcBef>
              <a:spcAft>
                <a:spcPts val="0"/>
              </a:spcAft>
            </a:pPr>
            <a:r>
              <a:rPr sz="1050" b="0" i="0">
                <a:solidFill>
                  <a:srgbClr val="5C6675"/>
                </a:solidFill>
                <a:latin typeface="Segoe UI"/>
              </a:rPr>
              <a:t>The pools' error fell 23% from the moment before the first bot trade to the close. 96% of that drop came by 20:00 on 13 Sep, in the first three hours of bot trading; after that the price barely moved.</a:t>
            </a:r>
          </a:p>
          <a:p>
            <a:pPr algn="l">
              <a:spcBef>
                <a:spcPts val="1200"/>
              </a:spcBef>
              <a:spcAft>
                <a:spcPts val="0"/>
              </a:spcAft>
            </a:pPr>
            <a:r>
              <a:rPr sz="1100" b="1" i="0">
                <a:solidFill>
                  <a:srgbClr val="171C26"/>
                </a:solidFill>
                <a:latin typeface="Segoe UI"/>
              </a:rPr>
              <a:t>Agents  </a:t>
            </a:r>
            <a:r>
              <a:rPr sz="1100" b="0" i="0">
                <a:solidFill>
                  <a:srgbClr val="171C26"/>
                </a:solidFill>
                <a:latin typeface="Consolas"/>
              </a:rPr>
              <a:t>0.036 – 0.167</a:t>
            </a:r>
          </a:p>
          <a:p>
            <a:pPr algn="l">
              <a:spcBef>
                <a:spcPts val="200"/>
              </a:spcBef>
              <a:spcAft>
                <a:spcPts val="0"/>
              </a:spcAft>
            </a:pPr>
            <a:r>
              <a:rPr sz="1050" b="0" i="0">
                <a:solidFill>
                  <a:srgbClr val="5C6675"/>
                </a:solidFill>
                <a:latin typeface="Segoe UI"/>
              </a:rPr>
              <a:t>Every agent was more accurate than the market at every hour, from its first estimate on.</a:t>
            </a:r>
          </a:p>
          <a:p>
            <a:pPr algn="l">
              <a:spcBef>
                <a:spcPts val="1200"/>
              </a:spcBef>
              <a:spcAft>
                <a:spcPts val="0"/>
              </a:spcAft>
            </a:pPr>
            <a:r>
              <a:rPr sz="1100" b="1" i="0">
                <a:solidFill>
                  <a:srgbClr val="171C26"/>
                </a:solidFill>
                <a:latin typeface="Segoe UI"/>
              </a:rPr>
              <a:t>Opus 5  </a:t>
            </a:r>
            <a:r>
              <a:rPr sz="1100" b="0" i="0">
                <a:solidFill>
                  <a:srgbClr val="171C26"/>
                </a:solidFill>
                <a:latin typeface="Consolas"/>
              </a:rPr>
              <a:t>0.036 → 0.052</a:t>
            </a:r>
          </a:p>
          <a:p>
            <a:pPr algn="l">
              <a:spcBef>
                <a:spcPts val="200"/>
              </a:spcBef>
              <a:spcAft>
                <a:spcPts val="0"/>
              </a:spcAft>
            </a:pPr>
            <a:r>
              <a:rPr sz="1050" b="0" i="0">
                <a:solidFill>
                  <a:srgbClr val="5C6675"/>
                </a:solidFill>
                <a:latin typeface="Segoe UI"/>
              </a:rPr>
              <a:t>The best forecaster got slightly worse over time: it cut Preserve halvings from 0.83 to 0.72 as Do-not-include gained ballots.</a:t>
            </a:r>
          </a:p>
          <a:p>
            <a:pPr algn="l">
              <a:spcBef>
                <a:spcPts val="1200"/>
              </a:spcBef>
              <a:spcAft>
                <a:spcPts val="0"/>
              </a:spcAft>
            </a:pPr>
            <a:r>
              <a:rPr sz="1100" b="1" i="0">
                <a:solidFill>
                  <a:srgbClr val="171C26"/>
                </a:solidFill>
                <a:latin typeface="Segoe UI"/>
              </a:rPr>
              <a:t>Base rates  </a:t>
            </a:r>
            <a:r>
              <a:rPr sz="1100" b="0" i="0">
                <a:solidFill>
                  <a:srgbClr val="171C26"/>
                </a:solidFill>
                <a:latin typeface="Consolas"/>
              </a:rPr>
              <a:t>opening 0.373 · before the bots 0.381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Where the bots did not trade, and why</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No market went untouched, but two of the five drew a single trade under 9 sUSDS. The reasons below are the bots' own, quoted from their pass reports.</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10</a:t>
            </a:r>
          </a:p>
        </p:txBody>
      </p:sp>
      <p:graphicFrame>
        <p:nvGraphicFramePr>
          <p:cNvPr id="7" name="Table 6"/>
          <p:cNvGraphicFramePr>
            <a:graphicFrameLocks noGrp="1"/>
          </p:cNvGraphicFramePr>
          <p:nvPr/>
        </p:nvGraphicFramePr>
        <p:xfrm>
          <a:off x="457200" y="1600200"/>
          <a:ext cx="11292840" cy="4133088"/>
        </p:xfrm>
        <a:graphic>
          <a:graphicData uri="http://schemas.openxmlformats.org/drawingml/2006/table">
            <a:tbl>
              <a:tblPr firstRow="1">
                <a:tableStyleId>{5C22544A-7EE6-4342-B048-85BDC9FD1C3A}</a:tableStyleId>
              </a:tblPr>
              <a:tblGrid>
                <a:gridCol w="16002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gridCol w="2423160">
                  <a:extLst>
                    <a:ext uri="{9D8B030D-6E8A-4147-A177-3AD203B41FA5}">
                      <a16:colId xmlns:a16="http://schemas.microsoft.com/office/drawing/2014/main" val="20004"/>
                    </a:ext>
                  </a:extLst>
                </a:gridCol>
              </a:tblGrid>
              <a:tr h="292608">
                <a:tc>
                  <a:txBody>
                    <a:bodyPr/>
                    <a:lstStyle/>
                    <a:p>
                      <a:pPr algn="l"/>
                      <a:r>
                        <a:rPr sz="950" b="1">
                          <a:solidFill>
                            <a:srgbClr val="FFFFFF"/>
                          </a:solidFill>
                          <a:latin typeface="Segoe UI"/>
                        </a:rPr>
                        <a:t>Market</a:t>
                      </a:r>
                    </a:p>
                  </a:txBody>
                  <a:tcPr marL="54864" marR="54864" marT="22860" marB="22860" anchor="ctr">
                    <a:solidFill>
                      <a:srgbClr val="141A2B"/>
                    </a:solidFill>
                  </a:tcPr>
                </a:tc>
                <a:tc>
                  <a:txBody>
                    <a:bodyPr/>
                    <a:lstStyle/>
                    <a:p>
                      <a:pPr algn="l"/>
                      <a:r>
                        <a:rPr sz="950" b="1">
                          <a:solidFill>
                            <a:srgbClr val="FFFFFF"/>
                          </a:solidFill>
                          <a:latin typeface="Segoe UI"/>
                        </a:rPr>
                        <a:t>Claude Fable 5.1</a:t>
                      </a:r>
                    </a:p>
                  </a:txBody>
                  <a:tcPr marL="54864" marR="54864" marT="22860" marB="22860" anchor="ctr">
                    <a:solidFill>
                      <a:srgbClr val="141A2B"/>
                    </a:solidFill>
                  </a:tcPr>
                </a:tc>
                <a:tc>
                  <a:txBody>
                    <a:bodyPr/>
                    <a:lstStyle/>
                    <a:p>
                      <a:pPr algn="l"/>
                      <a:r>
                        <a:rPr sz="950" b="1">
                          <a:solidFill>
                            <a:srgbClr val="FFFFFF"/>
                          </a:solidFill>
                          <a:latin typeface="Segoe UI"/>
                        </a:rPr>
                        <a:t>Claude Opus 5</a:t>
                      </a:r>
                    </a:p>
                  </a:txBody>
                  <a:tcPr marL="54864" marR="54864" marT="22860" marB="22860" anchor="ctr">
                    <a:solidFill>
                      <a:srgbClr val="141A2B"/>
                    </a:solidFill>
                  </a:tcPr>
                </a:tc>
                <a:tc>
                  <a:txBody>
                    <a:bodyPr/>
                    <a:lstStyle/>
                    <a:p>
                      <a:pPr algn="l"/>
                      <a:r>
                        <a:rPr sz="950" b="1">
                          <a:solidFill>
                            <a:srgbClr val="FFFFFF"/>
                          </a:solidFill>
                          <a:latin typeface="Segoe UI"/>
                        </a:rPr>
                        <a:t>GPT-6 Astra</a:t>
                      </a:r>
                    </a:p>
                  </a:txBody>
                  <a:tcPr marL="54864" marR="54864" marT="22860" marB="22860" anchor="ctr">
                    <a:solidFill>
                      <a:srgbClr val="141A2B"/>
                    </a:solidFill>
                  </a:tcPr>
                </a:tc>
                <a:tc>
                  <a:txBody>
                    <a:bodyPr/>
                    <a:lstStyle/>
                    <a:p>
                      <a:pPr algn="l"/>
                      <a:r>
                        <a:rPr sz="950" b="1">
                          <a:solidFill>
                            <a:srgbClr val="FFFFFF"/>
                          </a:solidFill>
                          <a:latin typeface="Segoe UI"/>
                        </a:rPr>
                        <a:t>GPT-5.6 Sol</a:t>
                      </a:r>
                    </a:p>
                  </a:txBody>
                  <a:tcPr marL="54864" marR="54864" marT="22860" marB="22860" anchor="ctr">
                    <a:solidFill>
                      <a:srgbClr val="141A2B"/>
                    </a:solidFill>
                  </a:tcPr>
                </a:tc>
                <a:extLst>
                  <a:ext uri="{0D108BD9-81ED-4DB2-BD59-A6C34878D82A}">
                    <a16:rowId xmlns:a16="http://schemas.microsoft.com/office/drawing/2014/main" val="10000"/>
                  </a:ext>
                </a:extLst>
              </a:tr>
              <a:tr h="768096">
                <a:tc>
                  <a:txBody>
                    <a:bodyPr/>
                    <a:lstStyle/>
                    <a:p>
                      <a:pPr algn="l"/>
                      <a:r>
                        <a:rPr sz="860" b="1">
                          <a:solidFill>
                            <a:srgbClr val="171C26"/>
                          </a:solidFill>
                          <a:latin typeface="Segoe UI"/>
                        </a:rPr>
                        <a:t>Q1 NSM issuance smoothing</a:t>
                      </a:r>
                    </a:p>
                    <a:p>
                      <a:pPr algn="l"/>
                      <a:r>
                        <a:rPr sz="860" b="1">
                          <a:solidFill>
                            <a:srgbClr val="171C26"/>
                          </a:solidFill>
                          <a:latin typeface="Segoe UI"/>
                        </a:rPr>
                        <a:t>1 of 4 traded</a:t>
                      </a:r>
                    </a:p>
                  </a:txBody>
                  <a:tcPr marL="54864" marR="54864" marT="22860" marB="22860" anchor="ctr">
                    <a:solidFill>
                      <a:srgbClr val="FFFFFF"/>
                    </a:solidFill>
                  </a:tcPr>
                </a:tc>
                <a:tc>
                  <a:txBody>
                    <a:bodyPr/>
                    <a:lstStyle/>
                    <a:p>
                      <a:pPr algn="l"/>
                      <a:r>
                        <a:rPr sz="860" b="0">
                          <a:solidFill>
                            <a:srgbClr val="171C26"/>
                          </a:solidFill>
                          <a:latin typeface="Segoe UI"/>
                        </a:rPr>
                        <a:t>TRADED · Bought 10 sets of Do-not-include for 1.44 sUSDS. Later passes: best line 2.8 pts (Not-in-NU7), short Smooth 3.2 pts.</a:t>
                      </a:r>
                    </a:p>
                  </a:txBody>
                  <a:tcPr marL="54864" marR="54864" marT="22860" marB="22860" anchor="ctr">
                    <a:solidFill>
                      <a:srgbClr val="DFF1E6"/>
                    </a:solidFill>
                  </a:tcPr>
                </a:tc>
                <a:tc>
                  <a:txBody>
                    <a:bodyPr/>
                    <a:lstStyle/>
                    <a:p>
                      <a:pPr algn="l"/>
                      <a:r>
                        <a:rPr sz="860" b="0">
                          <a:solidFill>
                            <a:srgbClr val="5C6675"/>
                          </a:solidFill>
                          <a:latin typeface="Segoe UI"/>
                        </a:rPr>
                        <a:t>NO TRADE · Own 0.72–0.83 for Preserve vs 0.71 spot, but the Preserve pool is so thin the plan shows 0.9 pts after fill and negative beyond.</a:t>
                      </a:r>
                    </a:p>
                  </a:txBody>
                  <a:tcPr marL="54864" marR="54864" marT="22860" marB="22860" anchor="ctr">
                    <a:solidFill>
                      <a:srgbClr val="EEF0F3"/>
                    </a:solidFill>
                  </a:tcPr>
                </a:tc>
                <a:tc>
                  <a:txBody>
                    <a:bodyPr/>
                    <a:lstStyle/>
                    <a:p>
                      <a:pPr algn="l"/>
                      <a:r>
                        <a:rPr sz="860" b="0">
                          <a:solidFill>
                            <a:srgbClr val="5C6675"/>
                          </a:solidFill>
                          <a:latin typeface="Segoe UI"/>
                        </a:rPr>
                        <a:t>NO TRADE · 10-set Exclude split fills 0.155 for 3.6 pts of edge; nothing else clears. Wording risk and whale concentration noted.</a:t>
                      </a:r>
                    </a:p>
                  </a:txBody>
                  <a:tcPr marL="54864" marR="54864" marT="22860" marB="22860" anchor="ctr">
                    <a:solidFill>
                      <a:srgbClr val="EEF0F3"/>
                    </a:solidFill>
                  </a:tcPr>
                </a:tc>
                <a:tc>
                  <a:txBody>
                    <a:bodyPr/>
                    <a:lstStyle/>
                    <a:p>
                      <a:pPr algn="l"/>
                      <a:r>
                        <a:rPr sz="860" b="0">
                          <a:solidFill>
                            <a:srgbClr val="5C6675"/>
                          </a:solidFill>
                          <a:latin typeface="Segoe UI"/>
                        </a:rPr>
                        <a:t>NO TRADE · Defer expression 3.6 pts, Preserve fade 4.3 pts; both below the 5-point floor.</a:t>
                      </a:r>
                    </a:p>
                  </a:txBody>
                  <a:tcPr marL="54864" marR="54864" marT="22860" marB="22860" anchor="ctr">
                    <a:solidFill>
                      <a:srgbClr val="EEF0F3"/>
                    </a:solidFill>
                  </a:tcPr>
                </a:tc>
                <a:extLst>
                  <a:ext uri="{0D108BD9-81ED-4DB2-BD59-A6C34878D82A}">
                    <a16:rowId xmlns:a16="http://schemas.microsoft.com/office/drawing/2014/main" val="10001"/>
                  </a:ext>
                </a:extLst>
              </a:tr>
              <a:tr h="768096">
                <a:tc>
                  <a:txBody>
                    <a:bodyPr/>
                    <a:lstStyle/>
                    <a:p>
                      <a:pPr algn="l"/>
                      <a:r>
                        <a:rPr sz="860" b="1">
                          <a:solidFill>
                            <a:srgbClr val="171C26"/>
                          </a:solidFill>
                          <a:latin typeface="Segoe UI"/>
                        </a:rPr>
                        <a:t>Q2 NSM reissuance start</a:t>
                      </a:r>
                    </a:p>
                    <a:p>
                      <a:pPr algn="l"/>
                      <a:r>
                        <a:rPr sz="860" b="1">
                          <a:solidFill>
                            <a:srgbClr val="171C26"/>
                          </a:solidFill>
                          <a:latin typeface="Segoe UI"/>
                        </a:rPr>
                        <a:t>4 of 4 traded</a:t>
                      </a:r>
                    </a:p>
                  </a:txBody>
                  <a:tcPr marL="54864" marR="54864" marT="22860" marB="22860" anchor="ctr">
                    <a:solidFill>
                      <a:srgbClr val="EEF0F3"/>
                    </a:solidFill>
                  </a:tcPr>
                </a:tc>
                <a:tc>
                  <a:txBody>
                    <a:bodyPr/>
                    <a:lstStyle/>
                    <a:p>
                      <a:pPr algn="l"/>
                      <a:r>
                        <a:rPr sz="860" b="0">
                          <a:solidFill>
                            <a:srgbClr val="171C26"/>
                          </a:solidFill>
                          <a:latin typeface="Segoe UI"/>
                        </a:rPr>
                        <a:t>TRADED · Bought 100 sets of Feb-2031 at 0.384 (own 0.65 vs 0.35 spot).</a:t>
                      </a:r>
                    </a:p>
                  </a:txBody>
                  <a:tcPr marL="54864" marR="54864" marT="22860" marB="22860" anchor="ctr">
                    <a:solidFill>
                      <a:srgbClr val="DFF1E6"/>
                    </a:solidFill>
                  </a:tcPr>
                </a:tc>
                <a:tc>
                  <a:txBody>
                    <a:bodyPr/>
                    <a:lstStyle/>
                    <a:p>
                      <a:pPr algn="l"/>
                      <a:r>
                        <a:rPr sz="860" b="0">
                          <a:solidFill>
                            <a:srgbClr val="171C26"/>
                          </a:solidFill>
                          <a:latin typeface="Segoe UI"/>
                        </a:rPr>
                        <a:t>TRADED · Bought Feb-2031 for 50 sUSDS at 0.394 (own 0.82).</a:t>
                      </a:r>
                    </a:p>
                  </a:txBody>
                  <a:tcPr marL="54864" marR="54864" marT="22860" marB="22860" anchor="ctr">
                    <a:solidFill>
                      <a:srgbClr val="DFF1E6"/>
                    </a:solidFill>
                  </a:tcPr>
                </a:tc>
                <a:tc>
                  <a:txBody>
                    <a:bodyPr/>
                    <a:lstStyle/>
                    <a:p>
                      <a:pPr algn="l"/>
                      <a:r>
                        <a:rPr sz="860" b="0">
                          <a:solidFill>
                            <a:srgbClr val="171C26"/>
                          </a:solidFill>
                          <a:latin typeface="Segoe UI"/>
                        </a:rPr>
                        <a:t>TRADED · Bought 25 then 30 sets of Feb-2031 (0.433, 0.448); a further add was blocked by its own exposure cap.</a:t>
                      </a:r>
                    </a:p>
                  </a:txBody>
                  <a:tcPr marL="54864" marR="54864" marT="22860" marB="22860" anchor="ctr">
                    <a:solidFill>
                      <a:srgbClr val="DFF1E6"/>
                    </a:solidFill>
                  </a:tcPr>
                </a:tc>
                <a:tc>
                  <a:txBody>
                    <a:bodyPr/>
                    <a:lstStyle/>
                    <a:p>
                      <a:pPr algn="l"/>
                      <a:r>
                        <a:rPr sz="860" b="0">
                          <a:solidFill>
                            <a:srgbClr val="171C26"/>
                          </a:solidFill>
                          <a:latin typeface="Segoe UI"/>
                        </a:rPr>
                        <a:t>TRADED · Bought Feb-2031 for 50 sUSDS at 0.331 (own 0.68).</a:t>
                      </a:r>
                    </a:p>
                  </a:txBody>
                  <a:tcPr marL="54864" marR="54864" marT="22860" marB="22860" anchor="ctr">
                    <a:solidFill>
                      <a:srgbClr val="DFF1E6"/>
                    </a:solidFill>
                  </a:tcPr>
                </a:tc>
                <a:extLst>
                  <a:ext uri="{0D108BD9-81ED-4DB2-BD59-A6C34878D82A}">
                    <a16:rowId xmlns:a16="http://schemas.microsoft.com/office/drawing/2014/main" val="10002"/>
                  </a:ext>
                </a:extLst>
              </a:tr>
              <a:tr h="768096">
                <a:tc>
                  <a:txBody>
                    <a:bodyPr/>
                    <a:lstStyle/>
                    <a:p>
                      <a:pPr algn="l"/>
                      <a:r>
                        <a:rPr sz="860" b="1">
                          <a:solidFill>
                            <a:srgbClr val="171C26"/>
                          </a:solidFill>
                          <a:latin typeface="Segoe UI"/>
                        </a:rPr>
                        <a:t>Q3 Disable v4 transactions</a:t>
                      </a:r>
                    </a:p>
                    <a:p>
                      <a:pPr algn="l"/>
                      <a:r>
                        <a:rPr sz="860" b="1">
                          <a:solidFill>
                            <a:srgbClr val="171C26"/>
                          </a:solidFill>
                          <a:latin typeface="Segoe UI"/>
                        </a:rPr>
                        <a:t>3 of 4 traded</a:t>
                      </a:r>
                    </a:p>
                  </a:txBody>
                  <a:tcPr marL="54864" marR="54864" marT="22860" marB="22860" anchor="ctr">
                    <a:solidFill>
                      <a:srgbClr val="FFFFFF"/>
                    </a:solidFill>
                  </a:tcPr>
                </a:tc>
                <a:tc>
                  <a:txBody>
                    <a:bodyPr/>
                    <a:lstStyle/>
                    <a:p>
                      <a:pPr algn="l"/>
                      <a:r>
                        <a:rPr sz="860" b="0">
                          <a:solidFill>
                            <a:srgbClr val="5C6675"/>
                          </a:solidFill>
                          <a:latin typeface="Segoe UI"/>
                        </a:rPr>
                        <a:t>NO TRADE · Own 0.50 for Immediately but only 40% weight on itself (“a coin-flip on purpose”: the market where Feb-poll whales matter most). Best line 2 sUSDS at 5.2 pts, dropped once the common factor is applied.</a:t>
                      </a:r>
                    </a:p>
                  </a:txBody>
                  <a:tcPr marL="54864" marR="54864" marT="22860" marB="22860" anchor="ctr">
                    <a:solidFill>
                      <a:srgbClr val="EEF0F3"/>
                    </a:solidFill>
                  </a:tcPr>
                </a:tc>
                <a:tc>
                  <a:txBody>
                    <a:bodyPr/>
                    <a:lstStyle/>
                    <a:p>
                      <a:pPr algn="l"/>
                      <a:r>
                        <a:rPr sz="860" b="0">
                          <a:solidFill>
                            <a:srgbClr val="171C26"/>
                          </a:solidFill>
                          <a:latin typeface="Segoe UI"/>
                        </a:rPr>
                        <a:t>TRADED · Bought Immediately for 50 sUSDS at 0.310 (own 0.77).</a:t>
                      </a:r>
                    </a:p>
                  </a:txBody>
                  <a:tcPr marL="54864" marR="54864" marT="22860" marB="22860" anchor="ctr">
                    <a:solidFill>
                      <a:srgbClr val="DFF1E6"/>
                    </a:solidFill>
                  </a:tcPr>
                </a:tc>
                <a:tc>
                  <a:txBody>
                    <a:bodyPr/>
                    <a:lstStyle/>
                    <a:p>
                      <a:pPr algn="l"/>
                      <a:r>
                        <a:rPr sz="860" b="0">
                          <a:solidFill>
                            <a:srgbClr val="171C26"/>
                          </a:solidFill>
                          <a:latin typeface="Segoe UI"/>
                        </a:rPr>
                        <a:t>TRADED · Bought 10 sets of Immediately at 0.368 on the third cycle.</a:t>
                      </a:r>
                    </a:p>
                  </a:txBody>
                  <a:tcPr marL="54864" marR="54864" marT="22860" marB="22860" anchor="ctr">
                    <a:solidFill>
                      <a:srgbClr val="DFF1E6"/>
                    </a:solidFill>
                  </a:tcPr>
                </a:tc>
                <a:tc>
                  <a:txBody>
                    <a:bodyPr/>
                    <a:lstStyle/>
                    <a:p>
                      <a:pPr algn="l"/>
                      <a:r>
                        <a:rPr sz="860" b="0">
                          <a:solidFill>
                            <a:srgbClr val="171C26"/>
                          </a:solidFill>
                          <a:latin typeface="Segoe UI"/>
                        </a:rPr>
                        <a:t>TRADED · Bought 50 sets of Immediately at 0.347.</a:t>
                      </a:r>
                    </a:p>
                  </a:txBody>
                  <a:tcPr marL="54864" marR="54864" marT="22860" marB="22860" anchor="ctr">
                    <a:solidFill>
                      <a:srgbClr val="DFF1E6"/>
                    </a:solidFill>
                  </a:tcPr>
                </a:tc>
                <a:extLst>
                  <a:ext uri="{0D108BD9-81ED-4DB2-BD59-A6C34878D82A}">
                    <a16:rowId xmlns:a16="http://schemas.microsoft.com/office/drawing/2014/main" val="10003"/>
                  </a:ext>
                </a:extLst>
              </a:tr>
              <a:tr h="768096">
                <a:tc>
                  <a:txBody>
                    <a:bodyPr/>
                    <a:lstStyle/>
                    <a:p>
                      <a:pPr algn="l"/>
                      <a:r>
                        <a:rPr sz="860" b="1">
                          <a:solidFill>
                            <a:srgbClr val="171C26"/>
                          </a:solidFill>
                          <a:latin typeface="Segoe UI"/>
                        </a:rPr>
                        <a:t>Q4 ZIP-218 faster blocks</a:t>
                      </a:r>
                    </a:p>
                    <a:p>
                      <a:pPr algn="l"/>
                      <a:r>
                        <a:rPr sz="860" b="1">
                          <a:solidFill>
                            <a:srgbClr val="171C26"/>
                          </a:solidFill>
                          <a:latin typeface="Segoe UI"/>
                        </a:rPr>
                        <a:t>1 of 4 traded</a:t>
                      </a:r>
                    </a:p>
                  </a:txBody>
                  <a:tcPr marL="54864" marR="54864" marT="22860" marB="22860" anchor="ctr">
                    <a:solidFill>
                      <a:srgbClr val="EEF0F3"/>
                    </a:solidFill>
                  </a:tcPr>
                </a:tc>
                <a:tc>
                  <a:txBody>
                    <a:bodyPr/>
                    <a:lstStyle/>
                    <a:p>
                      <a:pPr algn="l"/>
                      <a:r>
                        <a:rPr sz="860" b="0">
                          <a:solidFill>
                            <a:srgbClr val="5C6675"/>
                          </a:solidFill>
                          <a:latin typeface="Segoe UI"/>
                        </a:rPr>
                        <a:t>NO TRADE · Yes edge 0.8 pts at spot, negative beyond 10 sUSDS; the No pool (8.9 sUSDS of collateral) is too shallow to fade.</a:t>
                      </a:r>
                    </a:p>
                  </a:txBody>
                  <a:tcPr marL="54864" marR="54864" marT="22860" marB="22860" anchor="ctr">
                    <a:solidFill>
                      <a:srgbClr val="EEF0F3"/>
                    </a:solidFill>
                  </a:tcPr>
                </a:tc>
                <a:tc>
                  <a:txBody>
                    <a:bodyPr/>
                    <a:lstStyle/>
                    <a:p>
                      <a:pPr algn="l"/>
                      <a:r>
                        <a:rPr sz="860" b="0">
                          <a:solidFill>
                            <a:srgbClr val="5C6675"/>
                          </a:solidFill>
                          <a:latin typeface="Segoe UI"/>
                        </a:rPr>
                        <a:t>NO TRADE · Yes clears only 5 sUSDS at 0.882; a 50-sUSDS order fills near 0.90 and leaves ~2 pts. Structural, not a close call.</a:t>
                      </a:r>
                    </a:p>
                  </a:txBody>
                  <a:tcPr marL="54864" marR="54864" marT="22860" marB="22860" anchor="ctr">
                    <a:solidFill>
                      <a:srgbClr val="EEF0F3"/>
                    </a:solidFill>
                  </a:tcPr>
                </a:tc>
                <a:tc>
                  <a:txBody>
                    <a:bodyPr/>
                    <a:lstStyle/>
                    <a:p>
                      <a:pPr algn="l"/>
                      <a:r>
                        <a:rPr sz="860" b="0">
                          <a:solidFill>
                            <a:srgbClr val="5C6675"/>
                          </a:solidFill>
                          <a:latin typeface="Segoe UI"/>
                        </a:rPr>
                        <a:t>NO TRADE · 1-sUSDS Yes fills 0.8805, 1.7 pts of edge; a 1-set fade of No fills 0.895, 3.3 pts. Both under the floor.</a:t>
                      </a:r>
                    </a:p>
                  </a:txBody>
                  <a:tcPr marL="54864" marR="54864" marT="22860" marB="22860" anchor="ctr">
                    <a:solidFill>
                      <a:srgbClr val="EEF0F3"/>
                    </a:solidFill>
                  </a:tcPr>
                </a:tc>
                <a:tc>
                  <a:txBody>
                    <a:bodyPr/>
                    <a:lstStyle/>
                    <a:p>
                      <a:pPr algn="l"/>
                      <a:r>
                        <a:rPr sz="860" b="0">
                          <a:solidFill>
                            <a:srgbClr val="171C26"/>
                          </a:solidFill>
                          <a:latin typeface="Segoe UI"/>
                        </a:rPr>
                        <a:t>TRADED · Shorted No for 8.88 sUSDS at 0.887, the most the pool could absorb. Afterwards the best Yes fill left 4.3 pts.</a:t>
                      </a:r>
                    </a:p>
                  </a:txBody>
                  <a:tcPr marL="54864" marR="54864" marT="22860" marB="22860" anchor="ctr">
                    <a:solidFill>
                      <a:srgbClr val="DFF1E6"/>
                    </a:solidFill>
                  </a:tcPr>
                </a:tc>
                <a:extLst>
                  <a:ext uri="{0D108BD9-81ED-4DB2-BD59-A6C34878D82A}">
                    <a16:rowId xmlns:a16="http://schemas.microsoft.com/office/drawing/2014/main" val="10004"/>
                  </a:ext>
                </a:extLst>
              </a:tr>
              <a:tr h="768096">
                <a:tc>
                  <a:txBody>
                    <a:bodyPr/>
                    <a:lstStyle/>
                    <a:p>
                      <a:pPr algn="l"/>
                      <a:r>
                        <a:rPr sz="860" b="1">
                          <a:solidFill>
                            <a:srgbClr val="171C26"/>
                          </a:solidFill>
                          <a:latin typeface="Segoe UI"/>
                        </a:rPr>
                        <a:t>Q5 Sept-30 feature deadline</a:t>
                      </a:r>
                    </a:p>
                    <a:p>
                      <a:pPr algn="l"/>
                      <a:r>
                        <a:rPr sz="860" b="1">
                          <a:solidFill>
                            <a:srgbClr val="171C26"/>
                          </a:solidFill>
                          <a:latin typeface="Segoe UI"/>
                        </a:rPr>
                        <a:t>4 of 4 traded</a:t>
                      </a:r>
                    </a:p>
                  </a:txBody>
                  <a:tcPr marL="54864" marR="54864" marT="22860" marB="22860" anchor="ctr">
                    <a:solidFill>
                      <a:srgbClr val="FFFFFF"/>
                    </a:solidFill>
                  </a:tcPr>
                </a:tc>
                <a:tc>
                  <a:txBody>
                    <a:bodyPr/>
                    <a:lstStyle/>
                    <a:p>
                      <a:pPr algn="l"/>
                      <a:r>
                        <a:rPr sz="860" b="0">
                          <a:solidFill>
                            <a:srgbClr val="171C26"/>
                          </a:solidFill>
                          <a:latin typeface="Segoe UI"/>
                        </a:rPr>
                        <a:t>TRADED · Shorted Delay: 50 sets, fill 0.787 (edge 5.4 pts).</a:t>
                      </a:r>
                    </a:p>
                  </a:txBody>
                  <a:tcPr marL="54864" marR="54864" marT="22860" marB="22860" anchor="ctr">
                    <a:solidFill>
                      <a:srgbClr val="DFF1E6"/>
                    </a:solidFill>
                  </a:tcPr>
                </a:tc>
                <a:tc>
                  <a:txBody>
                    <a:bodyPr/>
                    <a:lstStyle/>
                    <a:p>
                      <a:pPr algn="l"/>
                      <a:r>
                        <a:rPr sz="860" b="0">
                          <a:solidFill>
                            <a:srgbClr val="171C26"/>
                          </a:solidFill>
                          <a:latin typeface="Segoe UI"/>
                        </a:rPr>
                        <a:t>TRADED · Bought Ship for 50 sUSDS at 0.734 (ballots 87.9% Ship).</a:t>
                      </a:r>
                    </a:p>
                  </a:txBody>
                  <a:tcPr marL="54864" marR="54864" marT="22860" marB="22860" anchor="ctr">
                    <a:solidFill>
                      <a:srgbClr val="DFF1E6"/>
                    </a:solidFill>
                  </a:tcPr>
                </a:tc>
                <a:tc>
                  <a:txBody>
                    <a:bodyPr/>
                    <a:lstStyle/>
                    <a:p>
                      <a:pPr algn="l"/>
                      <a:r>
                        <a:rPr sz="860" b="0">
                          <a:solidFill>
                            <a:srgbClr val="171C26"/>
                          </a:solidFill>
                          <a:latin typeface="Segoe UI"/>
                        </a:rPr>
                        <a:t>TRADED · Bought 9 sets of Ship at 0.753 on the third cycle.</a:t>
                      </a:r>
                    </a:p>
                  </a:txBody>
                  <a:tcPr marL="54864" marR="54864" marT="22860" marB="22860" anchor="ctr">
                    <a:solidFill>
                      <a:srgbClr val="DFF1E6"/>
                    </a:solidFill>
                  </a:tcPr>
                </a:tc>
                <a:tc>
                  <a:txBody>
                    <a:bodyPr/>
                    <a:lstStyle/>
                    <a:p>
                      <a:pPr algn="l"/>
                      <a:r>
                        <a:rPr sz="860" b="0">
                          <a:solidFill>
                            <a:srgbClr val="171C26"/>
                          </a:solidFill>
                          <a:latin typeface="Segoe UI"/>
                        </a:rPr>
                        <a:t>TRADED · Bought Ship for 10 sUSDS at 0.710 (edge 5.4 pts).</a:t>
                      </a:r>
                    </a:p>
                  </a:txBody>
                  <a:tcPr marL="54864" marR="54864" marT="22860" marB="22860" anchor="ctr">
                    <a:solidFill>
                      <a:srgbClr val="DFF1E6"/>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457200" y="5870448"/>
            <a:ext cx="11247120" cy="566928"/>
          </a:xfrm>
          <a:prstGeom prst="rect">
            <a:avLst/>
          </a:prstGeom>
          <a:noFill/>
        </p:spPr>
        <p:txBody>
          <a:bodyPr wrap="square" lIns="36576" tIns="18288" rIns="36576" bIns="18288" anchor="t">
            <a:spAutoFit/>
          </a:bodyPr>
          <a:lstStyle/>
          <a:p>
            <a:pPr algn="l">
              <a:spcBef>
                <a:spcPts val="0"/>
              </a:spcBef>
              <a:spcAft>
                <a:spcPts val="0"/>
              </a:spcAft>
            </a:pPr>
            <a:r>
              <a:rPr sz="1000" b="0" i="0">
                <a:solidFill>
                  <a:srgbClr val="171C26"/>
                </a:solidFill>
                <a:latin typeface="Segoe UI"/>
              </a:rPr>
              <a:t>Two reasons recur. Thin pools: on ZIP-218 and smoothing the pools held so little that the first few sUSDS moved the price past the 5-point edge floor (the code measures edge against the real fill, not the quote). Already priced: ZIP-218 Yes opened at 0.90 against ballots at 95%, so even a 0.96 estimate leaves nothing after fill and the Invalid risk.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1A2B"/>
        </a:solidFill>
        <a:effectLst/>
      </p:bgPr>
    </p:bg>
    <p:spTree>
      <p:nvGrpSpPr>
        <p:cNvPr id="1" name=""/>
        <p:cNvGrpSpPr/>
        <p:nvPr/>
      </p:nvGrpSpPr>
      <p:grpSpPr>
        <a:xfrm>
          <a:off x="0" y="0"/>
          <a:ext cx="0" cy="0"/>
          <a:chOff x="0" y="0"/>
          <a:chExt cx="0" cy="0"/>
        </a:xfrm>
      </p:grpSpPr>
      <p:sp>
        <p:nvSpPr>
          <p:cNvPr id="2" name="TextBox 1"/>
          <p:cNvSpPr txBox="1"/>
          <p:nvPr/>
        </p:nvSpPr>
        <p:spPr>
          <a:xfrm>
            <a:off x="731520" y="2103120"/>
            <a:ext cx="10515600" cy="1097280"/>
          </a:xfrm>
          <a:prstGeom prst="rect">
            <a:avLst/>
          </a:prstGeom>
          <a:noFill/>
        </p:spPr>
        <p:txBody>
          <a:bodyPr wrap="square" lIns="36576" tIns="18288" rIns="36576" bIns="18288" anchor="t">
            <a:spAutoFit/>
          </a:bodyPr>
          <a:lstStyle/>
          <a:p>
            <a:pPr algn="l">
              <a:spcBef>
                <a:spcPts val="0"/>
              </a:spcBef>
              <a:spcAft>
                <a:spcPts val="0"/>
              </a:spcAft>
            </a:pPr>
            <a:r>
              <a:rPr sz="4000" b="1" i="0">
                <a:solidFill>
                  <a:srgbClr val="FFFFFF"/>
                </a:solidFill>
                <a:latin typeface="Bahnschrift"/>
              </a:rPr>
              <a:t>Did the four models converge?</a:t>
            </a:r>
          </a:p>
        </p:txBody>
      </p:sp>
      <p:sp>
        <p:nvSpPr>
          <p:cNvPr id="3" name="Rectangle 2"/>
          <p:cNvSpPr/>
          <p:nvPr/>
        </p:nvSpPr>
        <p:spPr>
          <a:xfrm>
            <a:off x="777240" y="3154680"/>
            <a:ext cx="1280160" cy="54864"/>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383280"/>
            <a:ext cx="10058400" cy="2377440"/>
          </a:xfrm>
          <a:prstGeom prst="rect">
            <a:avLst/>
          </a:prstGeom>
          <a:noFill/>
        </p:spPr>
        <p:txBody>
          <a:bodyPr wrap="square" lIns="36576" tIns="18288" rIns="36576" bIns="18288" anchor="t">
            <a:spAutoFit/>
          </a:bodyPr>
          <a:lstStyle/>
          <a:p>
            <a:pPr algn="l">
              <a:spcBef>
                <a:spcPts val="0"/>
              </a:spcBef>
              <a:spcAft>
                <a:spcPts val="1000"/>
              </a:spcAft>
            </a:pPr>
            <a:r>
              <a:rPr sz="1400" b="0" i="0">
                <a:solidFill>
                  <a:srgbClr val="C9CFD8"/>
                </a:solidFill>
                <a:latin typeface="Segoe UI"/>
              </a:rPr>
              <a:t>Five charts, one per market. Each colored line is one model's probability for the outcome that won (it was also the ballot leader on every question), taken from every pass report it wrote. The black line is that outcome's pool price, rebuilt swap by swap from the pool's onchain events up to the poll close. The dashed line is the live ballot share (ex-abstain). The diamond is the seed price the market opened at.</a:t>
            </a:r>
          </a:p>
          <a:p>
            <a:pPr algn="l">
              <a:spcBef>
                <a:spcPts val="0"/>
              </a:spcBef>
              <a:spcAft>
                <a:spcPts val="0"/>
              </a:spcAft>
            </a:pPr>
            <a:r>
              <a:rPr sz="1400" b="1" i="0">
                <a:solidFill>
                  <a:srgbClr val="FFFFFF"/>
                </a:solidFill>
                <a:latin typeface="Segoe UI"/>
              </a:rPr>
              <a:t>Convergence means two things here: the four lines getting closer to each other, and the black line moving toward them.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Q1 · NSM issuance smoothing</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Probability of “Preserve halvings”, the outcome that won · Which NSM issuance smoothing approach will be selected?</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12</a:t>
            </a:r>
          </a:p>
        </p:txBody>
      </p:sp>
      <p:graphicFrame>
        <p:nvGraphicFramePr>
          <p:cNvPr id="7" name="Chart 6"/>
          <p:cNvGraphicFramePr>
            <a:graphicFrameLocks noGrp="1"/>
          </p:cNvGraphicFramePr>
          <p:nvPr/>
        </p:nvGraphicFramePr>
        <p:xfrm>
          <a:off x="365760" y="1554480"/>
          <a:ext cx="7818120" cy="47548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Table 7"/>
          <p:cNvGraphicFramePr>
            <a:graphicFrameLocks noGrp="1"/>
          </p:cNvGraphicFramePr>
          <p:nvPr/>
        </p:nvGraphicFramePr>
        <p:xfrm>
          <a:off x="8366760" y="1600200"/>
          <a:ext cx="3383280" cy="1463040"/>
        </p:xfrm>
        <a:graphic>
          <a:graphicData uri="http://schemas.openxmlformats.org/drawingml/2006/table">
            <a:tbl>
              <a:tblPr firstRow="1">
                <a:tableStyleId>{5C22544A-7EE6-4342-B048-85BDC9FD1C3A}</a:tableStyleId>
              </a:tblPr>
              <a:tblGrid>
                <a:gridCol w="141732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292608">
                <a:tc>
                  <a:txBody>
                    <a:bodyPr/>
                    <a:lstStyle/>
                    <a:p>
                      <a:pPr algn="l"/>
                      <a:r>
                        <a:rPr sz="950" b="1">
                          <a:solidFill>
                            <a:srgbClr val="FFFFFF"/>
                          </a:solidFill>
                          <a:latin typeface="Segoe UI"/>
                        </a:rPr>
                        <a:t>Model estimate</a:t>
                      </a:r>
                    </a:p>
                  </a:txBody>
                  <a:tcPr marL="54864" marR="54864" marT="22860" marB="22860" anchor="ctr">
                    <a:solidFill>
                      <a:srgbClr val="141A2B"/>
                    </a:solidFill>
                  </a:tcPr>
                </a:tc>
                <a:tc>
                  <a:txBody>
                    <a:bodyPr/>
                    <a:lstStyle/>
                    <a:p>
                      <a:pPr algn="r"/>
                      <a:r>
                        <a:rPr sz="950" b="1">
                          <a:solidFill>
                            <a:srgbClr val="FFFFFF"/>
                          </a:solidFill>
                          <a:latin typeface="Segoe UI"/>
                        </a:rPr>
                        <a:t>First</a:t>
                      </a:r>
                    </a:p>
                  </a:txBody>
                  <a:tcPr marL="54864" marR="54864" marT="22860" marB="22860" anchor="ctr">
                    <a:solidFill>
                      <a:srgbClr val="141A2B"/>
                    </a:solidFill>
                  </a:tcPr>
                </a:tc>
                <a:tc>
                  <a:txBody>
                    <a:bodyPr/>
                    <a:lstStyle/>
                    <a:p>
                      <a:pPr algn="r"/>
                      <a:r>
                        <a:rPr sz="950" b="1">
                          <a:solidFill>
                            <a:srgbClr val="FFFFFF"/>
                          </a:solidFill>
                          <a:latin typeface="Segoe UI"/>
                        </a:rPr>
                        <a:t>Last</a:t>
                      </a:r>
                    </a:p>
                  </a:txBody>
                  <a:tcPr marL="54864" marR="54864" marT="22860" marB="22860" anchor="ctr">
                    <a:solidFill>
                      <a:srgbClr val="141A2B"/>
                    </a:solidFill>
                  </a:tcPr>
                </a:tc>
                <a:tc>
                  <a:txBody>
                    <a:bodyPr/>
                    <a:lstStyle/>
                    <a:p>
                      <a:pPr algn="r"/>
                      <a:r>
                        <a:rPr sz="950" b="1">
                          <a:solidFill>
                            <a:srgbClr val="FFFFFF"/>
                          </a:solidFill>
                          <a:latin typeface="Segoe UI"/>
                        </a:rPr>
                        <a:t>Change</a:t>
                      </a:r>
                    </a:p>
                  </a:txBody>
                  <a:tcPr marL="54864" marR="54864" marT="22860" marB="22860" anchor="ctr">
                    <a:solidFill>
                      <a:srgbClr val="141A2B"/>
                    </a:solidFill>
                  </a:tcPr>
                </a:tc>
                <a:extLst>
                  <a:ext uri="{0D108BD9-81ED-4DB2-BD59-A6C34878D82A}">
                    <a16:rowId xmlns:a16="http://schemas.microsoft.com/office/drawing/2014/main" val="10000"/>
                  </a:ext>
                </a:extLst>
              </a:tr>
              <a:tr h="292608">
                <a:tc>
                  <a:txBody>
                    <a:bodyPr/>
                    <a:lstStyle/>
                    <a:p>
                      <a:pPr algn="l"/>
                      <a:r>
                        <a:rPr sz="1000" b="1">
                          <a:solidFill>
                            <a:srgbClr val="C4552A"/>
                          </a:solidFill>
                          <a:latin typeface="Segoe UI"/>
                        </a:rPr>
                        <a:t>Claude Fable 5.1</a:t>
                      </a:r>
                    </a:p>
                  </a:txBody>
                  <a:tcPr marL="54864" marR="54864" marT="22860" marB="22860" anchor="ctr">
                    <a:solidFill>
                      <a:srgbClr val="FFFFFF"/>
                    </a:solidFill>
                  </a:tcPr>
                </a:tc>
                <a:tc>
                  <a:txBody>
                    <a:bodyPr/>
                    <a:lstStyle/>
                    <a:p>
                      <a:pPr algn="r"/>
                      <a:r>
                        <a:rPr sz="1000" b="0">
                          <a:solidFill>
                            <a:srgbClr val="171C26"/>
                          </a:solidFill>
                          <a:latin typeface="Consolas"/>
                        </a:rPr>
                        <a:t>0.71</a:t>
                      </a:r>
                    </a:p>
                  </a:txBody>
                  <a:tcPr marL="54864" marR="54864" marT="22860" marB="22860" anchor="ctr">
                    <a:solidFill>
                      <a:srgbClr val="FFFFFF"/>
                    </a:solidFill>
                  </a:tcPr>
                </a:tc>
                <a:tc>
                  <a:txBody>
                    <a:bodyPr/>
                    <a:lstStyle/>
                    <a:p>
                      <a:pPr algn="r"/>
                      <a:r>
                        <a:rPr sz="1000" b="0">
                          <a:solidFill>
                            <a:srgbClr val="171C26"/>
                          </a:solidFill>
                          <a:latin typeface="Consolas"/>
                        </a:rPr>
                        <a:t>0.71</a:t>
                      </a:r>
                    </a:p>
                  </a:txBody>
                  <a:tcPr marL="54864" marR="54864" marT="22860" marB="22860" anchor="ctr">
                    <a:solidFill>
                      <a:srgbClr val="FFFFFF"/>
                    </a:solidFill>
                  </a:tcPr>
                </a:tc>
                <a:tc>
                  <a:txBody>
                    <a:bodyPr/>
                    <a:lstStyle/>
                    <a:p>
                      <a:pPr algn="r"/>
                      <a:r>
                        <a:rPr sz="1000" b="0">
                          <a:solidFill>
                            <a:srgbClr val="171C26"/>
                          </a:solidFill>
                          <a:latin typeface="Consolas"/>
                        </a:rPr>
                        <a:t>+0.00</a:t>
                      </a:r>
                    </a:p>
                  </a:txBody>
                  <a:tcPr marL="54864" marR="54864" marT="22860" marB="22860" anchor="ctr">
                    <a:solidFill>
                      <a:srgbClr val="FFFFFF"/>
                    </a:solidFill>
                  </a:tcPr>
                </a:tc>
                <a:extLst>
                  <a:ext uri="{0D108BD9-81ED-4DB2-BD59-A6C34878D82A}">
                    <a16:rowId xmlns:a16="http://schemas.microsoft.com/office/drawing/2014/main" val="10001"/>
                  </a:ext>
                </a:extLst>
              </a:tr>
              <a:tr h="292608">
                <a:tc>
                  <a:txBody>
                    <a:bodyPr/>
                    <a:lstStyle/>
                    <a:p>
                      <a:pPr algn="l"/>
                      <a:r>
                        <a:rPr sz="1000" b="1">
                          <a:solidFill>
                            <a:srgbClr val="7A2E8C"/>
                          </a:solidFill>
                          <a:latin typeface="Segoe UI"/>
                        </a:rPr>
                        <a:t>Claude Opus 5</a:t>
                      </a:r>
                    </a:p>
                  </a:txBody>
                  <a:tcPr marL="54864" marR="54864" marT="22860" marB="22860" anchor="ctr">
                    <a:solidFill>
                      <a:srgbClr val="EEF0F3"/>
                    </a:solidFill>
                  </a:tcPr>
                </a:tc>
                <a:tc>
                  <a:txBody>
                    <a:bodyPr/>
                    <a:lstStyle/>
                    <a:p>
                      <a:pPr algn="r"/>
                      <a:r>
                        <a:rPr sz="1000" b="0">
                          <a:solidFill>
                            <a:srgbClr val="171C26"/>
                          </a:solidFill>
                          <a:latin typeface="Consolas"/>
                        </a:rPr>
                        <a:t>0.83</a:t>
                      </a:r>
                    </a:p>
                  </a:txBody>
                  <a:tcPr marL="54864" marR="54864" marT="22860" marB="22860" anchor="ctr">
                    <a:solidFill>
                      <a:srgbClr val="EEF0F3"/>
                    </a:solidFill>
                  </a:tcPr>
                </a:tc>
                <a:tc>
                  <a:txBody>
                    <a:bodyPr/>
                    <a:lstStyle/>
                    <a:p>
                      <a:pPr algn="r"/>
                      <a:r>
                        <a:rPr sz="1000" b="0">
                          <a:solidFill>
                            <a:srgbClr val="171C26"/>
                          </a:solidFill>
                          <a:latin typeface="Consolas"/>
                        </a:rPr>
                        <a:t>0.72</a:t>
                      </a:r>
                    </a:p>
                  </a:txBody>
                  <a:tcPr marL="54864" marR="54864" marT="22860" marB="22860" anchor="ctr">
                    <a:solidFill>
                      <a:srgbClr val="EEF0F3"/>
                    </a:solidFill>
                  </a:tcPr>
                </a:tc>
                <a:tc>
                  <a:txBody>
                    <a:bodyPr/>
                    <a:lstStyle/>
                    <a:p>
                      <a:pPr algn="r"/>
                      <a:r>
                        <a:rPr sz="1000" b="0">
                          <a:solidFill>
                            <a:srgbClr val="171C26"/>
                          </a:solidFill>
                          <a:latin typeface="Consolas"/>
                        </a:rPr>
                        <a:t>-0.11</a:t>
                      </a:r>
                    </a:p>
                  </a:txBody>
                  <a:tcPr marL="54864" marR="54864" marT="22860" marB="22860" anchor="ctr">
                    <a:solidFill>
                      <a:srgbClr val="EEF0F3"/>
                    </a:solidFill>
                  </a:tcPr>
                </a:tc>
                <a:extLst>
                  <a:ext uri="{0D108BD9-81ED-4DB2-BD59-A6C34878D82A}">
                    <a16:rowId xmlns:a16="http://schemas.microsoft.com/office/drawing/2014/main" val="10002"/>
                  </a:ext>
                </a:extLst>
              </a:tr>
              <a:tr h="292608">
                <a:tc>
                  <a:txBody>
                    <a:bodyPr/>
                    <a:lstStyle/>
                    <a:p>
                      <a:pPr algn="l"/>
                      <a:r>
                        <a:rPr sz="1000" b="1">
                          <a:solidFill>
                            <a:srgbClr val="1B7F63"/>
                          </a:solidFill>
                          <a:latin typeface="Segoe UI"/>
                        </a:rPr>
                        <a:t>GPT-6 Astra</a:t>
                      </a:r>
                    </a:p>
                  </a:txBody>
                  <a:tcPr marL="54864" marR="54864" marT="22860" marB="22860" anchor="ctr">
                    <a:solidFill>
                      <a:srgbClr val="FFFFFF"/>
                    </a:solidFill>
                  </a:tcPr>
                </a:tc>
                <a:tc>
                  <a:txBody>
                    <a:bodyPr/>
                    <a:lstStyle/>
                    <a:p>
                      <a:pPr algn="r"/>
                      <a:r>
                        <a:rPr sz="1000" b="0">
                          <a:solidFill>
                            <a:srgbClr val="171C26"/>
                          </a:solidFill>
                          <a:latin typeface="Consolas"/>
                        </a:rPr>
                        <a:t>0.75</a:t>
                      </a:r>
                    </a:p>
                  </a:txBody>
                  <a:tcPr marL="54864" marR="54864" marT="22860" marB="22860" anchor="ctr">
                    <a:solidFill>
                      <a:srgbClr val="FFFFFF"/>
                    </a:solidFill>
                  </a:tcPr>
                </a:tc>
                <a:tc>
                  <a:txBody>
                    <a:bodyPr/>
                    <a:lstStyle/>
                    <a:p>
                      <a:pPr algn="r"/>
                      <a:r>
                        <a:rPr sz="1000" b="0">
                          <a:solidFill>
                            <a:srgbClr val="171C26"/>
                          </a:solidFill>
                          <a:latin typeface="Consolas"/>
                        </a:rPr>
                        <a:t>0.70</a:t>
                      </a:r>
                    </a:p>
                  </a:txBody>
                  <a:tcPr marL="54864" marR="54864" marT="22860" marB="22860" anchor="ctr">
                    <a:solidFill>
                      <a:srgbClr val="FFFFFF"/>
                    </a:solidFill>
                  </a:tcPr>
                </a:tc>
                <a:tc>
                  <a:txBody>
                    <a:bodyPr/>
                    <a:lstStyle/>
                    <a:p>
                      <a:pPr algn="r"/>
                      <a:r>
                        <a:rPr sz="1000" b="0">
                          <a:solidFill>
                            <a:srgbClr val="171C26"/>
                          </a:solidFill>
                          <a:latin typeface="Consolas"/>
                        </a:rPr>
                        <a:t>-0.05</a:t>
                      </a:r>
                    </a:p>
                  </a:txBody>
                  <a:tcPr marL="54864" marR="54864" marT="22860" marB="22860" anchor="ctr">
                    <a:solidFill>
                      <a:srgbClr val="FFFFFF"/>
                    </a:solidFill>
                  </a:tcPr>
                </a:tc>
                <a:extLst>
                  <a:ext uri="{0D108BD9-81ED-4DB2-BD59-A6C34878D82A}">
                    <a16:rowId xmlns:a16="http://schemas.microsoft.com/office/drawing/2014/main" val="10003"/>
                  </a:ext>
                </a:extLst>
              </a:tr>
              <a:tr h="292608">
                <a:tc>
                  <a:txBody>
                    <a:bodyPr/>
                    <a:lstStyle/>
                    <a:p>
                      <a:pPr algn="l"/>
                      <a:r>
                        <a:rPr sz="1000" b="1">
                          <a:solidFill>
                            <a:srgbClr val="2F6FD6"/>
                          </a:solidFill>
                          <a:latin typeface="Segoe UI"/>
                        </a:rPr>
                        <a:t>GPT-5.6 Sol</a:t>
                      </a:r>
                    </a:p>
                  </a:txBody>
                  <a:tcPr marL="54864" marR="54864" marT="22860" marB="22860" anchor="ctr">
                    <a:solidFill>
                      <a:srgbClr val="EEF0F3"/>
                    </a:solidFill>
                  </a:tcPr>
                </a:tc>
                <a:tc>
                  <a:txBody>
                    <a:bodyPr/>
                    <a:lstStyle/>
                    <a:p>
                      <a:pPr algn="r"/>
                      <a:r>
                        <a:rPr sz="1000" b="0">
                          <a:solidFill>
                            <a:srgbClr val="171C26"/>
                          </a:solidFill>
                          <a:latin typeface="Consolas"/>
                        </a:rPr>
                        <a:t>0.66</a:t>
                      </a:r>
                    </a:p>
                  </a:txBody>
                  <a:tcPr marL="54864" marR="54864" marT="22860" marB="22860" anchor="ctr">
                    <a:solidFill>
                      <a:srgbClr val="EEF0F3"/>
                    </a:solidFill>
                  </a:tcPr>
                </a:tc>
                <a:tc>
                  <a:txBody>
                    <a:bodyPr/>
                    <a:lstStyle/>
                    <a:p>
                      <a:pPr algn="r"/>
                      <a:r>
                        <a:rPr sz="1000" b="0">
                          <a:solidFill>
                            <a:srgbClr val="171C26"/>
                          </a:solidFill>
                          <a:latin typeface="Consolas"/>
                        </a:rPr>
                        <a:t>0.63</a:t>
                      </a:r>
                    </a:p>
                  </a:txBody>
                  <a:tcPr marL="54864" marR="54864" marT="22860" marB="22860" anchor="ctr">
                    <a:solidFill>
                      <a:srgbClr val="EEF0F3"/>
                    </a:solidFill>
                  </a:tcPr>
                </a:tc>
                <a:tc>
                  <a:txBody>
                    <a:bodyPr/>
                    <a:lstStyle/>
                    <a:p>
                      <a:pPr algn="r"/>
                      <a:r>
                        <a:rPr sz="1000" b="0">
                          <a:solidFill>
                            <a:srgbClr val="171C26"/>
                          </a:solidFill>
                          <a:latin typeface="Consolas"/>
                        </a:rPr>
                        <a:t>-0.03</a:t>
                      </a:r>
                    </a:p>
                  </a:txBody>
                  <a:tcPr marL="54864" marR="54864" marT="22860" marB="22860" anchor="ctr">
                    <a:solidFill>
                      <a:srgbClr val="EEF0F3"/>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8366760" y="3154680"/>
            <a:ext cx="3429000" cy="3154680"/>
          </a:xfrm>
          <a:prstGeom prst="rect">
            <a:avLst/>
          </a:prstGeom>
          <a:noFill/>
        </p:spPr>
        <p:txBody>
          <a:bodyPr wrap="square" lIns="36576" tIns="18288" rIns="36576" bIns="18288" anchor="t">
            <a:spAutoFit/>
          </a:bodyPr>
          <a:lstStyle/>
          <a:p>
            <a:pPr algn="l">
              <a:spcBef>
                <a:spcPts val="600"/>
              </a:spcBef>
              <a:spcAft>
                <a:spcPts val="0"/>
              </a:spcAft>
            </a:pPr>
            <a:r>
              <a:rPr sz="1050" b="1" i="0">
                <a:solidFill>
                  <a:srgbClr val="1E7A46"/>
                </a:solidFill>
                <a:latin typeface="Segoe UI"/>
              </a:rPr>
              <a:t>Result  won with 98.9% of ZEC</a:t>
            </a:r>
            <a:r>
              <a:rPr sz="1050" b="0" i="0">
                <a:solidFill>
                  <a:srgbClr val="5C6675"/>
                </a:solidFill>
                <a:latin typeface="Segoe UI"/>
              </a:rPr>
              <a:t>  (58.1% of ballots)</a:t>
            </a:r>
          </a:p>
          <a:p>
            <a:pPr algn="l">
              <a:spcBef>
                <a:spcPts val="500"/>
              </a:spcBef>
              <a:spcAft>
                <a:spcPts val="0"/>
              </a:spcAft>
            </a:pPr>
            <a:r>
              <a:rPr sz="1050" b="1" i="0">
                <a:solidFill>
                  <a:srgbClr val="171C26"/>
                </a:solidFill>
                <a:latin typeface="Segoe UI"/>
              </a:rPr>
              <a:t>Pool price  </a:t>
            </a:r>
            <a:r>
              <a:rPr sz="1050" b="0" i="0">
                <a:solidFill>
                  <a:srgbClr val="171C26"/>
                </a:solidFill>
                <a:latin typeface="Consolas"/>
              </a:rPr>
              <a:t>0.750 → 0.713</a:t>
            </a:r>
            <a:r>
              <a:rPr sz="1050" b="0" i="0">
                <a:solidFill>
                  <a:srgbClr val="5C6675"/>
                </a:solidFill>
                <a:latin typeface="Segoe UI"/>
              </a:rPr>
              <a:t>  seed to close (-3.7 pts)</a:t>
            </a:r>
          </a:p>
          <a:p>
            <a:pPr algn="l">
              <a:spcBef>
                <a:spcPts val="500"/>
              </a:spcBef>
              <a:spcAft>
                <a:spcPts val="0"/>
              </a:spcAft>
            </a:pPr>
            <a:r>
              <a:rPr sz="1050" b="1" i="0">
                <a:solidFill>
                  <a:srgbClr val="171C26"/>
                </a:solidFill>
                <a:latin typeface="Segoe UI"/>
              </a:rPr>
              <a:t>Activity  </a:t>
            </a:r>
            <a:r>
              <a:rPr sz="1050" b="0" i="0">
                <a:solidFill>
                  <a:srgbClr val="171C26"/>
                </a:solidFill>
                <a:latin typeface="Consolas"/>
              </a:rPr>
              <a:t>14 swaps · 64 sUSDS · 5 wallets</a:t>
            </a:r>
            <a:r>
              <a:rPr sz="1050" b="0" i="0">
                <a:solidFill>
                  <a:srgbClr val="5C6675"/>
                </a:solidFill>
                <a:latin typeface="Segoe UI"/>
              </a:rPr>
              <a:t>  since creation</a:t>
            </a:r>
          </a:p>
          <a:p>
            <a:pPr algn="l">
              <a:spcBef>
                <a:spcPts val="500"/>
              </a:spcBef>
              <a:spcAft>
                <a:spcPts val="0"/>
              </a:spcAft>
            </a:pPr>
            <a:r>
              <a:rPr sz="1050" b="1" i="0">
                <a:solidFill>
                  <a:srgbClr val="171C26"/>
                </a:solidFill>
                <a:latin typeface="Segoe UI"/>
              </a:rPr>
              <a:t>Our trades  </a:t>
            </a:r>
            <a:r>
              <a:rPr sz="1050" b="0" i="0">
                <a:solidFill>
                  <a:srgbClr val="171C26"/>
                </a:solidFill>
                <a:latin typeface="Consolas"/>
              </a:rPr>
              <a:t>1 by 1 bot, 1.44 sUSDS</a:t>
            </a:r>
          </a:p>
          <a:p>
            <a:pPr algn="l">
              <a:spcBef>
                <a:spcPts val="500"/>
              </a:spcBef>
              <a:spcAft>
                <a:spcPts val="0"/>
              </a:spcAft>
            </a:pPr>
            <a:r>
              <a:rPr sz="1050" b="1" i="0">
                <a:solidFill>
                  <a:srgbClr val="171C26"/>
                </a:solidFill>
                <a:latin typeface="Segoe UI"/>
              </a:rPr>
              <a:t>Spread of the four estimates  </a:t>
            </a:r>
            <a:r>
              <a:rPr sz="1050" b="0" i="0">
                <a:solidFill>
                  <a:srgbClr val="171C26"/>
                </a:solidFill>
                <a:latin typeface="Consolas"/>
              </a:rPr>
              <a:t>0.062 → 0.035</a:t>
            </a:r>
            <a:r>
              <a:rPr sz="1050" b="0" i="0">
                <a:solidFill>
                  <a:srgbClr val="5C6675"/>
                </a:solidFill>
                <a:latin typeface="Segoe UI"/>
              </a:rPr>
              <a:t>  (std. dev., first → last cycle with all four)</a:t>
            </a:r>
          </a:p>
          <a:p>
            <a:pPr algn="l">
              <a:spcBef>
                <a:spcPts val="500"/>
              </a:spcBef>
              <a:spcAft>
                <a:spcPts val="0"/>
              </a:spcAft>
            </a:pPr>
            <a:r>
              <a:rPr sz="1050" b="1" i="0">
                <a:solidFill>
                  <a:srgbClr val="171C26"/>
                </a:solidFill>
                <a:latin typeface="Segoe UI"/>
              </a:rPr>
              <a:t>Mean distance to the pool price  </a:t>
            </a:r>
            <a:r>
              <a:rPr sz="1050" b="0" i="0">
                <a:solidFill>
                  <a:srgbClr val="171C26"/>
                </a:solidFill>
                <a:latin typeface="Consolas"/>
              </a:rPr>
              <a:t>0.052 → 0.027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Q2 · NSM reissuance start</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Probability of “February 2031”, the outcome that won · When will NSM reissuance of funds removed from circulation begin?</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13</a:t>
            </a:r>
          </a:p>
        </p:txBody>
      </p:sp>
      <p:graphicFrame>
        <p:nvGraphicFramePr>
          <p:cNvPr id="7" name="Chart 6"/>
          <p:cNvGraphicFramePr>
            <a:graphicFrameLocks noGrp="1"/>
          </p:cNvGraphicFramePr>
          <p:nvPr/>
        </p:nvGraphicFramePr>
        <p:xfrm>
          <a:off x="365760" y="1554480"/>
          <a:ext cx="7818120" cy="47548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Table 7"/>
          <p:cNvGraphicFramePr>
            <a:graphicFrameLocks noGrp="1"/>
          </p:cNvGraphicFramePr>
          <p:nvPr/>
        </p:nvGraphicFramePr>
        <p:xfrm>
          <a:off x="8366760" y="1600200"/>
          <a:ext cx="3383280" cy="1463040"/>
        </p:xfrm>
        <a:graphic>
          <a:graphicData uri="http://schemas.openxmlformats.org/drawingml/2006/table">
            <a:tbl>
              <a:tblPr firstRow="1">
                <a:tableStyleId>{5C22544A-7EE6-4342-B048-85BDC9FD1C3A}</a:tableStyleId>
              </a:tblPr>
              <a:tblGrid>
                <a:gridCol w="141732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292608">
                <a:tc>
                  <a:txBody>
                    <a:bodyPr/>
                    <a:lstStyle/>
                    <a:p>
                      <a:pPr algn="l"/>
                      <a:r>
                        <a:rPr sz="950" b="1">
                          <a:solidFill>
                            <a:srgbClr val="FFFFFF"/>
                          </a:solidFill>
                          <a:latin typeface="Segoe UI"/>
                        </a:rPr>
                        <a:t>Model estimate</a:t>
                      </a:r>
                    </a:p>
                  </a:txBody>
                  <a:tcPr marL="54864" marR="54864" marT="22860" marB="22860" anchor="ctr">
                    <a:solidFill>
                      <a:srgbClr val="141A2B"/>
                    </a:solidFill>
                  </a:tcPr>
                </a:tc>
                <a:tc>
                  <a:txBody>
                    <a:bodyPr/>
                    <a:lstStyle/>
                    <a:p>
                      <a:pPr algn="r"/>
                      <a:r>
                        <a:rPr sz="950" b="1">
                          <a:solidFill>
                            <a:srgbClr val="FFFFFF"/>
                          </a:solidFill>
                          <a:latin typeface="Segoe UI"/>
                        </a:rPr>
                        <a:t>First</a:t>
                      </a:r>
                    </a:p>
                  </a:txBody>
                  <a:tcPr marL="54864" marR="54864" marT="22860" marB="22860" anchor="ctr">
                    <a:solidFill>
                      <a:srgbClr val="141A2B"/>
                    </a:solidFill>
                  </a:tcPr>
                </a:tc>
                <a:tc>
                  <a:txBody>
                    <a:bodyPr/>
                    <a:lstStyle/>
                    <a:p>
                      <a:pPr algn="r"/>
                      <a:r>
                        <a:rPr sz="950" b="1">
                          <a:solidFill>
                            <a:srgbClr val="FFFFFF"/>
                          </a:solidFill>
                          <a:latin typeface="Segoe UI"/>
                        </a:rPr>
                        <a:t>Last</a:t>
                      </a:r>
                    </a:p>
                  </a:txBody>
                  <a:tcPr marL="54864" marR="54864" marT="22860" marB="22860" anchor="ctr">
                    <a:solidFill>
                      <a:srgbClr val="141A2B"/>
                    </a:solidFill>
                  </a:tcPr>
                </a:tc>
                <a:tc>
                  <a:txBody>
                    <a:bodyPr/>
                    <a:lstStyle/>
                    <a:p>
                      <a:pPr algn="r"/>
                      <a:r>
                        <a:rPr sz="950" b="1">
                          <a:solidFill>
                            <a:srgbClr val="FFFFFF"/>
                          </a:solidFill>
                          <a:latin typeface="Segoe UI"/>
                        </a:rPr>
                        <a:t>Change</a:t>
                      </a:r>
                    </a:p>
                  </a:txBody>
                  <a:tcPr marL="54864" marR="54864" marT="22860" marB="22860" anchor="ctr">
                    <a:solidFill>
                      <a:srgbClr val="141A2B"/>
                    </a:solidFill>
                  </a:tcPr>
                </a:tc>
                <a:extLst>
                  <a:ext uri="{0D108BD9-81ED-4DB2-BD59-A6C34878D82A}">
                    <a16:rowId xmlns:a16="http://schemas.microsoft.com/office/drawing/2014/main" val="10000"/>
                  </a:ext>
                </a:extLst>
              </a:tr>
              <a:tr h="292608">
                <a:tc>
                  <a:txBody>
                    <a:bodyPr/>
                    <a:lstStyle/>
                    <a:p>
                      <a:pPr algn="l"/>
                      <a:r>
                        <a:rPr sz="1000" b="1">
                          <a:solidFill>
                            <a:srgbClr val="C4552A"/>
                          </a:solidFill>
                          <a:latin typeface="Segoe UI"/>
                        </a:rPr>
                        <a:t>Claude Fable 5.1</a:t>
                      </a:r>
                    </a:p>
                  </a:txBody>
                  <a:tcPr marL="54864" marR="54864" marT="22860" marB="22860" anchor="ctr">
                    <a:solidFill>
                      <a:srgbClr val="FFFFFF"/>
                    </a:solidFill>
                  </a:tcPr>
                </a:tc>
                <a:tc>
                  <a:txBody>
                    <a:bodyPr/>
                    <a:lstStyle/>
                    <a:p>
                      <a:pPr algn="r"/>
                      <a:r>
                        <a:rPr sz="1000" b="0">
                          <a:solidFill>
                            <a:srgbClr val="171C26"/>
                          </a:solidFill>
                          <a:latin typeface="Consolas"/>
                        </a:rPr>
                        <a:t>0.65</a:t>
                      </a:r>
                    </a:p>
                  </a:txBody>
                  <a:tcPr marL="54864" marR="54864" marT="22860" marB="22860" anchor="ctr">
                    <a:solidFill>
                      <a:srgbClr val="FFFFFF"/>
                    </a:solidFill>
                  </a:tcPr>
                </a:tc>
                <a:tc>
                  <a:txBody>
                    <a:bodyPr/>
                    <a:lstStyle/>
                    <a:p>
                      <a:pPr algn="r"/>
                      <a:r>
                        <a:rPr sz="1000" b="0">
                          <a:solidFill>
                            <a:srgbClr val="171C26"/>
                          </a:solidFill>
                          <a:latin typeface="Consolas"/>
                        </a:rPr>
                        <a:t>0.65</a:t>
                      </a:r>
                    </a:p>
                  </a:txBody>
                  <a:tcPr marL="54864" marR="54864" marT="22860" marB="22860" anchor="ctr">
                    <a:solidFill>
                      <a:srgbClr val="FFFFFF"/>
                    </a:solidFill>
                  </a:tcPr>
                </a:tc>
                <a:tc>
                  <a:txBody>
                    <a:bodyPr/>
                    <a:lstStyle/>
                    <a:p>
                      <a:pPr algn="r"/>
                      <a:r>
                        <a:rPr sz="1000" b="0">
                          <a:solidFill>
                            <a:srgbClr val="171C26"/>
                          </a:solidFill>
                          <a:latin typeface="Consolas"/>
                        </a:rPr>
                        <a:t>+0.00</a:t>
                      </a:r>
                    </a:p>
                  </a:txBody>
                  <a:tcPr marL="54864" marR="54864" marT="22860" marB="22860" anchor="ctr">
                    <a:solidFill>
                      <a:srgbClr val="FFFFFF"/>
                    </a:solidFill>
                  </a:tcPr>
                </a:tc>
                <a:extLst>
                  <a:ext uri="{0D108BD9-81ED-4DB2-BD59-A6C34878D82A}">
                    <a16:rowId xmlns:a16="http://schemas.microsoft.com/office/drawing/2014/main" val="10001"/>
                  </a:ext>
                </a:extLst>
              </a:tr>
              <a:tr h="292608">
                <a:tc>
                  <a:txBody>
                    <a:bodyPr/>
                    <a:lstStyle/>
                    <a:p>
                      <a:pPr algn="l"/>
                      <a:r>
                        <a:rPr sz="1000" b="1">
                          <a:solidFill>
                            <a:srgbClr val="7A2E8C"/>
                          </a:solidFill>
                          <a:latin typeface="Segoe UI"/>
                        </a:rPr>
                        <a:t>Claude Opus 5</a:t>
                      </a:r>
                    </a:p>
                  </a:txBody>
                  <a:tcPr marL="54864" marR="54864" marT="22860" marB="22860" anchor="ctr">
                    <a:solidFill>
                      <a:srgbClr val="EEF0F3"/>
                    </a:solidFill>
                  </a:tcPr>
                </a:tc>
                <a:tc>
                  <a:txBody>
                    <a:bodyPr/>
                    <a:lstStyle/>
                    <a:p>
                      <a:pPr algn="r"/>
                      <a:r>
                        <a:rPr sz="1000" b="0">
                          <a:solidFill>
                            <a:srgbClr val="171C26"/>
                          </a:solidFill>
                          <a:latin typeface="Consolas"/>
                        </a:rPr>
                        <a:t>0.82</a:t>
                      </a:r>
                    </a:p>
                  </a:txBody>
                  <a:tcPr marL="54864" marR="54864" marT="22860" marB="22860" anchor="ctr">
                    <a:solidFill>
                      <a:srgbClr val="EEF0F3"/>
                    </a:solidFill>
                  </a:tcPr>
                </a:tc>
                <a:tc>
                  <a:txBody>
                    <a:bodyPr/>
                    <a:lstStyle/>
                    <a:p>
                      <a:pPr algn="r"/>
                      <a:r>
                        <a:rPr sz="1000" b="0">
                          <a:solidFill>
                            <a:srgbClr val="171C26"/>
                          </a:solidFill>
                          <a:latin typeface="Consolas"/>
                        </a:rPr>
                        <a:t>0.82</a:t>
                      </a:r>
                    </a:p>
                  </a:txBody>
                  <a:tcPr marL="54864" marR="54864" marT="22860" marB="22860" anchor="ctr">
                    <a:solidFill>
                      <a:srgbClr val="EEF0F3"/>
                    </a:solidFill>
                  </a:tcPr>
                </a:tc>
                <a:tc>
                  <a:txBody>
                    <a:bodyPr/>
                    <a:lstStyle/>
                    <a:p>
                      <a:pPr algn="r"/>
                      <a:r>
                        <a:rPr sz="1000" b="0">
                          <a:solidFill>
                            <a:srgbClr val="171C26"/>
                          </a:solidFill>
                          <a:latin typeface="Consolas"/>
                        </a:rPr>
                        <a:t>+0.00</a:t>
                      </a:r>
                    </a:p>
                  </a:txBody>
                  <a:tcPr marL="54864" marR="54864" marT="22860" marB="22860" anchor="ctr">
                    <a:solidFill>
                      <a:srgbClr val="EEF0F3"/>
                    </a:solidFill>
                  </a:tcPr>
                </a:tc>
                <a:extLst>
                  <a:ext uri="{0D108BD9-81ED-4DB2-BD59-A6C34878D82A}">
                    <a16:rowId xmlns:a16="http://schemas.microsoft.com/office/drawing/2014/main" val="10002"/>
                  </a:ext>
                </a:extLst>
              </a:tr>
              <a:tr h="292608">
                <a:tc>
                  <a:txBody>
                    <a:bodyPr/>
                    <a:lstStyle/>
                    <a:p>
                      <a:pPr algn="l"/>
                      <a:r>
                        <a:rPr sz="1000" b="1">
                          <a:solidFill>
                            <a:srgbClr val="1B7F63"/>
                          </a:solidFill>
                          <a:latin typeface="Segoe UI"/>
                        </a:rPr>
                        <a:t>GPT-6 Astra</a:t>
                      </a:r>
                    </a:p>
                  </a:txBody>
                  <a:tcPr marL="54864" marR="54864" marT="22860" marB="22860" anchor="ctr">
                    <a:solidFill>
                      <a:srgbClr val="FFFFFF"/>
                    </a:solidFill>
                  </a:tcPr>
                </a:tc>
                <a:tc>
                  <a:txBody>
                    <a:bodyPr/>
                    <a:lstStyle/>
                    <a:p>
                      <a:pPr algn="r"/>
                      <a:r>
                        <a:rPr sz="1000" b="0">
                          <a:solidFill>
                            <a:srgbClr val="171C26"/>
                          </a:solidFill>
                          <a:latin typeface="Consolas"/>
                        </a:rPr>
                        <a:t>0.60</a:t>
                      </a:r>
                    </a:p>
                  </a:txBody>
                  <a:tcPr marL="54864" marR="54864" marT="22860" marB="22860" anchor="ctr">
                    <a:solidFill>
                      <a:srgbClr val="FFFFFF"/>
                    </a:solidFill>
                  </a:tcPr>
                </a:tc>
                <a:tc>
                  <a:txBody>
                    <a:bodyPr/>
                    <a:lstStyle/>
                    <a:p>
                      <a:pPr algn="r"/>
                      <a:r>
                        <a:rPr sz="1000" b="0">
                          <a:solidFill>
                            <a:srgbClr val="171C26"/>
                          </a:solidFill>
                          <a:latin typeface="Consolas"/>
                        </a:rPr>
                        <a:t>0.65</a:t>
                      </a:r>
                    </a:p>
                  </a:txBody>
                  <a:tcPr marL="54864" marR="54864" marT="22860" marB="22860" anchor="ctr">
                    <a:solidFill>
                      <a:srgbClr val="FFFFFF"/>
                    </a:solidFill>
                  </a:tcPr>
                </a:tc>
                <a:tc>
                  <a:txBody>
                    <a:bodyPr/>
                    <a:lstStyle/>
                    <a:p>
                      <a:pPr algn="r"/>
                      <a:r>
                        <a:rPr sz="1000" b="0">
                          <a:solidFill>
                            <a:srgbClr val="171C26"/>
                          </a:solidFill>
                          <a:latin typeface="Consolas"/>
                        </a:rPr>
                        <a:t>+0.05</a:t>
                      </a:r>
                    </a:p>
                  </a:txBody>
                  <a:tcPr marL="54864" marR="54864" marT="22860" marB="22860" anchor="ctr">
                    <a:solidFill>
                      <a:srgbClr val="FFFFFF"/>
                    </a:solidFill>
                  </a:tcPr>
                </a:tc>
                <a:extLst>
                  <a:ext uri="{0D108BD9-81ED-4DB2-BD59-A6C34878D82A}">
                    <a16:rowId xmlns:a16="http://schemas.microsoft.com/office/drawing/2014/main" val="10003"/>
                  </a:ext>
                </a:extLst>
              </a:tr>
              <a:tr h="292608">
                <a:tc>
                  <a:txBody>
                    <a:bodyPr/>
                    <a:lstStyle/>
                    <a:p>
                      <a:pPr algn="l"/>
                      <a:r>
                        <a:rPr sz="1000" b="1">
                          <a:solidFill>
                            <a:srgbClr val="2F6FD6"/>
                          </a:solidFill>
                          <a:latin typeface="Segoe UI"/>
                        </a:rPr>
                        <a:t>GPT-5.6 Sol</a:t>
                      </a:r>
                    </a:p>
                  </a:txBody>
                  <a:tcPr marL="54864" marR="54864" marT="22860" marB="22860" anchor="ctr">
                    <a:solidFill>
                      <a:srgbClr val="EEF0F3"/>
                    </a:solidFill>
                  </a:tcPr>
                </a:tc>
                <a:tc>
                  <a:txBody>
                    <a:bodyPr/>
                    <a:lstStyle/>
                    <a:p>
                      <a:pPr algn="r"/>
                      <a:r>
                        <a:rPr sz="1000" b="0">
                          <a:solidFill>
                            <a:srgbClr val="171C26"/>
                          </a:solidFill>
                          <a:latin typeface="Consolas"/>
                        </a:rPr>
                        <a:t>0.68</a:t>
                      </a:r>
                    </a:p>
                  </a:txBody>
                  <a:tcPr marL="54864" marR="54864" marT="22860" marB="22860" anchor="ctr">
                    <a:solidFill>
                      <a:srgbClr val="EEF0F3"/>
                    </a:solidFill>
                  </a:tcPr>
                </a:tc>
                <a:tc>
                  <a:txBody>
                    <a:bodyPr/>
                    <a:lstStyle/>
                    <a:p>
                      <a:pPr algn="r"/>
                      <a:r>
                        <a:rPr sz="1000" b="0">
                          <a:solidFill>
                            <a:srgbClr val="171C26"/>
                          </a:solidFill>
                          <a:latin typeface="Consolas"/>
                        </a:rPr>
                        <a:t>0.70</a:t>
                      </a:r>
                    </a:p>
                  </a:txBody>
                  <a:tcPr marL="54864" marR="54864" marT="22860" marB="22860" anchor="ctr">
                    <a:solidFill>
                      <a:srgbClr val="EEF0F3"/>
                    </a:solidFill>
                  </a:tcPr>
                </a:tc>
                <a:tc>
                  <a:txBody>
                    <a:bodyPr/>
                    <a:lstStyle/>
                    <a:p>
                      <a:pPr algn="r"/>
                      <a:r>
                        <a:rPr sz="1000" b="0">
                          <a:solidFill>
                            <a:srgbClr val="171C26"/>
                          </a:solidFill>
                          <a:latin typeface="Consolas"/>
                        </a:rPr>
                        <a:t>+0.02</a:t>
                      </a:r>
                    </a:p>
                  </a:txBody>
                  <a:tcPr marL="54864" marR="54864" marT="22860" marB="22860" anchor="ctr">
                    <a:solidFill>
                      <a:srgbClr val="EEF0F3"/>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8366760" y="3154680"/>
            <a:ext cx="3429000" cy="3154680"/>
          </a:xfrm>
          <a:prstGeom prst="rect">
            <a:avLst/>
          </a:prstGeom>
          <a:noFill/>
        </p:spPr>
        <p:txBody>
          <a:bodyPr wrap="square" lIns="36576" tIns="18288" rIns="36576" bIns="18288" anchor="t">
            <a:spAutoFit/>
          </a:bodyPr>
          <a:lstStyle/>
          <a:p>
            <a:pPr algn="l">
              <a:spcBef>
                <a:spcPts val="600"/>
              </a:spcBef>
              <a:spcAft>
                <a:spcPts val="0"/>
              </a:spcAft>
            </a:pPr>
            <a:r>
              <a:rPr sz="1050" b="1" i="0">
                <a:solidFill>
                  <a:srgbClr val="1E7A46"/>
                </a:solidFill>
                <a:latin typeface="Segoe UI"/>
              </a:rPr>
              <a:t>Result  won with 96.6% of ZEC</a:t>
            </a:r>
            <a:r>
              <a:rPr sz="1050" b="0" i="0">
                <a:solidFill>
                  <a:srgbClr val="5C6675"/>
                </a:solidFill>
                <a:latin typeface="Segoe UI"/>
              </a:rPr>
              <a:t>  (72.2% of ballots)</a:t>
            </a:r>
          </a:p>
          <a:p>
            <a:pPr algn="l">
              <a:spcBef>
                <a:spcPts val="500"/>
              </a:spcBef>
              <a:spcAft>
                <a:spcPts val="0"/>
              </a:spcAft>
            </a:pPr>
            <a:r>
              <a:rPr sz="1050" b="1" i="0">
                <a:solidFill>
                  <a:srgbClr val="171C26"/>
                </a:solidFill>
                <a:latin typeface="Segoe UI"/>
              </a:rPr>
              <a:t>Pool price  </a:t>
            </a:r>
            <a:r>
              <a:rPr sz="1050" b="0" i="0">
                <a:solidFill>
                  <a:srgbClr val="171C26"/>
                </a:solidFill>
                <a:latin typeface="Consolas"/>
              </a:rPr>
              <a:t>0.300 → 0.427</a:t>
            </a:r>
            <a:r>
              <a:rPr sz="1050" b="0" i="0">
                <a:solidFill>
                  <a:srgbClr val="5C6675"/>
                </a:solidFill>
                <a:latin typeface="Segoe UI"/>
              </a:rPr>
              <a:t>  seed to close (+12.7 pts)</a:t>
            </a:r>
          </a:p>
          <a:p>
            <a:pPr algn="l">
              <a:spcBef>
                <a:spcPts val="500"/>
              </a:spcBef>
              <a:spcAft>
                <a:spcPts val="0"/>
              </a:spcAft>
            </a:pPr>
            <a:r>
              <a:rPr sz="1050" b="1" i="0">
                <a:solidFill>
                  <a:srgbClr val="171C26"/>
                </a:solidFill>
                <a:latin typeface="Segoe UI"/>
              </a:rPr>
              <a:t>Activity  </a:t>
            </a:r>
            <a:r>
              <a:rPr sz="1050" b="0" i="0">
                <a:solidFill>
                  <a:srgbClr val="171C26"/>
                </a:solidFill>
                <a:latin typeface="Consolas"/>
              </a:rPr>
              <a:t>36 swaps · 988 sUSDS · 6 wallets</a:t>
            </a:r>
            <a:r>
              <a:rPr sz="1050" b="0" i="0">
                <a:solidFill>
                  <a:srgbClr val="5C6675"/>
                </a:solidFill>
                <a:latin typeface="Segoe UI"/>
              </a:rPr>
              <a:t>  since creation</a:t>
            </a:r>
          </a:p>
          <a:p>
            <a:pPr algn="l">
              <a:spcBef>
                <a:spcPts val="500"/>
              </a:spcBef>
              <a:spcAft>
                <a:spcPts val="0"/>
              </a:spcAft>
            </a:pPr>
            <a:r>
              <a:rPr sz="1050" b="1" i="0">
                <a:solidFill>
                  <a:srgbClr val="171C26"/>
                </a:solidFill>
                <a:latin typeface="Segoe UI"/>
              </a:rPr>
              <a:t>Our trades  </a:t>
            </a:r>
            <a:r>
              <a:rPr sz="1050" b="0" i="0">
                <a:solidFill>
                  <a:srgbClr val="171C26"/>
                </a:solidFill>
                <a:latin typeface="Consolas"/>
              </a:rPr>
              <a:t>5 by 4 bots, 162.70 sUSDS</a:t>
            </a:r>
          </a:p>
          <a:p>
            <a:pPr algn="l">
              <a:spcBef>
                <a:spcPts val="500"/>
              </a:spcBef>
              <a:spcAft>
                <a:spcPts val="0"/>
              </a:spcAft>
            </a:pPr>
            <a:r>
              <a:rPr sz="1050" b="1" i="0">
                <a:solidFill>
                  <a:srgbClr val="171C26"/>
                </a:solidFill>
                <a:latin typeface="Segoe UI"/>
              </a:rPr>
              <a:t>Spread of the four estimates  </a:t>
            </a:r>
            <a:r>
              <a:rPr sz="1050" b="0" i="0">
                <a:solidFill>
                  <a:srgbClr val="171C26"/>
                </a:solidFill>
                <a:latin typeface="Consolas"/>
              </a:rPr>
              <a:t>0.082 → 0.069</a:t>
            </a:r>
            <a:r>
              <a:rPr sz="1050" b="0" i="0">
                <a:solidFill>
                  <a:srgbClr val="5C6675"/>
                </a:solidFill>
                <a:latin typeface="Segoe UI"/>
              </a:rPr>
              <a:t>  (std. dev., first → last cycle with all four)</a:t>
            </a:r>
          </a:p>
          <a:p>
            <a:pPr algn="l">
              <a:spcBef>
                <a:spcPts val="500"/>
              </a:spcBef>
              <a:spcAft>
                <a:spcPts val="0"/>
              </a:spcAft>
            </a:pPr>
            <a:r>
              <a:rPr sz="1050" b="1" i="0">
                <a:solidFill>
                  <a:srgbClr val="171C26"/>
                </a:solidFill>
                <a:latin typeface="Segoe UI"/>
              </a:rPr>
              <a:t>Mean distance to the pool price  </a:t>
            </a:r>
            <a:r>
              <a:rPr sz="1050" b="0" i="0">
                <a:solidFill>
                  <a:srgbClr val="171C26"/>
                </a:solidFill>
                <a:latin typeface="Consolas"/>
              </a:rPr>
              <a:t>0.395 → 0.278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Q3 · Disable v4 transactions</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Probability of “Immediately at NU7 activation”, the outcome that won · When will v4 transactions be disabled?</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14</a:t>
            </a:r>
          </a:p>
        </p:txBody>
      </p:sp>
      <p:graphicFrame>
        <p:nvGraphicFramePr>
          <p:cNvPr id="7" name="Chart 6"/>
          <p:cNvGraphicFramePr>
            <a:graphicFrameLocks noGrp="1"/>
          </p:cNvGraphicFramePr>
          <p:nvPr/>
        </p:nvGraphicFramePr>
        <p:xfrm>
          <a:off x="365760" y="1554480"/>
          <a:ext cx="7818120" cy="47548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Table 7"/>
          <p:cNvGraphicFramePr>
            <a:graphicFrameLocks noGrp="1"/>
          </p:cNvGraphicFramePr>
          <p:nvPr/>
        </p:nvGraphicFramePr>
        <p:xfrm>
          <a:off x="8366760" y="1600200"/>
          <a:ext cx="3383280" cy="1463040"/>
        </p:xfrm>
        <a:graphic>
          <a:graphicData uri="http://schemas.openxmlformats.org/drawingml/2006/table">
            <a:tbl>
              <a:tblPr firstRow="1">
                <a:tableStyleId>{5C22544A-7EE6-4342-B048-85BDC9FD1C3A}</a:tableStyleId>
              </a:tblPr>
              <a:tblGrid>
                <a:gridCol w="141732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292608">
                <a:tc>
                  <a:txBody>
                    <a:bodyPr/>
                    <a:lstStyle/>
                    <a:p>
                      <a:pPr algn="l"/>
                      <a:r>
                        <a:rPr sz="950" b="1">
                          <a:solidFill>
                            <a:srgbClr val="FFFFFF"/>
                          </a:solidFill>
                          <a:latin typeface="Segoe UI"/>
                        </a:rPr>
                        <a:t>Model estimate</a:t>
                      </a:r>
                    </a:p>
                  </a:txBody>
                  <a:tcPr marL="54864" marR="54864" marT="22860" marB="22860" anchor="ctr">
                    <a:solidFill>
                      <a:srgbClr val="141A2B"/>
                    </a:solidFill>
                  </a:tcPr>
                </a:tc>
                <a:tc>
                  <a:txBody>
                    <a:bodyPr/>
                    <a:lstStyle/>
                    <a:p>
                      <a:pPr algn="r"/>
                      <a:r>
                        <a:rPr sz="950" b="1">
                          <a:solidFill>
                            <a:srgbClr val="FFFFFF"/>
                          </a:solidFill>
                          <a:latin typeface="Segoe UI"/>
                        </a:rPr>
                        <a:t>First</a:t>
                      </a:r>
                    </a:p>
                  </a:txBody>
                  <a:tcPr marL="54864" marR="54864" marT="22860" marB="22860" anchor="ctr">
                    <a:solidFill>
                      <a:srgbClr val="141A2B"/>
                    </a:solidFill>
                  </a:tcPr>
                </a:tc>
                <a:tc>
                  <a:txBody>
                    <a:bodyPr/>
                    <a:lstStyle/>
                    <a:p>
                      <a:pPr algn="r"/>
                      <a:r>
                        <a:rPr sz="950" b="1">
                          <a:solidFill>
                            <a:srgbClr val="FFFFFF"/>
                          </a:solidFill>
                          <a:latin typeface="Segoe UI"/>
                        </a:rPr>
                        <a:t>Last</a:t>
                      </a:r>
                    </a:p>
                  </a:txBody>
                  <a:tcPr marL="54864" marR="54864" marT="22860" marB="22860" anchor="ctr">
                    <a:solidFill>
                      <a:srgbClr val="141A2B"/>
                    </a:solidFill>
                  </a:tcPr>
                </a:tc>
                <a:tc>
                  <a:txBody>
                    <a:bodyPr/>
                    <a:lstStyle/>
                    <a:p>
                      <a:pPr algn="r"/>
                      <a:r>
                        <a:rPr sz="950" b="1">
                          <a:solidFill>
                            <a:srgbClr val="FFFFFF"/>
                          </a:solidFill>
                          <a:latin typeface="Segoe UI"/>
                        </a:rPr>
                        <a:t>Change</a:t>
                      </a:r>
                    </a:p>
                  </a:txBody>
                  <a:tcPr marL="54864" marR="54864" marT="22860" marB="22860" anchor="ctr">
                    <a:solidFill>
                      <a:srgbClr val="141A2B"/>
                    </a:solidFill>
                  </a:tcPr>
                </a:tc>
                <a:extLst>
                  <a:ext uri="{0D108BD9-81ED-4DB2-BD59-A6C34878D82A}">
                    <a16:rowId xmlns:a16="http://schemas.microsoft.com/office/drawing/2014/main" val="10000"/>
                  </a:ext>
                </a:extLst>
              </a:tr>
              <a:tr h="292608">
                <a:tc>
                  <a:txBody>
                    <a:bodyPr/>
                    <a:lstStyle/>
                    <a:p>
                      <a:pPr algn="l"/>
                      <a:r>
                        <a:rPr sz="1000" b="1">
                          <a:solidFill>
                            <a:srgbClr val="C4552A"/>
                          </a:solidFill>
                          <a:latin typeface="Segoe UI"/>
                        </a:rPr>
                        <a:t>Claude Fable 5.1</a:t>
                      </a:r>
                    </a:p>
                  </a:txBody>
                  <a:tcPr marL="54864" marR="54864" marT="22860" marB="22860" anchor="ctr">
                    <a:solidFill>
                      <a:srgbClr val="FFFFFF"/>
                    </a:solidFill>
                  </a:tcPr>
                </a:tc>
                <a:tc>
                  <a:txBody>
                    <a:bodyPr/>
                    <a:lstStyle/>
                    <a:p>
                      <a:pPr algn="r"/>
                      <a:r>
                        <a:rPr sz="1000" b="0">
                          <a:solidFill>
                            <a:srgbClr val="171C26"/>
                          </a:solidFill>
                          <a:latin typeface="Consolas"/>
                        </a:rPr>
                        <a:t>0.46</a:t>
                      </a:r>
                    </a:p>
                  </a:txBody>
                  <a:tcPr marL="54864" marR="54864" marT="22860" marB="22860" anchor="ctr">
                    <a:solidFill>
                      <a:srgbClr val="FFFFFF"/>
                    </a:solidFill>
                  </a:tcPr>
                </a:tc>
                <a:tc>
                  <a:txBody>
                    <a:bodyPr/>
                    <a:lstStyle/>
                    <a:p>
                      <a:pPr algn="r"/>
                      <a:r>
                        <a:rPr sz="1000" b="0">
                          <a:solidFill>
                            <a:srgbClr val="171C26"/>
                          </a:solidFill>
                          <a:latin typeface="Consolas"/>
                        </a:rPr>
                        <a:t>0.50</a:t>
                      </a:r>
                    </a:p>
                  </a:txBody>
                  <a:tcPr marL="54864" marR="54864" marT="22860" marB="22860" anchor="ctr">
                    <a:solidFill>
                      <a:srgbClr val="FFFFFF"/>
                    </a:solidFill>
                  </a:tcPr>
                </a:tc>
                <a:tc>
                  <a:txBody>
                    <a:bodyPr/>
                    <a:lstStyle/>
                    <a:p>
                      <a:pPr algn="r"/>
                      <a:r>
                        <a:rPr sz="1000" b="0">
                          <a:solidFill>
                            <a:srgbClr val="171C26"/>
                          </a:solidFill>
                          <a:latin typeface="Consolas"/>
                        </a:rPr>
                        <a:t>+0.04</a:t>
                      </a:r>
                    </a:p>
                  </a:txBody>
                  <a:tcPr marL="54864" marR="54864" marT="22860" marB="22860" anchor="ctr">
                    <a:solidFill>
                      <a:srgbClr val="FFFFFF"/>
                    </a:solidFill>
                  </a:tcPr>
                </a:tc>
                <a:extLst>
                  <a:ext uri="{0D108BD9-81ED-4DB2-BD59-A6C34878D82A}">
                    <a16:rowId xmlns:a16="http://schemas.microsoft.com/office/drawing/2014/main" val="10001"/>
                  </a:ext>
                </a:extLst>
              </a:tr>
              <a:tr h="292608">
                <a:tc>
                  <a:txBody>
                    <a:bodyPr/>
                    <a:lstStyle/>
                    <a:p>
                      <a:pPr algn="l"/>
                      <a:r>
                        <a:rPr sz="1000" b="1">
                          <a:solidFill>
                            <a:srgbClr val="7A2E8C"/>
                          </a:solidFill>
                          <a:latin typeface="Segoe UI"/>
                        </a:rPr>
                        <a:t>Claude Opus 5</a:t>
                      </a:r>
                    </a:p>
                  </a:txBody>
                  <a:tcPr marL="54864" marR="54864" marT="22860" marB="22860" anchor="ctr">
                    <a:solidFill>
                      <a:srgbClr val="EEF0F3"/>
                    </a:solidFill>
                  </a:tcPr>
                </a:tc>
                <a:tc>
                  <a:txBody>
                    <a:bodyPr/>
                    <a:lstStyle/>
                    <a:p>
                      <a:pPr algn="r"/>
                      <a:r>
                        <a:rPr sz="1000" b="0">
                          <a:solidFill>
                            <a:srgbClr val="171C26"/>
                          </a:solidFill>
                          <a:latin typeface="Consolas"/>
                        </a:rPr>
                        <a:t>0.77</a:t>
                      </a:r>
                    </a:p>
                  </a:txBody>
                  <a:tcPr marL="54864" marR="54864" marT="22860" marB="22860" anchor="ctr">
                    <a:solidFill>
                      <a:srgbClr val="EEF0F3"/>
                    </a:solidFill>
                  </a:tcPr>
                </a:tc>
                <a:tc>
                  <a:txBody>
                    <a:bodyPr/>
                    <a:lstStyle/>
                    <a:p>
                      <a:pPr algn="r"/>
                      <a:r>
                        <a:rPr sz="1000" b="0">
                          <a:solidFill>
                            <a:srgbClr val="171C26"/>
                          </a:solidFill>
                          <a:latin typeface="Consolas"/>
                        </a:rPr>
                        <a:t>0.77</a:t>
                      </a:r>
                    </a:p>
                  </a:txBody>
                  <a:tcPr marL="54864" marR="54864" marT="22860" marB="22860" anchor="ctr">
                    <a:solidFill>
                      <a:srgbClr val="EEF0F3"/>
                    </a:solidFill>
                  </a:tcPr>
                </a:tc>
                <a:tc>
                  <a:txBody>
                    <a:bodyPr/>
                    <a:lstStyle/>
                    <a:p>
                      <a:pPr algn="r"/>
                      <a:r>
                        <a:rPr sz="1000" b="0">
                          <a:solidFill>
                            <a:srgbClr val="171C26"/>
                          </a:solidFill>
                          <a:latin typeface="Consolas"/>
                        </a:rPr>
                        <a:t>+0.00</a:t>
                      </a:r>
                    </a:p>
                  </a:txBody>
                  <a:tcPr marL="54864" marR="54864" marT="22860" marB="22860" anchor="ctr">
                    <a:solidFill>
                      <a:srgbClr val="EEF0F3"/>
                    </a:solidFill>
                  </a:tcPr>
                </a:tc>
                <a:extLst>
                  <a:ext uri="{0D108BD9-81ED-4DB2-BD59-A6C34878D82A}">
                    <a16:rowId xmlns:a16="http://schemas.microsoft.com/office/drawing/2014/main" val="10002"/>
                  </a:ext>
                </a:extLst>
              </a:tr>
              <a:tr h="292608">
                <a:tc>
                  <a:txBody>
                    <a:bodyPr/>
                    <a:lstStyle/>
                    <a:p>
                      <a:pPr algn="l"/>
                      <a:r>
                        <a:rPr sz="1000" b="1">
                          <a:solidFill>
                            <a:srgbClr val="1B7F63"/>
                          </a:solidFill>
                          <a:latin typeface="Segoe UI"/>
                        </a:rPr>
                        <a:t>GPT-6 Astra</a:t>
                      </a:r>
                    </a:p>
                  </a:txBody>
                  <a:tcPr marL="54864" marR="54864" marT="22860" marB="22860" anchor="ctr">
                    <a:solidFill>
                      <a:srgbClr val="FFFFFF"/>
                    </a:solidFill>
                  </a:tcPr>
                </a:tc>
                <a:tc>
                  <a:txBody>
                    <a:bodyPr/>
                    <a:lstStyle/>
                    <a:p>
                      <a:pPr algn="r"/>
                      <a:r>
                        <a:rPr sz="1000" b="0">
                          <a:solidFill>
                            <a:srgbClr val="171C26"/>
                          </a:solidFill>
                          <a:latin typeface="Consolas"/>
                        </a:rPr>
                        <a:t>0.50</a:t>
                      </a:r>
                    </a:p>
                  </a:txBody>
                  <a:tcPr marL="54864" marR="54864" marT="22860" marB="22860" anchor="ctr">
                    <a:solidFill>
                      <a:srgbClr val="FFFFFF"/>
                    </a:solidFill>
                  </a:tcPr>
                </a:tc>
                <a:tc>
                  <a:txBody>
                    <a:bodyPr/>
                    <a:lstStyle/>
                    <a:p>
                      <a:pPr algn="r"/>
                      <a:r>
                        <a:rPr sz="1000" b="0">
                          <a:solidFill>
                            <a:srgbClr val="171C26"/>
                          </a:solidFill>
                          <a:latin typeface="Consolas"/>
                        </a:rPr>
                        <a:t>0.60</a:t>
                      </a:r>
                    </a:p>
                  </a:txBody>
                  <a:tcPr marL="54864" marR="54864" marT="22860" marB="22860" anchor="ctr">
                    <a:solidFill>
                      <a:srgbClr val="FFFFFF"/>
                    </a:solidFill>
                  </a:tcPr>
                </a:tc>
                <a:tc>
                  <a:txBody>
                    <a:bodyPr/>
                    <a:lstStyle/>
                    <a:p>
                      <a:pPr algn="r"/>
                      <a:r>
                        <a:rPr sz="1000" b="0">
                          <a:solidFill>
                            <a:srgbClr val="171C26"/>
                          </a:solidFill>
                          <a:latin typeface="Consolas"/>
                        </a:rPr>
                        <a:t>+0.10</a:t>
                      </a:r>
                    </a:p>
                  </a:txBody>
                  <a:tcPr marL="54864" marR="54864" marT="22860" marB="22860" anchor="ctr">
                    <a:solidFill>
                      <a:srgbClr val="FFFFFF"/>
                    </a:solidFill>
                  </a:tcPr>
                </a:tc>
                <a:extLst>
                  <a:ext uri="{0D108BD9-81ED-4DB2-BD59-A6C34878D82A}">
                    <a16:rowId xmlns:a16="http://schemas.microsoft.com/office/drawing/2014/main" val="10003"/>
                  </a:ext>
                </a:extLst>
              </a:tr>
              <a:tr h="292608">
                <a:tc>
                  <a:txBody>
                    <a:bodyPr/>
                    <a:lstStyle/>
                    <a:p>
                      <a:pPr algn="l"/>
                      <a:r>
                        <a:rPr sz="1000" b="1">
                          <a:solidFill>
                            <a:srgbClr val="2F6FD6"/>
                          </a:solidFill>
                          <a:latin typeface="Segoe UI"/>
                        </a:rPr>
                        <a:t>GPT-5.6 Sol</a:t>
                      </a:r>
                    </a:p>
                  </a:txBody>
                  <a:tcPr marL="54864" marR="54864" marT="22860" marB="22860" anchor="ctr">
                    <a:solidFill>
                      <a:srgbClr val="EEF0F3"/>
                    </a:solidFill>
                  </a:tcPr>
                </a:tc>
                <a:tc>
                  <a:txBody>
                    <a:bodyPr/>
                    <a:lstStyle/>
                    <a:p>
                      <a:pPr algn="r"/>
                      <a:r>
                        <a:rPr sz="1000" b="0">
                          <a:solidFill>
                            <a:srgbClr val="171C26"/>
                          </a:solidFill>
                          <a:latin typeface="Consolas"/>
                        </a:rPr>
                        <a:t>0.52</a:t>
                      </a:r>
                    </a:p>
                  </a:txBody>
                  <a:tcPr marL="54864" marR="54864" marT="22860" marB="22860" anchor="ctr">
                    <a:solidFill>
                      <a:srgbClr val="EEF0F3"/>
                    </a:solidFill>
                  </a:tcPr>
                </a:tc>
                <a:tc>
                  <a:txBody>
                    <a:bodyPr/>
                    <a:lstStyle/>
                    <a:p>
                      <a:pPr algn="r"/>
                      <a:r>
                        <a:rPr sz="1000" b="0">
                          <a:solidFill>
                            <a:srgbClr val="171C26"/>
                          </a:solidFill>
                          <a:latin typeface="Consolas"/>
                        </a:rPr>
                        <a:t>0.53</a:t>
                      </a:r>
                    </a:p>
                  </a:txBody>
                  <a:tcPr marL="54864" marR="54864" marT="22860" marB="22860" anchor="ctr">
                    <a:solidFill>
                      <a:srgbClr val="EEF0F3"/>
                    </a:solidFill>
                  </a:tcPr>
                </a:tc>
                <a:tc>
                  <a:txBody>
                    <a:bodyPr/>
                    <a:lstStyle/>
                    <a:p>
                      <a:pPr algn="r"/>
                      <a:r>
                        <a:rPr sz="1000" b="0">
                          <a:solidFill>
                            <a:srgbClr val="171C26"/>
                          </a:solidFill>
                          <a:latin typeface="Consolas"/>
                        </a:rPr>
                        <a:t>+0.01</a:t>
                      </a:r>
                    </a:p>
                  </a:txBody>
                  <a:tcPr marL="54864" marR="54864" marT="22860" marB="22860" anchor="ctr">
                    <a:solidFill>
                      <a:srgbClr val="EEF0F3"/>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8366760" y="3154680"/>
            <a:ext cx="3429000" cy="3154680"/>
          </a:xfrm>
          <a:prstGeom prst="rect">
            <a:avLst/>
          </a:prstGeom>
          <a:noFill/>
        </p:spPr>
        <p:txBody>
          <a:bodyPr wrap="square" lIns="36576" tIns="18288" rIns="36576" bIns="18288" anchor="t">
            <a:spAutoFit/>
          </a:bodyPr>
          <a:lstStyle/>
          <a:p>
            <a:pPr algn="l">
              <a:spcBef>
                <a:spcPts val="600"/>
              </a:spcBef>
              <a:spcAft>
                <a:spcPts val="0"/>
              </a:spcAft>
            </a:pPr>
            <a:r>
              <a:rPr sz="1050" b="1" i="0">
                <a:solidFill>
                  <a:srgbClr val="1E7A46"/>
                </a:solidFill>
                <a:latin typeface="Segoe UI"/>
              </a:rPr>
              <a:t>Result  won with 97.3% of ZEC</a:t>
            </a:r>
            <a:r>
              <a:rPr sz="1050" b="0" i="0">
                <a:solidFill>
                  <a:srgbClr val="5C6675"/>
                </a:solidFill>
                <a:latin typeface="Segoe UI"/>
              </a:rPr>
              <a:t>  (80.8% of ballots)</a:t>
            </a:r>
          </a:p>
          <a:p>
            <a:pPr algn="l">
              <a:spcBef>
                <a:spcPts val="500"/>
              </a:spcBef>
              <a:spcAft>
                <a:spcPts val="0"/>
              </a:spcAft>
            </a:pPr>
            <a:r>
              <a:rPr sz="1050" b="1" i="0">
                <a:solidFill>
                  <a:srgbClr val="171C26"/>
                </a:solidFill>
                <a:latin typeface="Segoe UI"/>
              </a:rPr>
              <a:t>Pool price  </a:t>
            </a:r>
            <a:r>
              <a:rPr sz="1050" b="0" i="0">
                <a:solidFill>
                  <a:srgbClr val="171C26"/>
                </a:solidFill>
                <a:latin typeface="Consolas"/>
              </a:rPr>
              <a:t>0.300 → 0.331</a:t>
            </a:r>
            <a:r>
              <a:rPr sz="1050" b="0" i="0">
                <a:solidFill>
                  <a:srgbClr val="5C6675"/>
                </a:solidFill>
                <a:latin typeface="Segoe UI"/>
              </a:rPr>
              <a:t>  seed to close (+3.1 pts)</a:t>
            </a:r>
          </a:p>
          <a:p>
            <a:pPr algn="l">
              <a:spcBef>
                <a:spcPts val="500"/>
              </a:spcBef>
              <a:spcAft>
                <a:spcPts val="0"/>
              </a:spcAft>
            </a:pPr>
            <a:r>
              <a:rPr sz="1050" b="1" i="0">
                <a:solidFill>
                  <a:srgbClr val="171C26"/>
                </a:solidFill>
                <a:latin typeface="Segoe UI"/>
              </a:rPr>
              <a:t>Activity  </a:t>
            </a:r>
            <a:r>
              <a:rPr sz="1050" b="0" i="0">
                <a:solidFill>
                  <a:srgbClr val="171C26"/>
                </a:solidFill>
                <a:latin typeface="Consolas"/>
              </a:rPr>
              <a:t>29 swaps · 471 sUSDS · 6 wallets</a:t>
            </a:r>
            <a:r>
              <a:rPr sz="1050" b="0" i="0">
                <a:solidFill>
                  <a:srgbClr val="5C6675"/>
                </a:solidFill>
                <a:latin typeface="Segoe UI"/>
              </a:rPr>
              <a:t>  since creation</a:t>
            </a:r>
          </a:p>
          <a:p>
            <a:pPr algn="l">
              <a:spcBef>
                <a:spcPts val="500"/>
              </a:spcBef>
              <a:spcAft>
                <a:spcPts val="0"/>
              </a:spcAft>
            </a:pPr>
            <a:r>
              <a:rPr sz="1050" b="1" i="0">
                <a:solidFill>
                  <a:srgbClr val="171C26"/>
                </a:solidFill>
                <a:latin typeface="Segoe UI"/>
              </a:rPr>
              <a:t>Our trades  </a:t>
            </a:r>
            <a:r>
              <a:rPr sz="1050" b="0" i="0">
                <a:solidFill>
                  <a:srgbClr val="171C26"/>
                </a:solidFill>
                <a:latin typeface="Consolas"/>
              </a:rPr>
              <a:t>3 by 3 bots, 71.03 sUSDS</a:t>
            </a:r>
          </a:p>
          <a:p>
            <a:pPr algn="l">
              <a:spcBef>
                <a:spcPts val="500"/>
              </a:spcBef>
              <a:spcAft>
                <a:spcPts val="0"/>
              </a:spcAft>
            </a:pPr>
            <a:r>
              <a:rPr sz="1050" b="1" i="0">
                <a:solidFill>
                  <a:srgbClr val="171C26"/>
                </a:solidFill>
                <a:latin typeface="Segoe UI"/>
              </a:rPr>
              <a:t>Spread of the four estimates  </a:t>
            </a:r>
            <a:r>
              <a:rPr sz="1050" b="0" i="0">
                <a:solidFill>
                  <a:srgbClr val="171C26"/>
                </a:solidFill>
                <a:latin typeface="Consolas"/>
              </a:rPr>
              <a:t>0.122 → 0.105</a:t>
            </a:r>
            <a:r>
              <a:rPr sz="1050" b="0" i="0">
                <a:solidFill>
                  <a:srgbClr val="5C6675"/>
                </a:solidFill>
                <a:latin typeface="Segoe UI"/>
              </a:rPr>
              <a:t>  (std. dev., first → last cycle with all four)</a:t>
            </a:r>
          </a:p>
          <a:p>
            <a:pPr algn="l">
              <a:spcBef>
                <a:spcPts val="500"/>
              </a:spcBef>
              <a:spcAft>
                <a:spcPts val="0"/>
              </a:spcAft>
            </a:pPr>
            <a:r>
              <a:rPr sz="1050" b="1" i="0">
                <a:solidFill>
                  <a:srgbClr val="171C26"/>
                </a:solidFill>
                <a:latin typeface="Segoe UI"/>
              </a:rPr>
              <a:t>Mean distance to the pool price  </a:t>
            </a:r>
            <a:r>
              <a:rPr sz="1050" b="0" i="0">
                <a:solidFill>
                  <a:srgbClr val="171C26"/>
                </a:solidFill>
                <a:latin typeface="Consolas"/>
              </a:rPr>
              <a:t>0.231 → 0.269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Q4 · ZIP-218 faster blocks</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Probability of “Yes”, the outcome that won · Will the poll approve ZIP-218 (block spacing 75s to 25s, per-pool action limits)?</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15</a:t>
            </a:r>
          </a:p>
        </p:txBody>
      </p:sp>
      <p:graphicFrame>
        <p:nvGraphicFramePr>
          <p:cNvPr id="7" name="Chart 6"/>
          <p:cNvGraphicFramePr>
            <a:graphicFrameLocks noGrp="1"/>
          </p:cNvGraphicFramePr>
          <p:nvPr/>
        </p:nvGraphicFramePr>
        <p:xfrm>
          <a:off x="365760" y="1554480"/>
          <a:ext cx="7818120" cy="47548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Table 7"/>
          <p:cNvGraphicFramePr>
            <a:graphicFrameLocks noGrp="1"/>
          </p:cNvGraphicFramePr>
          <p:nvPr/>
        </p:nvGraphicFramePr>
        <p:xfrm>
          <a:off x="8366760" y="1600200"/>
          <a:ext cx="3383280" cy="1463040"/>
        </p:xfrm>
        <a:graphic>
          <a:graphicData uri="http://schemas.openxmlformats.org/drawingml/2006/table">
            <a:tbl>
              <a:tblPr firstRow="1">
                <a:tableStyleId>{5C22544A-7EE6-4342-B048-85BDC9FD1C3A}</a:tableStyleId>
              </a:tblPr>
              <a:tblGrid>
                <a:gridCol w="141732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292608">
                <a:tc>
                  <a:txBody>
                    <a:bodyPr/>
                    <a:lstStyle/>
                    <a:p>
                      <a:pPr algn="l"/>
                      <a:r>
                        <a:rPr sz="950" b="1">
                          <a:solidFill>
                            <a:srgbClr val="FFFFFF"/>
                          </a:solidFill>
                          <a:latin typeface="Segoe UI"/>
                        </a:rPr>
                        <a:t>Model estimate</a:t>
                      </a:r>
                    </a:p>
                  </a:txBody>
                  <a:tcPr marL="54864" marR="54864" marT="22860" marB="22860" anchor="ctr">
                    <a:solidFill>
                      <a:srgbClr val="141A2B"/>
                    </a:solidFill>
                  </a:tcPr>
                </a:tc>
                <a:tc>
                  <a:txBody>
                    <a:bodyPr/>
                    <a:lstStyle/>
                    <a:p>
                      <a:pPr algn="r"/>
                      <a:r>
                        <a:rPr sz="950" b="1">
                          <a:solidFill>
                            <a:srgbClr val="FFFFFF"/>
                          </a:solidFill>
                          <a:latin typeface="Segoe UI"/>
                        </a:rPr>
                        <a:t>First</a:t>
                      </a:r>
                    </a:p>
                  </a:txBody>
                  <a:tcPr marL="54864" marR="54864" marT="22860" marB="22860" anchor="ctr">
                    <a:solidFill>
                      <a:srgbClr val="141A2B"/>
                    </a:solidFill>
                  </a:tcPr>
                </a:tc>
                <a:tc>
                  <a:txBody>
                    <a:bodyPr/>
                    <a:lstStyle/>
                    <a:p>
                      <a:pPr algn="r"/>
                      <a:r>
                        <a:rPr sz="950" b="1">
                          <a:solidFill>
                            <a:srgbClr val="FFFFFF"/>
                          </a:solidFill>
                          <a:latin typeface="Segoe UI"/>
                        </a:rPr>
                        <a:t>Last</a:t>
                      </a:r>
                    </a:p>
                  </a:txBody>
                  <a:tcPr marL="54864" marR="54864" marT="22860" marB="22860" anchor="ctr">
                    <a:solidFill>
                      <a:srgbClr val="141A2B"/>
                    </a:solidFill>
                  </a:tcPr>
                </a:tc>
                <a:tc>
                  <a:txBody>
                    <a:bodyPr/>
                    <a:lstStyle/>
                    <a:p>
                      <a:pPr algn="r"/>
                      <a:r>
                        <a:rPr sz="950" b="1">
                          <a:solidFill>
                            <a:srgbClr val="FFFFFF"/>
                          </a:solidFill>
                          <a:latin typeface="Segoe UI"/>
                        </a:rPr>
                        <a:t>Change</a:t>
                      </a:r>
                    </a:p>
                  </a:txBody>
                  <a:tcPr marL="54864" marR="54864" marT="22860" marB="22860" anchor="ctr">
                    <a:solidFill>
                      <a:srgbClr val="141A2B"/>
                    </a:solidFill>
                  </a:tcPr>
                </a:tc>
                <a:extLst>
                  <a:ext uri="{0D108BD9-81ED-4DB2-BD59-A6C34878D82A}">
                    <a16:rowId xmlns:a16="http://schemas.microsoft.com/office/drawing/2014/main" val="10000"/>
                  </a:ext>
                </a:extLst>
              </a:tr>
              <a:tr h="292608">
                <a:tc>
                  <a:txBody>
                    <a:bodyPr/>
                    <a:lstStyle/>
                    <a:p>
                      <a:pPr algn="l"/>
                      <a:r>
                        <a:rPr sz="1000" b="1">
                          <a:solidFill>
                            <a:srgbClr val="C4552A"/>
                          </a:solidFill>
                          <a:latin typeface="Segoe UI"/>
                        </a:rPr>
                        <a:t>Claude Fable 5.1</a:t>
                      </a:r>
                    </a:p>
                  </a:txBody>
                  <a:tcPr marL="54864" marR="54864" marT="22860" marB="22860" anchor="ctr">
                    <a:solidFill>
                      <a:srgbClr val="FFFFFF"/>
                    </a:solidFill>
                  </a:tcPr>
                </a:tc>
                <a:tc>
                  <a:txBody>
                    <a:bodyPr/>
                    <a:lstStyle/>
                    <a:p>
                      <a:pPr algn="r"/>
                      <a:r>
                        <a:rPr sz="1000" b="0">
                          <a:solidFill>
                            <a:srgbClr val="171C26"/>
                          </a:solidFill>
                          <a:latin typeface="Consolas"/>
                        </a:rPr>
                        <a:t>0.90</a:t>
                      </a:r>
                    </a:p>
                  </a:txBody>
                  <a:tcPr marL="54864" marR="54864" marT="22860" marB="22860" anchor="ctr">
                    <a:solidFill>
                      <a:srgbClr val="FFFFFF"/>
                    </a:solidFill>
                  </a:tcPr>
                </a:tc>
                <a:tc>
                  <a:txBody>
                    <a:bodyPr/>
                    <a:lstStyle/>
                    <a:p>
                      <a:pPr algn="r"/>
                      <a:r>
                        <a:rPr sz="1000" b="0">
                          <a:solidFill>
                            <a:srgbClr val="171C26"/>
                          </a:solidFill>
                          <a:latin typeface="Consolas"/>
                        </a:rPr>
                        <a:t>0.90</a:t>
                      </a:r>
                    </a:p>
                  </a:txBody>
                  <a:tcPr marL="54864" marR="54864" marT="22860" marB="22860" anchor="ctr">
                    <a:solidFill>
                      <a:srgbClr val="FFFFFF"/>
                    </a:solidFill>
                  </a:tcPr>
                </a:tc>
                <a:tc>
                  <a:txBody>
                    <a:bodyPr/>
                    <a:lstStyle/>
                    <a:p>
                      <a:pPr algn="r"/>
                      <a:r>
                        <a:rPr sz="1000" b="0">
                          <a:solidFill>
                            <a:srgbClr val="171C26"/>
                          </a:solidFill>
                          <a:latin typeface="Consolas"/>
                        </a:rPr>
                        <a:t>+0.00</a:t>
                      </a:r>
                    </a:p>
                  </a:txBody>
                  <a:tcPr marL="54864" marR="54864" marT="22860" marB="22860" anchor="ctr">
                    <a:solidFill>
                      <a:srgbClr val="FFFFFF"/>
                    </a:solidFill>
                  </a:tcPr>
                </a:tc>
                <a:extLst>
                  <a:ext uri="{0D108BD9-81ED-4DB2-BD59-A6C34878D82A}">
                    <a16:rowId xmlns:a16="http://schemas.microsoft.com/office/drawing/2014/main" val="10001"/>
                  </a:ext>
                </a:extLst>
              </a:tr>
              <a:tr h="292608">
                <a:tc>
                  <a:txBody>
                    <a:bodyPr/>
                    <a:lstStyle/>
                    <a:p>
                      <a:pPr algn="l"/>
                      <a:r>
                        <a:rPr sz="1000" b="1">
                          <a:solidFill>
                            <a:srgbClr val="7A2E8C"/>
                          </a:solidFill>
                          <a:latin typeface="Segoe UI"/>
                        </a:rPr>
                        <a:t>Claude Opus 5</a:t>
                      </a:r>
                    </a:p>
                  </a:txBody>
                  <a:tcPr marL="54864" marR="54864" marT="22860" marB="22860" anchor="ctr">
                    <a:solidFill>
                      <a:srgbClr val="EEF0F3"/>
                    </a:solidFill>
                  </a:tcPr>
                </a:tc>
                <a:tc>
                  <a:txBody>
                    <a:bodyPr/>
                    <a:lstStyle/>
                    <a:p>
                      <a:pPr algn="r"/>
                      <a:r>
                        <a:rPr sz="1000" b="0">
                          <a:solidFill>
                            <a:srgbClr val="171C26"/>
                          </a:solidFill>
                          <a:latin typeface="Consolas"/>
                        </a:rPr>
                        <a:t>0.96</a:t>
                      </a:r>
                    </a:p>
                  </a:txBody>
                  <a:tcPr marL="54864" marR="54864" marT="22860" marB="22860" anchor="ctr">
                    <a:solidFill>
                      <a:srgbClr val="EEF0F3"/>
                    </a:solidFill>
                  </a:tcPr>
                </a:tc>
                <a:tc>
                  <a:txBody>
                    <a:bodyPr/>
                    <a:lstStyle/>
                    <a:p>
                      <a:pPr algn="r"/>
                      <a:r>
                        <a:rPr sz="1000" b="0">
                          <a:solidFill>
                            <a:srgbClr val="171C26"/>
                          </a:solidFill>
                          <a:latin typeface="Consolas"/>
                        </a:rPr>
                        <a:t>0.96</a:t>
                      </a:r>
                    </a:p>
                  </a:txBody>
                  <a:tcPr marL="54864" marR="54864" marT="22860" marB="22860" anchor="ctr">
                    <a:solidFill>
                      <a:srgbClr val="EEF0F3"/>
                    </a:solidFill>
                  </a:tcPr>
                </a:tc>
                <a:tc>
                  <a:txBody>
                    <a:bodyPr/>
                    <a:lstStyle/>
                    <a:p>
                      <a:pPr algn="r"/>
                      <a:r>
                        <a:rPr sz="1000" b="0">
                          <a:solidFill>
                            <a:srgbClr val="171C26"/>
                          </a:solidFill>
                          <a:latin typeface="Consolas"/>
                        </a:rPr>
                        <a:t>+0.00</a:t>
                      </a:r>
                    </a:p>
                  </a:txBody>
                  <a:tcPr marL="54864" marR="54864" marT="22860" marB="22860" anchor="ctr">
                    <a:solidFill>
                      <a:srgbClr val="EEF0F3"/>
                    </a:solidFill>
                  </a:tcPr>
                </a:tc>
                <a:extLst>
                  <a:ext uri="{0D108BD9-81ED-4DB2-BD59-A6C34878D82A}">
                    <a16:rowId xmlns:a16="http://schemas.microsoft.com/office/drawing/2014/main" val="10002"/>
                  </a:ext>
                </a:extLst>
              </a:tr>
              <a:tr h="292608">
                <a:tc>
                  <a:txBody>
                    <a:bodyPr/>
                    <a:lstStyle/>
                    <a:p>
                      <a:pPr algn="l"/>
                      <a:r>
                        <a:rPr sz="1000" b="1">
                          <a:solidFill>
                            <a:srgbClr val="1B7F63"/>
                          </a:solidFill>
                          <a:latin typeface="Segoe UI"/>
                        </a:rPr>
                        <a:t>GPT-6 Astra</a:t>
                      </a:r>
                    </a:p>
                  </a:txBody>
                  <a:tcPr marL="54864" marR="54864" marT="22860" marB="22860" anchor="ctr">
                    <a:solidFill>
                      <a:srgbClr val="FFFFFF"/>
                    </a:solidFill>
                  </a:tcPr>
                </a:tc>
                <a:tc>
                  <a:txBody>
                    <a:bodyPr/>
                    <a:lstStyle/>
                    <a:p>
                      <a:pPr algn="r"/>
                      <a:r>
                        <a:rPr sz="1000" b="0">
                          <a:solidFill>
                            <a:srgbClr val="171C26"/>
                          </a:solidFill>
                          <a:latin typeface="Consolas"/>
                        </a:rPr>
                        <a:t>0.90</a:t>
                      </a:r>
                    </a:p>
                  </a:txBody>
                  <a:tcPr marL="54864" marR="54864" marT="22860" marB="22860" anchor="ctr">
                    <a:solidFill>
                      <a:srgbClr val="FFFFFF"/>
                    </a:solidFill>
                  </a:tcPr>
                </a:tc>
                <a:tc>
                  <a:txBody>
                    <a:bodyPr/>
                    <a:lstStyle/>
                    <a:p>
                      <a:pPr algn="r"/>
                      <a:r>
                        <a:rPr sz="1000" b="0">
                          <a:solidFill>
                            <a:srgbClr val="171C26"/>
                          </a:solidFill>
                          <a:latin typeface="Consolas"/>
                        </a:rPr>
                        <a:t>0.92</a:t>
                      </a:r>
                    </a:p>
                  </a:txBody>
                  <a:tcPr marL="54864" marR="54864" marT="22860" marB="22860" anchor="ctr">
                    <a:solidFill>
                      <a:srgbClr val="FFFFFF"/>
                    </a:solidFill>
                  </a:tcPr>
                </a:tc>
                <a:tc>
                  <a:txBody>
                    <a:bodyPr/>
                    <a:lstStyle/>
                    <a:p>
                      <a:pPr algn="r"/>
                      <a:r>
                        <a:rPr sz="1000" b="0">
                          <a:solidFill>
                            <a:srgbClr val="171C26"/>
                          </a:solidFill>
                          <a:latin typeface="Consolas"/>
                        </a:rPr>
                        <a:t>+0.02</a:t>
                      </a:r>
                    </a:p>
                  </a:txBody>
                  <a:tcPr marL="54864" marR="54864" marT="22860" marB="22860" anchor="ctr">
                    <a:solidFill>
                      <a:srgbClr val="FFFFFF"/>
                    </a:solidFill>
                  </a:tcPr>
                </a:tc>
                <a:extLst>
                  <a:ext uri="{0D108BD9-81ED-4DB2-BD59-A6C34878D82A}">
                    <a16:rowId xmlns:a16="http://schemas.microsoft.com/office/drawing/2014/main" val="10003"/>
                  </a:ext>
                </a:extLst>
              </a:tr>
              <a:tr h="292608">
                <a:tc>
                  <a:txBody>
                    <a:bodyPr/>
                    <a:lstStyle/>
                    <a:p>
                      <a:pPr algn="l"/>
                      <a:r>
                        <a:rPr sz="1000" b="1">
                          <a:solidFill>
                            <a:srgbClr val="2F6FD6"/>
                          </a:solidFill>
                          <a:latin typeface="Segoe UI"/>
                        </a:rPr>
                        <a:t>GPT-5.6 Sol</a:t>
                      </a:r>
                    </a:p>
                  </a:txBody>
                  <a:tcPr marL="54864" marR="54864" marT="22860" marB="22860" anchor="ctr">
                    <a:solidFill>
                      <a:srgbClr val="EEF0F3"/>
                    </a:solidFill>
                  </a:tcPr>
                </a:tc>
                <a:tc>
                  <a:txBody>
                    <a:bodyPr/>
                    <a:lstStyle/>
                    <a:p>
                      <a:pPr algn="r"/>
                      <a:r>
                        <a:rPr sz="1000" b="0">
                          <a:solidFill>
                            <a:srgbClr val="171C26"/>
                          </a:solidFill>
                          <a:latin typeface="Consolas"/>
                        </a:rPr>
                        <a:t>0.95</a:t>
                      </a:r>
                    </a:p>
                  </a:txBody>
                  <a:tcPr marL="54864" marR="54864" marT="22860" marB="22860" anchor="ctr">
                    <a:solidFill>
                      <a:srgbClr val="EEF0F3"/>
                    </a:solidFill>
                  </a:tcPr>
                </a:tc>
                <a:tc>
                  <a:txBody>
                    <a:bodyPr/>
                    <a:lstStyle/>
                    <a:p>
                      <a:pPr algn="r"/>
                      <a:r>
                        <a:rPr sz="1000" b="0">
                          <a:solidFill>
                            <a:srgbClr val="171C26"/>
                          </a:solidFill>
                          <a:latin typeface="Consolas"/>
                        </a:rPr>
                        <a:t>0.95</a:t>
                      </a:r>
                    </a:p>
                  </a:txBody>
                  <a:tcPr marL="54864" marR="54864" marT="22860" marB="22860" anchor="ctr">
                    <a:solidFill>
                      <a:srgbClr val="EEF0F3"/>
                    </a:solidFill>
                  </a:tcPr>
                </a:tc>
                <a:tc>
                  <a:txBody>
                    <a:bodyPr/>
                    <a:lstStyle/>
                    <a:p>
                      <a:pPr algn="r"/>
                      <a:r>
                        <a:rPr sz="1000" b="0">
                          <a:solidFill>
                            <a:srgbClr val="171C26"/>
                          </a:solidFill>
                          <a:latin typeface="Consolas"/>
                        </a:rPr>
                        <a:t>+0.00</a:t>
                      </a:r>
                    </a:p>
                  </a:txBody>
                  <a:tcPr marL="54864" marR="54864" marT="22860" marB="22860" anchor="ctr">
                    <a:solidFill>
                      <a:srgbClr val="EEF0F3"/>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8366760" y="3154680"/>
            <a:ext cx="3429000" cy="3154680"/>
          </a:xfrm>
          <a:prstGeom prst="rect">
            <a:avLst/>
          </a:prstGeom>
          <a:noFill/>
        </p:spPr>
        <p:txBody>
          <a:bodyPr wrap="square" lIns="36576" tIns="18288" rIns="36576" bIns="18288" anchor="t">
            <a:spAutoFit/>
          </a:bodyPr>
          <a:lstStyle/>
          <a:p>
            <a:pPr algn="l">
              <a:spcBef>
                <a:spcPts val="600"/>
              </a:spcBef>
              <a:spcAft>
                <a:spcPts val="0"/>
              </a:spcAft>
            </a:pPr>
            <a:r>
              <a:rPr sz="1050" b="1" i="0">
                <a:solidFill>
                  <a:srgbClr val="1E7A46"/>
                </a:solidFill>
                <a:latin typeface="Segoe UI"/>
              </a:rPr>
              <a:t>Result  won with 99.9% of ZEC</a:t>
            </a:r>
            <a:r>
              <a:rPr sz="1050" b="0" i="0">
                <a:solidFill>
                  <a:srgbClr val="5C6675"/>
                </a:solidFill>
                <a:latin typeface="Segoe UI"/>
              </a:rPr>
              <a:t>  (94.6% of ballots)</a:t>
            </a:r>
          </a:p>
          <a:p>
            <a:pPr algn="l">
              <a:spcBef>
                <a:spcPts val="500"/>
              </a:spcBef>
              <a:spcAft>
                <a:spcPts val="0"/>
              </a:spcAft>
            </a:pPr>
            <a:r>
              <a:rPr sz="1050" b="1" i="0">
                <a:solidFill>
                  <a:srgbClr val="171C26"/>
                </a:solidFill>
                <a:latin typeface="Segoe UI"/>
              </a:rPr>
              <a:t>Pool price  </a:t>
            </a:r>
            <a:r>
              <a:rPr sz="1050" b="0" i="0">
                <a:solidFill>
                  <a:srgbClr val="171C26"/>
                </a:solidFill>
                <a:latin typeface="Consolas"/>
              </a:rPr>
              <a:t>0.900 → 0.880</a:t>
            </a:r>
            <a:r>
              <a:rPr sz="1050" b="0" i="0">
                <a:solidFill>
                  <a:srgbClr val="5C6675"/>
                </a:solidFill>
                <a:latin typeface="Segoe UI"/>
              </a:rPr>
              <a:t>  seed to close (-2.0 pts)</a:t>
            </a:r>
          </a:p>
          <a:p>
            <a:pPr algn="l">
              <a:spcBef>
                <a:spcPts val="500"/>
              </a:spcBef>
              <a:spcAft>
                <a:spcPts val="0"/>
              </a:spcAft>
            </a:pPr>
            <a:r>
              <a:rPr sz="1050" b="1" i="0">
                <a:solidFill>
                  <a:srgbClr val="171C26"/>
                </a:solidFill>
                <a:latin typeface="Segoe UI"/>
              </a:rPr>
              <a:t>Activity  </a:t>
            </a:r>
            <a:r>
              <a:rPr sz="1050" b="0" i="0">
                <a:solidFill>
                  <a:srgbClr val="171C26"/>
                </a:solidFill>
                <a:latin typeface="Consolas"/>
              </a:rPr>
              <a:t>7 swaps · 27 sUSDS · 4 wallets</a:t>
            </a:r>
            <a:r>
              <a:rPr sz="1050" b="0" i="0">
                <a:solidFill>
                  <a:srgbClr val="5C6675"/>
                </a:solidFill>
                <a:latin typeface="Segoe UI"/>
              </a:rPr>
              <a:t>  since creation</a:t>
            </a:r>
          </a:p>
          <a:p>
            <a:pPr algn="l">
              <a:spcBef>
                <a:spcPts val="500"/>
              </a:spcBef>
              <a:spcAft>
                <a:spcPts val="0"/>
              </a:spcAft>
            </a:pPr>
            <a:r>
              <a:rPr sz="1050" b="1" i="0">
                <a:solidFill>
                  <a:srgbClr val="171C26"/>
                </a:solidFill>
                <a:latin typeface="Segoe UI"/>
              </a:rPr>
              <a:t>Our trades  </a:t>
            </a:r>
            <a:r>
              <a:rPr sz="1050" b="0" i="0">
                <a:solidFill>
                  <a:srgbClr val="171C26"/>
                </a:solidFill>
                <a:latin typeface="Consolas"/>
              </a:rPr>
              <a:t>1 by 1 bot, 7.88 sUSDS</a:t>
            </a:r>
          </a:p>
          <a:p>
            <a:pPr algn="l">
              <a:spcBef>
                <a:spcPts val="500"/>
              </a:spcBef>
              <a:spcAft>
                <a:spcPts val="0"/>
              </a:spcAft>
            </a:pPr>
            <a:r>
              <a:rPr sz="1050" b="1" i="0">
                <a:solidFill>
                  <a:srgbClr val="171C26"/>
                </a:solidFill>
                <a:latin typeface="Segoe UI"/>
              </a:rPr>
              <a:t>Spread of the four estimates  </a:t>
            </a:r>
            <a:r>
              <a:rPr sz="1050" b="0" i="0">
                <a:solidFill>
                  <a:srgbClr val="171C26"/>
                </a:solidFill>
                <a:latin typeface="Consolas"/>
              </a:rPr>
              <a:t>0.028 → 0.023</a:t>
            </a:r>
            <a:r>
              <a:rPr sz="1050" b="0" i="0">
                <a:solidFill>
                  <a:srgbClr val="5C6675"/>
                </a:solidFill>
                <a:latin typeface="Segoe UI"/>
              </a:rPr>
              <a:t>  (std. dev., first → last cycle with all four)</a:t>
            </a:r>
          </a:p>
          <a:p>
            <a:pPr algn="l">
              <a:spcBef>
                <a:spcPts val="500"/>
              </a:spcBef>
              <a:spcAft>
                <a:spcPts val="0"/>
              </a:spcAft>
            </a:pPr>
            <a:r>
              <a:rPr sz="1050" b="1" i="0">
                <a:solidFill>
                  <a:srgbClr val="171C26"/>
                </a:solidFill>
                <a:latin typeface="Segoe UI"/>
              </a:rPr>
              <a:t>Mean distance to the pool price  </a:t>
            </a:r>
            <a:r>
              <a:rPr sz="1050" b="0" i="0">
                <a:solidFill>
                  <a:srgbClr val="171C26"/>
                </a:solidFill>
                <a:latin typeface="Consolas"/>
              </a:rPr>
              <a:t>0.048 → 0.055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Q5 · Sept-30 feature deadline</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Probability of “Ship NU7 as soon as possible”, the outcome that won · How will features not ready by the September 30th deadline be handled?</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16</a:t>
            </a:r>
          </a:p>
        </p:txBody>
      </p:sp>
      <p:graphicFrame>
        <p:nvGraphicFramePr>
          <p:cNvPr id="7" name="Chart 6"/>
          <p:cNvGraphicFramePr>
            <a:graphicFrameLocks noGrp="1"/>
          </p:cNvGraphicFramePr>
          <p:nvPr/>
        </p:nvGraphicFramePr>
        <p:xfrm>
          <a:off x="365760" y="1554480"/>
          <a:ext cx="7818120" cy="47548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Table 7"/>
          <p:cNvGraphicFramePr>
            <a:graphicFrameLocks noGrp="1"/>
          </p:cNvGraphicFramePr>
          <p:nvPr/>
        </p:nvGraphicFramePr>
        <p:xfrm>
          <a:off x="8366760" y="1600200"/>
          <a:ext cx="3383280" cy="1463040"/>
        </p:xfrm>
        <a:graphic>
          <a:graphicData uri="http://schemas.openxmlformats.org/drawingml/2006/table">
            <a:tbl>
              <a:tblPr firstRow="1">
                <a:tableStyleId>{5C22544A-7EE6-4342-B048-85BDC9FD1C3A}</a:tableStyleId>
              </a:tblPr>
              <a:tblGrid>
                <a:gridCol w="141732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292608">
                <a:tc>
                  <a:txBody>
                    <a:bodyPr/>
                    <a:lstStyle/>
                    <a:p>
                      <a:pPr algn="l"/>
                      <a:r>
                        <a:rPr sz="950" b="1">
                          <a:solidFill>
                            <a:srgbClr val="FFFFFF"/>
                          </a:solidFill>
                          <a:latin typeface="Segoe UI"/>
                        </a:rPr>
                        <a:t>Model estimate</a:t>
                      </a:r>
                    </a:p>
                  </a:txBody>
                  <a:tcPr marL="54864" marR="54864" marT="22860" marB="22860" anchor="ctr">
                    <a:solidFill>
                      <a:srgbClr val="141A2B"/>
                    </a:solidFill>
                  </a:tcPr>
                </a:tc>
                <a:tc>
                  <a:txBody>
                    <a:bodyPr/>
                    <a:lstStyle/>
                    <a:p>
                      <a:pPr algn="r"/>
                      <a:r>
                        <a:rPr sz="950" b="1">
                          <a:solidFill>
                            <a:srgbClr val="FFFFFF"/>
                          </a:solidFill>
                          <a:latin typeface="Segoe UI"/>
                        </a:rPr>
                        <a:t>First</a:t>
                      </a:r>
                    </a:p>
                  </a:txBody>
                  <a:tcPr marL="54864" marR="54864" marT="22860" marB="22860" anchor="ctr">
                    <a:solidFill>
                      <a:srgbClr val="141A2B"/>
                    </a:solidFill>
                  </a:tcPr>
                </a:tc>
                <a:tc>
                  <a:txBody>
                    <a:bodyPr/>
                    <a:lstStyle/>
                    <a:p>
                      <a:pPr algn="r"/>
                      <a:r>
                        <a:rPr sz="950" b="1">
                          <a:solidFill>
                            <a:srgbClr val="FFFFFF"/>
                          </a:solidFill>
                          <a:latin typeface="Segoe UI"/>
                        </a:rPr>
                        <a:t>Last</a:t>
                      </a:r>
                    </a:p>
                  </a:txBody>
                  <a:tcPr marL="54864" marR="54864" marT="22860" marB="22860" anchor="ctr">
                    <a:solidFill>
                      <a:srgbClr val="141A2B"/>
                    </a:solidFill>
                  </a:tcPr>
                </a:tc>
                <a:tc>
                  <a:txBody>
                    <a:bodyPr/>
                    <a:lstStyle/>
                    <a:p>
                      <a:pPr algn="r"/>
                      <a:r>
                        <a:rPr sz="950" b="1">
                          <a:solidFill>
                            <a:srgbClr val="FFFFFF"/>
                          </a:solidFill>
                          <a:latin typeface="Segoe UI"/>
                        </a:rPr>
                        <a:t>Change</a:t>
                      </a:r>
                    </a:p>
                  </a:txBody>
                  <a:tcPr marL="54864" marR="54864" marT="22860" marB="22860" anchor="ctr">
                    <a:solidFill>
                      <a:srgbClr val="141A2B"/>
                    </a:solidFill>
                  </a:tcPr>
                </a:tc>
                <a:extLst>
                  <a:ext uri="{0D108BD9-81ED-4DB2-BD59-A6C34878D82A}">
                    <a16:rowId xmlns:a16="http://schemas.microsoft.com/office/drawing/2014/main" val="10000"/>
                  </a:ext>
                </a:extLst>
              </a:tr>
              <a:tr h="292608">
                <a:tc>
                  <a:txBody>
                    <a:bodyPr/>
                    <a:lstStyle/>
                    <a:p>
                      <a:pPr algn="l"/>
                      <a:r>
                        <a:rPr sz="1000" b="1">
                          <a:solidFill>
                            <a:srgbClr val="C4552A"/>
                          </a:solidFill>
                          <a:latin typeface="Segoe UI"/>
                        </a:rPr>
                        <a:t>Claude Fable 5.1</a:t>
                      </a:r>
                    </a:p>
                  </a:txBody>
                  <a:tcPr marL="54864" marR="54864" marT="22860" marB="22860" anchor="ctr">
                    <a:solidFill>
                      <a:srgbClr val="FFFFFF"/>
                    </a:solidFill>
                  </a:tcPr>
                </a:tc>
                <a:tc>
                  <a:txBody>
                    <a:bodyPr/>
                    <a:lstStyle/>
                    <a:p>
                      <a:pPr algn="r"/>
                      <a:r>
                        <a:rPr sz="1000" b="0">
                          <a:solidFill>
                            <a:srgbClr val="171C26"/>
                          </a:solidFill>
                          <a:latin typeface="Consolas"/>
                        </a:rPr>
                        <a:t>0.80</a:t>
                      </a:r>
                    </a:p>
                  </a:txBody>
                  <a:tcPr marL="54864" marR="54864" marT="22860" marB="22860" anchor="ctr">
                    <a:solidFill>
                      <a:srgbClr val="FFFFFF"/>
                    </a:solidFill>
                  </a:tcPr>
                </a:tc>
                <a:tc>
                  <a:txBody>
                    <a:bodyPr/>
                    <a:lstStyle/>
                    <a:p>
                      <a:pPr algn="r"/>
                      <a:r>
                        <a:rPr sz="1000" b="0">
                          <a:solidFill>
                            <a:srgbClr val="171C26"/>
                          </a:solidFill>
                          <a:latin typeface="Consolas"/>
                        </a:rPr>
                        <a:t>0.80</a:t>
                      </a:r>
                    </a:p>
                  </a:txBody>
                  <a:tcPr marL="54864" marR="54864" marT="22860" marB="22860" anchor="ctr">
                    <a:solidFill>
                      <a:srgbClr val="FFFFFF"/>
                    </a:solidFill>
                  </a:tcPr>
                </a:tc>
                <a:tc>
                  <a:txBody>
                    <a:bodyPr/>
                    <a:lstStyle/>
                    <a:p>
                      <a:pPr algn="r"/>
                      <a:r>
                        <a:rPr sz="1000" b="0">
                          <a:solidFill>
                            <a:srgbClr val="171C26"/>
                          </a:solidFill>
                          <a:latin typeface="Consolas"/>
                        </a:rPr>
                        <a:t>+0.00</a:t>
                      </a:r>
                    </a:p>
                  </a:txBody>
                  <a:tcPr marL="54864" marR="54864" marT="22860" marB="22860" anchor="ctr">
                    <a:solidFill>
                      <a:srgbClr val="FFFFFF"/>
                    </a:solidFill>
                  </a:tcPr>
                </a:tc>
                <a:extLst>
                  <a:ext uri="{0D108BD9-81ED-4DB2-BD59-A6C34878D82A}">
                    <a16:rowId xmlns:a16="http://schemas.microsoft.com/office/drawing/2014/main" val="10001"/>
                  </a:ext>
                </a:extLst>
              </a:tr>
              <a:tr h="292608">
                <a:tc>
                  <a:txBody>
                    <a:bodyPr/>
                    <a:lstStyle/>
                    <a:p>
                      <a:pPr algn="l"/>
                      <a:r>
                        <a:rPr sz="1000" b="1">
                          <a:solidFill>
                            <a:srgbClr val="7A2E8C"/>
                          </a:solidFill>
                          <a:latin typeface="Segoe UI"/>
                        </a:rPr>
                        <a:t>Claude Opus 5</a:t>
                      </a:r>
                    </a:p>
                  </a:txBody>
                  <a:tcPr marL="54864" marR="54864" marT="22860" marB="22860" anchor="ctr">
                    <a:solidFill>
                      <a:srgbClr val="EEF0F3"/>
                    </a:solidFill>
                  </a:tcPr>
                </a:tc>
                <a:tc>
                  <a:txBody>
                    <a:bodyPr/>
                    <a:lstStyle/>
                    <a:p>
                      <a:pPr algn="r"/>
                      <a:r>
                        <a:rPr sz="1000" b="0">
                          <a:solidFill>
                            <a:srgbClr val="171C26"/>
                          </a:solidFill>
                          <a:latin typeface="Consolas"/>
                        </a:rPr>
                        <a:t>0.89</a:t>
                      </a:r>
                    </a:p>
                  </a:txBody>
                  <a:tcPr marL="54864" marR="54864" marT="22860" marB="22860" anchor="ctr">
                    <a:solidFill>
                      <a:srgbClr val="EEF0F3"/>
                    </a:solidFill>
                  </a:tcPr>
                </a:tc>
                <a:tc>
                  <a:txBody>
                    <a:bodyPr/>
                    <a:lstStyle/>
                    <a:p>
                      <a:pPr algn="r"/>
                      <a:r>
                        <a:rPr sz="1000" b="0">
                          <a:solidFill>
                            <a:srgbClr val="171C26"/>
                          </a:solidFill>
                          <a:latin typeface="Consolas"/>
                        </a:rPr>
                        <a:t>0.89</a:t>
                      </a:r>
                    </a:p>
                  </a:txBody>
                  <a:tcPr marL="54864" marR="54864" marT="22860" marB="22860" anchor="ctr">
                    <a:solidFill>
                      <a:srgbClr val="EEF0F3"/>
                    </a:solidFill>
                  </a:tcPr>
                </a:tc>
                <a:tc>
                  <a:txBody>
                    <a:bodyPr/>
                    <a:lstStyle/>
                    <a:p>
                      <a:pPr algn="r"/>
                      <a:r>
                        <a:rPr sz="1000" b="0">
                          <a:solidFill>
                            <a:srgbClr val="171C26"/>
                          </a:solidFill>
                          <a:latin typeface="Consolas"/>
                        </a:rPr>
                        <a:t>+0.00</a:t>
                      </a:r>
                    </a:p>
                  </a:txBody>
                  <a:tcPr marL="54864" marR="54864" marT="22860" marB="22860" anchor="ctr">
                    <a:solidFill>
                      <a:srgbClr val="EEF0F3"/>
                    </a:solidFill>
                  </a:tcPr>
                </a:tc>
                <a:extLst>
                  <a:ext uri="{0D108BD9-81ED-4DB2-BD59-A6C34878D82A}">
                    <a16:rowId xmlns:a16="http://schemas.microsoft.com/office/drawing/2014/main" val="10002"/>
                  </a:ext>
                </a:extLst>
              </a:tr>
              <a:tr h="292608">
                <a:tc>
                  <a:txBody>
                    <a:bodyPr/>
                    <a:lstStyle/>
                    <a:p>
                      <a:pPr algn="l"/>
                      <a:r>
                        <a:rPr sz="1000" b="1">
                          <a:solidFill>
                            <a:srgbClr val="1B7F63"/>
                          </a:solidFill>
                          <a:latin typeface="Segoe UI"/>
                        </a:rPr>
                        <a:t>GPT-6 Astra</a:t>
                      </a:r>
                    </a:p>
                  </a:txBody>
                  <a:tcPr marL="54864" marR="54864" marT="22860" marB="22860" anchor="ctr">
                    <a:solidFill>
                      <a:srgbClr val="FFFFFF"/>
                    </a:solidFill>
                  </a:tcPr>
                </a:tc>
                <a:tc>
                  <a:txBody>
                    <a:bodyPr/>
                    <a:lstStyle/>
                    <a:p>
                      <a:pPr algn="r"/>
                      <a:r>
                        <a:rPr sz="1000" b="0">
                          <a:solidFill>
                            <a:srgbClr val="171C26"/>
                          </a:solidFill>
                          <a:latin typeface="Consolas"/>
                        </a:rPr>
                        <a:t>0.85</a:t>
                      </a:r>
                    </a:p>
                  </a:txBody>
                  <a:tcPr marL="54864" marR="54864" marT="22860" marB="22860" anchor="ctr">
                    <a:solidFill>
                      <a:srgbClr val="FFFFFF"/>
                    </a:solidFill>
                  </a:tcPr>
                </a:tc>
                <a:tc>
                  <a:txBody>
                    <a:bodyPr/>
                    <a:lstStyle/>
                    <a:p>
                      <a:pPr algn="r"/>
                      <a:r>
                        <a:rPr sz="1000" b="0">
                          <a:solidFill>
                            <a:srgbClr val="171C26"/>
                          </a:solidFill>
                          <a:latin typeface="Consolas"/>
                        </a:rPr>
                        <a:t>0.85</a:t>
                      </a:r>
                    </a:p>
                  </a:txBody>
                  <a:tcPr marL="54864" marR="54864" marT="22860" marB="22860" anchor="ctr">
                    <a:solidFill>
                      <a:srgbClr val="FFFFFF"/>
                    </a:solidFill>
                  </a:tcPr>
                </a:tc>
                <a:tc>
                  <a:txBody>
                    <a:bodyPr/>
                    <a:lstStyle/>
                    <a:p>
                      <a:pPr algn="r"/>
                      <a:r>
                        <a:rPr sz="1000" b="0">
                          <a:solidFill>
                            <a:srgbClr val="171C26"/>
                          </a:solidFill>
                          <a:latin typeface="Consolas"/>
                        </a:rPr>
                        <a:t>+0.00</a:t>
                      </a:r>
                    </a:p>
                  </a:txBody>
                  <a:tcPr marL="54864" marR="54864" marT="22860" marB="22860" anchor="ctr">
                    <a:solidFill>
                      <a:srgbClr val="FFFFFF"/>
                    </a:solidFill>
                  </a:tcPr>
                </a:tc>
                <a:extLst>
                  <a:ext uri="{0D108BD9-81ED-4DB2-BD59-A6C34878D82A}">
                    <a16:rowId xmlns:a16="http://schemas.microsoft.com/office/drawing/2014/main" val="10003"/>
                  </a:ext>
                </a:extLst>
              </a:tr>
              <a:tr h="292608">
                <a:tc>
                  <a:txBody>
                    <a:bodyPr/>
                    <a:lstStyle/>
                    <a:p>
                      <a:pPr algn="l"/>
                      <a:r>
                        <a:rPr sz="1000" b="1">
                          <a:solidFill>
                            <a:srgbClr val="2F6FD6"/>
                          </a:solidFill>
                          <a:latin typeface="Segoe UI"/>
                        </a:rPr>
                        <a:t>GPT-5.6 Sol</a:t>
                      </a:r>
                    </a:p>
                  </a:txBody>
                  <a:tcPr marL="54864" marR="54864" marT="22860" marB="22860" anchor="ctr">
                    <a:solidFill>
                      <a:srgbClr val="EEF0F3"/>
                    </a:solidFill>
                  </a:tcPr>
                </a:tc>
                <a:tc>
                  <a:txBody>
                    <a:bodyPr/>
                    <a:lstStyle/>
                    <a:p>
                      <a:pPr algn="r"/>
                      <a:r>
                        <a:rPr sz="1000" b="0">
                          <a:solidFill>
                            <a:srgbClr val="171C26"/>
                          </a:solidFill>
                          <a:latin typeface="Consolas"/>
                        </a:rPr>
                        <a:t>0.80</a:t>
                      </a:r>
                    </a:p>
                  </a:txBody>
                  <a:tcPr marL="54864" marR="54864" marT="22860" marB="22860" anchor="ctr">
                    <a:solidFill>
                      <a:srgbClr val="EEF0F3"/>
                    </a:solidFill>
                  </a:tcPr>
                </a:tc>
                <a:tc>
                  <a:txBody>
                    <a:bodyPr/>
                    <a:lstStyle/>
                    <a:p>
                      <a:pPr algn="r"/>
                      <a:r>
                        <a:rPr sz="1000" b="0">
                          <a:solidFill>
                            <a:srgbClr val="171C26"/>
                          </a:solidFill>
                          <a:latin typeface="Consolas"/>
                        </a:rPr>
                        <a:t>0.85</a:t>
                      </a:r>
                    </a:p>
                  </a:txBody>
                  <a:tcPr marL="54864" marR="54864" marT="22860" marB="22860" anchor="ctr">
                    <a:solidFill>
                      <a:srgbClr val="EEF0F3"/>
                    </a:solidFill>
                  </a:tcPr>
                </a:tc>
                <a:tc>
                  <a:txBody>
                    <a:bodyPr/>
                    <a:lstStyle/>
                    <a:p>
                      <a:pPr algn="r"/>
                      <a:r>
                        <a:rPr sz="1000" b="0">
                          <a:solidFill>
                            <a:srgbClr val="171C26"/>
                          </a:solidFill>
                          <a:latin typeface="Consolas"/>
                        </a:rPr>
                        <a:t>+0.05</a:t>
                      </a:r>
                    </a:p>
                  </a:txBody>
                  <a:tcPr marL="54864" marR="54864" marT="22860" marB="22860" anchor="ctr">
                    <a:solidFill>
                      <a:srgbClr val="EEF0F3"/>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8366760" y="3154680"/>
            <a:ext cx="3429000" cy="3154680"/>
          </a:xfrm>
          <a:prstGeom prst="rect">
            <a:avLst/>
          </a:prstGeom>
          <a:noFill/>
        </p:spPr>
        <p:txBody>
          <a:bodyPr wrap="square" lIns="36576" tIns="18288" rIns="36576" bIns="18288" anchor="t">
            <a:spAutoFit/>
          </a:bodyPr>
          <a:lstStyle/>
          <a:p>
            <a:pPr algn="l">
              <a:spcBef>
                <a:spcPts val="600"/>
              </a:spcBef>
              <a:spcAft>
                <a:spcPts val="0"/>
              </a:spcAft>
            </a:pPr>
            <a:r>
              <a:rPr sz="1050" b="1" i="0">
                <a:solidFill>
                  <a:srgbClr val="1E7A46"/>
                </a:solidFill>
                <a:latin typeface="Segoe UI"/>
              </a:rPr>
              <a:t>Result  won with 99.3% of ZEC</a:t>
            </a:r>
            <a:r>
              <a:rPr sz="1050" b="0" i="0">
                <a:solidFill>
                  <a:srgbClr val="5C6675"/>
                </a:solidFill>
                <a:latin typeface="Segoe UI"/>
              </a:rPr>
              <a:t>  (87.6% of ballots)</a:t>
            </a:r>
          </a:p>
          <a:p>
            <a:pPr algn="l">
              <a:spcBef>
                <a:spcPts val="500"/>
              </a:spcBef>
              <a:spcAft>
                <a:spcPts val="0"/>
              </a:spcAft>
            </a:pPr>
            <a:r>
              <a:rPr sz="1050" b="1" i="0">
                <a:solidFill>
                  <a:srgbClr val="171C26"/>
                </a:solidFill>
                <a:latin typeface="Segoe UI"/>
              </a:rPr>
              <a:t>Pool price  </a:t>
            </a:r>
            <a:r>
              <a:rPr sz="1050" b="0" i="0">
                <a:solidFill>
                  <a:srgbClr val="171C26"/>
                </a:solidFill>
                <a:latin typeface="Consolas"/>
              </a:rPr>
              <a:t>0.700 → 0.750</a:t>
            </a:r>
            <a:r>
              <a:rPr sz="1050" b="0" i="0">
                <a:solidFill>
                  <a:srgbClr val="5C6675"/>
                </a:solidFill>
                <a:latin typeface="Segoe UI"/>
              </a:rPr>
              <a:t>  seed to close (+5.0 pts)</a:t>
            </a:r>
          </a:p>
          <a:p>
            <a:pPr algn="l">
              <a:spcBef>
                <a:spcPts val="500"/>
              </a:spcBef>
              <a:spcAft>
                <a:spcPts val="0"/>
              </a:spcAft>
            </a:pPr>
            <a:r>
              <a:rPr sz="1050" b="1" i="0">
                <a:solidFill>
                  <a:srgbClr val="171C26"/>
                </a:solidFill>
                <a:latin typeface="Segoe UI"/>
              </a:rPr>
              <a:t>Activity  </a:t>
            </a:r>
            <a:r>
              <a:rPr sz="1050" b="0" i="0">
                <a:solidFill>
                  <a:srgbClr val="171C26"/>
                </a:solidFill>
                <a:latin typeface="Consolas"/>
              </a:rPr>
              <a:t>19 swaps · 362 sUSDS · 6 wallets</a:t>
            </a:r>
            <a:r>
              <a:rPr sz="1050" b="0" i="0">
                <a:solidFill>
                  <a:srgbClr val="5C6675"/>
                </a:solidFill>
                <a:latin typeface="Segoe UI"/>
              </a:rPr>
              <a:t>  since creation</a:t>
            </a:r>
          </a:p>
          <a:p>
            <a:pPr algn="l">
              <a:spcBef>
                <a:spcPts val="500"/>
              </a:spcBef>
              <a:spcAft>
                <a:spcPts val="0"/>
              </a:spcAft>
            </a:pPr>
            <a:r>
              <a:rPr sz="1050" b="1" i="0">
                <a:solidFill>
                  <a:srgbClr val="171C26"/>
                </a:solidFill>
                <a:latin typeface="Segoe UI"/>
              </a:rPr>
              <a:t>Our trades  </a:t>
            </a:r>
            <a:r>
              <a:rPr sz="1050" b="0" i="0">
                <a:solidFill>
                  <a:srgbClr val="171C26"/>
                </a:solidFill>
                <a:latin typeface="Consolas"/>
              </a:rPr>
              <a:t>4 by 4 bots, 106.11 sUSDS</a:t>
            </a:r>
          </a:p>
          <a:p>
            <a:pPr algn="l">
              <a:spcBef>
                <a:spcPts val="500"/>
              </a:spcBef>
              <a:spcAft>
                <a:spcPts val="0"/>
              </a:spcAft>
            </a:pPr>
            <a:r>
              <a:rPr sz="1050" b="1" i="0">
                <a:solidFill>
                  <a:srgbClr val="171C26"/>
                </a:solidFill>
                <a:latin typeface="Segoe UI"/>
              </a:rPr>
              <a:t>Spread of the four estimates  </a:t>
            </a:r>
            <a:r>
              <a:rPr sz="1050" b="0" i="0">
                <a:solidFill>
                  <a:srgbClr val="171C26"/>
                </a:solidFill>
                <a:latin typeface="Consolas"/>
              </a:rPr>
              <a:t>0.038 → 0.035</a:t>
            </a:r>
            <a:r>
              <a:rPr sz="1050" b="0" i="0">
                <a:solidFill>
                  <a:srgbClr val="5C6675"/>
                </a:solidFill>
                <a:latin typeface="Segoe UI"/>
              </a:rPr>
              <a:t>  (std. dev., first → last cycle with all four)</a:t>
            </a:r>
          </a:p>
          <a:p>
            <a:pPr algn="l">
              <a:spcBef>
                <a:spcPts val="500"/>
              </a:spcBef>
              <a:spcAft>
                <a:spcPts val="0"/>
              </a:spcAft>
            </a:pPr>
            <a:r>
              <a:rPr sz="1050" b="1" i="0">
                <a:solidFill>
                  <a:srgbClr val="171C26"/>
                </a:solidFill>
                <a:latin typeface="Segoe UI"/>
              </a:rPr>
              <a:t>Mean distance to the pool price  </a:t>
            </a:r>
            <a:r>
              <a:rPr sz="1050" b="0" i="0">
                <a:solidFill>
                  <a:srgbClr val="171C26"/>
                </a:solidFill>
                <a:latin typeface="Consolas"/>
              </a:rPr>
              <a:t>0.129 → 0.105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Convergence in two numbers</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Left: how far apart the four models are (standard deviation of their estimates for the winner). Right: how far the models sit from the pool price. Each point is a two-hour cycle where all four estimates are under 4.5 h old.</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17</a:t>
            </a:r>
          </a:p>
        </p:txBody>
      </p:sp>
      <p:graphicFrame>
        <p:nvGraphicFramePr>
          <p:cNvPr id="7" name="Chart 6"/>
          <p:cNvGraphicFramePr>
            <a:graphicFrameLocks noGrp="1"/>
          </p:cNvGraphicFramePr>
          <p:nvPr/>
        </p:nvGraphicFramePr>
        <p:xfrm>
          <a:off x="365760" y="1783080"/>
          <a:ext cx="5669280" cy="42062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a:graphicFrameLocks noGrp="1"/>
          </p:cNvGraphicFramePr>
          <p:nvPr/>
        </p:nvGraphicFramePr>
        <p:xfrm>
          <a:off x="6172200" y="1783080"/>
          <a:ext cx="566928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457200" y="1463040"/>
            <a:ext cx="5486400" cy="320040"/>
          </a:xfrm>
          <a:prstGeom prst="rect">
            <a:avLst/>
          </a:prstGeom>
          <a:noFill/>
        </p:spPr>
        <p:txBody>
          <a:bodyPr wrap="square" lIns="36576" tIns="18288" rIns="36576" bIns="18288" anchor="t">
            <a:spAutoFit/>
          </a:bodyPr>
          <a:lstStyle/>
          <a:p>
            <a:pPr algn="l">
              <a:spcBef>
                <a:spcPts val="0"/>
              </a:spcBef>
              <a:spcAft>
                <a:spcPts val="0"/>
              </a:spcAft>
            </a:pPr>
            <a:r>
              <a:rPr sz="1100" b="1" i="0">
                <a:solidFill>
                  <a:srgbClr val="171C26"/>
                </a:solidFill>
                <a:latin typeface="Segoe UI"/>
              </a:rPr>
              <a:t>Spread between the four models (std. dev. of estimates)</a:t>
            </a:r>
          </a:p>
        </p:txBody>
      </p:sp>
      <p:sp>
        <p:nvSpPr>
          <p:cNvPr id="10" name="TextBox 9"/>
          <p:cNvSpPr txBox="1"/>
          <p:nvPr/>
        </p:nvSpPr>
        <p:spPr>
          <a:xfrm>
            <a:off x="6263640" y="1463040"/>
            <a:ext cx="5486400" cy="320040"/>
          </a:xfrm>
          <a:prstGeom prst="rect">
            <a:avLst/>
          </a:prstGeom>
          <a:noFill/>
        </p:spPr>
        <p:txBody>
          <a:bodyPr wrap="square" lIns="36576" tIns="18288" rIns="36576" bIns="18288" anchor="t">
            <a:spAutoFit/>
          </a:bodyPr>
          <a:lstStyle/>
          <a:p>
            <a:pPr algn="l">
              <a:spcBef>
                <a:spcPts val="0"/>
              </a:spcBef>
              <a:spcAft>
                <a:spcPts val="0"/>
              </a:spcAft>
            </a:pPr>
            <a:r>
              <a:rPr sz="1100" b="1" i="0">
                <a:solidFill>
                  <a:srgbClr val="171C26"/>
                </a:solidFill>
                <a:latin typeface="Segoe UI"/>
              </a:rPr>
              <a:t>Mean |model estimate − pool price|</a:t>
            </a:r>
          </a:p>
        </p:txBody>
      </p:sp>
      <p:sp>
        <p:nvSpPr>
          <p:cNvPr id="11" name="TextBox 10"/>
          <p:cNvSpPr txBox="1"/>
          <p:nvPr/>
        </p:nvSpPr>
        <p:spPr>
          <a:xfrm>
            <a:off x="457200" y="5989320"/>
            <a:ext cx="11247120" cy="411480"/>
          </a:xfrm>
          <a:prstGeom prst="rect">
            <a:avLst/>
          </a:prstGeom>
          <a:noFill/>
        </p:spPr>
        <p:txBody>
          <a:bodyPr wrap="square" lIns="36576" tIns="18288" rIns="36576" bIns="18288" anchor="t">
            <a:spAutoFit/>
          </a:bodyPr>
          <a:lstStyle/>
          <a:p>
            <a:pPr algn="l">
              <a:spcBef>
                <a:spcPts val="0"/>
              </a:spcBef>
              <a:spcAft>
                <a:spcPts val="0"/>
              </a:spcAft>
            </a:pPr>
            <a:r>
              <a:rPr sz="950" b="0" i="0">
                <a:solidFill>
                  <a:srgbClr val="5C6675"/>
                </a:solidFill>
                <a:latin typeface="Segoe UI"/>
              </a:rPr>
              <a:t>The spread narrows on all five markets. The distance to price falls on Q1, Q2 and Q5 and rises on Q3 and Q4, where the price stopped moving while models raised their estimates. Where the gap stays large (Q2, Q3), the price was what was wrong: both resolved to the outcome the models had put above the price.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What the data shows</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Two days, five markets on one poll, thin pools. Within those limits the picture is consistent.</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18</a:t>
            </a:r>
          </a:p>
        </p:txBody>
      </p:sp>
      <p:sp>
        <p:nvSpPr>
          <p:cNvPr id="7" name="TextBox 6"/>
          <p:cNvSpPr txBox="1"/>
          <p:nvPr/>
        </p:nvSpPr>
        <p:spPr>
          <a:xfrm>
            <a:off x="457200" y="1508760"/>
            <a:ext cx="11247120" cy="1828800"/>
          </a:xfrm>
          <a:prstGeom prst="rect">
            <a:avLst/>
          </a:prstGeom>
          <a:noFill/>
        </p:spPr>
        <p:txBody>
          <a:bodyPr wrap="square" lIns="36576" tIns="18288" rIns="36576" bIns="18288" anchor="t">
            <a:spAutoFit/>
          </a:bodyPr>
          <a:lstStyle/>
          <a:p>
            <a:pPr marL="201168" indent="-201168" algn="l">
              <a:lnSpc>
                <a:spcPct val="105000"/>
              </a:lnSpc>
              <a:spcBef>
                <a:spcPts val="0"/>
              </a:spcBef>
              <a:spcAft>
                <a:spcPts val="600"/>
              </a:spcAft>
              <a:buChar char="•"/>
            </a:pPr>
            <a:r>
              <a:rPr sz="1180" b="1" i="0">
                <a:solidFill>
                  <a:srgbClr val="171C26"/>
                </a:solidFill>
                <a:latin typeface="Segoe UI"/>
              </a:rPr>
              <a:t>The agents picked every winner; the market picked three of five. </a:t>
            </a:r>
            <a:r>
              <a:rPr sz="1180" b="0" i="0">
                <a:solidFill>
                  <a:srgbClr val="171C26"/>
                </a:solidFill>
                <a:latin typeface="Segoe UI"/>
              </a:rPr>
              <a:t>All four agents had the winner on top in all five markets; the opening price, the market before the bots traded and the final price each had it on top in three. Brier: agents 0.052–0.153, final market 0.293, market before the bots 0.381.</a:t>
            </a:r>
          </a:p>
          <a:p>
            <a:pPr marL="201168" indent="-201168" algn="l">
              <a:lnSpc>
                <a:spcPct val="105000"/>
              </a:lnSpc>
              <a:spcBef>
                <a:spcPts val="0"/>
              </a:spcBef>
              <a:spcAft>
                <a:spcPts val="600"/>
              </a:spcAft>
              <a:buChar char="•"/>
            </a:pPr>
            <a:r>
              <a:rPr sz="1180" b="1" i="0">
                <a:solidFill>
                  <a:srgbClr val="171C26"/>
                </a:solidFill>
                <a:latin typeface="Segoe UI"/>
              </a:rPr>
              <a:t>Trading moved the market toward the truth. </a:t>
            </a:r>
            <a:r>
              <a:rPr sz="1180" b="0" i="0">
                <a:solidFill>
                  <a:srgbClr val="171C26"/>
                </a:solidFill>
                <a:latin typeface="Segoe UI"/>
              </a:rPr>
              <a:t>The pools' Brier fell 23%, almost all of it in the first three hours of bot trading. February 2031 went 0.29 → 0.43, Ship 0.71 → 0.75, Immediately 0.28 → 0.33.</a:t>
            </a:r>
          </a:p>
          <a:p>
            <a:pPr marL="201168" indent="-201168" algn="l">
              <a:lnSpc>
                <a:spcPct val="105000"/>
              </a:lnSpc>
              <a:spcBef>
                <a:spcPts val="0"/>
              </a:spcBef>
              <a:spcAft>
                <a:spcPts val="600"/>
              </a:spcAft>
              <a:buChar char="•"/>
            </a:pPr>
            <a:r>
              <a:rPr sz="1180" b="1" i="0">
                <a:solidFill>
                  <a:srgbClr val="171C26"/>
                </a:solidFill>
                <a:latin typeface="Segoe UI"/>
              </a:rPr>
              <a:t>All four made money, +455.51 sUSDS on 349.15 put in. </a:t>
            </a:r>
            <a:r>
              <a:rPr sz="1180" b="0" i="0">
                <a:solidFill>
                  <a:srgbClr val="171C26"/>
                </a:solidFill>
                <a:latin typeface="Segoe UI"/>
              </a:rPr>
              <a:t>Opus 5 scored best and earned most (+206.44). Astra scored second but earned least (+39.28) because it risked only 34.71. Sol earned second most by buying February 2031 at 0.33.</a:t>
            </a:r>
          </a:p>
          <a:p>
            <a:pPr marL="201168" indent="-201168" algn="l">
              <a:lnSpc>
                <a:spcPct val="105000"/>
              </a:lnSpc>
              <a:spcBef>
                <a:spcPts val="0"/>
              </a:spcBef>
              <a:spcAft>
                <a:spcPts val="200"/>
              </a:spcAft>
              <a:buChar char="•"/>
            </a:pPr>
            <a:r>
              <a:rPr sz="1180" b="1" i="0">
                <a:solidFill>
                  <a:srgbClr val="171C26"/>
                </a:solidFill>
                <a:latin typeface="Segoe UI"/>
              </a:rPr>
              <a:t>The four models converged. </a:t>
            </a:r>
            <a:r>
              <a:rPr sz="1180" b="0" i="0">
                <a:solidFill>
                  <a:srgbClr val="171C26"/>
                </a:solidFill>
                <a:latin typeface="Segoe UI"/>
              </a:rPr>
              <a:t>The spread between their estimates fell on all five markets between the first and the last cycle with all four present:</a:t>
            </a:r>
          </a:p>
        </p:txBody>
      </p:sp>
      <p:sp>
        <p:nvSpPr>
          <p:cNvPr id="8" name="TextBox 7"/>
          <p:cNvSpPr txBox="1"/>
          <p:nvPr/>
        </p:nvSpPr>
        <p:spPr>
          <a:xfrm>
            <a:off x="777240" y="3401568"/>
            <a:ext cx="10789920" cy="1097280"/>
          </a:xfrm>
          <a:prstGeom prst="rect">
            <a:avLst/>
          </a:prstGeom>
          <a:noFill/>
        </p:spPr>
        <p:txBody>
          <a:bodyPr wrap="square" lIns="36576" tIns="18288" rIns="36576" bIns="18288" anchor="t">
            <a:spAutoFit/>
          </a:bodyPr>
          <a:lstStyle/>
          <a:p>
            <a:pPr algn="l">
              <a:spcBef>
                <a:spcPts val="0"/>
              </a:spcBef>
              <a:spcAft>
                <a:spcPts val="100"/>
              </a:spcAft>
            </a:pPr>
            <a:r>
              <a:rPr sz="1000" b="0" i="0">
                <a:solidFill>
                  <a:srgbClr val="171C26"/>
                </a:solidFill>
                <a:latin typeface="Consolas"/>
              </a:rPr>
              <a:t>Q1 NSM issuance smoothing: spread 0.062 → 0.035, distance to price 0.052 → 0.027</a:t>
            </a:r>
          </a:p>
          <a:p>
            <a:pPr algn="l">
              <a:spcBef>
                <a:spcPts val="0"/>
              </a:spcBef>
              <a:spcAft>
                <a:spcPts val="100"/>
              </a:spcAft>
            </a:pPr>
            <a:r>
              <a:rPr sz="1000" b="0" i="0">
                <a:solidFill>
                  <a:srgbClr val="171C26"/>
                </a:solidFill>
                <a:latin typeface="Consolas"/>
              </a:rPr>
              <a:t>Q2 NSM reissuance start: spread 0.082 → 0.069, distance to price 0.395 → 0.278</a:t>
            </a:r>
          </a:p>
          <a:p>
            <a:pPr algn="l">
              <a:spcBef>
                <a:spcPts val="0"/>
              </a:spcBef>
              <a:spcAft>
                <a:spcPts val="100"/>
              </a:spcAft>
            </a:pPr>
            <a:r>
              <a:rPr sz="1000" b="0" i="0">
                <a:solidFill>
                  <a:srgbClr val="171C26"/>
                </a:solidFill>
                <a:latin typeface="Consolas"/>
              </a:rPr>
              <a:t>Q3 Disable v4 transactions: spread 0.122 → 0.105, distance to price 0.231 → 0.269</a:t>
            </a:r>
          </a:p>
          <a:p>
            <a:pPr algn="l">
              <a:spcBef>
                <a:spcPts val="0"/>
              </a:spcBef>
              <a:spcAft>
                <a:spcPts val="100"/>
              </a:spcAft>
            </a:pPr>
            <a:r>
              <a:rPr sz="1000" b="0" i="0">
                <a:solidFill>
                  <a:srgbClr val="171C26"/>
                </a:solidFill>
                <a:latin typeface="Consolas"/>
              </a:rPr>
              <a:t>Q4 ZIP-218 faster blocks: spread 0.028 → 0.023, distance to price 0.048 → 0.055</a:t>
            </a:r>
          </a:p>
          <a:p>
            <a:pPr algn="l">
              <a:spcBef>
                <a:spcPts val="0"/>
              </a:spcBef>
              <a:spcAft>
                <a:spcPts val="100"/>
              </a:spcAft>
            </a:pPr>
            <a:r>
              <a:rPr sz="1000" b="0" i="0">
                <a:solidFill>
                  <a:srgbClr val="171C26"/>
                </a:solidFill>
                <a:latin typeface="Consolas"/>
              </a:rPr>
              <a:t>Q5 Sept-30 feature deadline: spread 0.038 → 0.035, distance to price 0.129 → 0.105</a:t>
            </a:r>
          </a:p>
        </p:txBody>
      </p:sp>
      <p:sp>
        <p:nvSpPr>
          <p:cNvPr id="9" name="TextBox 8"/>
          <p:cNvSpPr txBox="1"/>
          <p:nvPr/>
        </p:nvSpPr>
        <p:spPr>
          <a:xfrm>
            <a:off x="457200" y="4572000"/>
            <a:ext cx="11247120" cy="1280160"/>
          </a:xfrm>
          <a:prstGeom prst="rect">
            <a:avLst/>
          </a:prstGeom>
          <a:noFill/>
        </p:spPr>
        <p:txBody>
          <a:bodyPr wrap="square" lIns="36576" tIns="18288" rIns="36576" bIns="18288" anchor="t">
            <a:spAutoFit/>
          </a:bodyPr>
          <a:lstStyle/>
          <a:p>
            <a:pPr marL="201168" indent="-201168" algn="l">
              <a:lnSpc>
                <a:spcPct val="105000"/>
              </a:lnSpc>
              <a:spcBef>
                <a:spcPts val="0"/>
              </a:spcBef>
              <a:spcAft>
                <a:spcPts val="0"/>
              </a:spcAft>
              <a:buChar char="•"/>
            </a:pPr>
            <a:r>
              <a:rPr sz="1180" b="1" i="0">
                <a:solidFill>
                  <a:srgbClr val="171C26"/>
                </a:solidFill>
                <a:latin typeface="Segoe UI"/>
              </a:rPr>
              <a:t>Their main error was caution. </a:t>
            </a:r>
            <a:r>
              <a:rPr sz="1180" b="0" i="0">
                <a:solidFill>
                  <a:srgbClr val="171C26"/>
                </a:solidFill>
                <a:latin typeface="Segoe UI"/>
              </a:rPr>
              <a:t>Every agent discounted the ballot leads for large ZEC holders who might vote the other way, and added 1–5% for Invalid. Large holders voted with the leaders, so the plain ballot share scored 0.096, better than three of the four agents. The process was self-limiting: 30 of 38 pass reports ended without a trade.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Caveats, and what happens next</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5" name="TextBox 4"/>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19</a:t>
            </a:r>
          </a:p>
        </p:txBody>
      </p:sp>
      <p:sp>
        <p:nvSpPr>
          <p:cNvPr id="6" name="TextBox 5"/>
          <p:cNvSpPr txBox="1"/>
          <p:nvPr/>
        </p:nvSpPr>
        <p:spPr>
          <a:xfrm>
            <a:off x="457200" y="1280160"/>
            <a:ext cx="6355080" cy="2064540"/>
          </a:xfrm>
          <a:prstGeom prst="rect">
            <a:avLst/>
          </a:prstGeom>
          <a:noFill/>
        </p:spPr>
        <p:txBody>
          <a:bodyPr wrap="square" lIns="36576" tIns="18288" rIns="36576" bIns="18288" anchor="t">
            <a:spAutoFit/>
          </a:bodyPr>
          <a:lstStyle/>
          <a:p>
            <a:pPr marL="201168" indent="-201168" algn="l">
              <a:lnSpc>
                <a:spcPct val="105000"/>
              </a:lnSpc>
              <a:spcBef>
                <a:spcPts val="0"/>
              </a:spcBef>
              <a:spcAft>
                <a:spcPts val="600"/>
              </a:spcAft>
              <a:buChar char="•"/>
            </a:pPr>
            <a:r>
              <a:rPr sz="1120" b="0" i="0" dirty="0">
                <a:solidFill>
                  <a:srgbClr val="171C26"/>
                </a:solidFill>
                <a:latin typeface="Segoe UI"/>
              </a:rPr>
              <a:t>One event, not five tests. The five markets resolved on one poll and the same large holders decided every question. Five correct picks and four profitable wallets say little about skill in general.</a:t>
            </a:r>
          </a:p>
          <a:p>
            <a:pPr marL="201168" indent="-201168" algn="l">
              <a:lnSpc>
                <a:spcPct val="105000"/>
              </a:lnSpc>
              <a:spcBef>
                <a:spcPts val="0"/>
              </a:spcBef>
              <a:spcAft>
                <a:spcPts val="600"/>
              </a:spcAft>
              <a:buChar char="•"/>
            </a:pPr>
            <a:r>
              <a:rPr sz="1120" b="0" i="0" dirty="0">
                <a:solidFill>
                  <a:srgbClr val="171C26"/>
                </a:solidFill>
                <a:latin typeface="Segoe UI"/>
              </a:rPr>
              <a:t>Thin pools and one arbitrageur. 105 swaps in the markets' whole life; 36 of them came from one wallet (0xe622…</a:t>
            </a:r>
            <a:r>
              <a:rPr sz="1120" b="0" i="0" dirty="0" err="1">
                <a:solidFill>
                  <a:srgbClr val="171C26"/>
                </a:solidFill>
                <a:latin typeface="Segoe UI"/>
              </a:rPr>
              <a:t>afea</a:t>
            </a:r>
            <a:r>
              <a:rPr sz="1120" b="0" i="0" dirty="0">
                <a:solidFill>
                  <a:srgbClr val="171C26"/>
                </a:solidFill>
                <a:latin typeface="Segoe UI"/>
              </a:rPr>
              <a:t>) that split </a:t>
            </a:r>
            <a:r>
              <a:rPr sz="1120" b="0" i="0" dirty="0" err="1">
                <a:solidFill>
                  <a:srgbClr val="171C26"/>
                </a:solidFill>
                <a:latin typeface="Segoe UI"/>
              </a:rPr>
              <a:t>sUSDS</a:t>
            </a:r>
            <a:r>
              <a:rPr sz="1120" b="0" i="0" dirty="0">
                <a:solidFill>
                  <a:srgbClr val="171C26"/>
                </a:solidFill>
                <a:latin typeface="Segoe UI"/>
              </a:rPr>
              <a:t> into complete sets and sold every outcome right after bot trades, in 12 transactions. Final prices reflect four agents and that wallet.</a:t>
            </a:r>
          </a:p>
          <a:p>
            <a:pPr marL="201168" indent="-201168" algn="l">
              <a:lnSpc>
                <a:spcPct val="105000"/>
              </a:lnSpc>
              <a:spcBef>
                <a:spcPts val="0"/>
              </a:spcBef>
              <a:spcAft>
                <a:spcPts val="600"/>
              </a:spcAft>
              <a:buChar char="•"/>
            </a:pPr>
            <a:r>
              <a:rPr sz="1120" b="0" i="0" dirty="0">
                <a:solidFill>
                  <a:srgbClr val="171C26"/>
                </a:solidFill>
                <a:latin typeface="Segoe UI"/>
              </a:rPr>
              <a:t>Frozen prices. The wallet that seeded the pools (0x00dc…36e0) removed all liquidity at 13:35 UTC on 14 Sep; the last swap was at 05:33. The “final price” is that last swap's price.</a:t>
            </a:r>
          </a:p>
          <a:p>
            <a:pPr marL="201168" indent="-201168" algn="l">
              <a:lnSpc>
                <a:spcPct val="105000"/>
              </a:lnSpc>
              <a:spcBef>
                <a:spcPts val="0"/>
              </a:spcBef>
              <a:spcAft>
                <a:spcPts val="0"/>
              </a:spcAft>
              <a:buChar char="•"/>
            </a:pPr>
            <a:r>
              <a:rPr sz="1120" b="0" i="0" dirty="0">
                <a:solidFill>
                  <a:srgbClr val="171C26"/>
                </a:solidFill>
                <a:latin typeface="Segoe UI"/>
              </a:rPr>
              <a:t>Operational losses: four first-cycle trades failed on RPC rate limits with no partial positions (appendix).</a:t>
            </a:r>
          </a:p>
        </p:txBody>
      </p:sp>
      <p:sp>
        <p:nvSpPr>
          <p:cNvPr id="7" name="Rectangle 6"/>
          <p:cNvSpPr/>
          <p:nvPr/>
        </p:nvSpPr>
        <p:spPr>
          <a:xfrm>
            <a:off x="7132320" y="1280160"/>
            <a:ext cx="4572000" cy="4160520"/>
          </a:xfrm>
          <a:prstGeom prst="rect">
            <a:avLst/>
          </a:prstGeom>
          <a:solidFill>
            <a:srgbClr val="FFFFFF"/>
          </a:solidFill>
          <a:ln w="9525">
            <a:solidFill>
              <a:srgbClr val="D6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0" y="1280160"/>
            <a:ext cx="4572000" cy="73152"/>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69480" y="1463040"/>
            <a:ext cx="4297680" cy="1663019"/>
          </a:xfrm>
          <a:prstGeom prst="rect">
            <a:avLst/>
          </a:prstGeom>
          <a:noFill/>
        </p:spPr>
        <p:txBody>
          <a:bodyPr wrap="square" lIns="36576" tIns="18288" rIns="36576" bIns="18288" anchor="t">
            <a:spAutoFit/>
          </a:bodyPr>
          <a:lstStyle/>
          <a:p>
            <a:pPr algn="l">
              <a:spcBef>
                <a:spcPts val="0"/>
              </a:spcBef>
              <a:spcAft>
                <a:spcPts val="0"/>
              </a:spcAft>
            </a:pPr>
            <a:r>
              <a:rPr sz="1500" b="1" i="0" dirty="0">
                <a:solidFill>
                  <a:srgbClr val="171C26"/>
                </a:solidFill>
                <a:latin typeface="Bahnschrift"/>
              </a:rPr>
              <a:t>Next</a:t>
            </a:r>
          </a:p>
          <a:p>
            <a:pPr marL="201168" indent="-201168" algn="l">
              <a:spcBef>
                <a:spcPts val="400"/>
              </a:spcBef>
              <a:spcAft>
                <a:spcPts val="0"/>
              </a:spcAft>
              <a:buChar char="•"/>
            </a:pPr>
            <a:r>
              <a:rPr sz="1050" b="0" i="0" dirty="0">
                <a:solidFill>
                  <a:srgbClr val="171C26"/>
                </a:solidFill>
                <a:latin typeface="Segoe UI"/>
              </a:rPr>
              <a:t>Scheduled passes stay disabled; nothing will trade unless they are re-enabled.</a:t>
            </a:r>
          </a:p>
          <a:p>
            <a:pPr algn="l">
              <a:spcBef>
                <a:spcPts val="1200"/>
              </a:spcBef>
              <a:spcAft>
                <a:spcPts val="0"/>
              </a:spcAft>
            </a:pPr>
            <a:r>
              <a:rPr sz="1500" b="1" i="0" dirty="0">
                <a:solidFill>
                  <a:srgbClr val="171C26"/>
                </a:solidFill>
                <a:latin typeface="Bahnschrift"/>
              </a:rPr>
              <a:t>Sources</a:t>
            </a:r>
          </a:p>
          <a:p>
            <a:pPr algn="l">
              <a:spcBef>
                <a:spcPts val="400"/>
              </a:spcBef>
              <a:spcAft>
                <a:spcPts val="0"/>
              </a:spcAft>
            </a:pPr>
            <a:r>
              <a:rPr sz="950" b="0" i="0" dirty="0">
                <a:solidFill>
                  <a:srgbClr val="5C6675"/>
                </a:solidFill>
                <a:latin typeface="Segoe UI"/>
              </a:rPr>
              <a:t>Tally: Valar vote chain (decrypted) and </a:t>
            </a:r>
            <a:r>
              <a:rPr sz="950" b="0" i="0" dirty="0" err="1">
                <a:solidFill>
                  <a:srgbClr val="5C6675"/>
                </a:solidFill>
                <a:latin typeface="Segoe UI"/>
              </a:rPr>
              <a:t>cipherscan.app</a:t>
            </a:r>
            <a:r>
              <a:rPr sz="950" b="0" i="0" dirty="0">
                <a:solidFill>
                  <a:srgbClr val="5C6675"/>
                </a:solidFill>
                <a:latin typeface="Segoe UI"/>
              </a:rPr>
              <a:t>/governance/nu7. </a:t>
            </a:r>
            <a:r>
              <a:rPr sz="950" b="0" i="0" dirty="0" err="1">
                <a:solidFill>
                  <a:srgbClr val="5C6675"/>
                </a:solidFill>
                <a:latin typeface="Segoe UI"/>
              </a:rPr>
              <a:t>Onchain</a:t>
            </a:r>
            <a:r>
              <a:rPr sz="950" b="0" i="0" dirty="0">
                <a:solidFill>
                  <a:srgbClr val="5C6675"/>
                </a:solidFill>
                <a:latin typeface="Segoe UI"/>
              </a:rPr>
              <a:t>: every pool event, wallet balance and gas receipt, read from Optimism. Forecasts: 38 pass reports. Everything is recomputed by the scripts in reports/nu7-experiment/.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Appendix · attempts that did not execute</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Queued by a pass but not filled. None left a partial position (each was verified onchain).</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20</a:t>
            </a:r>
          </a:p>
        </p:txBody>
      </p:sp>
      <p:graphicFrame>
        <p:nvGraphicFramePr>
          <p:cNvPr id="7" name="Table 6"/>
          <p:cNvGraphicFramePr>
            <a:graphicFrameLocks noGrp="1"/>
          </p:cNvGraphicFramePr>
          <p:nvPr/>
        </p:nvGraphicFramePr>
        <p:xfrm>
          <a:off x="457200" y="1600200"/>
          <a:ext cx="11247120" cy="2286000"/>
        </p:xfrm>
        <a:graphic>
          <a:graphicData uri="http://schemas.openxmlformats.org/drawingml/2006/table">
            <a:tbl>
              <a:tblPr firstRow="1">
                <a:tableStyleId>{5C22544A-7EE6-4342-B048-85BDC9FD1C3A}</a:tableStyleId>
              </a:tblPr>
              <a:tblGrid>
                <a:gridCol w="9601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5715000">
                  <a:extLst>
                    <a:ext uri="{9D8B030D-6E8A-4147-A177-3AD203B41FA5}">
                      <a16:colId xmlns:a16="http://schemas.microsoft.com/office/drawing/2014/main" val="20005"/>
                    </a:ext>
                  </a:extLst>
                </a:gridCol>
              </a:tblGrid>
              <a:tr h="457200">
                <a:tc>
                  <a:txBody>
                    <a:bodyPr/>
                    <a:lstStyle/>
                    <a:p>
                      <a:pPr algn="l"/>
                      <a:r>
                        <a:rPr sz="950" b="1">
                          <a:solidFill>
                            <a:srgbClr val="FFFFFF"/>
                          </a:solidFill>
                          <a:latin typeface="Segoe UI"/>
                        </a:rPr>
                        <a:t>Queued (UTC)</a:t>
                      </a:r>
                    </a:p>
                  </a:txBody>
                  <a:tcPr marL="54864" marR="54864" marT="22860" marB="22860" anchor="ctr">
                    <a:solidFill>
                      <a:srgbClr val="141A2B"/>
                    </a:solidFill>
                  </a:tcPr>
                </a:tc>
                <a:tc>
                  <a:txBody>
                    <a:bodyPr/>
                    <a:lstStyle/>
                    <a:p>
                      <a:pPr algn="l"/>
                      <a:r>
                        <a:rPr sz="950" b="1">
                          <a:solidFill>
                            <a:srgbClr val="FFFFFF"/>
                          </a:solidFill>
                          <a:latin typeface="Segoe UI"/>
                        </a:rPr>
                        <a:t>Model</a:t>
                      </a:r>
                    </a:p>
                  </a:txBody>
                  <a:tcPr marL="54864" marR="54864" marT="22860" marB="22860" anchor="ctr">
                    <a:solidFill>
                      <a:srgbClr val="141A2B"/>
                    </a:solidFill>
                  </a:tcPr>
                </a:tc>
                <a:tc>
                  <a:txBody>
                    <a:bodyPr/>
                    <a:lstStyle/>
                    <a:p>
                      <a:pPr algn="l"/>
                      <a:r>
                        <a:rPr sz="950" b="1">
                          <a:solidFill>
                            <a:srgbClr val="FFFFFF"/>
                          </a:solidFill>
                          <a:latin typeface="Segoe UI"/>
                        </a:rPr>
                        <a:t>Market</a:t>
                      </a:r>
                    </a:p>
                  </a:txBody>
                  <a:tcPr marL="54864" marR="54864" marT="22860" marB="22860" anchor="ctr">
                    <a:solidFill>
                      <a:srgbClr val="141A2B"/>
                    </a:solidFill>
                  </a:tcPr>
                </a:tc>
                <a:tc>
                  <a:txBody>
                    <a:bodyPr/>
                    <a:lstStyle/>
                    <a:p>
                      <a:pPr algn="l"/>
                      <a:r>
                        <a:rPr sz="950" b="1">
                          <a:solidFill>
                            <a:srgbClr val="FFFFFF"/>
                          </a:solidFill>
                          <a:latin typeface="Segoe UI"/>
                        </a:rPr>
                        <a:t>Route</a:t>
                      </a:r>
                    </a:p>
                  </a:txBody>
                  <a:tcPr marL="54864" marR="54864" marT="22860" marB="22860" anchor="ctr">
                    <a:solidFill>
                      <a:srgbClr val="141A2B"/>
                    </a:solidFill>
                  </a:tcPr>
                </a:tc>
                <a:tc>
                  <a:txBody>
                    <a:bodyPr/>
                    <a:lstStyle/>
                    <a:p>
                      <a:pPr algn="l"/>
                      <a:r>
                        <a:rPr sz="950" b="1">
                          <a:solidFill>
                            <a:srgbClr val="FFFFFF"/>
                          </a:solidFill>
                          <a:latin typeface="Segoe UI"/>
                        </a:rPr>
                        <a:t>Size</a:t>
                      </a:r>
                    </a:p>
                  </a:txBody>
                  <a:tcPr marL="54864" marR="54864" marT="22860" marB="22860" anchor="ctr">
                    <a:solidFill>
                      <a:srgbClr val="141A2B"/>
                    </a:solidFill>
                  </a:tcPr>
                </a:tc>
                <a:tc>
                  <a:txBody>
                    <a:bodyPr/>
                    <a:lstStyle/>
                    <a:p>
                      <a:pPr algn="l"/>
                      <a:r>
                        <a:rPr sz="950" b="1">
                          <a:solidFill>
                            <a:srgbClr val="FFFFFF"/>
                          </a:solidFill>
                          <a:latin typeface="Segoe UI"/>
                        </a:rPr>
                        <a:t>What happened</a:t>
                      </a:r>
                    </a:p>
                  </a:txBody>
                  <a:tcPr marL="54864" marR="54864" marT="22860" marB="22860" anchor="ctr">
                    <a:solidFill>
                      <a:srgbClr val="141A2B"/>
                    </a:solidFill>
                  </a:tcPr>
                </a:tc>
                <a:extLst>
                  <a:ext uri="{0D108BD9-81ED-4DB2-BD59-A6C34878D82A}">
                    <a16:rowId xmlns:a16="http://schemas.microsoft.com/office/drawing/2014/main" val="10000"/>
                  </a:ext>
                </a:extLst>
              </a:tr>
              <a:tr h="457200">
                <a:tc>
                  <a:txBody>
                    <a:bodyPr/>
                    <a:lstStyle/>
                    <a:p>
                      <a:pPr algn="l"/>
                      <a:r>
                        <a:rPr sz="950" b="0">
                          <a:solidFill>
                            <a:srgbClr val="171C26"/>
                          </a:solidFill>
                          <a:latin typeface="Consolas"/>
                        </a:rPr>
                        <a:t>13 Sep 16:51</a:t>
                      </a:r>
                    </a:p>
                  </a:txBody>
                  <a:tcPr marL="54864" marR="54864" marT="22860" marB="22860" anchor="ctr">
                    <a:solidFill>
                      <a:srgbClr val="FFFFFF"/>
                    </a:solidFill>
                  </a:tcPr>
                </a:tc>
                <a:tc>
                  <a:txBody>
                    <a:bodyPr/>
                    <a:lstStyle/>
                    <a:p>
                      <a:pPr algn="l"/>
                      <a:r>
                        <a:rPr sz="950" b="0">
                          <a:solidFill>
                            <a:srgbClr val="171C26"/>
                          </a:solidFill>
                          <a:latin typeface="Segoe UI"/>
                        </a:rPr>
                        <a:t>Claude Fable 5.1</a:t>
                      </a:r>
                    </a:p>
                  </a:txBody>
                  <a:tcPr marL="54864" marR="54864" marT="22860" marB="22860" anchor="ctr">
                    <a:solidFill>
                      <a:srgbClr val="FFFFFF"/>
                    </a:solidFill>
                  </a:tcPr>
                </a:tc>
                <a:tc>
                  <a:txBody>
                    <a:bodyPr/>
                    <a:lstStyle/>
                    <a:p>
                      <a:pPr algn="l"/>
                      <a:r>
                        <a:rPr sz="950" b="0">
                          <a:solidFill>
                            <a:srgbClr val="171C26"/>
                          </a:solidFill>
                          <a:latin typeface="Segoe UI"/>
                        </a:rPr>
                        <a:t>Q2 NSM reissuance start</a:t>
                      </a:r>
                    </a:p>
                  </a:txBody>
                  <a:tcPr marL="54864" marR="54864" marT="22860" marB="22860" anchor="ctr">
                    <a:solidFill>
                      <a:srgbClr val="FFFFFF"/>
                    </a:solidFill>
                  </a:tcPr>
                </a:tc>
                <a:tc>
                  <a:txBody>
                    <a:bodyPr/>
                    <a:lstStyle/>
                    <a:p>
                      <a:pPr algn="l"/>
                      <a:r>
                        <a:rPr sz="950" b="0">
                          <a:solidFill>
                            <a:srgbClr val="171C26"/>
                          </a:solidFill>
                          <a:latin typeface="Segoe UI"/>
                        </a:rPr>
                        <a:t>direct</a:t>
                      </a:r>
                    </a:p>
                  </a:txBody>
                  <a:tcPr marL="54864" marR="54864" marT="22860" marB="22860" anchor="ctr">
                    <a:solidFill>
                      <a:srgbClr val="FFFFFF"/>
                    </a:solidFill>
                  </a:tcPr>
                </a:tc>
                <a:tc>
                  <a:txBody>
                    <a:bodyPr/>
                    <a:lstStyle/>
                    <a:p>
                      <a:pPr algn="l"/>
                      <a:r>
                        <a:rPr sz="950" b="0">
                          <a:solidFill>
                            <a:srgbClr val="171C26"/>
                          </a:solidFill>
                          <a:latin typeface="Consolas"/>
                        </a:rPr>
                        <a:t>25</a:t>
                      </a:r>
                    </a:p>
                  </a:txBody>
                  <a:tcPr marL="54864" marR="54864" marT="22860" marB="22860" anchor="ctr">
                    <a:solidFill>
                      <a:srgbClr val="FFFFFF"/>
                    </a:solidFill>
                  </a:tcPr>
                </a:tc>
                <a:tc>
                  <a:txBody>
                    <a:bodyPr/>
                    <a:lstStyle/>
                    <a:p>
                      <a:pPr algn="l"/>
                      <a:r>
                        <a:rPr sz="950" b="0">
                          <a:solidFill>
                            <a:srgbClr val="171C26"/>
                          </a:solidFill>
                          <a:latin typeface="Segoe UI"/>
                        </a:rPr>
                        <a:t>trade exited 1</a:t>
                      </a:r>
                    </a:p>
                  </a:txBody>
                  <a:tcPr marL="54864" marR="54864" marT="22860" marB="22860" anchor="ctr">
                    <a:solidFill>
                      <a:srgbClr val="FFFFFF"/>
                    </a:solidFill>
                  </a:tcPr>
                </a:tc>
                <a:extLst>
                  <a:ext uri="{0D108BD9-81ED-4DB2-BD59-A6C34878D82A}">
                    <a16:rowId xmlns:a16="http://schemas.microsoft.com/office/drawing/2014/main" val="10001"/>
                  </a:ext>
                </a:extLst>
              </a:tr>
              <a:tr h="457200">
                <a:tc>
                  <a:txBody>
                    <a:bodyPr/>
                    <a:lstStyle/>
                    <a:p>
                      <a:pPr algn="l"/>
                      <a:r>
                        <a:rPr sz="950" b="0">
                          <a:solidFill>
                            <a:srgbClr val="171C26"/>
                          </a:solidFill>
                          <a:latin typeface="Consolas"/>
                        </a:rPr>
                        <a:t>13 Sep 17:32</a:t>
                      </a:r>
                    </a:p>
                  </a:txBody>
                  <a:tcPr marL="54864" marR="54864" marT="22860" marB="22860" anchor="ctr">
                    <a:solidFill>
                      <a:srgbClr val="EEF0F3"/>
                    </a:solidFill>
                  </a:tcPr>
                </a:tc>
                <a:tc>
                  <a:txBody>
                    <a:bodyPr/>
                    <a:lstStyle/>
                    <a:p>
                      <a:pPr algn="l"/>
                      <a:r>
                        <a:rPr sz="950" b="0">
                          <a:solidFill>
                            <a:srgbClr val="171C26"/>
                          </a:solidFill>
                          <a:latin typeface="Segoe UI"/>
                        </a:rPr>
                        <a:t>Claude Opus 5</a:t>
                      </a:r>
                    </a:p>
                  </a:txBody>
                  <a:tcPr marL="54864" marR="54864" marT="22860" marB="22860" anchor="ctr">
                    <a:solidFill>
                      <a:srgbClr val="EEF0F3"/>
                    </a:solidFill>
                  </a:tcPr>
                </a:tc>
                <a:tc>
                  <a:txBody>
                    <a:bodyPr/>
                    <a:lstStyle/>
                    <a:p>
                      <a:pPr algn="l"/>
                      <a:r>
                        <a:rPr sz="950" b="0">
                          <a:solidFill>
                            <a:srgbClr val="171C26"/>
                          </a:solidFill>
                          <a:latin typeface="Segoe UI"/>
                        </a:rPr>
                        <a:t>Q2 NSM reissuance start</a:t>
                      </a:r>
                    </a:p>
                  </a:txBody>
                  <a:tcPr marL="54864" marR="54864" marT="22860" marB="22860" anchor="ctr">
                    <a:solidFill>
                      <a:srgbClr val="EEF0F3"/>
                    </a:solidFill>
                  </a:tcPr>
                </a:tc>
                <a:tc>
                  <a:txBody>
                    <a:bodyPr/>
                    <a:lstStyle/>
                    <a:p>
                      <a:pPr algn="l"/>
                      <a:r>
                        <a:rPr sz="950" b="0">
                          <a:solidFill>
                            <a:srgbClr val="171C26"/>
                          </a:solidFill>
                          <a:latin typeface="Segoe UI"/>
                        </a:rPr>
                        <a:t>direct</a:t>
                      </a:r>
                    </a:p>
                  </a:txBody>
                  <a:tcPr marL="54864" marR="54864" marT="22860" marB="22860" anchor="ctr">
                    <a:solidFill>
                      <a:srgbClr val="EEF0F3"/>
                    </a:solidFill>
                  </a:tcPr>
                </a:tc>
                <a:tc>
                  <a:txBody>
                    <a:bodyPr/>
                    <a:lstStyle/>
                    <a:p>
                      <a:pPr algn="l"/>
                      <a:r>
                        <a:rPr sz="950" b="0">
                          <a:solidFill>
                            <a:srgbClr val="171C26"/>
                          </a:solidFill>
                          <a:latin typeface="Consolas"/>
                        </a:rPr>
                        <a:t>50.0000</a:t>
                      </a:r>
                    </a:p>
                  </a:txBody>
                  <a:tcPr marL="54864" marR="54864" marT="22860" marB="22860" anchor="ctr">
                    <a:solidFill>
                      <a:srgbClr val="EEF0F3"/>
                    </a:solidFill>
                  </a:tcPr>
                </a:tc>
                <a:tc>
                  <a:txBody>
                    <a:bodyPr/>
                    <a:lstStyle/>
                    <a:p>
                      <a:pPr algn="l"/>
                      <a:r>
                        <a:rPr sz="950" b="0">
                          <a:solidFill>
                            <a:srgbClr val="171C26"/>
                          </a:solidFill>
                          <a:latin typeface="Segoe UI"/>
                        </a:rPr>
                        <a:t>trade exited 1 | verified onchain: only the sUSDS approval landed, the swap was never sent, no position.</a:t>
                      </a:r>
                    </a:p>
                  </a:txBody>
                  <a:tcPr marL="54864" marR="54864" marT="22860" marB="22860" anchor="ctr">
                    <a:solidFill>
                      <a:srgbClr val="EEF0F3"/>
                    </a:solidFill>
                  </a:tcPr>
                </a:tc>
                <a:extLst>
                  <a:ext uri="{0D108BD9-81ED-4DB2-BD59-A6C34878D82A}">
                    <a16:rowId xmlns:a16="http://schemas.microsoft.com/office/drawing/2014/main" val="10002"/>
                  </a:ext>
                </a:extLst>
              </a:tr>
              <a:tr h="457200">
                <a:tc>
                  <a:txBody>
                    <a:bodyPr/>
                    <a:lstStyle/>
                    <a:p>
                      <a:pPr algn="l"/>
                      <a:r>
                        <a:rPr sz="950" b="0">
                          <a:solidFill>
                            <a:srgbClr val="171C26"/>
                          </a:solidFill>
                          <a:latin typeface="Consolas"/>
                        </a:rPr>
                        <a:t>13 Sep 17:32</a:t>
                      </a:r>
                    </a:p>
                  </a:txBody>
                  <a:tcPr marL="54864" marR="54864" marT="22860" marB="22860" anchor="ctr">
                    <a:solidFill>
                      <a:srgbClr val="FFFFFF"/>
                    </a:solidFill>
                  </a:tcPr>
                </a:tc>
                <a:tc>
                  <a:txBody>
                    <a:bodyPr/>
                    <a:lstStyle/>
                    <a:p>
                      <a:pPr algn="l"/>
                      <a:r>
                        <a:rPr sz="950" b="0">
                          <a:solidFill>
                            <a:srgbClr val="171C26"/>
                          </a:solidFill>
                          <a:latin typeface="Segoe UI"/>
                        </a:rPr>
                        <a:t>Claude Opus 5</a:t>
                      </a:r>
                    </a:p>
                  </a:txBody>
                  <a:tcPr marL="54864" marR="54864" marT="22860" marB="22860" anchor="ctr">
                    <a:solidFill>
                      <a:srgbClr val="FFFFFF"/>
                    </a:solidFill>
                  </a:tcPr>
                </a:tc>
                <a:tc>
                  <a:txBody>
                    <a:bodyPr/>
                    <a:lstStyle/>
                    <a:p>
                      <a:pPr algn="l"/>
                      <a:r>
                        <a:rPr sz="950" b="0">
                          <a:solidFill>
                            <a:srgbClr val="171C26"/>
                          </a:solidFill>
                          <a:latin typeface="Segoe UI"/>
                        </a:rPr>
                        <a:t>Q5 Sept-30 feature deadline</a:t>
                      </a:r>
                    </a:p>
                  </a:txBody>
                  <a:tcPr marL="54864" marR="54864" marT="22860" marB="22860" anchor="ctr">
                    <a:solidFill>
                      <a:srgbClr val="FFFFFF"/>
                    </a:solidFill>
                  </a:tcPr>
                </a:tc>
                <a:tc>
                  <a:txBody>
                    <a:bodyPr/>
                    <a:lstStyle/>
                    <a:p>
                      <a:pPr algn="l"/>
                      <a:r>
                        <a:rPr sz="950" b="0">
                          <a:solidFill>
                            <a:srgbClr val="171C26"/>
                          </a:solidFill>
                          <a:latin typeface="Segoe UI"/>
                        </a:rPr>
                        <a:t>direct</a:t>
                      </a:r>
                    </a:p>
                  </a:txBody>
                  <a:tcPr marL="54864" marR="54864" marT="22860" marB="22860" anchor="ctr">
                    <a:solidFill>
                      <a:srgbClr val="FFFFFF"/>
                    </a:solidFill>
                  </a:tcPr>
                </a:tc>
                <a:tc>
                  <a:txBody>
                    <a:bodyPr/>
                    <a:lstStyle/>
                    <a:p>
                      <a:pPr algn="l"/>
                      <a:r>
                        <a:rPr sz="950" b="0">
                          <a:solidFill>
                            <a:srgbClr val="171C26"/>
                          </a:solidFill>
                          <a:latin typeface="Consolas"/>
                        </a:rPr>
                        <a:t>50.0000</a:t>
                      </a:r>
                    </a:p>
                  </a:txBody>
                  <a:tcPr marL="54864" marR="54864" marT="22860" marB="22860" anchor="ctr">
                    <a:solidFill>
                      <a:srgbClr val="FFFFFF"/>
                    </a:solidFill>
                  </a:tcPr>
                </a:tc>
                <a:tc>
                  <a:txBody>
                    <a:bodyPr/>
                    <a:lstStyle/>
                    <a:p>
                      <a:pPr algn="l"/>
                      <a:r>
                        <a:rPr sz="950" b="0">
                          <a:solidFill>
                            <a:srgbClr val="171C26"/>
                          </a:solidFill>
                          <a:latin typeface="Segoe UI"/>
                        </a:rPr>
                        <a:t>trade exited 1 | verified onchain: only the sUSDS approval landed, the swap was never sent, no position.</a:t>
                      </a:r>
                    </a:p>
                  </a:txBody>
                  <a:tcPr marL="54864" marR="54864" marT="22860" marB="22860" anchor="ctr">
                    <a:solidFill>
                      <a:srgbClr val="FFFFFF"/>
                    </a:solidFill>
                  </a:tcPr>
                </a:tc>
                <a:extLst>
                  <a:ext uri="{0D108BD9-81ED-4DB2-BD59-A6C34878D82A}">
                    <a16:rowId xmlns:a16="http://schemas.microsoft.com/office/drawing/2014/main" val="10003"/>
                  </a:ext>
                </a:extLst>
              </a:tr>
              <a:tr h="457200">
                <a:tc>
                  <a:txBody>
                    <a:bodyPr/>
                    <a:lstStyle/>
                    <a:p>
                      <a:pPr algn="l"/>
                      <a:r>
                        <a:rPr sz="950" b="0">
                          <a:solidFill>
                            <a:srgbClr val="171C26"/>
                          </a:solidFill>
                          <a:latin typeface="Consolas"/>
                        </a:rPr>
                        <a:t>13 Sep 17:28</a:t>
                      </a:r>
                    </a:p>
                  </a:txBody>
                  <a:tcPr marL="54864" marR="54864" marT="22860" marB="22860" anchor="ctr">
                    <a:solidFill>
                      <a:srgbClr val="EEF0F3"/>
                    </a:solidFill>
                  </a:tcPr>
                </a:tc>
                <a:tc>
                  <a:txBody>
                    <a:bodyPr/>
                    <a:lstStyle/>
                    <a:p>
                      <a:pPr algn="l"/>
                      <a:r>
                        <a:rPr sz="950" b="0">
                          <a:solidFill>
                            <a:srgbClr val="171C26"/>
                          </a:solidFill>
                          <a:latin typeface="Segoe UI"/>
                        </a:rPr>
                        <a:t>GPT-6 Astra</a:t>
                      </a:r>
                    </a:p>
                  </a:txBody>
                  <a:tcPr marL="54864" marR="54864" marT="22860" marB="22860" anchor="ctr">
                    <a:solidFill>
                      <a:srgbClr val="EEF0F3"/>
                    </a:solidFill>
                  </a:tcPr>
                </a:tc>
                <a:tc>
                  <a:txBody>
                    <a:bodyPr/>
                    <a:lstStyle/>
                    <a:p>
                      <a:pPr algn="l"/>
                      <a:r>
                        <a:rPr sz="950" b="0">
                          <a:solidFill>
                            <a:srgbClr val="171C26"/>
                          </a:solidFill>
                          <a:latin typeface="Segoe UI"/>
                        </a:rPr>
                        <a:t>Q2 NSM reissuance start</a:t>
                      </a:r>
                    </a:p>
                  </a:txBody>
                  <a:tcPr marL="54864" marR="54864" marT="22860" marB="22860" anchor="ctr">
                    <a:solidFill>
                      <a:srgbClr val="EEF0F3"/>
                    </a:solidFill>
                  </a:tcPr>
                </a:tc>
                <a:tc>
                  <a:txBody>
                    <a:bodyPr/>
                    <a:lstStyle/>
                    <a:p>
                      <a:pPr algn="l"/>
                      <a:r>
                        <a:rPr sz="950" b="0">
                          <a:solidFill>
                            <a:srgbClr val="171C26"/>
                          </a:solidFill>
                          <a:latin typeface="Segoe UI"/>
                        </a:rPr>
                        <a:t>fade</a:t>
                      </a:r>
                    </a:p>
                  </a:txBody>
                  <a:tcPr marL="54864" marR="54864" marT="22860" marB="22860" anchor="ctr">
                    <a:solidFill>
                      <a:srgbClr val="EEF0F3"/>
                    </a:solidFill>
                  </a:tcPr>
                </a:tc>
                <a:tc>
                  <a:txBody>
                    <a:bodyPr/>
                    <a:lstStyle/>
                    <a:p>
                      <a:pPr algn="l"/>
                      <a:r>
                        <a:rPr sz="950" b="0">
                          <a:solidFill>
                            <a:srgbClr val="171C26"/>
                          </a:solidFill>
                          <a:latin typeface="Consolas"/>
                        </a:rPr>
                        <a:t>25</a:t>
                      </a:r>
                    </a:p>
                  </a:txBody>
                  <a:tcPr marL="54864" marR="54864" marT="22860" marB="22860" anchor="ctr">
                    <a:solidFill>
                      <a:srgbClr val="EEF0F3"/>
                    </a:solidFill>
                  </a:tcPr>
                </a:tc>
                <a:tc>
                  <a:txBody>
                    <a:bodyPr/>
                    <a:lstStyle/>
                    <a:p>
                      <a:pPr algn="l"/>
                      <a:r>
                        <a:rPr sz="950" b="0">
                          <a:solidFill>
                            <a:srgbClr val="171C26"/>
                          </a:solidFill>
                          <a:latin typeface="Segoe UI"/>
                        </a:rPr>
                        <a:t>trade exited 1</a:t>
                      </a:r>
                    </a:p>
                  </a:txBody>
                  <a:tcPr marL="54864" marR="54864" marT="22860" marB="22860" anchor="ctr">
                    <a:solidFill>
                      <a:srgbClr val="EEF0F3"/>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457200" y="3840480"/>
            <a:ext cx="11247120" cy="1097280"/>
          </a:xfrm>
          <a:prstGeom prst="rect">
            <a:avLst/>
          </a:prstGeom>
          <a:noFill/>
        </p:spPr>
        <p:txBody>
          <a:bodyPr wrap="square" lIns="36576" tIns="18288" rIns="36576" bIns="18288" anchor="t">
            <a:spAutoFit/>
          </a:bodyPr>
          <a:lstStyle/>
          <a:p>
            <a:pPr algn="l">
              <a:spcBef>
                <a:spcPts val="0"/>
              </a:spcBef>
              <a:spcAft>
                <a:spcPts val="400"/>
              </a:spcAft>
            </a:pPr>
            <a:r>
              <a:rPr sz="1050" b="0" i="0">
                <a:solidFill>
                  <a:srgbClr val="5C6675"/>
                </a:solidFill>
                <a:latin typeface="Segoe UI"/>
              </a:rPr>
              <a:t>First-cycle failures were the public Optimism RPC rate-limiting the send path (the approval landed, the swap was never sent). A dedicated RPC key and retry logic were added before the second cycle; no send failed after that.</a:t>
            </a:r>
          </a:p>
          <a:p>
            <a:pPr algn="l">
              <a:spcBef>
                <a:spcPts val="0"/>
              </a:spcBef>
              <a:spcAft>
                <a:spcPts val="0"/>
              </a:spcAft>
            </a:pPr>
            <a:r>
              <a:rPr sz="1050" b="0" i="0">
                <a:solidFill>
                  <a:srgbClr val="5C6675"/>
                </a:solidFill>
                <a:latin typeface="Segoe UI"/>
              </a:rPr>
              <a:t>Ten items from the pre-schedule test passes (13 Sep 15:02 and 16:08) were discarded as stale before the schedule was armed; they are not trades and are not counted anywhere in this deck.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Appendix · Brier score and log loss by market</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The per-market numbers behind slide 7. Lower is better; the mean is over the five markets. Red marks a market where that forecaster's most likely outcome lost.</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21</a:t>
            </a:r>
          </a:p>
        </p:txBody>
      </p:sp>
      <p:graphicFrame>
        <p:nvGraphicFramePr>
          <p:cNvPr id="7" name="Table 6"/>
          <p:cNvGraphicFramePr>
            <a:graphicFrameLocks noGrp="1"/>
          </p:cNvGraphicFramePr>
          <p:nvPr/>
        </p:nvGraphicFramePr>
        <p:xfrm>
          <a:off x="457200" y="1554480"/>
          <a:ext cx="10241280" cy="2263140"/>
        </p:xfrm>
        <a:graphic>
          <a:graphicData uri="http://schemas.openxmlformats.org/drawingml/2006/table">
            <a:tbl>
              <a:tblPr firstRow="1">
                <a:tableStyleId>{5C22544A-7EE6-4342-B048-85BDC9FD1C3A}</a:tableStyleId>
              </a:tblPr>
              <a:tblGrid>
                <a:gridCol w="292608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246888">
                <a:tc>
                  <a:txBody>
                    <a:bodyPr/>
                    <a:lstStyle/>
                    <a:p>
                      <a:pPr algn="l"/>
                      <a:r>
                        <a:rPr sz="900" b="1">
                          <a:solidFill>
                            <a:srgbClr val="FFFFFF"/>
                          </a:solidFill>
                          <a:latin typeface="Segoe UI"/>
                        </a:rPr>
                        <a:t>Brier score</a:t>
                      </a:r>
                    </a:p>
                  </a:txBody>
                  <a:tcPr marL="54864" marR="54864" marT="22860" marB="22860" anchor="ctr">
                    <a:solidFill>
                      <a:srgbClr val="141A2B"/>
                    </a:solidFill>
                  </a:tcPr>
                </a:tc>
                <a:tc>
                  <a:txBody>
                    <a:bodyPr/>
                    <a:lstStyle/>
                    <a:p>
                      <a:pPr algn="r"/>
                      <a:r>
                        <a:rPr sz="900" b="1">
                          <a:solidFill>
                            <a:srgbClr val="FFFFFF"/>
                          </a:solidFill>
                          <a:latin typeface="Segoe UI"/>
                        </a:rPr>
                        <a:t>Q1 Preserve halvings</a:t>
                      </a:r>
                    </a:p>
                  </a:txBody>
                  <a:tcPr marL="54864" marR="54864" marT="22860" marB="22860" anchor="ctr">
                    <a:solidFill>
                      <a:srgbClr val="141A2B"/>
                    </a:solidFill>
                  </a:tcPr>
                </a:tc>
                <a:tc>
                  <a:txBody>
                    <a:bodyPr/>
                    <a:lstStyle/>
                    <a:p>
                      <a:pPr algn="r"/>
                      <a:r>
                        <a:rPr sz="900" b="1">
                          <a:solidFill>
                            <a:srgbClr val="FFFFFF"/>
                          </a:solidFill>
                          <a:latin typeface="Segoe UI"/>
                        </a:rPr>
                        <a:t>Q2 February 2031</a:t>
                      </a:r>
                    </a:p>
                  </a:txBody>
                  <a:tcPr marL="54864" marR="54864" marT="22860" marB="22860" anchor="ctr">
                    <a:solidFill>
                      <a:srgbClr val="141A2B"/>
                    </a:solidFill>
                  </a:tcPr>
                </a:tc>
                <a:tc>
                  <a:txBody>
                    <a:bodyPr/>
                    <a:lstStyle/>
                    <a:p>
                      <a:pPr algn="r"/>
                      <a:r>
                        <a:rPr sz="900" b="1">
                          <a:solidFill>
                            <a:srgbClr val="FFFFFF"/>
                          </a:solidFill>
                          <a:latin typeface="Segoe UI"/>
                        </a:rPr>
                        <a:t>Q3 Immediately</a:t>
                      </a:r>
                    </a:p>
                  </a:txBody>
                  <a:tcPr marL="54864" marR="54864" marT="22860" marB="22860" anchor="ctr">
                    <a:solidFill>
                      <a:srgbClr val="141A2B"/>
                    </a:solidFill>
                  </a:tcPr>
                </a:tc>
                <a:tc>
                  <a:txBody>
                    <a:bodyPr/>
                    <a:lstStyle/>
                    <a:p>
                      <a:pPr algn="r"/>
                      <a:r>
                        <a:rPr sz="900" b="1">
                          <a:solidFill>
                            <a:srgbClr val="FFFFFF"/>
                          </a:solidFill>
                          <a:latin typeface="Segoe UI"/>
                        </a:rPr>
                        <a:t>Q4 Yes</a:t>
                      </a:r>
                    </a:p>
                  </a:txBody>
                  <a:tcPr marL="54864" marR="54864" marT="22860" marB="22860" anchor="ctr">
                    <a:solidFill>
                      <a:srgbClr val="141A2B"/>
                    </a:solidFill>
                  </a:tcPr>
                </a:tc>
                <a:tc>
                  <a:txBody>
                    <a:bodyPr/>
                    <a:lstStyle/>
                    <a:p>
                      <a:pPr algn="r"/>
                      <a:r>
                        <a:rPr sz="900" b="1">
                          <a:solidFill>
                            <a:srgbClr val="FFFFFF"/>
                          </a:solidFill>
                          <a:latin typeface="Segoe UI"/>
                        </a:rPr>
                        <a:t>Q5 Ship NU7 asap</a:t>
                      </a:r>
                    </a:p>
                  </a:txBody>
                  <a:tcPr marL="54864" marR="54864" marT="22860" marB="22860" anchor="ctr">
                    <a:solidFill>
                      <a:srgbClr val="141A2B"/>
                    </a:solidFill>
                  </a:tcPr>
                </a:tc>
                <a:tc>
                  <a:txBody>
                    <a:bodyPr/>
                    <a:lstStyle/>
                    <a:p>
                      <a:pPr algn="r"/>
                      <a:r>
                        <a:rPr sz="900" b="1">
                          <a:solidFill>
                            <a:srgbClr val="FFFFFF"/>
                          </a:solidFill>
                          <a:latin typeface="Segoe UI"/>
                        </a:rPr>
                        <a:t>Mean</a:t>
                      </a:r>
                    </a:p>
                  </a:txBody>
                  <a:tcPr marL="54864" marR="54864" marT="22860" marB="22860" anchor="ctr">
                    <a:solidFill>
                      <a:srgbClr val="141A2B"/>
                    </a:solidFill>
                  </a:tcPr>
                </a:tc>
                <a:extLst>
                  <a:ext uri="{0D108BD9-81ED-4DB2-BD59-A6C34878D82A}">
                    <a16:rowId xmlns:a16="http://schemas.microsoft.com/office/drawing/2014/main" val="10000"/>
                  </a:ext>
                </a:extLst>
              </a:tr>
              <a:tr h="224028">
                <a:tc>
                  <a:txBody>
                    <a:bodyPr/>
                    <a:lstStyle/>
                    <a:p>
                      <a:pPr algn="l"/>
                      <a:r>
                        <a:rPr sz="900" b="0">
                          <a:solidFill>
                            <a:srgbClr val="C4552A"/>
                          </a:solidFill>
                          <a:latin typeface="Segoe UI"/>
                        </a:rPr>
                        <a:t>Claude Fable 5.1</a:t>
                      </a:r>
                    </a:p>
                  </a:txBody>
                  <a:tcPr marL="54864" marR="54864" marT="22860" marB="22860" anchor="ctr">
                    <a:solidFill>
                      <a:srgbClr val="FFFFFF"/>
                    </a:solidFill>
                  </a:tcPr>
                </a:tc>
                <a:tc>
                  <a:txBody>
                    <a:bodyPr/>
                    <a:lstStyle/>
                    <a:p>
                      <a:pPr algn="r"/>
                      <a:r>
                        <a:rPr sz="900" b="0">
                          <a:solidFill>
                            <a:srgbClr val="171C26"/>
                          </a:solidFill>
                          <a:latin typeface="Consolas"/>
                        </a:rPr>
                        <a:t>0.120</a:t>
                      </a:r>
                    </a:p>
                  </a:txBody>
                  <a:tcPr marL="54864" marR="54864" marT="22860" marB="22860" anchor="ctr">
                    <a:solidFill>
                      <a:srgbClr val="FFFFFF"/>
                    </a:solidFill>
                  </a:tcPr>
                </a:tc>
                <a:tc>
                  <a:txBody>
                    <a:bodyPr/>
                    <a:lstStyle/>
                    <a:p>
                      <a:pPr algn="r"/>
                      <a:r>
                        <a:rPr sz="900" b="0">
                          <a:solidFill>
                            <a:srgbClr val="171C26"/>
                          </a:solidFill>
                          <a:latin typeface="Consolas"/>
                        </a:rPr>
                        <a:t>0.189</a:t>
                      </a:r>
                    </a:p>
                  </a:txBody>
                  <a:tcPr marL="54864" marR="54864" marT="22860" marB="22860" anchor="ctr">
                    <a:solidFill>
                      <a:srgbClr val="FFFFFF"/>
                    </a:solidFill>
                  </a:tcPr>
                </a:tc>
                <a:tc>
                  <a:txBody>
                    <a:bodyPr/>
                    <a:lstStyle/>
                    <a:p>
                      <a:pPr algn="r"/>
                      <a:r>
                        <a:rPr sz="900" b="0">
                          <a:solidFill>
                            <a:srgbClr val="171C26"/>
                          </a:solidFill>
                          <a:latin typeface="Consolas"/>
                        </a:rPr>
                        <a:t>0.390</a:t>
                      </a:r>
                    </a:p>
                  </a:txBody>
                  <a:tcPr marL="54864" marR="54864" marT="22860" marB="22860" anchor="ctr">
                    <a:solidFill>
                      <a:srgbClr val="FFFFFF"/>
                    </a:solidFill>
                  </a:tcPr>
                </a:tc>
                <a:tc>
                  <a:txBody>
                    <a:bodyPr/>
                    <a:lstStyle/>
                    <a:p>
                      <a:pPr algn="r"/>
                      <a:r>
                        <a:rPr sz="900" b="0">
                          <a:solidFill>
                            <a:srgbClr val="171C26"/>
                          </a:solidFill>
                          <a:latin typeface="Consolas"/>
                        </a:rPr>
                        <a:t>0.013</a:t>
                      </a:r>
                    </a:p>
                  </a:txBody>
                  <a:tcPr marL="54864" marR="54864" marT="22860" marB="22860" anchor="ctr">
                    <a:solidFill>
                      <a:srgbClr val="FFFFFF"/>
                    </a:solidFill>
                  </a:tcPr>
                </a:tc>
                <a:tc>
                  <a:txBody>
                    <a:bodyPr/>
                    <a:lstStyle/>
                    <a:p>
                      <a:pPr algn="r"/>
                      <a:r>
                        <a:rPr sz="900" b="0">
                          <a:solidFill>
                            <a:srgbClr val="171C26"/>
                          </a:solidFill>
                          <a:latin typeface="Consolas"/>
                        </a:rPr>
                        <a:t>0.051</a:t>
                      </a:r>
                    </a:p>
                  </a:txBody>
                  <a:tcPr marL="54864" marR="54864" marT="22860" marB="22860" anchor="ctr">
                    <a:solidFill>
                      <a:srgbClr val="FFFFFF"/>
                    </a:solidFill>
                  </a:tcPr>
                </a:tc>
                <a:tc>
                  <a:txBody>
                    <a:bodyPr/>
                    <a:lstStyle/>
                    <a:p>
                      <a:pPr algn="r"/>
                      <a:r>
                        <a:rPr sz="900" b="0">
                          <a:solidFill>
                            <a:srgbClr val="171C26"/>
                          </a:solidFill>
                          <a:latin typeface="Consolas"/>
                        </a:rPr>
                        <a:t>0.153</a:t>
                      </a:r>
                    </a:p>
                  </a:txBody>
                  <a:tcPr marL="54864" marR="54864" marT="22860" marB="22860" anchor="ctr">
                    <a:solidFill>
                      <a:srgbClr val="FFFFFF"/>
                    </a:solidFill>
                  </a:tcPr>
                </a:tc>
                <a:extLst>
                  <a:ext uri="{0D108BD9-81ED-4DB2-BD59-A6C34878D82A}">
                    <a16:rowId xmlns:a16="http://schemas.microsoft.com/office/drawing/2014/main" val="10001"/>
                  </a:ext>
                </a:extLst>
              </a:tr>
              <a:tr h="224028">
                <a:tc>
                  <a:txBody>
                    <a:bodyPr/>
                    <a:lstStyle/>
                    <a:p>
                      <a:pPr algn="l"/>
                      <a:r>
                        <a:rPr sz="900" b="0">
                          <a:solidFill>
                            <a:srgbClr val="7A2E8C"/>
                          </a:solidFill>
                          <a:latin typeface="Segoe UI"/>
                        </a:rPr>
                        <a:t>Claude Opus 5</a:t>
                      </a:r>
                    </a:p>
                  </a:txBody>
                  <a:tcPr marL="54864" marR="54864" marT="22860" marB="22860" anchor="ctr">
                    <a:solidFill>
                      <a:srgbClr val="EEF0F3"/>
                    </a:solidFill>
                  </a:tcPr>
                </a:tc>
                <a:tc>
                  <a:txBody>
                    <a:bodyPr/>
                    <a:lstStyle/>
                    <a:p>
                      <a:pPr algn="r"/>
                      <a:r>
                        <a:rPr sz="900" b="0">
                          <a:solidFill>
                            <a:srgbClr val="171C26"/>
                          </a:solidFill>
                          <a:latin typeface="Consolas"/>
                        </a:rPr>
                        <a:t>0.120</a:t>
                      </a:r>
                    </a:p>
                  </a:txBody>
                  <a:tcPr marL="54864" marR="54864" marT="22860" marB="22860" anchor="ctr">
                    <a:solidFill>
                      <a:srgbClr val="EEF0F3"/>
                    </a:solidFill>
                  </a:tcPr>
                </a:tc>
                <a:tc>
                  <a:txBody>
                    <a:bodyPr/>
                    <a:lstStyle/>
                    <a:p>
                      <a:pPr algn="r"/>
                      <a:r>
                        <a:rPr sz="900" b="0">
                          <a:solidFill>
                            <a:srgbClr val="171C26"/>
                          </a:solidFill>
                          <a:latin typeface="Consolas"/>
                        </a:rPr>
                        <a:t>0.048</a:t>
                      </a:r>
                    </a:p>
                  </a:txBody>
                  <a:tcPr marL="54864" marR="54864" marT="22860" marB="22860" anchor="ctr">
                    <a:solidFill>
                      <a:srgbClr val="EEF0F3"/>
                    </a:solidFill>
                  </a:tcPr>
                </a:tc>
                <a:tc>
                  <a:txBody>
                    <a:bodyPr/>
                    <a:lstStyle/>
                    <a:p>
                      <a:pPr algn="r"/>
                      <a:r>
                        <a:rPr sz="900" b="0">
                          <a:solidFill>
                            <a:srgbClr val="171C26"/>
                          </a:solidFill>
                          <a:latin typeface="Consolas"/>
                        </a:rPr>
                        <a:t>0.075</a:t>
                      </a:r>
                    </a:p>
                  </a:txBody>
                  <a:tcPr marL="54864" marR="54864" marT="22860" marB="22860" anchor="ctr">
                    <a:solidFill>
                      <a:srgbClr val="EEF0F3"/>
                    </a:solidFill>
                  </a:tcPr>
                </a:tc>
                <a:tc>
                  <a:txBody>
                    <a:bodyPr/>
                    <a:lstStyle/>
                    <a:p>
                      <a:pPr algn="r"/>
                      <a:r>
                        <a:rPr sz="900" b="0">
                          <a:solidFill>
                            <a:srgbClr val="171C26"/>
                          </a:solidFill>
                          <a:latin typeface="Consolas"/>
                        </a:rPr>
                        <a:t>0.002</a:t>
                      </a:r>
                    </a:p>
                  </a:txBody>
                  <a:tcPr marL="54864" marR="54864" marT="22860" marB="22860" anchor="ctr">
                    <a:solidFill>
                      <a:srgbClr val="EEF0F3"/>
                    </a:solidFill>
                  </a:tcPr>
                </a:tc>
                <a:tc>
                  <a:txBody>
                    <a:bodyPr/>
                    <a:lstStyle/>
                    <a:p>
                      <a:pPr algn="r"/>
                      <a:r>
                        <a:rPr sz="900" b="0">
                          <a:solidFill>
                            <a:srgbClr val="171C26"/>
                          </a:solidFill>
                          <a:latin typeface="Consolas"/>
                        </a:rPr>
                        <a:t>0.017</a:t>
                      </a:r>
                    </a:p>
                  </a:txBody>
                  <a:tcPr marL="54864" marR="54864" marT="22860" marB="22860" anchor="ctr">
                    <a:solidFill>
                      <a:srgbClr val="EEF0F3"/>
                    </a:solidFill>
                  </a:tcPr>
                </a:tc>
                <a:tc>
                  <a:txBody>
                    <a:bodyPr/>
                    <a:lstStyle/>
                    <a:p>
                      <a:pPr algn="r"/>
                      <a:r>
                        <a:rPr sz="900" b="0">
                          <a:solidFill>
                            <a:srgbClr val="171C26"/>
                          </a:solidFill>
                          <a:latin typeface="Consolas"/>
                        </a:rPr>
                        <a:t>0.052</a:t>
                      </a:r>
                    </a:p>
                  </a:txBody>
                  <a:tcPr marL="54864" marR="54864" marT="22860" marB="22860" anchor="ctr">
                    <a:solidFill>
                      <a:srgbClr val="EEF0F3"/>
                    </a:solidFill>
                  </a:tcPr>
                </a:tc>
                <a:extLst>
                  <a:ext uri="{0D108BD9-81ED-4DB2-BD59-A6C34878D82A}">
                    <a16:rowId xmlns:a16="http://schemas.microsoft.com/office/drawing/2014/main" val="10002"/>
                  </a:ext>
                </a:extLst>
              </a:tr>
              <a:tr h="224028">
                <a:tc>
                  <a:txBody>
                    <a:bodyPr/>
                    <a:lstStyle/>
                    <a:p>
                      <a:pPr algn="l"/>
                      <a:r>
                        <a:rPr sz="900" b="0">
                          <a:solidFill>
                            <a:srgbClr val="1B7F63"/>
                          </a:solidFill>
                          <a:latin typeface="Segoe UI"/>
                        </a:rPr>
                        <a:t>GPT-6 Astra</a:t>
                      </a:r>
                    </a:p>
                  </a:txBody>
                  <a:tcPr marL="54864" marR="54864" marT="22860" marB="22860" anchor="ctr">
                    <a:solidFill>
                      <a:srgbClr val="FFFFFF"/>
                    </a:solidFill>
                  </a:tcPr>
                </a:tc>
                <a:tc>
                  <a:txBody>
                    <a:bodyPr/>
                    <a:lstStyle/>
                    <a:p>
                      <a:pPr algn="r"/>
                      <a:r>
                        <a:rPr sz="900" b="0">
                          <a:solidFill>
                            <a:srgbClr val="171C26"/>
                          </a:solidFill>
                          <a:latin typeface="Consolas"/>
                        </a:rPr>
                        <a:t>0.105</a:t>
                      </a:r>
                    </a:p>
                  </a:txBody>
                  <a:tcPr marL="54864" marR="54864" marT="22860" marB="22860" anchor="ctr">
                    <a:solidFill>
                      <a:srgbClr val="FFFFFF"/>
                    </a:solidFill>
                  </a:tcPr>
                </a:tc>
                <a:tc>
                  <a:txBody>
                    <a:bodyPr/>
                    <a:lstStyle/>
                    <a:p>
                      <a:pPr algn="r"/>
                      <a:r>
                        <a:rPr sz="900" b="0">
                          <a:solidFill>
                            <a:srgbClr val="171C26"/>
                          </a:solidFill>
                          <a:latin typeface="Consolas"/>
                        </a:rPr>
                        <a:t>0.172</a:t>
                      </a:r>
                    </a:p>
                  </a:txBody>
                  <a:tcPr marL="54864" marR="54864" marT="22860" marB="22860" anchor="ctr">
                    <a:solidFill>
                      <a:srgbClr val="FFFFFF"/>
                    </a:solidFill>
                  </a:tcPr>
                </a:tc>
                <a:tc>
                  <a:txBody>
                    <a:bodyPr/>
                    <a:lstStyle/>
                    <a:p>
                      <a:pPr algn="r"/>
                      <a:r>
                        <a:rPr sz="900" b="0">
                          <a:solidFill>
                            <a:srgbClr val="171C26"/>
                          </a:solidFill>
                          <a:latin typeface="Consolas"/>
                        </a:rPr>
                        <a:t>0.216</a:t>
                      </a:r>
                    </a:p>
                  </a:txBody>
                  <a:tcPr marL="54864" marR="54864" marT="22860" marB="22860" anchor="ctr">
                    <a:solidFill>
                      <a:srgbClr val="FFFFFF"/>
                    </a:solidFill>
                  </a:tcPr>
                </a:tc>
                <a:tc>
                  <a:txBody>
                    <a:bodyPr/>
                    <a:lstStyle/>
                    <a:p>
                      <a:pPr algn="r"/>
                      <a:r>
                        <a:rPr sz="900" b="0">
                          <a:solidFill>
                            <a:srgbClr val="171C26"/>
                          </a:solidFill>
                          <a:latin typeface="Consolas"/>
                        </a:rPr>
                        <a:t>0.005</a:t>
                      </a:r>
                    </a:p>
                  </a:txBody>
                  <a:tcPr marL="54864" marR="54864" marT="22860" marB="22860" anchor="ctr">
                    <a:solidFill>
                      <a:srgbClr val="FFFFFF"/>
                    </a:solidFill>
                  </a:tcPr>
                </a:tc>
                <a:tc>
                  <a:txBody>
                    <a:bodyPr/>
                    <a:lstStyle/>
                    <a:p>
                      <a:pPr algn="r"/>
                      <a:r>
                        <a:rPr sz="900" b="0">
                          <a:solidFill>
                            <a:srgbClr val="171C26"/>
                          </a:solidFill>
                          <a:latin typeface="Consolas"/>
                        </a:rPr>
                        <a:t>0.019</a:t>
                      </a:r>
                    </a:p>
                  </a:txBody>
                  <a:tcPr marL="54864" marR="54864" marT="22860" marB="22860" anchor="ctr">
                    <a:solidFill>
                      <a:srgbClr val="FFFFFF"/>
                    </a:solidFill>
                  </a:tcPr>
                </a:tc>
                <a:tc>
                  <a:txBody>
                    <a:bodyPr/>
                    <a:lstStyle/>
                    <a:p>
                      <a:pPr algn="r"/>
                      <a:r>
                        <a:rPr sz="900" b="0">
                          <a:solidFill>
                            <a:srgbClr val="171C26"/>
                          </a:solidFill>
                          <a:latin typeface="Consolas"/>
                        </a:rPr>
                        <a:t>0.103</a:t>
                      </a:r>
                    </a:p>
                  </a:txBody>
                  <a:tcPr marL="54864" marR="54864" marT="22860" marB="22860" anchor="ctr">
                    <a:solidFill>
                      <a:srgbClr val="FFFFFF"/>
                    </a:solidFill>
                  </a:tcPr>
                </a:tc>
                <a:extLst>
                  <a:ext uri="{0D108BD9-81ED-4DB2-BD59-A6C34878D82A}">
                    <a16:rowId xmlns:a16="http://schemas.microsoft.com/office/drawing/2014/main" val="10003"/>
                  </a:ext>
                </a:extLst>
              </a:tr>
              <a:tr h="224028">
                <a:tc>
                  <a:txBody>
                    <a:bodyPr/>
                    <a:lstStyle/>
                    <a:p>
                      <a:pPr algn="l"/>
                      <a:r>
                        <a:rPr sz="900" b="0">
                          <a:solidFill>
                            <a:srgbClr val="2F6FD6"/>
                          </a:solidFill>
                          <a:latin typeface="Segoe UI"/>
                        </a:rPr>
                        <a:t>GPT-5.6 Sol</a:t>
                      </a:r>
                    </a:p>
                  </a:txBody>
                  <a:tcPr marL="54864" marR="54864" marT="22860" marB="22860" anchor="ctr">
                    <a:solidFill>
                      <a:srgbClr val="EEF0F3"/>
                    </a:solidFill>
                  </a:tcPr>
                </a:tc>
                <a:tc>
                  <a:txBody>
                    <a:bodyPr/>
                    <a:lstStyle/>
                    <a:p>
                      <a:pPr algn="r"/>
                      <a:r>
                        <a:rPr sz="900" b="0">
                          <a:solidFill>
                            <a:srgbClr val="171C26"/>
                          </a:solidFill>
                          <a:latin typeface="Consolas"/>
                        </a:rPr>
                        <a:t>0.194</a:t>
                      </a:r>
                    </a:p>
                  </a:txBody>
                  <a:tcPr marL="54864" marR="54864" marT="22860" marB="22860" anchor="ctr">
                    <a:solidFill>
                      <a:srgbClr val="EEF0F3"/>
                    </a:solidFill>
                  </a:tcPr>
                </a:tc>
                <a:tc>
                  <a:txBody>
                    <a:bodyPr/>
                    <a:lstStyle/>
                    <a:p>
                      <a:pPr algn="r"/>
                      <a:r>
                        <a:rPr sz="900" b="0">
                          <a:solidFill>
                            <a:srgbClr val="171C26"/>
                          </a:solidFill>
                          <a:latin typeface="Consolas"/>
                        </a:rPr>
                        <a:t>0.128</a:t>
                      </a:r>
                    </a:p>
                  </a:txBody>
                  <a:tcPr marL="54864" marR="54864" marT="22860" marB="22860" anchor="ctr">
                    <a:solidFill>
                      <a:srgbClr val="EEF0F3"/>
                    </a:solidFill>
                  </a:tcPr>
                </a:tc>
                <a:tc>
                  <a:txBody>
                    <a:bodyPr/>
                    <a:lstStyle/>
                    <a:p>
                      <a:pPr algn="r"/>
                      <a:r>
                        <a:rPr sz="900" b="0">
                          <a:solidFill>
                            <a:srgbClr val="171C26"/>
                          </a:solidFill>
                          <a:latin typeface="Consolas"/>
                        </a:rPr>
                        <a:t>0.350</a:t>
                      </a:r>
                    </a:p>
                  </a:txBody>
                  <a:tcPr marL="54864" marR="54864" marT="22860" marB="22860" anchor="ctr">
                    <a:solidFill>
                      <a:srgbClr val="EEF0F3"/>
                    </a:solidFill>
                  </a:tcPr>
                </a:tc>
                <a:tc>
                  <a:txBody>
                    <a:bodyPr/>
                    <a:lstStyle/>
                    <a:p>
                      <a:pPr algn="r"/>
                      <a:r>
                        <a:rPr sz="900" b="0">
                          <a:solidFill>
                            <a:srgbClr val="171C26"/>
                          </a:solidFill>
                          <a:latin typeface="Consolas"/>
                        </a:rPr>
                        <a:t>0.002</a:t>
                      </a:r>
                    </a:p>
                  </a:txBody>
                  <a:tcPr marL="54864" marR="54864" marT="22860" marB="22860" anchor="ctr">
                    <a:solidFill>
                      <a:srgbClr val="EEF0F3"/>
                    </a:solidFill>
                  </a:tcPr>
                </a:tc>
                <a:tc>
                  <a:txBody>
                    <a:bodyPr/>
                    <a:lstStyle/>
                    <a:p>
                      <a:pPr algn="r"/>
                      <a:r>
                        <a:rPr sz="900" b="0">
                          <a:solidFill>
                            <a:srgbClr val="171C26"/>
                          </a:solidFill>
                          <a:latin typeface="Consolas"/>
                        </a:rPr>
                        <a:t>0.026</a:t>
                      </a:r>
                    </a:p>
                  </a:txBody>
                  <a:tcPr marL="54864" marR="54864" marT="22860" marB="22860" anchor="ctr">
                    <a:solidFill>
                      <a:srgbClr val="EEF0F3"/>
                    </a:solidFill>
                  </a:tcPr>
                </a:tc>
                <a:tc>
                  <a:txBody>
                    <a:bodyPr/>
                    <a:lstStyle/>
                    <a:p>
                      <a:pPr algn="r"/>
                      <a:r>
                        <a:rPr sz="900" b="0">
                          <a:solidFill>
                            <a:srgbClr val="171C26"/>
                          </a:solidFill>
                          <a:latin typeface="Consolas"/>
                        </a:rPr>
                        <a:t>0.140</a:t>
                      </a:r>
                    </a:p>
                  </a:txBody>
                  <a:tcPr marL="54864" marR="54864" marT="22860" marB="22860" anchor="ctr">
                    <a:solidFill>
                      <a:srgbClr val="EEF0F3"/>
                    </a:solidFill>
                  </a:tcPr>
                </a:tc>
                <a:extLst>
                  <a:ext uri="{0D108BD9-81ED-4DB2-BD59-A6C34878D82A}">
                    <a16:rowId xmlns:a16="http://schemas.microsoft.com/office/drawing/2014/main" val="10004"/>
                  </a:ext>
                </a:extLst>
              </a:tr>
              <a:tr h="224028">
                <a:tc>
                  <a:txBody>
                    <a:bodyPr/>
                    <a:lstStyle/>
                    <a:p>
                      <a:pPr algn="l"/>
                      <a:r>
                        <a:rPr sz="900" b="0">
                          <a:solidFill>
                            <a:srgbClr val="171C26"/>
                          </a:solidFill>
                          <a:latin typeface="Segoe UI"/>
                        </a:rPr>
                        <a:t>Mean of the four agents</a:t>
                      </a:r>
                    </a:p>
                  </a:txBody>
                  <a:tcPr marL="54864" marR="54864" marT="22860" marB="22860" anchor="ctr">
                    <a:solidFill>
                      <a:srgbClr val="FFFFFF"/>
                    </a:solidFill>
                  </a:tcPr>
                </a:tc>
                <a:tc>
                  <a:txBody>
                    <a:bodyPr/>
                    <a:lstStyle/>
                    <a:p>
                      <a:pPr algn="r"/>
                      <a:r>
                        <a:rPr sz="900" b="0">
                          <a:solidFill>
                            <a:srgbClr val="171C26"/>
                          </a:solidFill>
                          <a:latin typeface="Consolas"/>
                        </a:rPr>
                        <a:t>0.132</a:t>
                      </a:r>
                    </a:p>
                  </a:txBody>
                  <a:tcPr marL="54864" marR="54864" marT="22860" marB="22860" anchor="ctr">
                    <a:solidFill>
                      <a:srgbClr val="FFFFFF"/>
                    </a:solidFill>
                  </a:tcPr>
                </a:tc>
                <a:tc>
                  <a:txBody>
                    <a:bodyPr/>
                    <a:lstStyle/>
                    <a:p>
                      <a:pPr algn="r"/>
                      <a:r>
                        <a:rPr sz="900" b="0">
                          <a:solidFill>
                            <a:srgbClr val="171C26"/>
                          </a:solidFill>
                          <a:latin typeface="Consolas"/>
                        </a:rPr>
                        <a:t>0.127</a:t>
                      </a:r>
                    </a:p>
                  </a:txBody>
                  <a:tcPr marL="54864" marR="54864" marT="22860" marB="22860" anchor="ctr">
                    <a:solidFill>
                      <a:srgbClr val="FFFFFF"/>
                    </a:solidFill>
                  </a:tcPr>
                </a:tc>
                <a:tc>
                  <a:txBody>
                    <a:bodyPr/>
                    <a:lstStyle/>
                    <a:p>
                      <a:pPr algn="r"/>
                      <a:r>
                        <a:rPr sz="900" b="0">
                          <a:solidFill>
                            <a:srgbClr val="171C26"/>
                          </a:solidFill>
                          <a:latin typeface="Consolas"/>
                        </a:rPr>
                        <a:t>0.237</a:t>
                      </a:r>
                    </a:p>
                  </a:txBody>
                  <a:tcPr marL="54864" marR="54864" marT="22860" marB="22860" anchor="ctr">
                    <a:solidFill>
                      <a:srgbClr val="FFFFFF"/>
                    </a:solidFill>
                  </a:tcPr>
                </a:tc>
                <a:tc>
                  <a:txBody>
                    <a:bodyPr/>
                    <a:lstStyle/>
                    <a:p>
                      <a:pPr algn="r"/>
                      <a:r>
                        <a:rPr sz="900" b="0">
                          <a:solidFill>
                            <a:srgbClr val="171C26"/>
                          </a:solidFill>
                          <a:latin typeface="Consolas"/>
                        </a:rPr>
                        <a:t>0.005</a:t>
                      </a:r>
                    </a:p>
                  </a:txBody>
                  <a:tcPr marL="54864" marR="54864" marT="22860" marB="22860" anchor="ctr">
                    <a:solidFill>
                      <a:srgbClr val="FFFFFF"/>
                    </a:solidFill>
                  </a:tcPr>
                </a:tc>
                <a:tc>
                  <a:txBody>
                    <a:bodyPr/>
                    <a:lstStyle/>
                    <a:p>
                      <a:pPr algn="r"/>
                      <a:r>
                        <a:rPr sz="900" b="0">
                          <a:solidFill>
                            <a:srgbClr val="171C26"/>
                          </a:solidFill>
                          <a:latin typeface="Consolas"/>
                        </a:rPr>
                        <a:t>0.026</a:t>
                      </a:r>
                    </a:p>
                  </a:txBody>
                  <a:tcPr marL="54864" marR="54864" marT="22860" marB="22860" anchor="ctr">
                    <a:solidFill>
                      <a:srgbClr val="FFFFFF"/>
                    </a:solidFill>
                  </a:tcPr>
                </a:tc>
                <a:tc>
                  <a:txBody>
                    <a:bodyPr/>
                    <a:lstStyle/>
                    <a:p>
                      <a:pPr algn="r"/>
                      <a:r>
                        <a:rPr sz="900" b="0">
                          <a:solidFill>
                            <a:srgbClr val="171C26"/>
                          </a:solidFill>
                          <a:latin typeface="Consolas"/>
                        </a:rPr>
                        <a:t>0.106</a:t>
                      </a:r>
                    </a:p>
                  </a:txBody>
                  <a:tcPr marL="54864" marR="54864" marT="22860" marB="22860" anchor="ctr">
                    <a:solidFill>
                      <a:srgbClr val="FFFFFF"/>
                    </a:solidFill>
                  </a:tcPr>
                </a:tc>
                <a:extLst>
                  <a:ext uri="{0D108BD9-81ED-4DB2-BD59-A6C34878D82A}">
                    <a16:rowId xmlns:a16="http://schemas.microsoft.com/office/drawing/2014/main" val="10005"/>
                  </a:ext>
                </a:extLst>
              </a:tr>
              <a:tr h="224028">
                <a:tc>
                  <a:txBody>
                    <a:bodyPr/>
                    <a:lstStyle/>
                    <a:p>
                      <a:pPr algn="l"/>
                      <a:r>
                        <a:rPr sz="900" b="0">
                          <a:solidFill>
                            <a:srgbClr val="171C26"/>
                          </a:solidFill>
                          <a:latin typeface="Segoe UI"/>
                        </a:rPr>
                        <a:t>Base rate: opening price (pool seed)</a:t>
                      </a:r>
                    </a:p>
                  </a:txBody>
                  <a:tcPr marL="54864" marR="54864" marT="22860" marB="22860" anchor="ctr">
                    <a:solidFill>
                      <a:srgbClr val="EEF0F3"/>
                    </a:solidFill>
                  </a:tcPr>
                </a:tc>
                <a:tc>
                  <a:txBody>
                    <a:bodyPr/>
                    <a:lstStyle/>
                    <a:p>
                      <a:pPr algn="r"/>
                      <a:r>
                        <a:rPr sz="900" b="0">
                          <a:solidFill>
                            <a:srgbClr val="171C26"/>
                          </a:solidFill>
                          <a:latin typeface="Consolas"/>
                        </a:rPr>
                        <a:t>0.095</a:t>
                      </a:r>
                    </a:p>
                  </a:txBody>
                  <a:tcPr marL="54864" marR="54864" marT="22860" marB="22860" anchor="ctr">
                    <a:solidFill>
                      <a:srgbClr val="EEF0F3"/>
                    </a:solidFill>
                  </a:tcPr>
                </a:tc>
                <a:tc>
                  <a:txBody>
                    <a:bodyPr/>
                    <a:lstStyle/>
                    <a:p>
                      <a:pPr algn="r"/>
                      <a:r>
                        <a:rPr sz="900" b="0">
                          <a:solidFill>
                            <a:srgbClr val="B83A2E"/>
                          </a:solidFill>
                          <a:latin typeface="Consolas"/>
                        </a:rPr>
                        <a:t>0.815</a:t>
                      </a:r>
                    </a:p>
                  </a:txBody>
                  <a:tcPr marL="54864" marR="54864" marT="22860" marB="22860" anchor="ctr">
                    <a:solidFill>
                      <a:srgbClr val="EEF0F3"/>
                    </a:solidFill>
                  </a:tcPr>
                </a:tc>
                <a:tc>
                  <a:txBody>
                    <a:bodyPr/>
                    <a:lstStyle/>
                    <a:p>
                      <a:pPr algn="r"/>
                      <a:r>
                        <a:rPr sz="900" b="0">
                          <a:solidFill>
                            <a:srgbClr val="B83A2E"/>
                          </a:solidFill>
                          <a:latin typeface="Consolas"/>
                        </a:rPr>
                        <a:t>0.780</a:t>
                      </a:r>
                    </a:p>
                  </a:txBody>
                  <a:tcPr marL="54864" marR="54864" marT="22860" marB="22860" anchor="ctr">
                    <a:solidFill>
                      <a:srgbClr val="EEF0F3"/>
                    </a:solidFill>
                  </a:tcPr>
                </a:tc>
                <a:tc>
                  <a:txBody>
                    <a:bodyPr/>
                    <a:lstStyle/>
                    <a:p>
                      <a:pPr algn="r"/>
                      <a:r>
                        <a:rPr sz="900" b="0">
                          <a:solidFill>
                            <a:srgbClr val="171C26"/>
                          </a:solidFill>
                          <a:latin typeface="Consolas"/>
                        </a:rPr>
                        <a:t>0.020</a:t>
                      </a:r>
                    </a:p>
                  </a:txBody>
                  <a:tcPr marL="54864" marR="54864" marT="22860" marB="22860" anchor="ctr">
                    <a:solidFill>
                      <a:srgbClr val="EEF0F3"/>
                    </a:solidFill>
                  </a:tcPr>
                </a:tc>
                <a:tc>
                  <a:txBody>
                    <a:bodyPr/>
                    <a:lstStyle/>
                    <a:p>
                      <a:pPr algn="r"/>
                      <a:r>
                        <a:rPr sz="900" b="0">
                          <a:solidFill>
                            <a:srgbClr val="171C26"/>
                          </a:solidFill>
                          <a:latin typeface="Consolas"/>
                        </a:rPr>
                        <a:t>0.155</a:t>
                      </a:r>
                    </a:p>
                  </a:txBody>
                  <a:tcPr marL="54864" marR="54864" marT="22860" marB="22860" anchor="ctr">
                    <a:solidFill>
                      <a:srgbClr val="EEF0F3"/>
                    </a:solidFill>
                  </a:tcPr>
                </a:tc>
                <a:tc>
                  <a:txBody>
                    <a:bodyPr/>
                    <a:lstStyle/>
                    <a:p>
                      <a:pPr algn="r"/>
                      <a:r>
                        <a:rPr sz="900" b="0">
                          <a:solidFill>
                            <a:srgbClr val="171C26"/>
                          </a:solidFill>
                          <a:latin typeface="Consolas"/>
                        </a:rPr>
                        <a:t>0.373</a:t>
                      </a:r>
                    </a:p>
                  </a:txBody>
                  <a:tcPr marL="54864" marR="54864" marT="22860" marB="22860" anchor="ctr">
                    <a:solidFill>
                      <a:srgbClr val="EEF0F3"/>
                    </a:solidFill>
                  </a:tcPr>
                </a:tc>
                <a:extLst>
                  <a:ext uri="{0D108BD9-81ED-4DB2-BD59-A6C34878D82A}">
                    <a16:rowId xmlns:a16="http://schemas.microsoft.com/office/drawing/2014/main" val="10006"/>
                  </a:ext>
                </a:extLst>
              </a:tr>
              <a:tr h="224028">
                <a:tc>
                  <a:txBody>
                    <a:bodyPr/>
                    <a:lstStyle/>
                    <a:p>
                      <a:pPr algn="l"/>
                      <a:r>
                        <a:rPr sz="900" b="0">
                          <a:solidFill>
                            <a:srgbClr val="171C26"/>
                          </a:solidFill>
                          <a:latin typeface="Segoe UI"/>
                        </a:rPr>
                        <a:t>Base rate: market before the bots traded</a:t>
                      </a:r>
                    </a:p>
                  </a:txBody>
                  <a:tcPr marL="54864" marR="54864" marT="22860" marB="22860" anchor="ctr">
                    <a:solidFill>
                      <a:srgbClr val="FFFFFF"/>
                    </a:solidFill>
                  </a:tcPr>
                </a:tc>
                <a:tc>
                  <a:txBody>
                    <a:bodyPr/>
                    <a:lstStyle/>
                    <a:p>
                      <a:pPr algn="r"/>
                      <a:r>
                        <a:rPr sz="900" b="0">
                          <a:solidFill>
                            <a:srgbClr val="171C26"/>
                          </a:solidFill>
                          <a:latin typeface="Consolas"/>
                        </a:rPr>
                        <a:t>0.119</a:t>
                      </a:r>
                    </a:p>
                  </a:txBody>
                  <a:tcPr marL="54864" marR="54864" marT="22860" marB="22860" anchor="ctr">
                    <a:solidFill>
                      <a:srgbClr val="FFFFFF"/>
                    </a:solidFill>
                  </a:tcPr>
                </a:tc>
                <a:tc>
                  <a:txBody>
                    <a:bodyPr/>
                    <a:lstStyle/>
                    <a:p>
                      <a:pPr algn="r"/>
                      <a:r>
                        <a:rPr sz="900" b="0">
                          <a:solidFill>
                            <a:srgbClr val="B83A2E"/>
                          </a:solidFill>
                          <a:latin typeface="Consolas"/>
                        </a:rPr>
                        <a:t>0.799</a:t>
                      </a:r>
                    </a:p>
                  </a:txBody>
                  <a:tcPr marL="54864" marR="54864" marT="22860" marB="22860" anchor="ctr">
                    <a:solidFill>
                      <a:srgbClr val="FFFFFF"/>
                    </a:solidFill>
                  </a:tcPr>
                </a:tc>
                <a:tc>
                  <a:txBody>
                    <a:bodyPr/>
                    <a:lstStyle/>
                    <a:p>
                      <a:pPr algn="r"/>
                      <a:r>
                        <a:rPr sz="900" b="0">
                          <a:solidFill>
                            <a:srgbClr val="B83A2E"/>
                          </a:solidFill>
                          <a:latin typeface="Consolas"/>
                        </a:rPr>
                        <a:t>0.820</a:t>
                      </a:r>
                    </a:p>
                  </a:txBody>
                  <a:tcPr marL="54864" marR="54864" marT="22860" marB="22860" anchor="ctr">
                    <a:solidFill>
                      <a:srgbClr val="FFFFFF"/>
                    </a:solidFill>
                  </a:tcPr>
                </a:tc>
                <a:tc>
                  <a:txBody>
                    <a:bodyPr/>
                    <a:lstStyle/>
                    <a:p>
                      <a:pPr algn="r"/>
                      <a:r>
                        <a:rPr sz="900" b="0">
                          <a:solidFill>
                            <a:srgbClr val="171C26"/>
                          </a:solidFill>
                          <a:latin typeface="Consolas"/>
                        </a:rPr>
                        <a:t>0.029</a:t>
                      </a:r>
                    </a:p>
                  </a:txBody>
                  <a:tcPr marL="54864" marR="54864" marT="22860" marB="22860" anchor="ctr">
                    <a:solidFill>
                      <a:srgbClr val="FFFFFF"/>
                    </a:solidFill>
                  </a:tcPr>
                </a:tc>
                <a:tc>
                  <a:txBody>
                    <a:bodyPr/>
                    <a:lstStyle/>
                    <a:p>
                      <a:pPr algn="r"/>
                      <a:r>
                        <a:rPr sz="900" b="0">
                          <a:solidFill>
                            <a:srgbClr val="171C26"/>
                          </a:solidFill>
                          <a:latin typeface="Consolas"/>
                        </a:rPr>
                        <a:t>0.136</a:t>
                      </a:r>
                    </a:p>
                  </a:txBody>
                  <a:tcPr marL="54864" marR="54864" marT="22860" marB="22860" anchor="ctr">
                    <a:solidFill>
                      <a:srgbClr val="FFFFFF"/>
                    </a:solidFill>
                  </a:tcPr>
                </a:tc>
                <a:tc>
                  <a:txBody>
                    <a:bodyPr/>
                    <a:lstStyle/>
                    <a:p>
                      <a:pPr algn="r"/>
                      <a:r>
                        <a:rPr sz="900" b="0">
                          <a:solidFill>
                            <a:srgbClr val="171C26"/>
                          </a:solidFill>
                          <a:latin typeface="Consolas"/>
                        </a:rPr>
                        <a:t>0.381</a:t>
                      </a:r>
                    </a:p>
                  </a:txBody>
                  <a:tcPr marL="54864" marR="54864" marT="22860" marB="22860" anchor="ctr">
                    <a:solidFill>
                      <a:srgbClr val="FFFFFF"/>
                    </a:solidFill>
                  </a:tcPr>
                </a:tc>
                <a:extLst>
                  <a:ext uri="{0D108BD9-81ED-4DB2-BD59-A6C34878D82A}">
                    <a16:rowId xmlns:a16="http://schemas.microsoft.com/office/drawing/2014/main" val="10007"/>
                  </a:ext>
                </a:extLst>
              </a:tr>
              <a:tr h="224028">
                <a:tc>
                  <a:txBody>
                    <a:bodyPr/>
                    <a:lstStyle/>
                    <a:p>
                      <a:pPr algn="l"/>
                      <a:r>
                        <a:rPr sz="900" b="0">
                          <a:solidFill>
                            <a:srgbClr val="171C26"/>
                          </a:solidFill>
                          <a:latin typeface="Segoe UI"/>
                        </a:rPr>
                        <a:t>Market rate: final pool price</a:t>
                      </a:r>
                    </a:p>
                  </a:txBody>
                  <a:tcPr marL="54864" marR="54864" marT="22860" marB="22860" anchor="ctr">
                    <a:solidFill>
                      <a:srgbClr val="EEF0F3"/>
                    </a:solidFill>
                  </a:tcPr>
                </a:tc>
                <a:tc>
                  <a:txBody>
                    <a:bodyPr/>
                    <a:lstStyle/>
                    <a:p>
                      <a:pPr algn="r"/>
                      <a:r>
                        <a:rPr sz="900" b="0">
                          <a:solidFill>
                            <a:srgbClr val="171C26"/>
                          </a:solidFill>
                          <a:latin typeface="Consolas"/>
                        </a:rPr>
                        <a:t>0.117</a:t>
                      </a:r>
                    </a:p>
                  </a:txBody>
                  <a:tcPr marL="54864" marR="54864" marT="22860" marB="22860" anchor="ctr">
                    <a:solidFill>
                      <a:srgbClr val="EEF0F3"/>
                    </a:solidFill>
                  </a:tcPr>
                </a:tc>
                <a:tc>
                  <a:txBody>
                    <a:bodyPr/>
                    <a:lstStyle/>
                    <a:p>
                      <a:pPr algn="r"/>
                      <a:r>
                        <a:rPr sz="900" b="0">
                          <a:solidFill>
                            <a:srgbClr val="B83A2E"/>
                          </a:solidFill>
                          <a:latin typeface="Consolas"/>
                        </a:rPr>
                        <a:t>0.530</a:t>
                      </a:r>
                    </a:p>
                  </a:txBody>
                  <a:tcPr marL="54864" marR="54864" marT="22860" marB="22860" anchor="ctr">
                    <a:solidFill>
                      <a:srgbClr val="EEF0F3"/>
                    </a:solidFill>
                  </a:tcPr>
                </a:tc>
                <a:tc>
                  <a:txBody>
                    <a:bodyPr/>
                    <a:lstStyle/>
                    <a:p>
                      <a:pPr algn="r"/>
                      <a:r>
                        <a:rPr sz="900" b="0">
                          <a:solidFill>
                            <a:srgbClr val="B83A2E"/>
                          </a:solidFill>
                          <a:latin typeface="Consolas"/>
                        </a:rPr>
                        <a:t>0.692</a:t>
                      </a:r>
                    </a:p>
                  </a:txBody>
                  <a:tcPr marL="54864" marR="54864" marT="22860" marB="22860" anchor="ctr">
                    <a:solidFill>
                      <a:srgbClr val="EEF0F3"/>
                    </a:solidFill>
                  </a:tcPr>
                </a:tc>
                <a:tc>
                  <a:txBody>
                    <a:bodyPr/>
                    <a:lstStyle/>
                    <a:p>
                      <a:pPr algn="r"/>
                      <a:r>
                        <a:rPr sz="900" b="0">
                          <a:solidFill>
                            <a:srgbClr val="171C26"/>
                          </a:solidFill>
                          <a:latin typeface="Consolas"/>
                        </a:rPr>
                        <a:t>0.023</a:t>
                      </a:r>
                    </a:p>
                  </a:txBody>
                  <a:tcPr marL="54864" marR="54864" marT="22860" marB="22860" anchor="ctr">
                    <a:solidFill>
                      <a:srgbClr val="EEF0F3"/>
                    </a:solidFill>
                  </a:tcPr>
                </a:tc>
                <a:tc>
                  <a:txBody>
                    <a:bodyPr/>
                    <a:lstStyle/>
                    <a:p>
                      <a:pPr algn="r"/>
                      <a:r>
                        <a:rPr sz="900" b="0">
                          <a:solidFill>
                            <a:srgbClr val="171C26"/>
                          </a:solidFill>
                          <a:latin typeface="Consolas"/>
                        </a:rPr>
                        <a:t>0.101</a:t>
                      </a:r>
                    </a:p>
                  </a:txBody>
                  <a:tcPr marL="54864" marR="54864" marT="22860" marB="22860" anchor="ctr">
                    <a:solidFill>
                      <a:srgbClr val="EEF0F3"/>
                    </a:solidFill>
                  </a:tcPr>
                </a:tc>
                <a:tc>
                  <a:txBody>
                    <a:bodyPr/>
                    <a:lstStyle/>
                    <a:p>
                      <a:pPr algn="r"/>
                      <a:r>
                        <a:rPr sz="900" b="0">
                          <a:solidFill>
                            <a:srgbClr val="171C26"/>
                          </a:solidFill>
                          <a:latin typeface="Consolas"/>
                        </a:rPr>
                        <a:t>0.293</a:t>
                      </a:r>
                    </a:p>
                  </a:txBody>
                  <a:tcPr marL="54864" marR="54864" marT="22860" marB="22860" anchor="ctr">
                    <a:solidFill>
                      <a:srgbClr val="EEF0F3"/>
                    </a:solidFill>
                  </a:tcPr>
                </a:tc>
                <a:extLst>
                  <a:ext uri="{0D108BD9-81ED-4DB2-BD59-A6C34878D82A}">
                    <a16:rowId xmlns:a16="http://schemas.microsoft.com/office/drawing/2014/main" val="10008"/>
                  </a:ext>
                </a:extLst>
              </a:tr>
              <a:tr h="224028">
                <a:tc>
                  <a:txBody>
                    <a:bodyPr/>
                    <a:lstStyle/>
                    <a:p>
                      <a:pPr algn="l"/>
                      <a:r>
                        <a:rPr sz="900" b="0">
                          <a:solidFill>
                            <a:srgbClr val="5C6675"/>
                          </a:solidFill>
                          <a:latin typeface="Segoe UI"/>
                        </a:rPr>
                        <a:t>Reference: live ballot share</a:t>
                      </a:r>
                    </a:p>
                  </a:txBody>
                  <a:tcPr marL="54864" marR="54864" marT="22860" marB="22860" anchor="ctr">
                    <a:solidFill>
                      <a:srgbClr val="FFFFFF"/>
                    </a:solidFill>
                  </a:tcPr>
                </a:tc>
                <a:tc>
                  <a:txBody>
                    <a:bodyPr/>
                    <a:lstStyle/>
                    <a:p>
                      <a:pPr algn="r"/>
                      <a:r>
                        <a:rPr sz="900" b="0">
                          <a:solidFill>
                            <a:srgbClr val="5C6675"/>
                          </a:solidFill>
                          <a:latin typeface="Consolas"/>
                        </a:rPr>
                        <a:t>0.264</a:t>
                      </a:r>
                    </a:p>
                  </a:txBody>
                  <a:tcPr marL="54864" marR="54864" marT="22860" marB="22860" anchor="ctr">
                    <a:solidFill>
                      <a:srgbClr val="FFFFFF"/>
                    </a:solidFill>
                  </a:tcPr>
                </a:tc>
                <a:tc>
                  <a:txBody>
                    <a:bodyPr/>
                    <a:lstStyle/>
                    <a:p>
                      <a:pPr algn="r"/>
                      <a:r>
                        <a:rPr sz="900" b="0">
                          <a:solidFill>
                            <a:srgbClr val="5C6675"/>
                          </a:solidFill>
                          <a:latin typeface="Consolas"/>
                        </a:rPr>
                        <a:t>0.128</a:t>
                      </a:r>
                    </a:p>
                  </a:txBody>
                  <a:tcPr marL="54864" marR="54864" marT="22860" marB="22860" anchor="ctr">
                    <a:solidFill>
                      <a:srgbClr val="FFFFFF"/>
                    </a:solidFill>
                  </a:tcPr>
                </a:tc>
                <a:tc>
                  <a:txBody>
                    <a:bodyPr/>
                    <a:lstStyle/>
                    <a:p>
                      <a:pPr algn="r"/>
                      <a:r>
                        <a:rPr sz="900" b="0">
                          <a:solidFill>
                            <a:srgbClr val="5C6675"/>
                          </a:solidFill>
                          <a:latin typeface="Consolas"/>
                        </a:rPr>
                        <a:t>0.056</a:t>
                      </a:r>
                    </a:p>
                  </a:txBody>
                  <a:tcPr marL="54864" marR="54864" marT="22860" marB="22860" anchor="ctr">
                    <a:solidFill>
                      <a:srgbClr val="FFFFFF"/>
                    </a:solidFill>
                  </a:tcPr>
                </a:tc>
                <a:tc>
                  <a:txBody>
                    <a:bodyPr/>
                    <a:lstStyle/>
                    <a:p>
                      <a:pPr algn="r"/>
                      <a:r>
                        <a:rPr sz="900" b="0">
                          <a:solidFill>
                            <a:srgbClr val="5C6675"/>
                          </a:solidFill>
                          <a:latin typeface="Consolas"/>
                        </a:rPr>
                        <a:t>0.006</a:t>
                      </a:r>
                    </a:p>
                  </a:txBody>
                  <a:tcPr marL="54864" marR="54864" marT="22860" marB="22860" anchor="ctr">
                    <a:solidFill>
                      <a:srgbClr val="FFFFFF"/>
                    </a:solidFill>
                  </a:tcPr>
                </a:tc>
                <a:tc>
                  <a:txBody>
                    <a:bodyPr/>
                    <a:lstStyle/>
                    <a:p>
                      <a:pPr algn="r"/>
                      <a:r>
                        <a:rPr sz="900" b="0">
                          <a:solidFill>
                            <a:srgbClr val="5C6675"/>
                          </a:solidFill>
                          <a:latin typeface="Consolas"/>
                        </a:rPr>
                        <a:t>0.026</a:t>
                      </a:r>
                    </a:p>
                  </a:txBody>
                  <a:tcPr marL="54864" marR="54864" marT="22860" marB="22860" anchor="ctr">
                    <a:solidFill>
                      <a:srgbClr val="FFFFFF"/>
                    </a:solidFill>
                  </a:tcPr>
                </a:tc>
                <a:tc>
                  <a:txBody>
                    <a:bodyPr/>
                    <a:lstStyle/>
                    <a:p>
                      <a:pPr algn="r"/>
                      <a:r>
                        <a:rPr sz="900" b="0">
                          <a:solidFill>
                            <a:srgbClr val="5C6675"/>
                          </a:solidFill>
                          <a:latin typeface="Consolas"/>
                        </a:rPr>
                        <a:t>0.096</a:t>
                      </a:r>
                    </a:p>
                  </a:txBody>
                  <a:tcPr marL="54864" marR="54864" marT="22860" marB="22860" anchor="ctr">
                    <a:solidFill>
                      <a:srgbClr val="FFFFFF"/>
                    </a:solidFill>
                  </a:tcPr>
                </a:tc>
                <a:extLst>
                  <a:ext uri="{0D108BD9-81ED-4DB2-BD59-A6C34878D82A}">
                    <a16:rowId xmlns:a16="http://schemas.microsoft.com/office/drawing/2014/main" val="10009"/>
                  </a:ext>
                </a:extLst>
              </a:tr>
            </a:tbl>
          </a:graphicData>
        </a:graphic>
      </p:graphicFrame>
      <p:graphicFrame>
        <p:nvGraphicFramePr>
          <p:cNvPr id="8" name="Table 7"/>
          <p:cNvGraphicFramePr>
            <a:graphicFrameLocks noGrp="1"/>
          </p:cNvGraphicFramePr>
          <p:nvPr/>
        </p:nvGraphicFramePr>
        <p:xfrm>
          <a:off x="457200" y="3977639"/>
          <a:ext cx="10241280" cy="2263140"/>
        </p:xfrm>
        <a:graphic>
          <a:graphicData uri="http://schemas.openxmlformats.org/drawingml/2006/table">
            <a:tbl>
              <a:tblPr firstRow="1">
                <a:tableStyleId>{5C22544A-7EE6-4342-B048-85BDC9FD1C3A}</a:tableStyleId>
              </a:tblPr>
              <a:tblGrid>
                <a:gridCol w="292608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246888">
                <a:tc>
                  <a:txBody>
                    <a:bodyPr/>
                    <a:lstStyle/>
                    <a:p>
                      <a:pPr algn="l"/>
                      <a:r>
                        <a:rPr sz="900" b="1">
                          <a:solidFill>
                            <a:srgbClr val="FFFFFF"/>
                          </a:solidFill>
                          <a:latin typeface="Segoe UI"/>
                        </a:rPr>
                        <a:t>Log loss</a:t>
                      </a:r>
                    </a:p>
                  </a:txBody>
                  <a:tcPr marL="54864" marR="54864" marT="22860" marB="22860" anchor="ctr">
                    <a:solidFill>
                      <a:srgbClr val="141A2B"/>
                    </a:solidFill>
                  </a:tcPr>
                </a:tc>
                <a:tc>
                  <a:txBody>
                    <a:bodyPr/>
                    <a:lstStyle/>
                    <a:p>
                      <a:pPr algn="r"/>
                      <a:r>
                        <a:rPr sz="900" b="1">
                          <a:solidFill>
                            <a:srgbClr val="FFFFFF"/>
                          </a:solidFill>
                          <a:latin typeface="Segoe UI"/>
                        </a:rPr>
                        <a:t>Q1 Preserve halvings</a:t>
                      </a:r>
                    </a:p>
                  </a:txBody>
                  <a:tcPr marL="54864" marR="54864" marT="22860" marB="22860" anchor="ctr">
                    <a:solidFill>
                      <a:srgbClr val="141A2B"/>
                    </a:solidFill>
                  </a:tcPr>
                </a:tc>
                <a:tc>
                  <a:txBody>
                    <a:bodyPr/>
                    <a:lstStyle/>
                    <a:p>
                      <a:pPr algn="r"/>
                      <a:r>
                        <a:rPr sz="900" b="1">
                          <a:solidFill>
                            <a:srgbClr val="FFFFFF"/>
                          </a:solidFill>
                          <a:latin typeface="Segoe UI"/>
                        </a:rPr>
                        <a:t>Q2 February 2031</a:t>
                      </a:r>
                    </a:p>
                  </a:txBody>
                  <a:tcPr marL="54864" marR="54864" marT="22860" marB="22860" anchor="ctr">
                    <a:solidFill>
                      <a:srgbClr val="141A2B"/>
                    </a:solidFill>
                  </a:tcPr>
                </a:tc>
                <a:tc>
                  <a:txBody>
                    <a:bodyPr/>
                    <a:lstStyle/>
                    <a:p>
                      <a:pPr algn="r"/>
                      <a:r>
                        <a:rPr sz="900" b="1">
                          <a:solidFill>
                            <a:srgbClr val="FFFFFF"/>
                          </a:solidFill>
                          <a:latin typeface="Segoe UI"/>
                        </a:rPr>
                        <a:t>Q3 Immediately</a:t>
                      </a:r>
                    </a:p>
                  </a:txBody>
                  <a:tcPr marL="54864" marR="54864" marT="22860" marB="22860" anchor="ctr">
                    <a:solidFill>
                      <a:srgbClr val="141A2B"/>
                    </a:solidFill>
                  </a:tcPr>
                </a:tc>
                <a:tc>
                  <a:txBody>
                    <a:bodyPr/>
                    <a:lstStyle/>
                    <a:p>
                      <a:pPr algn="r"/>
                      <a:r>
                        <a:rPr sz="900" b="1">
                          <a:solidFill>
                            <a:srgbClr val="FFFFFF"/>
                          </a:solidFill>
                          <a:latin typeface="Segoe UI"/>
                        </a:rPr>
                        <a:t>Q4 Yes</a:t>
                      </a:r>
                    </a:p>
                  </a:txBody>
                  <a:tcPr marL="54864" marR="54864" marT="22860" marB="22860" anchor="ctr">
                    <a:solidFill>
                      <a:srgbClr val="141A2B"/>
                    </a:solidFill>
                  </a:tcPr>
                </a:tc>
                <a:tc>
                  <a:txBody>
                    <a:bodyPr/>
                    <a:lstStyle/>
                    <a:p>
                      <a:pPr algn="r"/>
                      <a:r>
                        <a:rPr sz="900" b="1">
                          <a:solidFill>
                            <a:srgbClr val="FFFFFF"/>
                          </a:solidFill>
                          <a:latin typeface="Segoe UI"/>
                        </a:rPr>
                        <a:t>Q5 Ship NU7 asap</a:t>
                      </a:r>
                    </a:p>
                  </a:txBody>
                  <a:tcPr marL="54864" marR="54864" marT="22860" marB="22860" anchor="ctr">
                    <a:solidFill>
                      <a:srgbClr val="141A2B"/>
                    </a:solidFill>
                  </a:tcPr>
                </a:tc>
                <a:tc>
                  <a:txBody>
                    <a:bodyPr/>
                    <a:lstStyle/>
                    <a:p>
                      <a:pPr algn="r"/>
                      <a:r>
                        <a:rPr sz="900" b="1">
                          <a:solidFill>
                            <a:srgbClr val="FFFFFF"/>
                          </a:solidFill>
                          <a:latin typeface="Segoe UI"/>
                        </a:rPr>
                        <a:t>Mean</a:t>
                      </a:r>
                    </a:p>
                  </a:txBody>
                  <a:tcPr marL="54864" marR="54864" marT="22860" marB="22860" anchor="ctr">
                    <a:solidFill>
                      <a:srgbClr val="141A2B"/>
                    </a:solidFill>
                  </a:tcPr>
                </a:tc>
                <a:extLst>
                  <a:ext uri="{0D108BD9-81ED-4DB2-BD59-A6C34878D82A}">
                    <a16:rowId xmlns:a16="http://schemas.microsoft.com/office/drawing/2014/main" val="10000"/>
                  </a:ext>
                </a:extLst>
              </a:tr>
              <a:tr h="224028">
                <a:tc>
                  <a:txBody>
                    <a:bodyPr/>
                    <a:lstStyle/>
                    <a:p>
                      <a:pPr algn="l"/>
                      <a:r>
                        <a:rPr sz="900" b="0">
                          <a:solidFill>
                            <a:srgbClr val="C4552A"/>
                          </a:solidFill>
                          <a:latin typeface="Segoe UI"/>
                        </a:rPr>
                        <a:t>Claude Fable 5.1</a:t>
                      </a:r>
                    </a:p>
                  </a:txBody>
                  <a:tcPr marL="54864" marR="54864" marT="22860" marB="22860" anchor="ctr">
                    <a:solidFill>
                      <a:srgbClr val="FFFFFF"/>
                    </a:solidFill>
                  </a:tcPr>
                </a:tc>
                <a:tc>
                  <a:txBody>
                    <a:bodyPr/>
                    <a:lstStyle/>
                    <a:p>
                      <a:pPr algn="r"/>
                      <a:r>
                        <a:rPr sz="900" b="0">
                          <a:solidFill>
                            <a:srgbClr val="171C26"/>
                          </a:solidFill>
                          <a:latin typeface="Consolas"/>
                        </a:rPr>
                        <a:t>0.322</a:t>
                      </a:r>
                    </a:p>
                  </a:txBody>
                  <a:tcPr marL="54864" marR="54864" marT="22860" marB="22860" anchor="ctr">
                    <a:solidFill>
                      <a:srgbClr val="FFFFFF"/>
                    </a:solidFill>
                  </a:tcPr>
                </a:tc>
                <a:tc>
                  <a:txBody>
                    <a:bodyPr/>
                    <a:lstStyle/>
                    <a:p>
                      <a:pPr algn="r"/>
                      <a:r>
                        <a:rPr sz="900" b="0">
                          <a:solidFill>
                            <a:srgbClr val="171C26"/>
                          </a:solidFill>
                          <a:latin typeface="Consolas"/>
                        </a:rPr>
                        <a:t>0.411</a:t>
                      </a:r>
                    </a:p>
                  </a:txBody>
                  <a:tcPr marL="54864" marR="54864" marT="22860" marB="22860" anchor="ctr">
                    <a:solidFill>
                      <a:srgbClr val="FFFFFF"/>
                    </a:solidFill>
                  </a:tcPr>
                </a:tc>
                <a:tc>
                  <a:txBody>
                    <a:bodyPr/>
                    <a:lstStyle/>
                    <a:p>
                      <a:pPr algn="r"/>
                      <a:r>
                        <a:rPr sz="900" b="0">
                          <a:solidFill>
                            <a:srgbClr val="171C26"/>
                          </a:solidFill>
                          <a:latin typeface="Consolas"/>
                        </a:rPr>
                        <a:t>0.673</a:t>
                      </a:r>
                    </a:p>
                  </a:txBody>
                  <a:tcPr marL="54864" marR="54864" marT="22860" marB="22860" anchor="ctr">
                    <a:solidFill>
                      <a:srgbClr val="FFFFFF"/>
                    </a:solidFill>
                  </a:tcPr>
                </a:tc>
                <a:tc>
                  <a:txBody>
                    <a:bodyPr/>
                    <a:lstStyle/>
                    <a:p>
                      <a:pPr algn="r"/>
                      <a:r>
                        <a:rPr sz="900" b="0">
                          <a:solidFill>
                            <a:srgbClr val="171C26"/>
                          </a:solidFill>
                          <a:latin typeface="Consolas"/>
                        </a:rPr>
                        <a:t>0.085</a:t>
                      </a:r>
                    </a:p>
                  </a:txBody>
                  <a:tcPr marL="54864" marR="54864" marT="22860" marB="22860" anchor="ctr">
                    <a:solidFill>
                      <a:srgbClr val="FFFFFF"/>
                    </a:solidFill>
                  </a:tcPr>
                </a:tc>
                <a:tc>
                  <a:txBody>
                    <a:bodyPr/>
                    <a:lstStyle/>
                    <a:p>
                      <a:pPr algn="r"/>
                      <a:r>
                        <a:rPr sz="900" b="0">
                          <a:solidFill>
                            <a:srgbClr val="171C26"/>
                          </a:solidFill>
                          <a:latin typeface="Consolas"/>
                        </a:rPr>
                        <a:t>0.203</a:t>
                      </a:r>
                    </a:p>
                  </a:txBody>
                  <a:tcPr marL="54864" marR="54864" marT="22860" marB="22860" anchor="ctr">
                    <a:solidFill>
                      <a:srgbClr val="FFFFFF"/>
                    </a:solidFill>
                  </a:tcPr>
                </a:tc>
                <a:tc>
                  <a:txBody>
                    <a:bodyPr/>
                    <a:lstStyle/>
                    <a:p>
                      <a:pPr algn="r"/>
                      <a:r>
                        <a:rPr sz="900" b="0">
                          <a:solidFill>
                            <a:srgbClr val="171C26"/>
                          </a:solidFill>
                          <a:latin typeface="Consolas"/>
                        </a:rPr>
                        <a:t>0.339</a:t>
                      </a:r>
                    </a:p>
                  </a:txBody>
                  <a:tcPr marL="54864" marR="54864" marT="22860" marB="22860" anchor="ctr">
                    <a:solidFill>
                      <a:srgbClr val="FFFFFF"/>
                    </a:solidFill>
                  </a:tcPr>
                </a:tc>
                <a:extLst>
                  <a:ext uri="{0D108BD9-81ED-4DB2-BD59-A6C34878D82A}">
                    <a16:rowId xmlns:a16="http://schemas.microsoft.com/office/drawing/2014/main" val="10001"/>
                  </a:ext>
                </a:extLst>
              </a:tr>
              <a:tr h="224028">
                <a:tc>
                  <a:txBody>
                    <a:bodyPr/>
                    <a:lstStyle/>
                    <a:p>
                      <a:pPr algn="l"/>
                      <a:r>
                        <a:rPr sz="900" b="0">
                          <a:solidFill>
                            <a:srgbClr val="7A2E8C"/>
                          </a:solidFill>
                          <a:latin typeface="Segoe UI"/>
                        </a:rPr>
                        <a:t>Claude Opus 5</a:t>
                      </a:r>
                    </a:p>
                  </a:txBody>
                  <a:tcPr marL="54864" marR="54864" marT="22860" marB="22860" anchor="ctr">
                    <a:solidFill>
                      <a:srgbClr val="EEF0F3"/>
                    </a:solidFill>
                  </a:tcPr>
                </a:tc>
                <a:tc>
                  <a:txBody>
                    <a:bodyPr/>
                    <a:lstStyle/>
                    <a:p>
                      <a:pPr algn="r"/>
                      <a:r>
                        <a:rPr sz="900" b="0">
                          <a:solidFill>
                            <a:srgbClr val="171C26"/>
                          </a:solidFill>
                          <a:latin typeface="Consolas"/>
                        </a:rPr>
                        <a:t>0.318</a:t>
                      </a:r>
                    </a:p>
                  </a:txBody>
                  <a:tcPr marL="54864" marR="54864" marT="22860" marB="22860" anchor="ctr">
                    <a:solidFill>
                      <a:srgbClr val="EEF0F3"/>
                    </a:solidFill>
                  </a:tcPr>
                </a:tc>
                <a:tc>
                  <a:txBody>
                    <a:bodyPr/>
                    <a:lstStyle/>
                    <a:p>
                      <a:pPr algn="r"/>
                      <a:r>
                        <a:rPr sz="900" b="0">
                          <a:solidFill>
                            <a:srgbClr val="171C26"/>
                          </a:solidFill>
                          <a:latin typeface="Consolas"/>
                        </a:rPr>
                        <a:t>0.188</a:t>
                      </a:r>
                    </a:p>
                  </a:txBody>
                  <a:tcPr marL="54864" marR="54864" marT="22860" marB="22860" anchor="ctr">
                    <a:solidFill>
                      <a:srgbClr val="EEF0F3"/>
                    </a:solidFill>
                  </a:tcPr>
                </a:tc>
                <a:tc>
                  <a:txBody>
                    <a:bodyPr/>
                    <a:lstStyle/>
                    <a:p>
                      <a:pPr algn="r"/>
                      <a:r>
                        <a:rPr sz="900" b="0">
                          <a:solidFill>
                            <a:srgbClr val="171C26"/>
                          </a:solidFill>
                          <a:latin typeface="Consolas"/>
                        </a:rPr>
                        <a:t>0.251</a:t>
                      </a:r>
                    </a:p>
                  </a:txBody>
                  <a:tcPr marL="54864" marR="54864" marT="22860" marB="22860" anchor="ctr">
                    <a:solidFill>
                      <a:srgbClr val="EEF0F3"/>
                    </a:solidFill>
                  </a:tcPr>
                </a:tc>
                <a:tc>
                  <a:txBody>
                    <a:bodyPr/>
                    <a:lstStyle/>
                    <a:p>
                      <a:pPr algn="r"/>
                      <a:r>
                        <a:rPr sz="900" b="0">
                          <a:solidFill>
                            <a:srgbClr val="171C26"/>
                          </a:solidFill>
                          <a:latin typeface="Consolas"/>
                        </a:rPr>
                        <a:t>0.031</a:t>
                      </a:r>
                    </a:p>
                  </a:txBody>
                  <a:tcPr marL="54864" marR="54864" marT="22860" marB="22860" anchor="ctr">
                    <a:solidFill>
                      <a:srgbClr val="EEF0F3"/>
                    </a:solidFill>
                  </a:tcPr>
                </a:tc>
                <a:tc>
                  <a:txBody>
                    <a:bodyPr/>
                    <a:lstStyle/>
                    <a:p>
                      <a:pPr algn="r"/>
                      <a:r>
                        <a:rPr sz="900" b="0">
                          <a:solidFill>
                            <a:srgbClr val="171C26"/>
                          </a:solidFill>
                          <a:latin typeface="Consolas"/>
                        </a:rPr>
                        <a:t>0.106</a:t>
                      </a:r>
                    </a:p>
                  </a:txBody>
                  <a:tcPr marL="54864" marR="54864" marT="22860" marB="22860" anchor="ctr">
                    <a:solidFill>
                      <a:srgbClr val="EEF0F3"/>
                    </a:solidFill>
                  </a:tcPr>
                </a:tc>
                <a:tc>
                  <a:txBody>
                    <a:bodyPr/>
                    <a:lstStyle/>
                    <a:p>
                      <a:pPr algn="r"/>
                      <a:r>
                        <a:rPr sz="900" b="0">
                          <a:solidFill>
                            <a:srgbClr val="171C26"/>
                          </a:solidFill>
                          <a:latin typeface="Consolas"/>
                        </a:rPr>
                        <a:t>0.179</a:t>
                      </a:r>
                    </a:p>
                  </a:txBody>
                  <a:tcPr marL="54864" marR="54864" marT="22860" marB="22860" anchor="ctr">
                    <a:solidFill>
                      <a:srgbClr val="EEF0F3"/>
                    </a:solidFill>
                  </a:tcPr>
                </a:tc>
                <a:extLst>
                  <a:ext uri="{0D108BD9-81ED-4DB2-BD59-A6C34878D82A}">
                    <a16:rowId xmlns:a16="http://schemas.microsoft.com/office/drawing/2014/main" val="10002"/>
                  </a:ext>
                </a:extLst>
              </a:tr>
              <a:tr h="224028">
                <a:tc>
                  <a:txBody>
                    <a:bodyPr/>
                    <a:lstStyle/>
                    <a:p>
                      <a:pPr algn="l"/>
                      <a:r>
                        <a:rPr sz="900" b="0">
                          <a:solidFill>
                            <a:srgbClr val="1B7F63"/>
                          </a:solidFill>
                          <a:latin typeface="Segoe UI"/>
                        </a:rPr>
                        <a:t>GPT-6 Astra</a:t>
                      </a:r>
                    </a:p>
                  </a:txBody>
                  <a:tcPr marL="54864" marR="54864" marT="22860" marB="22860" anchor="ctr">
                    <a:solidFill>
                      <a:srgbClr val="FFFFFF"/>
                    </a:solidFill>
                  </a:tcPr>
                </a:tc>
                <a:tc>
                  <a:txBody>
                    <a:bodyPr/>
                    <a:lstStyle/>
                    <a:p>
                      <a:pPr algn="r"/>
                      <a:r>
                        <a:rPr sz="900" b="0">
                          <a:solidFill>
                            <a:srgbClr val="171C26"/>
                          </a:solidFill>
                          <a:latin typeface="Consolas"/>
                        </a:rPr>
                        <a:t>0.305</a:t>
                      </a:r>
                    </a:p>
                  </a:txBody>
                  <a:tcPr marL="54864" marR="54864" marT="22860" marB="22860" anchor="ctr">
                    <a:solidFill>
                      <a:srgbClr val="FFFFFF"/>
                    </a:solidFill>
                  </a:tcPr>
                </a:tc>
                <a:tc>
                  <a:txBody>
                    <a:bodyPr/>
                    <a:lstStyle/>
                    <a:p>
                      <a:pPr algn="r"/>
                      <a:r>
                        <a:rPr sz="900" b="0">
                          <a:solidFill>
                            <a:srgbClr val="171C26"/>
                          </a:solidFill>
                          <a:latin typeface="Consolas"/>
                        </a:rPr>
                        <a:t>0.379</a:t>
                      </a:r>
                    </a:p>
                  </a:txBody>
                  <a:tcPr marL="54864" marR="54864" marT="22860" marB="22860" anchor="ctr">
                    <a:solidFill>
                      <a:srgbClr val="FFFFFF"/>
                    </a:solidFill>
                  </a:tcPr>
                </a:tc>
                <a:tc>
                  <a:txBody>
                    <a:bodyPr/>
                    <a:lstStyle/>
                    <a:p>
                      <a:pPr algn="r"/>
                      <a:r>
                        <a:rPr sz="900" b="0">
                          <a:solidFill>
                            <a:srgbClr val="171C26"/>
                          </a:solidFill>
                          <a:latin typeface="Consolas"/>
                        </a:rPr>
                        <a:t>0.460</a:t>
                      </a:r>
                    </a:p>
                  </a:txBody>
                  <a:tcPr marL="54864" marR="54864" marT="22860" marB="22860" anchor="ctr">
                    <a:solidFill>
                      <a:srgbClr val="FFFFFF"/>
                    </a:solidFill>
                  </a:tcPr>
                </a:tc>
                <a:tc>
                  <a:txBody>
                    <a:bodyPr/>
                    <a:lstStyle/>
                    <a:p>
                      <a:pPr algn="r"/>
                      <a:r>
                        <a:rPr sz="900" b="0">
                          <a:solidFill>
                            <a:srgbClr val="171C26"/>
                          </a:solidFill>
                          <a:latin typeface="Consolas"/>
                        </a:rPr>
                        <a:t>0.053</a:t>
                      </a:r>
                    </a:p>
                  </a:txBody>
                  <a:tcPr marL="54864" marR="54864" marT="22860" marB="22860" anchor="ctr">
                    <a:solidFill>
                      <a:srgbClr val="FFFFFF"/>
                    </a:solidFill>
                  </a:tcPr>
                </a:tc>
                <a:tc>
                  <a:txBody>
                    <a:bodyPr/>
                    <a:lstStyle/>
                    <a:p>
                      <a:pPr algn="r"/>
                      <a:r>
                        <a:rPr sz="900" b="0">
                          <a:solidFill>
                            <a:srgbClr val="171C26"/>
                          </a:solidFill>
                          <a:latin typeface="Consolas"/>
                        </a:rPr>
                        <a:t>0.111</a:t>
                      </a:r>
                    </a:p>
                  </a:txBody>
                  <a:tcPr marL="54864" marR="54864" marT="22860" marB="22860" anchor="ctr">
                    <a:solidFill>
                      <a:srgbClr val="FFFFFF"/>
                    </a:solidFill>
                  </a:tcPr>
                </a:tc>
                <a:tc>
                  <a:txBody>
                    <a:bodyPr/>
                    <a:lstStyle/>
                    <a:p>
                      <a:pPr algn="r"/>
                      <a:r>
                        <a:rPr sz="900" b="0">
                          <a:solidFill>
                            <a:srgbClr val="171C26"/>
                          </a:solidFill>
                          <a:latin typeface="Consolas"/>
                        </a:rPr>
                        <a:t>0.262</a:t>
                      </a:r>
                    </a:p>
                  </a:txBody>
                  <a:tcPr marL="54864" marR="54864" marT="22860" marB="22860" anchor="ctr">
                    <a:solidFill>
                      <a:srgbClr val="FFFFFF"/>
                    </a:solidFill>
                  </a:tcPr>
                </a:tc>
                <a:extLst>
                  <a:ext uri="{0D108BD9-81ED-4DB2-BD59-A6C34878D82A}">
                    <a16:rowId xmlns:a16="http://schemas.microsoft.com/office/drawing/2014/main" val="10003"/>
                  </a:ext>
                </a:extLst>
              </a:tr>
              <a:tr h="224028">
                <a:tc>
                  <a:txBody>
                    <a:bodyPr/>
                    <a:lstStyle/>
                    <a:p>
                      <a:pPr algn="l"/>
                      <a:r>
                        <a:rPr sz="900" b="0">
                          <a:solidFill>
                            <a:srgbClr val="2F6FD6"/>
                          </a:solidFill>
                          <a:latin typeface="Segoe UI"/>
                        </a:rPr>
                        <a:t>GPT-5.6 Sol</a:t>
                      </a:r>
                    </a:p>
                  </a:txBody>
                  <a:tcPr marL="54864" marR="54864" marT="22860" marB="22860" anchor="ctr">
                    <a:solidFill>
                      <a:srgbClr val="EEF0F3"/>
                    </a:solidFill>
                  </a:tcPr>
                </a:tc>
                <a:tc>
                  <a:txBody>
                    <a:bodyPr/>
                    <a:lstStyle/>
                    <a:p>
                      <a:pPr algn="r"/>
                      <a:r>
                        <a:rPr sz="900" b="0">
                          <a:solidFill>
                            <a:srgbClr val="171C26"/>
                          </a:solidFill>
                          <a:latin typeface="Consolas"/>
                        </a:rPr>
                        <a:t>0.442</a:t>
                      </a:r>
                    </a:p>
                  </a:txBody>
                  <a:tcPr marL="54864" marR="54864" marT="22860" marB="22860" anchor="ctr">
                    <a:solidFill>
                      <a:srgbClr val="EEF0F3"/>
                    </a:solidFill>
                  </a:tcPr>
                </a:tc>
                <a:tc>
                  <a:txBody>
                    <a:bodyPr/>
                    <a:lstStyle/>
                    <a:p>
                      <a:pPr algn="r"/>
                      <a:r>
                        <a:rPr sz="900" b="0">
                          <a:solidFill>
                            <a:srgbClr val="171C26"/>
                          </a:solidFill>
                          <a:latin typeface="Consolas"/>
                        </a:rPr>
                        <a:t>0.326</a:t>
                      </a:r>
                    </a:p>
                  </a:txBody>
                  <a:tcPr marL="54864" marR="54864" marT="22860" marB="22860" anchor="ctr">
                    <a:solidFill>
                      <a:srgbClr val="EEF0F3"/>
                    </a:solidFill>
                  </a:tcPr>
                </a:tc>
                <a:tc>
                  <a:txBody>
                    <a:bodyPr/>
                    <a:lstStyle/>
                    <a:p>
                      <a:pPr algn="r"/>
                      <a:r>
                        <a:rPr sz="900" b="0">
                          <a:solidFill>
                            <a:srgbClr val="171C26"/>
                          </a:solidFill>
                          <a:latin typeface="Consolas"/>
                        </a:rPr>
                        <a:t>0.604</a:t>
                      </a:r>
                    </a:p>
                  </a:txBody>
                  <a:tcPr marL="54864" marR="54864" marT="22860" marB="22860" anchor="ctr">
                    <a:solidFill>
                      <a:srgbClr val="EEF0F3"/>
                    </a:solidFill>
                  </a:tcPr>
                </a:tc>
                <a:tc>
                  <a:txBody>
                    <a:bodyPr/>
                    <a:lstStyle/>
                    <a:p>
                      <a:pPr algn="r"/>
                      <a:r>
                        <a:rPr sz="900" b="0">
                          <a:solidFill>
                            <a:srgbClr val="171C26"/>
                          </a:solidFill>
                          <a:latin typeface="Consolas"/>
                        </a:rPr>
                        <a:t>0.031</a:t>
                      </a:r>
                    </a:p>
                  </a:txBody>
                  <a:tcPr marL="54864" marR="54864" marT="22860" marB="22860" anchor="ctr">
                    <a:solidFill>
                      <a:srgbClr val="EEF0F3"/>
                    </a:solidFill>
                  </a:tcPr>
                </a:tc>
                <a:tc>
                  <a:txBody>
                    <a:bodyPr/>
                    <a:lstStyle/>
                    <a:p>
                      <a:pPr algn="r"/>
                      <a:r>
                        <a:rPr sz="900" b="0">
                          <a:solidFill>
                            <a:srgbClr val="171C26"/>
                          </a:solidFill>
                          <a:latin typeface="Consolas"/>
                        </a:rPr>
                        <a:t>0.132</a:t>
                      </a:r>
                    </a:p>
                  </a:txBody>
                  <a:tcPr marL="54864" marR="54864" marT="22860" marB="22860" anchor="ctr">
                    <a:solidFill>
                      <a:srgbClr val="EEF0F3"/>
                    </a:solidFill>
                  </a:tcPr>
                </a:tc>
                <a:tc>
                  <a:txBody>
                    <a:bodyPr/>
                    <a:lstStyle/>
                    <a:p>
                      <a:pPr algn="r"/>
                      <a:r>
                        <a:rPr sz="900" b="0">
                          <a:solidFill>
                            <a:srgbClr val="171C26"/>
                          </a:solidFill>
                          <a:latin typeface="Consolas"/>
                        </a:rPr>
                        <a:t>0.307</a:t>
                      </a:r>
                    </a:p>
                  </a:txBody>
                  <a:tcPr marL="54864" marR="54864" marT="22860" marB="22860" anchor="ctr">
                    <a:solidFill>
                      <a:srgbClr val="EEF0F3"/>
                    </a:solidFill>
                  </a:tcPr>
                </a:tc>
                <a:extLst>
                  <a:ext uri="{0D108BD9-81ED-4DB2-BD59-A6C34878D82A}">
                    <a16:rowId xmlns:a16="http://schemas.microsoft.com/office/drawing/2014/main" val="10004"/>
                  </a:ext>
                </a:extLst>
              </a:tr>
              <a:tr h="224028">
                <a:tc>
                  <a:txBody>
                    <a:bodyPr/>
                    <a:lstStyle/>
                    <a:p>
                      <a:pPr algn="l"/>
                      <a:r>
                        <a:rPr sz="900" b="0">
                          <a:solidFill>
                            <a:srgbClr val="171C26"/>
                          </a:solidFill>
                          <a:latin typeface="Segoe UI"/>
                        </a:rPr>
                        <a:t>Mean of the four agents</a:t>
                      </a:r>
                    </a:p>
                  </a:txBody>
                  <a:tcPr marL="54864" marR="54864" marT="22860" marB="22860" anchor="ctr">
                    <a:solidFill>
                      <a:srgbClr val="FFFFFF"/>
                    </a:solidFill>
                  </a:tcPr>
                </a:tc>
                <a:tc>
                  <a:txBody>
                    <a:bodyPr/>
                    <a:lstStyle/>
                    <a:p>
                      <a:pPr algn="r"/>
                      <a:r>
                        <a:rPr sz="900" b="0">
                          <a:solidFill>
                            <a:srgbClr val="171C26"/>
                          </a:solidFill>
                          <a:latin typeface="Consolas"/>
                        </a:rPr>
                        <a:t>0.346</a:t>
                      </a:r>
                    </a:p>
                  </a:txBody>
                  <a:tcPr marL="54864" marR="54864" marT="22860" marB="22860" anchor="ctr">
                    <a:solidFill>
                      <a:srgbClr val="FFFFFF"/>
                    </a:solidFill>
                  </a:tcPr>
                </a:tc>
                <a:tc>
                  <a:txBody>
                    <a:bodyPr/>
                    <a:lstStyle/>
                    <a:p>
                      <a:pPr algn="r"/>
                      <a:r>
                        <a:rPr sz="900" b="0">
                          <a:solidFill>
                            <a:srgbClr val="171C26"/>
                          </a:solidFill>
                          <a:latin typeface="Consolas"/>
                        </a:rPr>
                        <a:t>0.322</a:t>
                      </a:r>
                    </a:p>
                  </a:txBody>
                  <a:tcPr marL="54864" marR="54864" marT="22860" marB="22860" anchor="ctr">
                    <a:solidFill>
                      <a:srgbClr val="FFFFFF"/>
                    </a:solidFill>
                  </a:tcPr>
                </a:tc>
                <a:tc>
                  <a:txBody>
                    <a:bodyPr/>
                    <a:lstStyle/>
                    <a:p>
                      <a:pPr algn="r"/>
                      <a:r>
                        <a:rPr sz="900" b="0">
                          <a:solidFill>
                            <a:srgbClr val="171C26"/>
                          </a:solidFill>
                          <a:latin typeface="Consolas"/>
                        </a:rPr>
                        <a:t>0.484</a:t>
                      </a:r>
                    </a:p>
                  </a:txBody>
                  <a:tcPr marL="54864" marR="54864" marT="22860" marB="22860" anchor="ctr">
                    <a:solidFill>
                      <a:srgbClr val="FFFFFF"/>
                    </a:solidFill>
                  </a:tcPr>
                </a:tc>
                <a:tc>
                  <a:txBody>
                    <a:bodyPr/>
                    <a:lstStyle/>
                    <a:p>
                      <a:pPr algn="r"/>
                      <a:r>
                        <a:rPr sz="900" b="0">
                          <a:solidFill>
                            <a:srgbClr val="171C26"/>
                          </a:solidFill>
                          <a:latin typeface="Consolas"/>
                        </a:rPr>
                        <a:t>0.050</a:t>
                      </a:r>
                    </a:p>
                  </a:txBody>
                  <a:tcPr marL="54864" marR="54864" marT="22860" marB="22860" anchor="ctr">
                    <a:solidFill>
                      <a:srgbClr val="FFFFFF"/>
                    </a:solidFill>
                  </a:tcPr>
                </a:tc>
                <a:tc>
                  <a:txBody>
                    <a:bodyPr/>
                    <a:lstStyle/>
                    <a:p>
                      <a:pPr algn="r"/>
                      <a:r>
                        <a:rPr sz="900" b="0">
                          <a:solidFill>
                            <a:srgbClr val="171C26"/>
                          </a:solidFill>
                          <a:latin typeface="Consolas"/>
                        </a:rPr>
                        <a:t>0.137</a:t>
                      </a:r>
                    </a:p>
                  </a:txBody>
                  <a:tcPr marL="54864" marR="54864" marT="22860" marB="22860" anchor="ctr">
                    <a:solidFill>
                      <a:srgbClr val="FFFFFF"/>
                    </a:solidFill>
                  </a:tcPr>
                </a:tc>
                <a:tc>
                  <a:txBody>
                    <a:bodyPr/>
                    <a:lstStyle/>
                    <a:p>
                      <a:pPr algn="r"/>
                      <a:r>
                        <a:rPr sz="900" b="0">
                          <a:solidFill>
                            <a:srgbClr val="171C26"/>
                          </a:solidFill>
                          <a:latin typeface="Consolas"/>
                        </a:rPr>
                        <a:t>0.268</a:t>
                      </a:r>
                    </a:p>
                  </a:txBody>
                  <a:tcPr marL="54864" marR="54864" marT="22860" marB="22860" anchor="ctr">
                    <a:solidFill>
                      <a:srgbClr val="FFFFFF"/>
                    </a:solidFill>
                  </a:tcPr>
                </a:tc>
                <a:extLst>
                  <a:ext uri="{0D108BD9-81ED-4DB2-BD59-A6C34878D82A}">
                    <a16:rowId xmlns:a16="http://schemas.microsoft.com/office/drawing/2014/main" val="10005"/>
                  </a:ext>
                </a:extLst>
              </a:tr>
              <a:tr h="224028">
                <a:tc>
                  <a:txBody>
                    <a:bodyPr/>
                    <a:lstStyle/>
                    <a:p>
                      <a:pPr algn="l"/>
                      <a:r>
                        <a:rPr sz="900" b="0">
                          <a:solidFill>
                            <a:srgbClr val="171C26"/>
                          </a:solidFill>
                          <a:latin typeface="Segoe UI"/>
                        </a:rPr>
                        <a:t>Base rate: opening price (pool seed)</a:t>
                      </a:r>
                    </a:p>
                  </a:txBody>
                  <a:tcPr marL="54864" marR="54864" marT="22860" marB="22860" anchor="ctr">
                    <a:solidFill>
                      <a:srgbClr val="EEF0F3"/>
                    </a:solidFill>
                  </a:tcPr>
                </a:tc>
                <a:tc>
                  <a:txBody>
                    <a:bodyPr/>
                    <a:lstStyle/>
                    <a:p>
                      <a:pPr algn="r"/>
                      <a:r>
                        <a:rPr sz="900" b="0">
                          <a:solidFill>
                            <a:srgbClr val="171C26"/>
                          </a:solidFill>
                          <a:latin typeface="Consolas"/>
                        </a:rPr>
                        <a:t>0.288</a:t>
                      </a:r>
                    </a:p>
                  </a:txBody>
                  <a:tcPr marL="54864" marR="54864" marT="22860" marB="22860" anchor="ctr">
                    <a:solidFill>
                      <a:srgbClr val="EEF0F3"/>
                    </a:solidFill>
                  </a:tcPr>
                </a:tc>
                <a:tc>
                  <a:txBody>
                    <a:bodyPr/>
                    <a:lstStyle/>
                    <a:p>
                      <a:pPr algn="r"/>
                      <a:r>
                        <a:rPr sz="900" b="0">
                          <a:solidFill>
                            <a:srgbClr val="B83A2E"/>
                          </a:solidFill>
                          <a:latin typeface="Consolas"/>
                        </a:rPr>
                        <a:t>1.204</a:t>
                      </a:r>
                    </a:p>
                  </a:txBody>
                  <a:tcPr marL="54864" marR="54864" marT="22860" marB="22860" anchor="ctr">
                    <a:solidFill>
                      <a:srgbClr val="EEF0F3"/>
                    </a:solidFill>
                  </a:tcPr>
                </a:tc>
                <a:tc>
                  <a:txBody>
                    <a:bodyPr/>
                    <a:lstStyle/>
                    <a:p>
                      <a:pPr algn="r"/>
                      <a:r>
                        <a:rPr sz="900" b="0">
                          <a:solidFill>
                            <a:srgbClr val="B83A2E"/>
                          </a:solidFill>
                          <a:latin typeface="Consolas"/>
                        </a:rPr>
                        <a:t>1.204</a:t>
                      </a:r>
                    </a:p>
                  </a:txBody>
                  <a:tcPr marL="54864" marR="54864" marT="22860" marB="22860" anchor="ctr">
                    <a:solidFill>
                      <a:srgbClr val="EEF0F3"/>
                    </a:solidFill>
                  </a:tcPr>
                </a:tc>
                <a:tc>
                  <a:txBody>
                    <a:bodyPr/>
                    <a:lstStyle/>
                    <a:p>
                      <a:pPr algn="r"/>
                      <a:r>
                        <a:rPr sz="900" b="0">
                          <a:solidFill>
                            <a:srgbClr val="171C26"/>
                          </a:solidFill>
                          <a:latin typeface="Consolas"/>
                        </a:rPr>
                        <a:t>0.105</a:t>
                      </a:r>
                    </a:p>
                  </a:txBody>
                  <a:tcPr marL="54864" marR="54864" marT="22860" marB="22860" anchor="ctr">
                    <a:solidFill>
                      <a:srgbClr val="EEF0F3"/>
                    </a:solidFill>
                  </a:tcPr>
                </a:tc>
                <a:tc>
                  <a:txBody>
                    <a:bodyPr/>
                    <a:lstStyle/>
                    <a:p>
                      <a:pPr algn="r"/>
                      <a:r>
                        <a:rPr sz="900" b="0">
                          <a:solidFill>
                            <a:srgbClr val="171C26"/>
                          </a:solidFill>
                          <a:latin typeface="Consolas"/>
                        </a:rPr>
                        <a:t>0.357</a:t>
                      </a:r>
                    </a:p>
                  </a:txBody>
                  <a:tcPr marL="54864" marR="54864" marT="22860" marB="22860" anchor="ctr">
                    <a:solidFill>
                      <a:srgbClr val="EEF0F3"/>
                    </a:solidFill>
                  </a:tcPr>
                </a:tc>
                <a:tc>
                  <a:txBody>
                    <a:bodyPr/>
                    <a:lstStyle/>
                    <a:p>
                      <a:pPr algn="r"/>
                      <a:r>
                        <a:rPr sz="900" b="0">
                          <a:solidFill>
                            <a:srgbClr val="171C26"/>
                          </a:solidFill>
                          <a:latin typeface="Consolas"/>
                        </a:rPr>
                        <a:t>0.632</a:t>
                      </a:r>
                    </a:p>
                  </a:txBody>
                  <a:tcPr marL="54864" marR="54864" marT="22860" marB="22860" anchor="ctr">
                    <a:solidFill>
                      <a:srgbClr val="EEF0F3"/>
                    </a:solidFill>
                  </a:tcPr>
                </a:tc>
                <a:extLst>
                  <a:ext uri="{0D108BD9-81ED-4DB2-BD59-A6C34878D82A}">
                    <a16:rowId xmlns:a16="http://schemas.microsoft.com/office/drawing/2014/main" val="10006"/>
                  </a:ext>
                </a:extLst>
              </a:tr>
              <a:tr h="224028">
                <a:tc>
                  <a:txBody>
                    <a:bodyPr/>
                    <a:lstStyle/>
                    <a:p>
                      <a:pPr algn="l"/>
                      <a:r>
                        <a:rPr sz="900" b="0">
                          <a:solidFill>
                            <a:srgbClr val="171C26"/>
                          </a:solidFill>
                          <a:latin typeface="Segoe UI"/>
                        </a:rPr>
                        <a:t>Base rate: market before the bots traded</a:t>
                      </a:r>
                    </a:p>
                  </a:txBody>
                  <a:tcPr marL="54864" marR="54864" marT="22860" marB="22860" anchor="ctr">
                    <a:solidFill>
                      <a:srgbClr val="FFFFFF"/>
                    </a:solidFill>
                  </a:tcPr>
                </a:tc>
                <a:tc>
                  <a:txBody>
                    <a:bodyPr/>
                    <a:lstStyle/>
                    <a:p>
                      <a:pPr algn="r"/>
                      <a:r>
                        <a:rPr sz="900" b="0">
                          <a:solidFill>
                            <a:srgbClr val="171C26"/>
                          </a:solidFill>
                          <a:latin typeface="Consolas"/>
                        </a:rPr>
                        <a:t>0.331</a:t>
                      </a:r>
                    </a:p>
                  </a:txBody>
                  <a:tcPr marL="54864" marR="54864" marT="22860" marB="22860" anchor="ctr">
                    <a:solidFill>
                      <a:srgbClr val="FFFFFF"/>
                    </a:solidFill>
                  </a:tcPr>
                </a:tc>
                <a:tc>
                  <a:txBody>
                    <a:bodyPr/>
                    <a:lstStyle/>
                    <a:p>
                      <a:pPr algn="r"/>
                      <a:r>
                        <a:rPr sz="900" b="0">
                          <a:solidFill>
                            <a:srgbClr val="B83A2E"/>
                          </a:solidFill>
                          <a:latin typeface="Consolas"/>
                        </a:rPr>
                        <a:t>1.195</a:t>
                      </a:r>
                    </a:p>
                  </a:txBody>
                  <a:tcPr marL="54864" marR="54864" marT="22860" marB="22860" anchor="ctr">
                    <a:solidFill>
                      <a:srgbClr val="FFFFFF"/>
                    </a:solidFill>
                  </a:tcPr>
                </a:tc>
                <a:tc>
                  <a:txBody>
                    <a:bodyPr/>
                    <a:lstStyle/>
                    <a:p>
                      <a:pPr algn="r"/>
                      <a:r>
                        <a:rPr sz="900" b="0">
                          <a:solidFill>
                            <a:srgbClr val="B83A2E"/>
                          </a:solidFill>
                          <a:latin typeface="Consolas"/>
                        </a:rPr>
                        <a:t>1.259</a:t>
                      </a:r>
                    </a:p>
                  </a:txBody>
                  <a:tcPr marL="54864" marR="54864" marT="22860" marB="22860" anchor="ctr">
                    <a:solidFill>
                      <a:srgbClr val="FFFFFF"/>
                    </a:solidFill>
                  </a:tcPr>
                </a:tc>
                <a:tc>
                  <a:txBody>
                    <a:bodyPr/>
                    <a:lstStyle/>
                    <a:p>
                      <a:pPr algn="r"/>
                      <a:r>
                        <a:rPr sz="900" b="0">
                          <a:solidFill>
                            <a:srgbClr val="171C26"/>
                          </a:solidFill>
                          <a:latin typeface="Consolas"/>
                        </a:rPr>
                        <a:t>0.128</a:t>
                      </a:r>
                    </a:p>
                  </a:txBody>
                  <a:tcPr marL="54864" marR="54864" marT="22860" marB="22860" anchor="ctr">
                    <a:solidFill>
                      <a:srgbClr val="FFFFFF"/>
                    </a:solidFill>
                  </a:tcPr>
                </a:tc>
                <a:tc>
                  <a:txBody>
                    <a:bodyPr/>
                    <a:lstStyle/>
                    <a:p>
                      <a:pPr algn="r"/>
                      <a:r>
                        <a:rPr sz="900" b="0">
                          <a:solidFill>
                            <a:srgbClr val="171C26"/>
                          </a:solidFill>
                          <a:latin typeface="Consolas"/>
                        </a:rPr>
                        <a:t>0.334</a:t>
                      </a:r>
                    </a:p>
                  </a:txBody>
                  <a:tcPr marL="54864" marR="54864" marT="22860" marB="22860" anchor="ctr">
                    <a:solidFill>
                      <a:srgbClr val="FFFFFF"/>
                    </a:solidFill>
                  </a:tcPr>
                </a:tc>
                <a:tc>
                  <a:txBody>
                    <a:bodyPr/>
                    <a:lstStyle/>
                    <a:p>
                      <a:pPr algn="r"/>
                      <a:r>
                        <a:rPr sz="900" b="0">
                          <a:solidFill>
                            <a:srgbClr val="171C26"/>
                          </a:solidFill>
                          <a:latin typeface="Consolas"/>
                        </a:rPr>
                        <a:t>0.649</a:t>
                      </a:r>
                    </a:p>
                  </a:txBody>
                  <a:tcPr marL="54864" marR="54864" marT="22860" marB="22860" anchor="ctr">
                    <a:solidFill>
                      <a:srgbClr val="FFFFFF"/>
                    </a:solidFill>
                  </a:tcPr>
                </a:tc>
                <a:extLst>
                  <a:ext uri="{0D108BD9-81ED-4DB2-BD59-A6C34878D82A}">
                    <a16:rowId xmlns:a16="http://schemas.microsoft.com/office/drawing/2014/main" val="10007"/>
                  </a:ext>
                </a:extLst>
              </a:tr>
              <a:tr h="224028">
                <a:tc>
                  <a:txBody>
                    <a:bodyPr/>
                    <a:lstStyle/>
                    <a:p>
                      <a:pPr algn="l"/>
                      <a:r>
                        <a:rPr sz="900" b="0">
                          <a:solidFill>
                            <a:srgbClr val="171C26"/>
                          </a:solidFill>
                          <a:latin typeface="Segoe UI"/>
                        </a:rPr>
                        <a:t>Market rate: final pool price</a:t>
                      </a:r>
                    </a:p>
                  </a:txBody>
                  <a:tcPr marL="54864" marR="54864" marT="22860" marB="22860" anchor="ctr">
                    <a:solidFill>
                      <a:srgbClr val="EEF0F3"/>
                    </a:solidFill>
                  </a:tcPr>
                </a:tc>
                <a:tc>
                  <a:txBody>
                    <a:bodyPr/>
                    <a:lstStyle/>
                    <a:p>
                      <a:pPr algn="r"/>
                      <a:r>
                        <a:rPr sz="900" b="0">
                          <a:solidFill>
                            <a:srgbClr val="171C26"/>
                          </a:solidFill>
                          <a:latin typeface="Consolas"/>
                        </a:rPr>
                        <a:t>0.328</a:t>
                      </a:r>
                    </a:p>
                  </a:txBody>
                  <a:tcPr marL="54864" marR="54864" marT="22860" marB="22860" anchor="ctr">
                    <a:solidFill>
                      <a:srgbClr val="EEF0F3"/>
                    </a:solidFill>
                  </a:tcPr>
                </a:tc>
                <a:tc>
                  <a:txBody>
                    <a:bodyPr/>
                    <a:lstStyle/>
                    <a:p>
                      <a:pPr algn="r"/>
                      <a:r>
                        <a:rPr sz="900" b="0">
                          <a:solidFill>
                            <a:srgbClr val="B83A2E"/>
                          </a:solidFill>
                          <a:latin typeface="Consolas"/>
                        </a:rPr>
                        <a:t>0.822</a:t>
                      </a:r>
                    </a:p>
                  </a:txBody>
                  <a:tcPr marL="54864" marR="54864" marT="22860" marB="22860" anchor="ctr">
                    <a:solidFill>
                      <a:srgbClr val="EEF0F3"/>
                    </a:solidFill>
                  </a:tcPr>
                </a:tc>
                <a:tc>
                  <a:txBody>
                    <a:bodyPr/>
                    <a:lstStyle/>
                    <a:p>
                      <a:pPr algn="r"/>
                      <a:r>
                        <a:rPr sz="900" b="0">
                          <a:solidFill>
                            <a:srgbClr val="B83A2E"/>
                          </a:solidFill>
                          <a:latin typeface="Consolas"/>
                        </a:rPr>
                        <a:t>1.065</a:t>
                      </a:r>
                    </a:p>
                  </a:txBody>
                  <a:tcPr marL="54864" marR="54864" marT="22860" marB="22860" anchor="ctr">
                    <a:solidFill>
                      <a:srgbClr val="EEF0F3"/>
                    </a:solidFill>
                  </a:tcPr>
                </a:tc>
                <a:tc>
                  <a:txBody>
                    <a:bodyPr/>
                    <a:lstStyle/>
                    <a:p>
                      <a:pPr algn="r"/>
                      <a:r>
                        <a:rPr sz="900" b="0">
                          <a:solidFill>
                            <a:srgbClr val="171C26"/>
                          </a:solidFill>
                          <a:latin typeface="Consolas"/>
                        </a:rPr>
                        <a:t>0.114</a:t>
                      </a:r>
                    </a:p>
                  </a:txBody>
                  <a:tcPr marL="54864" marR="54864" marT="22860" marB="22860" anchor="ctr">
                    <a:solidFill>
                      <a:srgbClr val="EEF0F3"/>
                    </a:solidFill>
                  </a:tcPr>
                </a:tc>
                <a:tc>
                  <a:txBody>
                    <a:bodyPr/>
                    <a:lstStyle/>
                    <a:p>
                      <a:pPr algn="r"/>
                      <a:r>
                        <a:rPr sz="900" b="0">
                          <a:solidFill>
                            <a:srgbClr val="171C26"/>
                          </a:solidFill>
                          <a:latin typeface="Consolas"/>
                        </a:rPr>
                        <a:t>0.282</a:t>
                      </a:r>
                    </a:p>
                  </a:txBody>
                  <a:tcPr marL="54864" marR="54864" marT="22860" marB="22860" anchor="ctr">
                    <a:solidFill>
                      <a:srgbClr val="EEF0F3"/>
                    </a:solidFill>
                  </a:tcPr>
                </a:tc>
                <a:tc>
                  <a:txBody>
                    <a:bodyPr/>
                    <a:lstStyle/>
                    <a:p>
                      <a:pPr algn="r"/>
                      <a:r>
                        <a:rPr sz="900" b="0">
                          <a:solidFill>
                            <a:srgbClr val="171C26"/>
                          </a:solidFill>
                          <a:latin typeface="Consolas"/>
                        </a:rPr>
                        <a:t>0.522</a:t>
                      </a:r>
                    </a:p>
                  </a:txBody>
                  <a:tcPr marL="54864" marR="54864" marT="22860" marB="22860" anchor="ctr">
                    <a:solidFill>
                      <a:srgbClr val="EEF0F3"/>
                    </a:solidFill>
                  </a:tcPr>
                </a:tc>
                <a:extLst>
                  <a:ext uri="{0D108BD9-81ED-4DB2-BD59-A6C34878D82A}">
                    <a16:rowId xmlns:a16="http://schemas.microsoft.com/office/drawing/2014/main" val="10008"/>
                  </a:ext>
                </a:extLst>
              </a:tr>
              <a:tr h="224028">
                <a:tc>
                  <a:txBody>
                    <a:bodyPr/>
                    <a:lstStyle/>
                    <a:p>
                      <a:pPr algn="l"/>
                      <a:r>
                        <a:rPr sz="900" b="0">
                          <a:solidFill>
                            <a:srgbClr val="5C6675"/>
                          </a:solidFill>
                          <a:latin typeface="Segoe UI"/>
                        </a:rPr>
                        <a:t>Reference: live ballot share</a:t>
                      </a:r>
                    </a:p>
                  </a:txBody>
                  <a:tcPr marL="54864" marR="54864" marT="22860" marB="22860" anchor="ctr">
                    <a:solidFill>
                      <a:srgbClr val="FFFFFF"/>
                    </a:solidFill>
                  </a:tcPr>
                </a:tc>
                <a:tc>
                  <a:txBody>
                    <a:bodyPr/>
                    <a:lstStyle/>
                    <a:p>
                      <a:pPr algn="r"/>
                      <a:r>
                        <a:rPr sz="900" b="0">
                          <a:solidFill>
                            <a:srgbClr val="5C6675"/>
                          </a:solidFill>
                          <a:latin typeface="Consolas"/>
                        </a:rPr>
                        <a:t>0.543</a:t>
                      </a:r>
                    </a:p>
                  </a:txBody>
                  <a:tcPr marL="54864" marR="54864" marT="22860" marB="22860" anchor="ctr">
                    <a:solidFill>
                      <a:srgbClr val="FFFFFF"/>
                    </a:solidFill>
                  </a:tcPr>
                </a:tc>
                <a:tc>
                  <a:txBody>
                    <a:bodyPr/>
                    <a:lstStyle/>
                    <a:p>
                      <a:pPr algn="r"/>
                      <a:r>
                        <a:rPr sz="900" b="0">
                          <a:solidFill>
                            <a:srgbClr val="5C6675"/>
                          </a:solidFill>
                          <a:latin typeface="Consolas"/>
                        </a:rPr>
                        <a:t>0.326</a:t>
                      </a:r>
                    </a:p>
                  </a:txBody>
                  <a:tcPr marL="54864" marR="54864" marT="22860" marB="22860" anchor="ctr">
                    <a:solidFill>
                      <a:srgbClr val="FFFFFF"/>
                    </a:solidFill>
                  </a:tcPr>
                </a:tc>
                <a:tc>
                  <a:txBody>
                    <a:bodyPr/>
                    <a:lstStyle/>
                    <a:p>
                      <a:pPr algn="r"/>
                      <a:r>
                        <a:rPr sz="900" b="0">
                          <a:solidFill>
                            <a:srgbClr val="5C6675"/>
                          </a:solidFill>
                          <a:latin typeface="Consolas"/>
                        </a:rPr>
                        <a:t>0.213</a:t>
                      </a:r>
                    </a:p>
                  </a:txBody>
                  <a:tcPr marL="54864" marR="54864" marT="22860" marB="22860" anchor="ctr">
                    <a:solidFill>
                      <a:srgbClr val="FFFFFF"/>
                    </a:solidFill>
                  </a:tcPr>
                </a:tc>
                <a:tc>
                  <a:txBody>
                    <a:bodyPr/>
                    <a:lstStyle/>
                    <a:p>
                      <a:pPr algn="r"/>
                      <a:r>
                        <a:rPr sz="900" b="0">
                          <a:solidFill>
                            <a:srgbClr val="5C6675"/>
                          </a:solidFill>
                          <a:latin typeface="Consolas"/>
                        </a:rPr>
                        <a:t>0.055</a:t>
                      </a:r>
                    </a:p>
                  </a:txBody>
                  <a:tcPr marL="54864" marR="54864" marT="22860" marB="22860" anchor="ctr">
                    <a:solidFill>
                      <a:srgbClr val="FFFFFF"/>
                    </a:solidFill>
                  </a:tcPr>
                </a:tc>
                <a:tc>
                  <a:txBody>
                    <a:bodyPr/>
                    <a:lstStyle/>
                    <a:p>
                      <a:pPr algn="r"/>
                      <a:r>
                        <a:rPr sz="900" b="0">
                          <a:solidFill>
                            <a:srgbClr val="5C6675"/>
                          </a:solidFill>
                          <a:latin typeface="Consolas"/>
                        </a:rPr>
                        <a:t>0.132</a:t>
                      </a:r>
                    </a:p>
                  </a:txBody>
                  <a:tcPr marL="54864" marR="54864" marT="22860" marB="22860" anchor="ctr">
                    <a:solidFill>
                      <a:srgbClr val="FFFFFF"/>
                    </a:solidFill>
                  </a:tcPr>
                </a:tc>
                <a:tc>
                  <a:txBody>
                    <a:bodyPr/>
                    <a:lstStyle/>
                    <a:p>
                      <a:pPr algn="r"/>
                      <a:r>
                        <a:rPr sz="900" b="0">
                          <a:solidFill>
                            <a:srgbClr val="5C6675"/>
                          </a:solidFill>
                          <a:latin typeface="Consolas"/>
                        </a:rPr>
                        <a:t>0.254</a:t>
                      </a:r>
                    </a:p>
                  </a:txBody>
                  <a:tcPr marL="54864" marR="54864" marT="22860" marB="22860" anchor="c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extBox 1"/>
          <p:cNvSpPr txBox="1"/>
          <p:nvPr/>
        </p:nvSpPr>
        <p:spPr>
          <a:xfrm>
            <a:off x="457200" y="320040"/>
            <a:ext cx="11247120" cy="640080"/>
          </a:xfrm>
          <a:prstGeom prst="rect">
            <a:avLst/>
          </a:prstGeom>
          <a:noFill/>
        </p:spPr>
        <p:txBody>
          <a:bodyPr wrap="square" lIns="36576" tIns="18288" rIns="36576" bIns="18288" anchor="t">
            <a:spAutoFit/>
          </a:bodyPr>
          <a:lstStyle/>
          <a:p>
            <a:pPr algn="l">
              <a:spcBef>
                <a:spcPts val="0"/>
              </a:spcBef>
              <a:spcAft>
                <a:spcPts val="0"/>
              </a:spcAft>
            </a:pPr>
            <a:r>
              <a:rPr sz="2600" b="1" i="0">
                <a:solidFill>
                  <a:srgbClr val="171C26"/>
                </a:solidFill>
                <a:latin typeface="Bahnschrift"/>
              </a:rPr>
              <a:t>Appendix · how the numbers were computed</a:t>
            </a:r>
          </a:p>
        </p:txBody>
      </p:sp>
      <p:sp>
        <p:nvSpPr>
          <p:cNvPr id="3" name="Rectangle 2"/>
          <p:cNvSpPr/>
          <p:nvPr/>
        </p:nvSpPr>
        <p:spPr>
          <a:xfrm>
            <a:off x="502920" y="941832"/>
            <a:ext cx="822960" cy="41148"/>
          </a:xfrm>
          <a:prstGeom prst="rect">
            <a:avLst/>
          </a:prstGeom>
          <a:solidFill>
            <a:srgbClr val="D9A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51560"/>
            <a:ext cx="11247120" cy="457200"/>
          </a:xfrm>
          <a:prstGeom prst="rect">
            <a:avLst/>
          </a:prstGeom>
          <a:noFill/>
        </p:spPr>
        <p:txBody>
          <a:bodyPr wrap="square" lIns="36576" tIns="18288" rIns="36576" bIns="18288" anchor="t">
            <a:spAutoFit/>
          </a:bodyPr>
          <a:lstStyle/>
          <a:p>
            <a:pPr algn="l">
              <a:spcBef>
                <a:spcPts val="0"/>
              </a:spcBef>
              <a:spcAft>
                <a:spcPts val="0"/>
              </a:spcAft>
            </a:pPr>
            <a:r>
              <a:rPr sz="1250" b="0" i="0">
                <a:solidFill>
                  <a:srgbClr val="5C6675"/>
                </a:solidFill>
                <a:latin typeface="Segoe UI"/>
              </a:rPr>
              <a:t>Every figure in this deck is recomputed from public data by the scripts in reports/nu7-experiment/.</a:t>
            </a:r>
          </a:p>
        </p:txBody>
      </p:sp>
      <p:sp>
        <p:nvSpPr>
          <p:cNvPr id="5" name="TextBox 4"/>
          <p:cNvSpPr txBox="1"/>
          <p:nvPr/>
        </p:nvSpPr>
        <p:spPr>
          <a:xfrm>
            <a:off x="457200" y="6446520"/>
            <a:ext cx="9144000" cy="274320"/>
          </a:xfrm>
          <a:prstGeom prst="rect">
            <a:avLst/>
          </a:prstGeom>
          <a:noFill/>
        </p:spPr>
        <p:txBody>
          <a:bodyPr wrap="square" lIns="36576" tIns="18288" rIns="36576" bIns="18288" anchor="t">
            <a:spAutoFit/>
          </a:bodyPr>
          <a:lstStyle/>
          <a:p>
            <a:pPr algn="l">
              <a:spcBef>
                <a:spcPts val="0"/>
              </a:spcBef>
              <a:spcAft>
                <a:spcPts val="0"/>
              </a:spcAft>
            </a:pPr>
            <a:r>
              <a:rPr sz="900" b="0" i="0">
                <a:solidFill>
                  <a:srgbClr val="5C6675"/>
                </a:solidFill>
                <a:latin typeface="Segoe UI"/>
              </a:rPr>
              <a:t>NU7 four-model experiment · Seer on Optimism · onchain data as of 15 Sep 2026 08:03 UTC</a:t>
            </a:r>
          </a:p>
        </p:txBody>
      </p:sp>
      <p:sp>
        <p:nvSpPr>
          <p:cNvPr id="6" name="TextBox 5"/>
          <p:cNvSpPr txBox="1"/>
          <p:nvPr/>
        </p:nvSpPr>
        <p:spPr>
          <a:xfrm>
            <a:off x="10972800" y="6446520"/>
            <a:ext cx="777240" cy="274320"/>
          </a:xfrm>
          <a:prstGeom prst="rect">
            <a:avLst/>
          </a:prstGeom>
          <a:noFill/>
        </p:spPr>
        <p:txBody>
          <a:bodyPr wrap="square" lIns="36576" tIns="18288" rIns="36576" bIns="18288" anchor="t">
            <a:spAutoFit/>
          </a:bodyPr>
          <a:lstStyle/>
          <a:p>
            <a:pPr algn="r">
              <a:spcBef>
                <a:spcPts val="0"/>
              </a:spcBef>
              <a:spcAft>
                <a:spcPts val="0"/>
              </a:spcAft>
            </a:pPr>
            <a:r>
              <a:rPr sz="900" b="0" i="0">
                <a:solidFill>
                  <a:srgbClr val="5C6675"/>
                </a:solidFill>
                <a:latin typeface="Segoe UI"/>
              </a:rPr>
              <a:t>22</a:t>
            </a:r>
          </a:p>
        </p:txBody>
      </p:sp>
      <p:sp>
        <p:nvSpPr>
          <p:cNvPr id="7" name="TextBox 6"/>
          <p:cNvSpPr txBox="1"/>
          <p:nvPr/>
        </p:nvSpPr>
        <p:spPr>
          <a:xfrm>
            <a:off x="457200" y="1508760"/>
            <a:ext cx="5486400" cy="4846320"/>
          </a:xfrm>
          <a:prstGeom prst="rect">
            <a:avLst/>
          </a:prstGeom>
          <a:noFill/>
        </p:spPr>
        <p:txBody>
          <a:bodyPr wrap="square" lIns="36576" tIns="18288" rIns="36576" bIns="18288" anchor="t">
            <a:spAutoFit/>
          </a:bodyPr>
          <a:lstStyle/>
          <a:p>
            <a:pPr algn="l">
              <a:lnSpc>
                <a:spcPct val="104000"/>
              </a:lnSpc>
              <a:spcBef>
                <a:spcPts val="0"/>
              </a:spcBef>
              <a:spcAft>
                <a:spcPts val="0"/>
              </a:spcAft>
            </a:pPr>
            <a:r>
              <a:rPr sz="1300" b="1" i="0">
                <a:solidFill>
                  <a:srgbClr val="171C26"/>
                </a:solidFill>
                <a:latin typeface="Bahnschrift"/>
              </a:rPr>
              <a:t>Result</a:t>
            </a:r>
          </a:p>
          <a:p>
            <a:pPr algn="l">
              <a:lnSpc>
                <a:spcPct val="104000"/>
              </a:lnSpc>
              <a:spcBef>
                <a:spcPts val="300"/>
              </a:spcBef>
              <a:spcAft>
                <a:spcPts val="800"/>
              </a:spcAft>
            </a:pPr>
            <a:r>
              <a:rPr sz="1000" b="0" i="0">
                <a:solidFill>
                  <a:srgbClr val="171C26"/>
                </a:solidFill>
                <a:latin typeface="Segoe UI"/>
              </a:rPr>
              <a:t>Decrypted tally from the Valar vote chain (tally-results for the NU7 round); one tally unit is 0.125 ZEC, which reproduces cipherscan.app to the digit. Winner = most ZEC among the non-abstain options. Ballot shares exclude abstentions.</a:t>
            </a:r>
          </a:p>
          <a:p>
            <a:pPr algn="l">
              <a:lnSpc>
                <a:spcPct val="104000"/>
              </a:lnSpc>
              <a:spcBef>
                <a:spcPts val="0"/>
              </a:spcBef>
              <a:spcAft>
                <a:spcPts val="0"/>
              </a:spcAft>
            </a:pPr>
            <a:r>
              <a:rPr sz="1300" b="1" i="0">
                <a:solidFill>
                  <a:srgbClr val="171C26"/>
                </a:solidFill>
                <a:latin typeface="Bahnschrift"/>
              </a:rPr>
              <a:t>Positions, cash and costs</a:t>
            </a:r>
          </a:p>
          <a:p>
            <a:pPr algn="l">
              <a:lnSpc>
                <a:spcPct val="104000"/>
              </a:lnSpc>
              <a:spcBef>
                <a:spcPts val="300"/>
              </a:spcBef>
              <a:spcAft>
                <a:spcPts val="800"/>
              </a:spcAft>
            </a:pPr>
            <a:r>
              <a:rPr sz="1000" b="0" i="0">
                <a:solidFill>
                  <a:srgbClr val="171C26"/>
                </a:solidFill>
                <a:latin typeface="Segoe UI"/>
              </a:rPr>
              <a:t>Outcome-token and sUSDS balances read onchain for each wallet at block 156930288. Each trade's cost is the wallet's sUSDS before minus after in its trade log; for every wallet the costs add up exactly to start cash minus cash now.</a:t>
            </a:r>
          </a:p>
          <a:p>
            <a:pPr algn="l">
              <a:lnSpc>
                <a:spcPct val="104000"/>
              </a:lnSpc>
              <a:spcBef>
                <a:spcPts val="0"/>
              </a:spcBef>
              <a:spcAft>
                <a:spcPts val="0"/>
              </a:spcAft>
            </a:pPr>
            <a:r>
              <a:rPr sz="1300" b="1" i="0">
                <a:solidFill>
                  <a:srgbClr val="171C26"/>
                </a:solidFill>
                <a:latin typeface="Bahnschrift"/>
              </a:rPr>
              <a:t>P&amp;L</a:t>
            </a:r>
          </a:p>
          <a:p>
            <a:pPr algn="l">
              <a:lnSpc>
                <a:spcPct val="104000"/>
              </a:lnSpc>
              <a:spcBef>
                <a:spcPts val="300"/>
              </a:spcBef>
              <a:spcAft>
                <a:spcPts val="800"/>
              </a:spcAft>
            </a:pPr>
            <a:r>
              <a:rPr sz="1000" b="0" i="0">
                <a:solidFill>
                  <a:srgbClr val="171C26"/>
                </a:solidFill>
                <a:latin typeface="Segoe UI"/>
              </a:rPr>
              <a:t>Winning tokens × 1 sUSDS − cost − gas. Gas is L2 execution plus L1 data fee from 61 receipts, converted at the Chainlink ETH/USD price and 1.1096 USDS per sUSDS.</a:t>
            </a:r>
          </a:p>
          <a:p>
            <a:pPr algn="l">
              <a:lnSpc>
                <a:spcPct val="104000"/>
              </a:lnSpc>
              <a:spcBef>
                <a:spcPts val="0"/>
              </a:spcBef>
              <a:spcAft>
                <a:spcPts val="0"/>
              </a:spcAft>
            </a:pPr>
            <a:r>
              <a:rPr sz="1300" b="1" i="0">
                <a:solidFill>
                  <a:srgbClr val="171C26"/>
                </a:solidFill>
                <a:latin typeface="Bahnschrift"/>
              </a:rPr>
              <a:t>Prices</a:t>
            </a:r>
          </a:p>
          <a:p>
            <a:pPr algn="l">
              <a:lnSpc>
                <a:spcPct val="104000"/>
              </a:lnSpc>
              <a:spcBef>
                <a:spcPts val="300"/>
              </a:spcBef>
              <a:spcAft>
                <a:spcPts val="0"/>
              </a:spcAft>
            </a:pPr>
            <a:r>
              <a:rPr sz="1000" b="0" i="0">
                <a:solidFill>
                  <a:srgbClr val="171C26"/>
                </a:solidFill>
                <a:latin typeface="Segoe UI"/>
              </a:rPr>
              <a:t>175 Initialize, Swap, Mint and Burn events on the 14 outcome pools, from creation to block 156930288. A pool's price at any moment is the price after its last swap (or its seed). Market probabilities divide each outcome's price by the sum of the market's prices.</a:t>
            </a:r>
          </a:p>
        </p:txBody>
      </p:sp>
      <p:sp>
        <p:nvSpPr>
          <p:cNvPr id="8" name="TextBox 7"/>
          <p:cNvSpPr txBox="1"/>
          <p:nvPr/>
        </p:nvSpPr>
        <p:spPr>
          <a:xfrm>
            <a:off x="6263640" y="1508760"/>
            <a:ext cx="5486400" cy="4846320"/>
          </a:xfrm>
          <a:prstGeom prst="rect">
            <a:avLst/>
          </a:prstGeom>
          <a:noFill/>
        </p:spPr>
        <p:txBody>
          <a:bodyPr wrap="square" lIns="36576" tIns="18288" rIns="36576" bIns="18288" anchor="t">
            <a:spAutoFit/>
          </a:bodyPr>
          <a:lstStyle/>
          <a:p>
            <a:pPr algn="l">
              <a:lnSpc>
                <a:spcPct val="104000"/>
              </a:lnSpc>
              <a:spcBef>
                <a:spcPts val="0"/>
              </a:spcBef>
              <a:spcAft>
                <a:spcPts val="0"/>
              </a:spcAft>
            </a:pPr>
            <a:r>
              <a:rPr sz="1300" b="1" i="0">
                <a:solidFill>
                  <a:srgbClr val="171C26"/>
                </a:solidFill>
                <a:latin typeface="Bahnschrift"/>
              </a:rPr>
              <a:t>Forecasts</a:t>
            </a:r>
          </a:p>
          <a:p>
            <a:pPr algn="l">
              <a:lnSpc>
                <a:spcPct val="104000"/>
              </a:lnSpc>
              <a:spcBef>
                <a:spcPts val="300"/>
              </a:spcBef>
              <a:spcAft>
                <a:spcPts val="800"/>
              </a:spcAft>
            </a:pPr>
            <a:r>
              <a:rPr sz="1000" b="0" i="0">
                <a:solidFill>
                  <a:srgbClr val="171C26"/>
                </a:solidFill>
                <a:latin typeface="Segoe UI"/>
              </a:rPr>
              <a:t>Every ESTIMATE line in the 38 pass reports from the first scheduled pass on, parsed outcome by outcome; each vector sums to 1 within 0.06 and none failed to parse. An agent's final forecast is its last report before the close. Fable's last report (14:35) was written in full before the bots were stopped; its estimates match its 10:35 report.</a:t>
            </a:r>
          </a:p>
          <a:p>
            <a:pPr algn="l">
              <a:lnSpc>
                <a:spcPct val="104000"/>
              </a:lnSpc>
              <a:spcBef>
                <a:spcPts val="0"/>
              </a:spcBef>
              <a:spcAft>
                <a:spcPts val="0"/>
              </a:spcAft>
            </a:pPr>
            <a:r>
              <a:rPr sz="1300" b="1" i="0">
                <a:solidFill>
                  <a:srgbClr val="171C26"/>
                </a:solidFill>
                <a:latin typeface="Bahnschrift"/>
              </a:rPr>
              <a:t>Scores</a:t>
            </a:r>
          </a:p>
          <a:p>
            <a:pPr algn="l">
              <a:lnSpc>
                <a:spcPct val="104000"/>
              </a:lnSpc>
              <a:spcBef>
                <a:spcPts val="300"/>
              </a:spcBef>
              <a:spcAft>
                <a:spcPts val="800"/>
              </a:spcAft>
            </a:pPr>
            <a:r>
              <a:rPr sz="1000" b="0" i="0">
                <a:solidFill>
                  <a:srgbClr val="171C26"/>
                </a:solidFill>
                <a:latin typeface="Segoe UI"/>
              </a:rPr>
              <a:t>Invalid dropped and the rest rescaled to 1 for every forecaster. Accuracy = 1 if the top outcome won. Brier = Σ (p − outcome)² over a market's outcomes. Log loss = −ln p(winner). Each averaged over the five markets. Base rates: seed prices from the pools' Initialize events, and pool prices one second before the first bot swap (13 Sep 16:58:31). Market rate: pool prices at the close.</a:t>
            </a:r>
          </a:p>
          <a:p>
            <a:pPr algn="l">
              <a:lnSpc>
                <a:spcPct val="104000"/>
              </a:lnSpc>
              <a:spcBef>
                <a:spcPts val="0"/>
              </a:spcBef>
              <a:spcAft>
                <a:spcPts val="0"/>
              </a:spcAft>
            </a:pPr>
            <a:r>
              <a:rPr sz="1300" b="1" i="0">
                <a:solidFill>
                  <a:srgbClr val="171C26"/>
                </a:solidFill>
                <a:latin typeface="Bahnschrift"/>
              </a:rPr>
              <a:t>Convergence</a:t>
            </a:r>
          </a:p>
          <a:p>
            <a:pPr algn="l">
              <a:lnSpc>
                <a:spcPct val="104000"/>
              </a:lnSpc>
              <a:spcBef>
                <a:spcPts val="300"/>
              </a:spcBef>
              <a:spcAft>
                <a:spcPts val="0"/>
              </a:spcAft>
            </a:pPr>
            <a:r>
              <a:rPr sz="1000" b="0" i="0">
                <a:solidFill>
                  <a:srgbClr val="171C26"/>
                </a:solidFill>
                <a:latin typeface="Segoe UI"/>
              </a:rPr>
              <a:t>Every two hours, each model's latest estimate for the winner made in the previous 4.5 hours; cycles missing a model are skipped. Spread = population standard deviation of the four. Distance = mean absolute gap to the winner's raw pool price.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5984</Words>
  <Application>Microsoft Office PowerPoint</Application>
  <PresentationFormat>Widescreen</PresentationFormat>
  <Paragraphs>946</Paragraphs>
  <Slides>22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Bahnschrift</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Mohammad Pouramiri</cp:lastModifiedBy>
  <cp:revision>3</cp:revision>
  <dcterms:created xsi:type="dcterms:W3CDTF">2013-01-27T09:14:16Z</dcterms:created>
  <dcterms:modified xsi:type="dcterms:W3CDTF">2026-09-15T08:47:47Z</dcterms:modified>
  <cp:category/>
</cp:coreProperties>
</file>