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by ZEC weight</c:v>
                </c:pt>
              </c:strCache>
            </c:strRef>
          </c:tx>
          <c:cat>
            <c:strRef>
              <c:f>Sheet1!$A$2:$A$3</c:f>
              <c:strCache>
                <c:ptCount val="2"/>
                <c:pt idx="0">
                  <c:v>Accepted</c:v>
                </c:pt>
                <c:pt idx="1">
                  <c:v>Rejected</c:v>
                </c:pt>
              </c:strCache>
            </c:strRef>
          </c:cat>
          <c:val>
            <c:numRef>
              <c:f>Sheet1!$B$2:$B$3</c:f>
              <c:numCache>
                <c:formatCode>General</c:formatCode>
                <c:ptCount val="2"/>
                <c:pt idx="0">
                  <c:v>17</c:v>
                </c:pt>
                <c:pt idx="1">
                  <c:v>20</c:v>
                </c:pt>
              </c:numCache>
            </c:numRef>
          </c:val>
        </c:ser>
        <c:ser>
          <c:idx val="1"/>
          <c:order val="1"/>
          <c:tx>
            <c:strRef>
              <c:f>Sheet1!$C$1</c:f>
              <c:strCache>
                <c:ptCount val="1"/>
                <c:pt idx="0">
                  <c:v>by ballot majority</c:v>
                </c:pt>
              </c:strCache>
            </c:strRef>
          </c:tx>
          <c:cat>
            <c:strRef>
              <c:f>Sheet1!$A$2:$A$3</c:f>
              <c:strCache>
                <c:ptCount val="2"/>
                <c:pt idx="0">
                  <c:v>Accepted</c:v>
                </c:pt>
                <c:pt idx="1">
                  <c:v>Rejected</c:v>
                </c:pt>
              </c:strCache>
            </c:strRef>
          </c:cat>
          <c:val>
            <c:numRef>
              <c:f>Sheet1!$C$2:$C$3</c:f>
              <c:numCache>
                <c:formatCode>General</c:formatCode>
                <c:ptCount val="2"/>
                <c:pt idx="0">
                  <c:v>16</c:v>
                </c:pt>
                <c:pt idx="1">
                  <c:v>21</c:v>
                </c:pt>
              </c:numCache>
            </c:numRef>
          </c:val>
        </c:ser>
        <c:dLbls>
          <c:txPr>
            <a:bodyPr/>
            <a:lstStyle/>
            <a:p>
              <a:pPr>
                <a:defRPr sz="1100"/>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100">
          <a:latin typeface="Segoe U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grants P&amp;L, sUSDS</c:v>
                </c:pt>
              </c:strCache>
            </c:strRef>
          </c:tx>
          <c:cat>
            <c:strRef>
              <c:f>Sheet1!$A$2:$A$6</c:f>
              <c:strCache>
                <c:ptCount val="5"/>
                <c:pt idx="0">
                  <c:v>Opus 5</c:v>
                </c:pt>
                <c:pt idx="1">
                  <c:v>Fable 5.1</c:v>
                </c:pt>
                <c:pt idx="2">
                  <c:v>Sol (GPT-5.6)</c:v>
                </c:pt>
                <c:pt idx="3">
                  <c:v>Astra (GPT-6b)</c:v>
                </c:pt>
                <c:pt idx="4">
                  <c:v>Jev</c:v>
                </c:pt>
              </c:strCache>
            </c:strRef>
          </c:cat>
          <c:val>
            <c:numRef>
              <c:f>Sheet1!$B$2:$B$6</c:f>
              <c:numCache>
                <c:formatCode>General</c:formatCode>
                <c:ptCount val="5"/>
                <c:pt idx="0">
                  <c:v>364.2000000000001</c:v>
                </c:pt>
                <c:pt idx="1">
                  <c:v>280.74</c:v>
                </c:pt>
                <c:pt idx="2">
                  <c:v>191.3799999999999</c:v>
                </c:pt>
                <c:pt idx="3">
                  <c:v>149.17000000000007</c:v>
                </c:pt>
                <c:pt idx="4">
                  <c:v>-43.639999999999986</c:v>
                </c:pt>
              </c:numCache>
            </c:numRef>
          </c:val>
        </c:ser>
        <c:dLbls>
          <c:numFmt formatCode="+#,##0;-#,##0" sourceLinked="0"/>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Brier</c:v>
                </c:pt>
              </c:strCache>
            </c:strRef>
          </c:tx>
          <c:dPt>
            <c:idx val="0"/>
            <c:spPr>
              <a:solidFill>
                <a:srgbClr val="1E7A4B"/>
              </a:solidFill>
            </c:spPr>
          </c:dPt>
          <c:dPt>
            <c:idx val="1"/>
            <c:spPr>
              <a:solidFill>
                <a:srgbClr val="1E7A4B"/>
              </a:solidFill>
            </c:spPr>
          </c:dPt>
          <c:dPt>
            <c:idx val="2"/>
            <c:spPr>
              <a:solidFill>
                <a:srgbClr val="1E7A4B"/>
              </a:solidFill>
            </c:spPr>
          </c:dPt>
          <c:dPt>
            <c:idx val="3"/>
            <c:spPr>
              <a:solidFill>
                <a:srgbClr val="1E7A4B"/>
              </a:solidFill>
            </c:spPr>
          </c:dPt>
          <c:dPt>
            <c:idx val="4"/>
            <c:spPr>
              <a:solidFill>
                <a:srgbClr val="1F5C9E"/>
              </a:solidFill>
            </c:spPr>
          </c:dPt>
          <c:dPt>
            <c:idx val="5"/>
            <c:spPr>
              <a:solidFill>
                <a:srgbClr val="1E7A4B"/>
              </a:solidFill>
            </c:spPr>
          </c:dPt>
          <c:dPt>
            <c:idx val="6"/>
            <c:spPr>
              <a:solidFill>
                <a:srgbClr val="9A9A9A"/>
              </a:solidFill>
            </c:spPr>
          </c:dPt>
          <c:cat>
            <c:strRef>
              <c:f>Sheet1!$A$2:$A$8</c:f>
              <c:strCache>
                <c:ptCount val="7"/>
                <c:pt idx="0">
                  <c:v>Jev</c:v>
                </c:pt>
                <c:pt idx="1">
                  <c:v>Sol (GPT-5.6)</c:v>
                </c:pt>
                <c:pt idx="2">
                  <c:v>Fable 5.1</c:v>
                </c:pt>
                <c:pt idx="3">
                  <c:v>Astra (GPT-6b)</c:v>
                </c:pt>
                <c:pt idx="4">
                  <c:v>Market (closing price)</c:v>
                </c:pt>
                <c:pt idx="5">
                  <c:v>Opus 5 (12)</c:v>
                </c:pt>
                <c:pt idx="6">
                  <c:v>Always 50/50</c:v>
                </c:pt>
              </c:strCache>
            </c:strRef>
          </c:cat>
          <c:val>
            <c:numRef>
              <c:f>Sheet1!$B$2:$B$8</c:f>
              <c:numCache>
                <c:formatCode>General</c:formatCode>
                <c:ptCount val="7"/>
                <c:pt idx="0">
                  <c:v>0.0298</c:v>
                </c:pt>
                <c:pt idx="1">
                  <c:v>0.0569</c:v>
                </c:pt>
                <c:pt idx="2">
                  <c:v>0.0699</c:v>
                </c:pt>
                <c:pt idx="3">
                  <c:v>0.1258</c:v>
                </c:pt>
                <c:pt idx="4">
                  <c:v>0.1632</c:v>
                </c:pt>
                <c:pt idx="5">
                  <c:v>0.2252</c:v>
                </c:pt>
                <c:pt idx="6">
                  <c:v>0.25</c:v>
                </c:pt>
              </c:numCache>
            </c:numRef>
          </c:val>
        </c:ser>
        <c:dLbls>
          <c:numFmt formatCode="0.000" sourceLinked="0"/>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Jev</c:v>
                </c:pt>
              </c:strCache>
            </c:strRef>
          </c:tx>
          <c:spPr>
            <a:ln w="47625">
              <a:noFill/>
            </a:ln>
          </c:spPr>
          <c:xVal>
            <c:numRef>
              <c:f>Sheet1!$A$2:$A$2</c:f>
              <c:numCache>
                <c:formatCode>General</c:formatCode>
                <c:ptCount val="1"/>
                <c:pt idx="0">
                  <c:v>0.029778754761754303</c:v>
                </c:pt>
              </c:numCache>
            </c:numRef>
          </c:xVal>
          <c:yVal>
            <c:numRef>
              <c:f>Sheet1!$B$2:$B$2</c:f>
              <c:numCache>
                <c:formatCode>General</c:formatCode>
                <c:ptCount val="1"/>
                <c:pt idx="0">
                  <c:v>-43.639999999999986</c:v>
                </c:pt>
              </c:numCache>
            </c:numRef>
          </c:yVal>
          <c:smooth val="0"/>
        </c:ser>
        <c:ser>
          <c:idx val="1"/>
          <c:order val="1"/>
          <c:tx>
            <c:strRef>
              <c:f>Sheet1!$B$4</c:f>
              <c:strCache>
                <c:ptCount val="1"/>
                <c:pt idx="0">
                  <c:v>Sol (GPT-5.6)</c:v>
                </c:pt>
              </c:strCache>
            </c:strRef>
          </c:tx>
          <c:spPr>
            <a:ln w="47625">
              <a:noFill/>
            </a:ln>
          </c:spPr>
          <c:xVal>
            <c:numRef>
              <c:f>Sheet1!$A$5:$A$5</c:f>
              <c:numCache>
                <c:formatCode>General</c:formatCode>
                <c:ptCount val="1"/>
                <c:pt idx="0">
                  <c:v>0.05694123875942058</c:v>
                </c:pt>
              </c:numCache>
            </c:numRef>
          </c:xVal>
          <c:yVal>
            <c:numRef>
              <c:f>Sheet1!$B$5:$B$5</c:f>
              <c:numCache>
                <c:formatCode>General</c:formatCode>
                <c:ptCount val="1"/>
                <c:pt idx="0">
                  <c:v>191.3799999999999</c:v>
                </c:pt>
              </c:numCache>
            </c:numRef>
          </c:yVal>
          <c:smooth val="0"/>
        </c:ser>
        <c:ser>
          <c:idx val="2"/>
          <c:order val="2"/>
          <c:tx>
            <c:strRef>
              <c:f>Sheet1!$B$7</c:f>
              <c:strCache>
                <c:ptCount val="1"/>
                <c:pt idx="0">
                  <c:v>Fable 5.1</c:v>
                </c:pt>
              </c:strCache>
            </c:strRef>
          </c:tx>
          <c:spPr>
            <a:ln w="47625">
              <a:noFill/>
            </a:ln>
          </c:spPr>
          <c:xVal>
            <c:numRef>
              <c:f>Sheet1!$A$8:$A$8</c:f>
              <c:numCache>
                <c:formatCode>General</c:formatCode>
                <c:ptCount val="1"/>
                <c:pt idx="0">
                  <c:v>0.06988133845398167</c:v>
                </c:pt>
              </c:numCache>
            </c:numRef>
          </c:xVal>
          <c:yVal>
            <c:numRef>
              <c:f>Sheet1!$B$8:$B$8</c:f>
              <c:numCache>
                <c:formatCode>General</c:formatCode>
                <c:ptCount val="1"/>
                <c:pt idx="0">
                  <c:v>280.74</c:v>
                </c:pt>
              </c:numCache>
            </c:numRef>
          </c:yVal>
          <c:smooth val="0"/>
        </c:ser>
        <c:ser>
          <c:idx val="3"/>
          <c:order val="3"/>
          <c:tx>
            <c:strRef>
              <c:f>Sheet1!$B$10</c:f>
              <c:strCache>
                <c:ptCount val="1"/>
                <c:pt idx="0">
                  <c:v>Astra (GPT-6b)</c:v>
                </c:pt>
              </c:strCache>
            </c:strRef>
          </c:tx>
          <c:spPr>
            <a:ln w="47625">
              <a:noFill/>
            </a:ln>
          </c:spPr>
          <c:xVal>
            <c:numRef>
              <c:f>Sheet1!$A$11:$A$11</c:f>
              <c:numCache>
                <c:formatCode>General</c:formatCode>
                <c:ptCount val="1"/>
                <c:pt idx="0">
                  <c:v>0.12577054998309023</c:v>
                </c:pt>
              </c:numCache>
            </c:numRef>
          </c:xVal>
          <c:yVal>
            <c:numRef>
              <c:f>Sheet1!$B$11:$B$11</c:f>
              <c:numCache>
                <c:formatCode>General</c:formatCode>
                <c:ptCount val="1"/>
                <c:pt idx="0">
                  <c:v>149.17000000000007</c:v>
                </c:pt>
              </c:numCache>
            </c:numRef>
          </c:yVal>
          <c:smooth val="0"/>
        </c:ser>
        <c:ser>
          <c:idx val="4"/>
          <c:order val="4"/>
          <c:tx>
            <c:strRef>
              <c:f>Sheet1!$B$13</c:f>
              <c:strCache>
                <c:ptCount val="1"/>
                <c:pt idx="0">
                  <c:v>Opus 5</c:v>
                </c:pt>
              </c:strCache>
            </c:strRef>
          </c:tx>
          <c:spPr>
            <a:ln w="47625">
              <a:noFill/>
            </a:ln>
          </c:spPr>
          <c:xVal>
            <c:numRef>
              <c:f>Sheet1!$A$14:$A$14</c:f>
              <c:numCache>
                <c:formatCode>General</c:formatCode>
                <c:ptCount val="1"/>
                <c:pt idx="0">
                  <c:v>0.22520808333333334</c:v>
                </c:pt>
              </c:numCache>
            </c:numRef>
          </c:xVal>
          <c:yVal>
            <c:numRef>
              <c:f>Sheet1!$B$14:$B$14</c:f>
              <c:numCache>
                <c:formatCode>General</c:formatCode>
                <c:ptCount val="1"/>
                <c:pt idx="0">
                  <c:v>364.2000000000001</c:v>
                </c:pt>
              </c:numCache>
            </c:numRef>
          </c:yVal>
          <c:smooth val="0"/>
        </c:ser>
        <c:axId val="-2128940872"/>
        <c:axId val="-2129643912"/>
      </c:scatterChart>
      <c:valAx>
        <c:axId val="-2128940872"/>
        <c:scaling>
          <c:orientation val="minMax"/>
        </c:scaling>
        <c:delete val="0"/>
        <c:axPos val="b"/>
        <c:title>
          <c:tx>
            <c:rich>
              <a:bodyPr/>
              <a:lstStyle/>
              <a:p>
                <a:r>
                  <a:rPr sz="1100">
                    <a:latin typeface="Segoe UI"/>
                  </a:rPr>
                  <a:t>Brier score (lower = better forecasts)</a:t>
                </a:r>
              </a:p>
            </c:rich>
          </c:tx>
          <c:layout/>
          <c:overlay val="0"/>
        </c:title>
        <c:numFmt formatCode="General" sourceLinked="1"/>
        <c:majorTickMark val="out"/>
        <c:minorTickMark val="none"/>
        <c:tickLblPos val="nextTo"/>
        <c:crossAx val="-2129643912"/>
        <c:crosses val="autoZero"/>
        <c:crossBetween val="midCat"/>
      </c:valAx>
      <c:valAx>
        <c:axId val="-2129643912"/>
        <c:scaling>
          <c:orientation val="minMax"/>
        </c:scaling>
        <c:delete val="0"/>
        <c:axPos val="l"/>
        <c:majorGridlines/>
        <c:title>
          <c:tx>
            <c:rich>
              <a:bodyPr/>
              <a:lstStyle/>
              <a:p>
                <a:r>
                  <a:rPr sz="1100">
                    <a:latin typeface="Segoe UI"/>
                  </a:rPr>
                  <a:t>grants P&amp;L (sUSDS)</a:t>
                </a:r>
              </a:p>
            </c:rich>
          </c:tx>
          <c:layout/>
          <c:overlay val="0"/>
        </c:title>
        <c:numFmt formatCode="General" sourceLinked="1"/>
        <c:majorTickMark val="out"/>
        <c:minorTickMark val="none"/>
        <c:tickLblPos val="nextTo"/>
        <c:crossAx val="-2128940872"/>
        <c:crosses val="autoZero"/>
        <c:crossBetween val="midCat"/>
      </c:valAx>
    </c:plotArea>
    <c:legend>
      <c:legendPos val="b"/>
      <c:layout/>
      <c:overlay val="0"/>
    </c:legend>
    <c:plotVisOnly val="1"/>
    <c:dispBlanksAs val="gap"/>
    <c:showDLblsOverMax val="0"/>
  </c:chart>
  <c:txPr>
    <a:bodyPr/>
    <a:lstStyle/>
    <a:p>
      <a:pPr>
        <a:defRPr sz="1100">
          <a:latin typeface="Segoe U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accepted</c:v>
                </c:pt>
              </c:strCache>
            </c:strRef>
          </c:tx>
          <c:spPr>
            <a:ln w="47625">
              <a:noFill/>
            </a:ln>
          </c:spPr>
          <c:xVal>
            <c:numRef>
              <c:f>Sheet1!$A$2:$A$18</c:f>
              <c:numCache>
                <c:formatCode>General</c:formatCode>
                <c:ptCount val="17"/>
                <c:pt idx="0">
                  <c:v>0.9201207795772715</c:v>
                </c:pt>
                <c:pt idx="1">
                  <c:v>0.4871111111111111</c:v>
                </c:pt>
                <c:pt idx="2">
                  <c:v>0.9316442333069411</c:v>
                </c:pt>
                <c:pt idx="3">
                  <c:v>0.778916149905635</c:v>
                </c:pt>
                <c:pt idx="4">
                  <c:v>0.7303894679100384</c:v>
                </c:pt>
                <c:pt idx="5">
                  <c:v>0.8823529411764706</c:v>
                </c:pt>
                <c:pt idx="6">
                  <c:v>0.9484888304862024</c:v>
                </c:pt>
                <c:pt idx="7">
                  <c:v>0.8821138211382114</c:v>
                </c:pt>
                <c:pt idx="8">
                  <c:v>0.9241758241758242</c:v>
                </c:pt>
                <c:pt idx="9">
                  <c:v>0.7838134430727023</c:v>
                </c:pt>
                <c:pt idx="10">
                  <c:v>0.9003373994290164</c:v>
                </c:pt>
                <c:pt idx="11">
                  <c:v>0.9548833632401948</c:v>
                </c:pt>
                <c:pt idx="12">
                  <c:v>0.9798234552332913</c:v>
                </c:pt>
                <c:pt idx="13">
                  <c:v>0.9670781893004116</c:v>
                </c:pt>
                <c:pt idx="14">
                  <c:v>0.9483169891333156</c:v>
                </c:pt>
                <c:pt idx="15">
                  <c:v>0.9505397941250314</c:v>
                </c:pt>
                <c:pt idx="16">
                  <c:v>0.7579185520361991</c:v>
                </c:pt>
              </c:numCache>
            </c:numRef>
          </c:xVal>
          <c:yVal>
            <c:numRef>
              <c:f>Sheet1!$B$2:$B$18</c:f>
              <c:numCache>
                <c:formatCode>General</c:formatCode>
                <c:ptCount val="17"/>
                <c:pt idx="0">
                  <c:v>0.9986391004710646</c:v>
                </c:pt>
                <c:pt idx="1">
                  <c:v>0.6638847109250335</c:v>
                </c:pt>
                <c:pt idx="2">
                  <c:v>0.9590475284270058</c:v>
                </c:pt>
                <c:pt idx="3">
                  <c:v>0.9938260863159013</c:v>
                </c:pt>
                <c:pt idx="4">
                  <c:v>0.9106208514898744</c:v>
                </c:pt>
                <c:pt idx="5">
                  <c:v>0.6898036652447513</c:v>
                </c:pt>
                <c:pt idx="6">
                  <c:v>0.9976584381679174</c:v>
                </c:pt>
                <c:pt idx="7">
                  <c:v>0.9972508300354233</c:v>
                </c:pt>
                <c:pt idx="8">
                  <c:v>0.9866251819722689</c:v>
                </c:pt>
                <c:pt idx="9">
                  <c:v>0.9632981339628279</c:v>
                </c:pt>
                <c:pt idx="10">
                  <c:v>0.9499684442908871</c:v>
                </c:pt>
                <c:pt idx="11">
                  <c:v>0.999826656258384</c:v>
                </c:pt>
                <c:pt idx="12">
                  <c:v>0.999996555692218</c:v>
                </c:pt>
                <c:pt idx="13">
                  <c:v>0.9999461953517144</c:v>
                </c:pt>
                <c:pt idx="14">
                  <c:v>0.9986588163921191</c:v>
                </c:pt>
                <c:pt idx="15">
                  <c:v>0.9985449212103014</c:v>
                </c:pt>
                <c:pt idx="16">
                  <c:v>0.8055209915736298</c:v>
                </c:pt>
              </c:numCache>
            </c:numRef>
          </c:yVal>
          <c:smooth val="0"/>
        </c:ser>
        <c:ser>
          <c:idx val="1"/>
          <c:order val="1"/>
          <c:tx>
            <c:strRef>
              <c:f>Sheet1!$B$20</c:f>
              <c:strCache>
                <c:ptCount val="1"/>
                <c:pt idx="0">
                  <c:v>rejected</c:v>
                </c:pt>
              </c:strCache>
            </c:strRef>
          </c:tx>
          <c:spPr>
            <a:ln w="47625">
              <a:noFill/>
            </a:ln>
          </c:spPr>
          <c:xVal>
            <c:numRef>
              <c:f>Sheet1!$A$21:$A$40</c:f>
              <c:numCache>
                <c:formatCode>General</c:formatCode>
                <c:ptCount val="20"/>
                <c:pt idx="0">
                  <c:v>0.3767625493513818</c:v>
                </c:pt>
                <c:pt idx="1">
                  <c:v>0.4002186987424822</c:v>
                </c:pt>
                <c:pt idx="2">
                  <c:v>0.39988290398126464</c:v>
                </c:pt>
                <c:pt idx="3">
                  <c:v>0.35391923990498814</c:v>
                </c:pt>
                <c:pt idx="4">
                  <c:v>0.26158940397350994</c:v>
                </c:pt>
                <c:pt idx="5">
                  <c:v>0.2823288472791106</c:v>
                </c:pt>
                <c:pt idx="6">
                  <c:v>0.42515651678998295</c:v>
                </c:pt>
                <c:pt idx="7">
                  <c:v>0.373050897322742</c:v>
                </c:pt>
                <c:pt idx="8">
                  <c:v>0.3189476795743423</c:v>
                </c:pt>
                <c:pt idx="9">
                  <c:v>0.28323370338741816</c:v>
                </c:pt>
                <c:pt idx="10">
                  <c:v>0.24172185430463577</c:v>
                </c:pt>
                <c:pt idx="11">
                  <c:v>0.37077054307648566</c:v>
                </c:pt>
                <c:pt idx="12">
                  <c:v>0.26513761467889907</c:v>
                </c:pt>
                <c:pt idx="13">
                  <c:v>0.2149561005146836</c:v>
                </c:pt>
                <c:pt idx="14">
                  <c:v>0.23190222500783453</c:v>
                </c:pt>
                <c:pt idx="15">
                  <c:v>0.27721918988796324</c:v>
                </c:pt>
                <c:pt idx="16">
                  <c:v>0.2775175644028103</c:v>
                </c:pt>
                <c:pt idx="17">
                  <c:v>0.3386258660508083</c:v>
                </c:pt>
                <c:pt idx="18">
                  <c:v>0.23039356506750933</c:v>
                </c:pt>
                <c:pt idx="19">
                  <c:v>0.3983853006681514</c:v>
                </c:pt>
              </c:numCache>
            </c:numRef>
          </c:xVal>
          <c:yVal>
            <c:numRef>
              <c:f>Sheet1!$B$21:$B$40</c:f>
              <c:numCache>
                <c:formatCode>General</c:formatCode>
                <c:ptCount val="20"/>
                <c:pt idx="0">
                  <c:v>0.05404411527299558</c:v>
                </c:pt>
                <c:pt idx="1">
                  <c:v>0.24114858579681597</c:v>
                </c:pt>
                <c:pt idx="2">
                  <c:v>0.19188845253135425</c:v>
                </c:pt>
                <c:pt idx="3">
                  <c:v>0.19759240659875751</c:v>
                </c:pt>
                <c:pt idx="4">
                  <c:v>0.030849414738636116</c:v>
                </c:pt>
                <c:pt idx="5">
                  <c:v>0.05120199897442389</c:v>
                </c:pt>
                <c:pt idx="6">
                  <c:v>0.029289465978882073</c:v>
                </c:pt>
                <c:pt idx="7">
                  <c:v>0.19543453829003954</c:v>
                </c:pt>
                <c:pt idx="8">
                  <c:v>0.055193928887143105</c:v>
                </c:pt>
                <c:pt idx="9">
                  <c:v>0.042928039253290105</c:v>
                </c:pt>
                <c:pt idx="10">
                  <c:v>0.045804152187237414</c:v>
                </c:pt>
                <c:pt idx="11">
                  <c:v>0.11337081303434411</c:v>
                </c:pt>
                <c:pt idx="12">
                  <c:v>0.04602233639714971</c:v>
                </c:pt>
                <c:pt idx="13">
                  <c:v>0.04878541396959701</c:v>
                </c:pt>
                <c:pt idx="14">
                  <c:v>0.0489202852128613</c:v>
                </c:pt>
                <c:pt idx="15">
                  <c:v>0.044512660260558355</c:v>
                </c:pt>
                <c:pt idx="16">
                  <c:v>0.05979440500806921</c:v>
                </c:pt>
                <c:pt idx="17">
                  <c:v>0.23982862568522378</c:v>
                </c:pt>
                <c:pt idx="18">
                  <c:v>0.030345150930885186</c:v>
                </c:pt>
                <c:pt idx="19">
                  <c:v>0.08306669524761263</c:v>
                </c:pt>
              </c:numCache>
            </c:numRef>
          </c:yVal>
          <c:smooth val="0"/>
        </c:ser>
        <c:axId val="-2128940872"/>
        <c:axId val="-2129643912"/>
      </c:scatterChart>
      <c:valAx>
        <c:axId val="-2128940872"/>
        <c:scaling>
          <c:orientation val="minMax"/>
        </c:scaling>
        <c:delete val="0"/>
        <c:axPos val="b"/>
        <c:title>
          <c:tx>
            <c:rich>
              <a:bodyPr/>
              <a:lstStyle/>
              <a:p>
                <a:r>
                  <a:rPr sz="1100">
                    <a:latin typeface="Segoe UI"/>
                  </a:rPr>
                  <a:t>accept share of ballots</a:t>
                </a:r>
              </a:p>
            </c:rich>
          </c:tx>
          <c:layout/>
          <c:overlay val="0"/>
        </c:title>
        <c:numFmt formatCode="General" sourceLinked="1"/>
        <c:majorTickMark val="out"/>
        <c:minorTickMark val="none"/>
        <c:tickLblPos val="nextTo"/>
        <c:crossAx val="-2129643912"/>
        <c:crosses val="autoZero"/>
        <c:crossBetween val="midCat"/>
      </c:valAx>
      <c:valAx>
        <c:axId val="-2129643912"/>
        <c:scaling>
          <c:orientation val="minMax"/>
        </c:scaling>
        <c:delete val="0"/>
        <c:axPos val="l"/>
        <c:majorGridlines/>
        <c:title>
          <c:tx>
            <c:rich>
              <a:bodyPr/>
              <a:lstStyle/>
              <a:p>
                <a:r>
                  <a:rPr sz="1100">
                    <a:latin typeface="Segoe UI"/>
                  </a:rPr>
                  <a:t>accept share of ZEC</a:t>
                </a:r>
              </a:p>
            </c:rich>
          </c:tx>
          <c:layout/>
          <c:overlay val="0"/>
        </c:title>
        <c:numFmt formatCode="General" sourceLinked="1"/>
        <c:majorTickMark val="out"/>
        <c:minorTickMark val="none"/>
        <c:tickLblPos val="nextTo"/>
        <c:crossAx val="-2128940872"/>
        <c:crosses val="autoZero"/>
        <c:crossBetween val="midCat"/>
      </c:valAx>
    </c:plotArea>
    <c:legend>
      <c:legendPos val="b"/>
      <c:layout/>
      <c:overlay val="0"/>
    </c:legend>
    <c:plotVisOnly val="1"/>
    <c:dispBlanksAs val="gap"/>
    <c:showDLblsOverMax val="0"/>
  </c:chart>
  <c:txPr>
    <a:bodyPr/>
    <a:lstStyle/>
    <a:p>
      <a:pPr>
        <a:defRPr sz="1100">
          <a:latin typeface="Segoe UI"/>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1920240"/>
            <a:ext cx="10607040" cy="1097280"/>
          </a:xfrm>
          <a:prstGeom prst="rect">
            <a:avLst/>
          </a:prstGeom>
          <a:noFill/>
        </p:spPr>
        <p:txBody>
          <a:bodyPr wrap="square">
            <a:spAutoFit/>
          </a:bodyPr>
          <a:lstStyle/>
          <a:p>
            <a:pPr algn="l">
              <a:spcAft>
                <a:spcPts val="400"/>
              </a:spcAft>
            </a:pPr>
            <a:r>
              <a:rPr sz="4000" b="1">
                <a:solidFill>
                  <a:srgbClr val="1A1A1A"/>
                </a:solidFill>
                <a:latin typeface="Bahnschrift"/>
              </a:rPr>
              <a:t>Zcash Q3 Coinholder Retroactive Grants</a:t>
            </a:r>
          </a:p>
        </p:txBody>
      </p:sp>
      <p:sp>
        <p:nvSpPr>
          <p:cNvPr id="3" name="TextBox 2"/>
          <p:cNvSpPr txBox="1"/>
          <p:nvPr/>
        </p:nvSpPr>
        <p:spPr>
          <a:xfrm>
            <a:off x="868680" y="2971800"/>
            <a:ext cx="10607040" cy="822960"/>
          </a:xfrm>
          <a:prstGeom prst="rect">
            <a:avLst/>
          </a:prstGeom>
          <a:noFill/>
        </p:spPr>
        <p:txBody>
          <a:bodyPr wrap="square">
            <a:spAutoFit/>
          </a:bodyPr>
          <a:lstStyle/>
          <a:p>
            <a:pPr algn="l">
              <a:spcAft>
                <a:spcPts val="400"/>
              </a:spcAft>
            </a:pPr>
            <a:r>
              <a:rPr sz="1800" b="0">
                <a:solidFill>
                  <a:srgbClr val="6B6B6B"/>
                </a:solidFill>
                <a:latin typeface="Segoe UI"/>
              </a:rPr>
              <a:t>Five models, 37 markets, 900 sUSDS each — forecasting skill and trading result</a:t>
            </a:r>
          </a:p>
        </p:txBody>
      </p:sp>
      <p:sp>
        <p:nvSpPr>
          <p:cNvPr id="4" name="TextBox 3"/>
          <p:cNvSpPr txBox="1"/>
          <p:nvPr/>
        </p:nvSpPr>
        <p:spPr>
          <a:xfrm>
            <a:off x="868680" y="3977639"/>
            <a:ext cx="10607040" cy="1463040"/>
          </a:xfrm>
          <a:prstGeom prst="rect">
            <a:avLst/>
          </a:prstGeom>
          <a:noFill/>
        </p:spPr>
        <p:txBody>
          <a:bodyPr wrap="square">
            <a:spAutoFit/>
          </a:bodyPr>
          <a:lstStyle/>
          <a:p>
            <a:pPr algn="l">
              <a:spcAft>
                <a:spcPts val="400"/>
              </a:spcAft>
            </a:pPr>
            <a:r>
              <a:rPr sz="1300" b="0">
                <a:solidFill>
                  <a:srgbClr val="1A1A1A"/>
                </a:solidFill>
                <a:latin typeface="Segoe UI"/>
              </a:rPr>
              <a:t>Round traded 16–29 September 2026 on Seer (Optimism) · vote closed 29 Sep 20:00 UTC 145,435 ballots · 17 of 37 proposals accepted by ZEC weight · redeemed 4 October</a:t>
            </a:r>
          </a:p>
        </p:txBody>
      </p:sp>
      <p:sp>
        <p:nvSpPr>
          <p:cNvPr id="5" name="TextBox 4"/>
          <p:cNvSpPr txBox="1"/>
          <p:nvPr/>
        </p:nvSpPr>
        <p:spPr>
          <a:xfrm>
            <a:off x="868680" y="5943600"/>
            <a:ext cx="10607040" cy="365760"/>
          </a:xfrm>
          <a:prstGeom prst="rect">
            <a:avLst/>
          </a:prstGeom>
          <a:noFill/>
        </p:spPr>
        <p:txBody>
          <a:bodyPr wrap="square">
            <a:spAutoFit/>
          </a:bodyPr>
          <a:lstStyle/>
          <a:p>
            <a:pPr algn="l">
              <a:spcAft>
                <a:spcPts val="400"/>
              </a:spcAft>
            </a:pPr>
            <a:r>
              <a:rPr sz="1100" b="0">
                <a:solidFill>
                  <a:srgbClr val="6B6B6B"/>
                </a:solidFill>
                <a:latin typeface="Segoe UI"/>
              </a:rPr>
              <a:t>Scores exclude every earlier round: each wallet started this round at exactly 900.00 sUSDS.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155680" cy="731520"/>
          </a:xfrm>
          <a:prstGeom prst="rect">
            <a:avLst/>
          </a:prstGeom>
          <a:noFill/>
        </p:spPr>
        <p:txBody>
          <a:bodyPr wrap="square">
            <a:spAutoFit/>
          </a:bodyPr>
          <a:lstStyle/>
          <a:p>
            <a:pPr algn="l">
              <a:spcAft>
                <a:spcPts val="400"/>
              </a:spcAft>
            </a:pPr>
            <a:r>
              <a:rPr sz="3000" b="1">
                <a:solidFill>
                  <a:srgbClr val="1A1A1A"/>
                </a:solidFill>
                <a:latin typeface="Bahnschrift"/>
              </a:rPr>
              <a:t>The round, and the twist that decided it</a:t>
            </a:r>
          </a:p>
        </p:txBody>
      </p:sp>
      <p:sp>
        <p:nvSpPr>
          <p:cNvPr id="3" name="TextBox 2"/>
          <p:cNvSpPr txBox="1"/>
          <p:nvPr/>
        </p:nvSpPr>
        <p:spPr>
          <a:xfrm>
            <a:off x="566928" y="1078992"/>
            <a:ext cx="11155680" cy="457200"/>
          </a:xfrm>
          <a:prstGeom prst="rect">
            <a:avLst/>
          </a:prstGeom>
          <a:noFill/>
        </p:spPr>
        <p:txBody>
          <a:bodyPr wrap="square">
            <a:spAutoFit/>
          </a:bodyPr>
          <a:lstStyle/>
          <a:p>
            <a:pPr algn="l">
              <a:spcAft>
                <a:spcPts val="400"/>
              </a:spcAft>
            </a:pPr>
            <a:r>
              <a:rPr sz="1300" b="0">
                <a:solidFill>
                  <a:srgbClr val="6B6B6B"/>
                </a:solidFill>
                <a:latin typeface="Segoe UI"/>
              </a:rPr>
              <a:t>Unweighted ballots said yes; ZEC weight said no on twenty proposals</a:t>
            </a:r>
          </a:p>
        </p:txBody>
      </p:sp>
      <p:sp>
        <p:nvSpPr>
          <p:cNvPr id="4" name="Rectangle 3"/>
          <p:cNvSpPr/>
          <p:nvPr/>
        </p:nvSpPr>
        <p:spPr>
          <a:xfrm>
            <a:off x="566928" y="1481328"/>
            <a:ext cx="1106424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737360"/>
            <a:ext cx="5394960" cy="3108960"/>
          </a:xfrm>
          <a:prstGeom prst="rect">
            <a:avLst/>
          </a:prstGeom>
          <a:noFill/>
        </p:spPr>
        <p:txBody>
          <a:bodyPr wrap="square">
            <a:spAutoFit/>
          </a:bodyPr>
          <a:lstStyle/>
          <a:p>
            <a:pPr algn="l">
              <a:spcAft>
                <a:spcPts val="400"/>
              </a:spcAft>
            </a:pPr>
            <a:r>
              <a:rPr sz="1300" b="0">
                <a:solidFill>
                  <a:srgbClr val="1A1A1A"/>
                </a:solidFill>
                <a:latin typeface="Segoe UI"/>
              </a:rPr>
              <a:t>37 binary markets, one per grant proposal: Yes / No / Invalid.</a:t>
            </a:r>
          </a:p>
          <a:p>
            <a:pPr algn="l">
              <a:spcAft>
                <a:spcPts val="400"/>
              </a:spcAft>
            </a:pPr>
            <a:r>
              <a:rPr sz="1300" b="0">
                <a:solidFill>
                  <a:srgbClr val="1A1A1A"/>
                </a:solidFill>
                <a:latin typeface="Segoe UI"/>
              </a:rPr>
              <a:t>Ballots across all questions ran 58% accept (76,874 accept vs 54,564 reject).</a:t>
            </a:r>
          </a:p>
          <a:p>
            <a:pPr algn="l">
              <a:spcAft>
                <a:spcPts val="400"/>
              </a:spcAft>
            </a:pPr>
            <a:r>
              <a:rPr sz="1300" b="0">
                <a:solidFill>
                  <a:srgbClr val="1A1A1A"/>
                </a:solidFill>
                <a:latin typeface="Segoe UI"/>
              </a:rPr>
              <a:t>By ZEC weight only 17 of 37 passed. Roughly 2 million ZEC voted reject on almost every consumer application, while protocol security work passed near-unanimously.</a:t>
            </a:r>
          </a:p>
          <a:p>
            <a:pPr algn="l">
              <a:spcAft>
                <a:spcPts val="400"/>
              </a:spcAft>
            </a:pPr>
            <a:r>
              <a:rPr sz="1300" b="0">
                <a:solidFill>
                  <a:srgbClr val="1A1A1A"/>
                </a:solidFill>
                <a:latin typeface="Segoe UI"/>
              </a:rPr>
              <a:t>Every bot had the live ballot counts all round — the Valar vote chain publishes them — but the ZEC weight stayed encrypted until after the close.</a:t>
            </a:r>
          </a:p>
        </p:txBody>
      </p:sp>
      <p:graphicFrame>
        <p:nvGraphicFramePr>
          <p:cNvPr id="6" name="Chart 5"/>
          <p:cNvGraphicFramePr>
            <a:graphicFrameLocks noGrp="1"/>
          </p:cNvGraphicFramePr>
          <p:nvPr/>
        </p:nvGraphicFramePr>
        <p:xfrm>
          <a:off x="6309360" y="1783080"/>
          <a:ext cx="5394960" cy="4206240"/>
        </p:xfrm>
        <a:graphic>
          <a:graphicData uri="http://schemas.openxmlformats.org/drawingml/2006/chart">
            <c:chart xmlns:c="http://schemas.openxmlformats.org/drawingml/2006/chart" r:id="rId2"/>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155680" cy="731520"/>
          </a:xfrm>
          <a:prstGeom prst="rect">
            <a:avLst/>
          </a:prstGeom>
          <a:noFill/>
        </p:spPr>
        <p:txBody>
          <a:bodyPr wrap="square">
            <a:spAutoFit/>
          </a:bodyPr>
          <a:lstStyle/>
          <a:p>
            <a:pPr algn="l">
              <a:spcAft>
                <a:spcPts val="400"/>
              </a:spcAft>
            </a:pPr>
            <a:r>
              <a:rPr sz="3000" b="1">
                <a:solidFill>
                  <a:srgbClr val="1A1A1A"/>
                </a:solidFill>
                <a:latin typeface="Bahnschrift"/>
              </a:rPr>
              <a:t>Result: grants round only</a:t>
            </a:r>
          </a:p>
        </p:txBody>
      </p:sp>
      <p:sp>
        <p:nvSpPr>
          <p:cNvPr id="3" name="TextBox 2"/>
          <p:cNvSpPr txBox="1"/>
          <p:nvPr/>
        </p:nvSpPr>
        <p:spPr>
          <a:xfrm>
            <a:off x="566928" y="1078992"/>
            <a:ext cx="11155680" cy="457200"/>
          </a:xfrm>
          <a:prstGeom prst="rect">
            <a:avLst/>
          </a:prstGeom>
          <a:noFill/>
        </p:spPr>
        <p:txBody>
          <a:bodyPr wrap="square">
            <a:spAutoFit/>
          </a:bodyPr>
          <a:lstStyle/>
          <a:p>
            <a:pPr algn="l">
              <a:spcAft>
                <a:spcPts val="400"/>
              </a:spcAft>
            </a:pPr>
            <a:r>
              <a:rPr sz="1300" b="0">
                <a:solidFill>
                  <a:srgbClr val="6B6B6B"/>
                </a:solidFill>
                <a:latin typeface="Segoe UI"/>
              </a:rPr>
              <a:t>Cash now minus the 900 start minus NU7 proceeds collected during the round</a:t>
            </a:r>
          </a:p>
        </p:txBody>
      </p:sp>
      <p:sp>
        <p:nvSpPr>
          <p:cNvPr id="4" name="Rectangle 3"/>
          <p:cNvSpPr/>
          <p:nvPr/>
        </p:nvSpPr>
        <p:spPr>
          <a:xfrm>
            <a:off x="566928" y="1481328"/>
            <a:ext cx="1106424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828800"/>
          <a:ext cx="5669277" cy="1975104"/>
        </p:xfrm>
        <a:graphic>
          <a:graphicData uri="http://schemas.openxmlformats.org/drawingml/2006/table">
            <a:tbl>
              <a:tblPr firstRow="1" bandRow="1">
                <a:tableStyleId>{5C22544A-7EE6-4342-B048-85BDC9FD1C3A}</a:tableStyleId>
              </a:tblPr>
              <a:tblGrid>
                <a:gridCol w="1318437"/>
                <a:gridCol w="593296"/>
                <a:gridCol w="758101"/>
                <a:gridCol w="758101"/>
                <a:gridCol w="758101"/>
                <a:gridCol w="626257"/>
                <a:gridCol w="856984"/>
              </a:tblGrid>
              <a:tr h="329184">
                <a:tc>
                  <a:txBody>
                    <a:bodyPr/>
                    <a:lstStyle/>
                    <a:p>
                      <a:pPr algn="l"/>
                      <a:r>
                        <a:rPr sz="1000" b="1">
                          <a:solidFill>
                            <a:srgbClr val="1A1A1A"/>
                          </a:solidFill>
                          <a:latin typeface="Segoe UI"/>
                        </a:rPr>
                        <a:t>bot</a:t>
                      </a:r>
                    </a:p>
                  </a:txBody>
                  <a:tcPr marT="12700" marB="12700"/>
                </a:tc>
                <a:tc>
                  <a:txBody>
                    <a:bodyPr/>
                    <a:lstStyle/>
                    <a:p>
                      <a:pPr algn="r"/>
                      <a:r>
                        <a:rPr sz="1000" b="1">
                          <a:solidFill>
                            <a:srgbClr val="1A1A1A"/>
                          </a:solidFill>
                          <a:latin typeface="Segoe UI"/>
                        </a:rPr>
                        <a:t>stake</a:t>
                      </a:r>
                    </a:p>
                  </a:txBody>
                  <a:tcPr marT="12700" marB="12700"/>
                </a:tc>
                <a:tc>
                  <a:txBody>
                    <a:bodyPr/>
                    <a:lstStyle/>
                    <a:p>
                      <a:pPr algn="r"/>
                      <a:r>
                        <a:rPr sz="1000" b="1">
                          <a:solidFill>
                            <a:srgbClr val="1A1A1A"/>
                          </a:solidFill>
                          <a:latin typeface="Segoe UI"/>
                        </a:rPr>
                        <a:t>collected</a:t>
                      </a:r>
                    </a:p>
                  </a:txBody>
                  <a:tcPr marT="12700" marB="12700"/>
                </a:tc>
                <a:tc>
                  <a:txBody>
                    <a:bodyPr/>
                    <a:lstStyle/>
                    <a:p>
                      <a:pPr algn="r"/>
                      <a:r>
                        <a:rPr sz="1000" b="1">
                          <a:solidFill>
                            <a:srgbClr val="1A1A1A"/>
                          </a:solidFill>
                          <a:latin typeface="Segoe UI"/>
                        </a:rPr>
                        <a:t>cash now</a:t>
                      </a:r>
                    </a:p>
                  </a:txBody>
                  <a:tcPr marT="12700" marB="12700"/>
                </a:tc>
                <a:tc>
                  <a:txBody>
                    <a:bodyPr/>
                    <a:lstStyle/>
                    <a:p>
                      <a:pPr algn="r"/>
                      <a:r>
                        <a:rPr sz="1000" b="1">
                          <a:solidFill>
                            <a:srgbClr val="1A1A1A"/>
                          </a:solidFill>
                          <a:latin typeface="Segoe UI"/>
                        </a:rPr>
                        <a:t>P&amp;L</a:t>
                      </a:r>
                    </a:p>
                  </a:txBody>
                  <a:tcPr marT="12700" marB="12700"/>
                </a:tc>
                <a:tc>
                  <a:txBody>
                    <a:bodyPr/>
                    <a:lstStyle/>
                    <a:p>
                      <a:pPr algn="r"/>
                      <a:r>
                        <a:rPr sz="1000" b="1">
                          <a:solidFill>
                            <a:srgbClr val="1A1A1A"/>
                          </a:solidFill>
                          <a:latin typeface="Segoe UI"/>
                        </a:rPr>
                        <a:t>return</a:t>
                      </a:r>
                    </a:p>
                  </a:txBody>
                  <a:tcPr marT="12700" marB="12700"/>
                </a:tc>
                <a:tc>
                  <a:txBody>
                    <a:bodyPr/>
                    <a:lstStyle/>
                    <a:p>
                      <a:pPr algn="r"/>
                      <a:r>
                        <a:rPr sz="1000" b="1">
                          <a:solidFill>
                            <a:srgbClr val="1A1A1A"/>
                          </a:solidFill>
                          <a:latin typeface="Segoe UI"/>
                        </a:rPr>
                        <a:t>paid/held</a:t>
                      </a:r>
                    </a:p>
                  </a:txBody>
                  <a:tcPr marT="12700" marB="12700"/>
                </a:tc>
              </a:tr>
              <a:tr h="329184">
                <a:tc>
                  <a:txBody>
                    <a:bodyPr/>
                    <a:lstStyle/>
                    <a:p>
                      <a:pPr algn="l"/>
                      <a:r>
                        <a:rPr sz="1100" b="0">
                          <a:solidFill>
                            <a:srgbClr val="1A1A1A"/>
                          </a:solidFill>
                          <a:latin typeface="Segoe UI"/>
                        </a:rPr>
                        <a:t>Opus 5</a:t>
                      </a:r>
                    </a:p>
                  </a:txBody>
                  <a:tcPr marT="12700" marB="12700"/>
                </a:tc>
                <a:tc>
                  <a:txBody>
                    <a:bodyPr/>
                    <a:lstStyle/>
                    <a:p>
                      <a:pPr algn="r"/>
                      <a:r>
                        <a:rPr sz="1100" b="0">
                          <a:solidFill>
                            <a:srgbClr val="1A1A1A"/>
                          </a:solidFill>
                          <a:latin typeface="Consolas"/>
                        </a:rPr>
                        <a:t>569</a:t>
                      </a:r>
                    </a:p>
                  </a:txBody>
                  <a:tcPr marT="12700" marB="12700"/>
                </a:tc>
                <a:tc>
                  <a:txBody>
                    <a:bodyPr/>
                    <a:lstStyle/>
                    <a:p>
                      <a:pPr algn="r"/>
                      <a:r>
                        <a:rPr sz="1100" b="0">
                          <a:solidFill>
                            <a:srgbClr val="1A1A1A"/>
                          </a:solidFill>
                          <a:latin typeface="Consolas"/>
                        </a:rPr>
                        <a:t>932.75</a:t>
                      </a:r>
                    </a:p>
                  </a:txBody>
                  <a:tcPr marT="12700" marB="12700"/>
                </a:tc>
                <a:tc>
                  <a:txBody>
                    <a:bodyPr/>
                    <a:lstStyle/>
                    <a:p>
                      <a:pPr algn="r"/>
                      <a:r>
                        <a:rPr sz="1100" b="0">
                          <a:solidFill>
                            <a:srgbClr val="1A1A1A"/>
                          </a:solidFill>
                          <a:latin typeface="Consolas"/>
                        </a:rPr>
                        <a:t>1620.64</a:t>
                      </a:r>
                    </a:p>
                  </a:txBody>
                  <a:tcPr marT="12700" marB="12700"/>
                </a:tc>
                <a:tc>
                  <a:txBody>
                    <a:bodyPr/>
                    <a:lstStyle/>
                    <a:p>
                      <a:pPr algn="r"/>
                      <a:r>
                        <a:rPr sz="1100" b="0">
                          <a:solidFill>
                            <a:srgbClr val="1A1A1A"/>
                          </a:solidFill>
                          <a:latin typeface="Consolas"/>
                        </a:rPr>
                        <a:t>+364.20</a:t>
                      </a:r>
                    </a:p>
                  </a:txBody>
                  <a:tcPr marT="12700" marB="12700"/>
                </a:tc>
                <a:tc>
                  <a:txBody>
                    <a:bodyPr/>
                    <a:lstStyle/>
                    <a:p>
                      <a:pPr algn="r"/>
                      <a:r>
                        <a:rPr sz="1100" b="0">
                          <a:solidFill>
                            <a:srgbClr val="1A1A1A"/>
                          </a:solidFill>
                          <a:latin typeface="Consolas"/>
                        </a:rPr>
                        <a:t>+40.5%</a:t>
                      </a:r>
                    </a:p>
                  </a:txBody>
                  <a:tcPr marT="12700" marB="12700"/>
                </a:tc>
                <a:tc>
                  <a:txBody>
                    <a:bodyPr/>
                    <a:lstStyle/>
                    <a:p>
                      <a:pPr algn="r"/>
                      <a:r>
                        <a:rPr sz="1100" b="0">
                          <a:solidFill>
                            <a:srgbClr val="1A1A1A"/>
                          </a:solidFill>
                          <a:latin typeface="Consolas"/>
                        </a:rPr>
                        <a:t>26/36</a:t>
                      </a:r>
                    </a:p>
                  </a:txBody>
                  <a:tcPr marT="12700" marB="12700"/>
                </a:tc>
              </a:tr>
              <a:tr h="329184">
                <a:tc>
                  <a:txBody>
                    <a:bodyPr/>
                    <a:lstStyle/>
                    <a:p>
                      <a:pPr algn="l"/>
                      <a:r>
                        <a:rPr sz="1100" b="0">
                          <a:solidFill>
                            <a:srgbClr val="1A1A1A"/>
                          </a:solidFill>
                          <a:latin typeface="Segoe UI"/>
                        </a:rPr>
                        <a:t>Fable 5.1</a:t>
                      </a:r>
                    </a:p>
                  </a:txBody>
                  <a:tcPr marT="12700" marB="12700"/>
                </a:tc>
                <a:tc>
                  <a:txBody>
                    <a:bodyPr/>
                    <a:lstStyle/>
                    <a:p>
                      <a:pPr algn="r"/>
                      <a:r>
                        <a:rPr sz="1100" b="0">
                          <a:solidFill>
                            <a:srgbClr val="1A1A1A"/>
                          </a:solidFill>
                          <a:latin typeface="Consolas"/>
                        </a:rPr>
                        <a:t>349</a:t>
                      </a:r>
                    </a:p>
                  </a:txBody>
                  <a:tcPr marT="12700" marB="12700"/>
                </a:tc>
                <a:tc>
                  <a:txBody>
                    <a:bodyPr/>
                    <a:lstStyle/>
                    <a:p>
                      <a:pPr algn="r"/>
                      <a:r>
                        <a:rPr sz="1100" b="0">
                          <a:solidFill>
                            <a:srgbClr val="1A1A1A"/>
                          </a:solidFill>
                          <a:latin typeface="Consolas"/>
                        </a:rPr>
                        <a:t>630.20</a:t>
                      </a:r>
                    </a:p>
                  </a:txBody>
                  <a:tcPr marT="12700" marB="12700"/>
                </a:tc>
                <a:tc>
                  <a:txBody>
                    <a:bodyPr/>
                    <a:lstStyle/>
                    <a:p>
                      <a:pPr algn="r"/>
                      <a:r>
                        <a:rPr sz="1100" b="0">
                          <a:solidFill>
                            <a:srgbClr val="1A1A1A"/>
                          </a:solidFill>
                          <a:latin typeface="Consolas"/>
                        </a:rPr>
                        <a:t>1330.74</a:t>
                      </a:r>
                    </a:p>
                  </a:txBody>
                  <a:tcPr marT="12700" marB="12700"/>
                </a:tc>
                <a:tc>
                  <a:txBody>
                    <a:bodyPr/>
                    <a:lstStyle/>
                    <a:p>
                      <a:pPr algn="r"/>
                      <a:r>
                        <a:rPr sz="1100" b="0">
                          <a:solidFill>
                            <a:srgbClr val="1A1A1A"/>
                          </a:solidFill>
                          <a:latin typeface="Consolas"/>
                        </a:rPr>
                        <a:t>+280.74</a:t>
                      </a:r>
                    </a:p>
                  </a:txBody>
                  <a:tcPr marT="12700" marB="12700"/>
                </a:tc>
                <a:tc>
                  <a:txBody>
                    <a:bodyPr/>
                    <a:lstStyle/>
                    <a:p>
                      <a:pPr algn="r"/>
                      <a:r>
                        <a:rPr sz="1100" b="0">
                          <a:solidFill>
                            <a:srgbClr val="1A1A1A"/>
                          </a:solidFill>
                          <a:latin typeface="Consolas"/>
                        </a:rPr>
                        <a:t>+31.2%</a:t>
                      </a:r>
                    </a:p>
                  </a:txBody>
                  <a:tcPr marT="12700" marB="12700"/>
                </a:tc>
                <a:tc>
                  <a:txBody>
                    <a:bodyPr/>
                    <a:lstStyle/>
                    <a:p>
                      <a:pPr algn="r"/>
                      <a:r>
                        <a:rPr sz="1100" b="0">
                          <a:solidFill>
                            <a:srgbClr val="1A1A1A"/>
                          </a:solidFill>
                          <a:latin typeface="Consolas"/>
                        </a:rPr>
                        <a:t>21/28</a:t>
                      </a:r>
                    </a:p>
                  </a:txBody>
                  <a:tcPr marT="12700" marB="12700"/>
                </a:tc>
              </a:tr>
              <a:tr h="329184">
                <a:tc>
                  <a:txBody>
                    <a:bodyPr/>
                    <a:lstStyle/>
                    <a:p>
                      <a:pPr algn="l"/>
                      <a:r>
                        <a:rPr sz="1100" b="0">
                          <a:solidFill>
                            <a:srgbClr val="1A1A1A"/>
                          </a:solidFill>
                          <a:latin typeface="Segoe UI"/>
                        </a:rPr>
                        <a:t>Sol (GPT-5.6)</a:t>
                      </a:r>
                    </a:p>
                  </a:txBody>
                  <a:tcPr marT="12700" marB="12700"/>
                </a:tc>
                <a:tc>
                  <a:txBody>
                    <a:bodyPr/>
                    <a:lstStyle/>
                    <a:p>
                      <a:pPr algn="r"/>
                      <a:r>
                        <a:rPr sz="1100" b="0">
                          <a:solidFill>
                            <a:srgbClr val="1A1A1A"/>
                          </a:solidFill>
                          <a:latin typeface="Consolas"/>
                        </a:rPr>
                        <a:t>444</a:t>
                      </a:r>
                    </a:p>
                  </a:txBody>
                  <a:tcPr marT="12700" marB="12700"/>
                </a:tc>
                <a:tc>
                  <a:txBody>
                    <a:bodyPr/>
                    <a:lstStyle/>
                    <a:p>
                      <a:pPr algn="r"/>
                      <a:r>
                        <a:rPr sz="1100" b="0">
                          <a:solidFill>
                            <a:srgbClr val="1A1A1A"/>
                          </a:solidFill>
                          <a:latin typeface="Consolas"/>
                        </a:rPr>
                        <a:t>635.63</a:t>
                      </a:r>
                    </a:p>
                  </a:txBody>
                  <a:tcPr marT="12700" marB="12700"/>
                </a:tc>
                <a:tc>
                  <a:txBody>
                    <a:bodyPr/>
                    <a:lstStyle/>
                    <a:p>
                      <a:pPr algn="r"/>
                      <a:r>
                        <a:rPr sz="1100" b="0">
                          <a:solidFill>
                            <a:srgbClr val="1A1A1A"/>
                          </a:solidFill>
                          <a:latin typeface="Consolas"/>
                        </a:rPr>
                        <a:t>1315.61</a:t>
                      </a:r>
                    </a:p>
                  </a:txBody>
                  <a:tcPr marT="12700" marB="12700"/>
                </a:tc>
                <a:tc>
                  <a:txBody>
                    <a:bodyPr/>
                    <a:lstStyle/>
                    <a:p>
                      <a:pPr algn="r"/>
                      <a:r>
                        <a:rPr sz="1100" b="0">
                          <a:solidFill>
                            <a:srgbClr val="1A1A1A"/>
                          </a:solidFill>
                          <a:latin typeface="Consolas"/>
                        </a:rPr>
                        <a:t>+191.38</a:t>
                      </a:r>
                    </a:p>
                  </a:txBody>
                  <a:tcPr marT="12700" marB="12700"/>
                </a:tc>
                <a:tc>
                  <a:txBody>
                    <a:bodyPr/>
                    <a:lstStyle/>
                    <a:p>
                      <a:pPr algn="r"/>
                      <a:r>
                        <a:rPr sz="1100" b="0">
                          <a:solidFill>
                            <a:srgbClr val="1A1A1A"/>
                          </a:solidFill>
                          <a:latin typeface="Consolas"/>
                        </a:rPr>
                        <a:t>+21.3%</a:t>
                      </a:r>
                    </a:p>
                  </a:txBody>
                  <a:tcPr marT="12700" marB="12700"/>
                </a:tc>
                <a:tc>
                  <a:txBody>
                    <a:bodyPr/>
                    <a:lstStyle/>
                    <a:p>
                      <a:pPr algn="r"/>
                      <a:r>
                        <a:rPr sz="1100" b="0">
                          <a:solidFill>
                            <a:srgbClr val="1A1A1A"/>
                          </a:solidFill>
                          <a:latin typeface="Consolas"/>
                        </a:rPr>
                        <a:t>19/30</a:t>
                      </a:r>
                    </a:p>
                  </a:txBody>
                  <a:tcPr marT="12700" marB="12700"/>
                </a:tc>
              </a:tr>
              <a:tr h="329184">
                <a:tc>
                  <a:txBody>
                    <a:bodyPr/>
                    <a:lstStyle/>
                    <a:p>
                      <a:pPr algn="l"/>
                      <a:r>
                        <a:rPr sz="1100" b="0">
                          <a:solidFill>
                            <a:srgbClr val="1A1A1A"/>
                          </a:solidFill>
                          <a:latin typeface="Segoe UI"/>
                        </a:rPr>
                        <a:t>Astra (GPT-6b)</a:t>
                      </a:r>
                    </a:p>
                  </a:txBody>
                  <a:tcPr marT="12700" marB="12700"/>
                </a:tc>
                <a:tc>
                  <a:txBody>
                    <a:bodyPr/>
                    <a:lstStyle/>
                    <a:p>
                      <a:pPr algn="r"/>
                      <a:r>
                        <a:rPr sz="1100" b="0">
                          <a:solidFill>
                            <a:srgbClr val="1A1A1A"/>
                          </a:solidFill>
                          <a:latin typeface="Consolas"/>
                        </a:rPr>
                        <a:t>102</a:t>
                      </a:r>
                    </a:p>
                  </a:txBody>
                  <a:tcPr marT="12700" marB="12700"/>
                </a:tc>
                <a:tc>
                  <a:txBody>
                    <a:bodyPr/>
                    <a:lstStyle/>
                    <a:p>
                      <a:pPr algn="r"/>
                      <a:r>
                        <a:rPr sz="1100" b="0">
                          <a:solidFill>
                            <a:srgbClr val="1A1A1A"/>
                          </a:solidFill>
                          <a:latin typeface="Consolas"/>
                        </a:rPr>
                        <a:t>251.05</a:t>
                      </a:r>
                    </a:p>
                  </a:txBody>
                  <a:tcPr marT="12700" marB="12700"/>
                </a:tc>
                <a:tc>
                  <a:txBody>
                    <a:bodyPr/>
                    <a:lstStyle/>
                    <a:p>
                      <a:pPr algn="r"/>
                      <a:r>
                        <a:rPr sz="1100" b="0">
                          <a:solidFill>
                            <a:srgbClr val="1A1A1A"/>
                          </a:solidFill>
                          <a:latin typeface="Consolas"/>
                        </a:rPr>
                        <a:t>1123.17</a:t>
                      </a:r>
                    </a:p>
                  </a:txBody>
                  <a:tcPr marT="12700" marB="12700"/>
                </a:tc>
                <a:tc>
                  <a:txBody>
                    <a:bodyPr/>
                    <a:lstStyle/>
                    <a:p>
                      <a:pPr algn="r"/>
                      <a:r>
                        <a:rPr sz="1100" b="0">
                          <a:solidFill>
                            <a:srgbClr val="1A1A1A"/>
                          </a:solidFill>
                          <a:latin typeface="Consolas"/>
                        </a:rPr>
                        <a:t>+149.17</a:t>
                      </a:r>
                    </a:p>
                  </a:txBody>
                  <a:tcPr marT="12700" marB="12700"/>
                </a:tc>
                <a:tc>
                  <a:txBody>
                    <a:bodyPr/>
                    <a:lstStyle/>
                    <a:p>
                      <a:pPr algn="r"/>
                      <a:r>
                        <a:rPr sz="1100" b="0">
                          <a:solidFill>
                            <a:srgbClr val="1A1A1A"/>
                          </a:solidFill>
                          <a:latin typeface="Consolas"/>
                        </a:rPr>
                        <a:t>+16.6%</a:t>
                      </a:r>
                    </a:p>
                  </a:txBody>
                  <a:tcPr marT="12700" marB="12700"/>
                </a:tc>
                <a:tc>
                  <a:txBody>
                    <a:bodyPr/>
                    <a:lstStyle/>
                    <a:p>
                      <a:pPr algn="r"/>
                      <a:r>
                        <a:rPr sz="1100" b="0">
                          <a:solidFill>
                            <a:srgbClr val="1A1A1A"/>
                          </a:solidFill>
                          <a:latin typeface="Consolas"/>
                        </a:rPr>
                        <a:t>11/15</a:t>
                      </a:r>
                    </a:p>
                  </a:txBody>
                  <a:tcPr marT="12700" marB="12700"/>
                </a:tc>
              </a:tr>
              <a:tr h="329184">
                <a:tc>
                  <a:txBody>
                    <a:bodyPr/>
                    <a:lstStyle/>
                    <a:p>
                      <a:pPr algn="l"/>
                      <a:r>
                        <a:rPr sz="1100" b="0">
                          <a:solidFill>
                            <a:srgbClr val="1A1A1A"/>
                          </a:solidFill>
                          <a:latin typeface="Segoe UI"/>
                        </a:rPr>
                        <a:t>Jev</a:t>
                      </a:r>
                    </a:p>
                  </a:txBody>
                  <a:tcPr marT="12700" marB="12700"/>
                </a:tc>
                <a:tc>
                  <a:txBody>
                    <a:bodyPr/>
                    <a:lstStyle/>
                    <a:p>
                      <a:pPr algn="r"/>
                      <a:r>
                        <a:rPr sz="1100" b="0">
                          <a:solidFill>
                            <a:srgbClr val="1A1A1A"/>
                          </a:solidFill>
                          <a:latin typeface="Consolas"/>
                        </a:rPr>
                        <a:t>357</a:t>
                      </a:r>
                    </a:p>
                  </a:txBody>
                  <a:tcPr marT="12700" marB="12700"/>
                </a:tc>
                <a:tc>
                  <a:txBody>
                    <a:bodyPr/>
                    <a:lstStyle/>
                    <a:p>
                      <a:pPr algn="r"/>
                      <a:r>
                        <a:rPr sz="1100" b="0">
                          <a:solidFill>
                            <a:srgbClr val="1A1A1A"/>
                          </a:solidFill>
                          <a:latin typeface="Consolas"/>
                        </a:rPr>
                        <a:t>313.27</a:t>
                      </a:r>
                    </a:p>
                  </a:txBody>
                  <a:tcPr marT="12700" marB="12700"/>
                </a:tc>
                <a:tc>
                  <a:txBody>
                    <a:bodyPr/>
                    <a:lstStyle/>
                    <a:p>
                      <a:pPr algn="r"/>
                      <a:r>
                        <a:rPr sz="1100" b="0">
                          <a:solidFill>
                            <a:srgbClr val="1A1A1A"/>
                          </a:solidFill>
                          <a:latin typeface="Consolas"/>
                        </a:rPr>
                        <a:t>856.36</a:t>
                      </a:r>
                    </a:p>
                  </a:txBody>
                  <a:tcPr marT="12700" marB="12700"/>
                </a:tc>
                <a:tc>
                  <a:txBody>
                    <a:bodyPr/>
                    <a:lstStyle/>
                    <a:p>
                      <a:pPr algn="r"/>
                      <a:r>
                        <a:rPr sz="1100" b="0">
                          <a:solidFill>
                            <a:srgbClr val="1A1A1A"/>
                          </a:solidFill>
                          <a:latin typeface="Consolas"/>
                        </a:rPr>
                        <a:t>-43.64</a:t>
                      </a:r>
                    </a:p>
                  </a:txBody>
                  <a:tcPr marT="12700" marB="12700"/>
                </a:tc>
                <a:tc>
                  <a:txBody>
                    <a:bodyPr/>
                    <a:lstStyle/>
                    <a:p>
                      <a:pPr algn="r"/>
                      <a:r>
                        <a:rPr sz="1100" b="0">
                          <a:solidFill>
                            <a:srgbClr val="1A1A1A"/>
                          </a:solidFill>
                          <a:latin typeface="Consolas"/>
                        </a:rPr>
                        <a:t>-4.8%</a:t>
                      </a:r>
                    </a:p>
                  </a:txBody>
                  <a:tcPr marT="12700" marB="12700"/>
                </a:tc>
                <a:tc>
                  <a:txBody>
                    <a:bodyPr/>
                    <a:lstStyle/>
                    <a:p>
                      <a:pPr algn="r"/>
                      <a:r>
                        <a:rPr sz="1100" b="0">
                          <a:solidFill>
                            <a:srgbClr val="1A1A1A"/>
                          </a:solidFill>
                          <a:latin typeface="Consolas"/>
                        </a:rPr>
                        <a:t>15/35</a:t>
                      </a:r>
                    </a:p>
                  </a:txBody>
                  <a:tcPr marT="12700" marB="12700"/>
                </a:tc>
              </a:tr>
            </a:tbl>
          </a:graphicData>
        </a:graphic>
      </p:graphicFrame>
      <p:graphicFrame>
        <p:nvGraphicFramePr>
          <p:cNvPr id="6" name="Chart 5"/>
          <p:cNvGraphicFramePr>
            <a:graphicFrameLocks noGrp="1"/>
          </p:cNvGraphicFramePr>
          <p:nvPr/>
        </p:nvGraphicFramePr>
        <p:xfrm>
          <a:off x="6583680" y="1783080"/>
          <a:ext cx="5120640" cy="3108960"/>
        </p:xfrm>
        <a:graphic>
          <a:graphicData uri="http://schemas.openxmlformats.org/drawingml/2006/chart">
            <c:chart xmlns:c="http://schemas.openxmlformats.org/drawingml/2006/chart" r:id="rId2"/>
          </a:graphicData>
        </a:graphic>
      </p:graphicFrame>
      <p:sp>
        <p:nvSpPr>
          <p:cNvPr id="7" name="TextBox 6"/>
          <p:cNvSpPr txBox="1"/>
          <p:nvPr/>
        </p:nvSpPr>
        <p:spPr>
          <a:xfrm>
            <a:off x="566928" y="4114800"/>
            <a:ext cx="5669280" cy="2194560"/>
          </a:xfrm>
          <a:prstGeom prst="rect">
            <a:avLst/>
          </a:prstGeom>
          <a:noFill/>
        </p:spPr>
        <p:txBody>
          <a:bodyPr wrap="square">
            <a:spAutoFit/>
          </a:bodyPr>
          <a:lstStyle/>
          <a:p>
            <a:pPr algn="l">
              <a:spcAft>
                <a:spcPts val="400"/>
              </a:spcAft>
            </a:pPr>
            <a:r>
              <a:rPr sz="1200" b="0">
                <a:solidFill>
                  <a:srgbClr val="1A1A1A"/>
                </a:solidFill>
                <a:latin typeface="Segoe UI"/>
              </a:rPr>
              <a:t>Four of five made money. The fleet put 2,023 sUSDS at risk and finished +941.85, or +20.9% on the 4,500 staked.</a:t>
            </a:r>
          </a:p>
          <a:p>
            <a:pPr algn="l">
              <a:spcAft>
                <a:spcPts val="400"/>
              </a:spcAft>
            </a:pPr>
            <a:r>
              <a:rPr sz="1200" b="0">
                <a:solidFill>
                  <a:srgbClr val="1A1A1A"/>
                </a:solidFill>
                <a:latin typeface="Segoe UI"/>
              </a:rPr>
              <a:t>Opus deployed the most and collected the most (932.75 from 26 markets). Fable returned the most per unit risked — 630.20 on a 349 stake. Astra barely played: 15 markets, 11 of them paying.</a:t>
            </a:r>
          </a:p>
        </p:txBody>
      </p:sp>
      <p:sp>
        <p:nvSpPr>
          <p:cNvPr id="8" name="TextBox 7"/>
          <p:cNvSpPr txBox="1"/>
          <p:nvPr/>
        </p:nvSpPr>
        <p:spPr>
          <a:xfrm>
            <a:off x="6629400" y="5029200"/>
            <a:ext cx="5120640" cy="1097280"/>
          </a:xfrm>
          <a:prstGeom prst="rect">
            <a:avLst/>
          </a:prstGeom>
          <a:noFill/>
        </p:spPr>
        <p:txBody>
          <a:bodyPr wrap="square">
            <a:spAutoFit/>
          </a:bodyPr>
          <a:lstStyle/>
          <a:p>
            <a:pPr algn="l">
              <a:spcAft>
                <a:spcPts val="400"/>
              </a:spcAft>
            </a:pPr>
            <a:r>
              <a:rPr sz="1200" b="0">
                <a:solidFill>
                  <a:srgbClr val="A83232"/>
                </a:solidFill>
                <a:latin typeface="Segoe UI"/>
              </a:rPr>
              <a:t>Jev is the only loss, and the only bot that never adds to or unwinds a position: one trade per market, held to resolution whatever the ballots did next.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155680" cy="731520"/>
          </a:xfrm>
          <a:prstGeom prst="rect">
            <a:avLst/>
          </a:prstGeom>
          <a:noFill/>
        </p:spPr>
        <p:txBody>
          <a:bodyPr wrap="square">
            <a:spAutoFit/>
          </a:bodyPr>
          <a:lstStyle/>
          <a:p>
            <a:pPr algn="l">
              <a:spcAft>
                <a:spcPts val="400"/>
              </a:spcAft>
            </a:pPr>
            <a:r>
              <a:rPr sz="3000" b="1">
                <a:solidFill>
                  <a:srgbClr val="1A1A1A"/>
                </a:solidFill>
                <a:latin typeface="Bahnschrift"/>
              </a:rPr>
              <a:t>Forecast accuracy: Brier score</a:t>
            </a:r>
          </a:p>
        </p:txBody>
      </p:sp>
      <p:sp>
        <p:nvSpPr>
          <p:cNvPr id="3" name="TextBox 2"/>
          <p:cNvSpPr txBox="1"/>
          <p:nvPr/>
        </p:nvSpPr>
        <p:spPr>
          <a:xfrm>
            <a:off x="566928" y="1078992"/>
            <a:ext cx="11155680" cy="457200"/>
          </a:xfrm>
          <a:prstGeom prst="rect">
            <a:avLst/>
          </a:prstGeom>
          <a:noFill/>
        </p:spPr>
        <p:txBody>
          <a:bodyPr wrap="square">
            <a:spAutoFit/>
          </a:bodyPr>
          <a:lstStyle/>
          <a:p>
            <a:pPr algn="l">
              <a:spcAft>
                <a:spcPts val="400"/>
              </a:spcAft>
            </a:pPr>
            <a:r>
              <a:rPr sz="1300" b="0">
                <a:solidFill>
                  <a:srgbClr val="6B6B6B"/>
                </a:solidFill>
                <a:latin typeface="Segoe UI"/>
              </a:rPr>
              <a:t>(p − outcome)² averaged over 37 markets; Invalid dropped and renormalised, as in the NU7 deck. Lower is better.</a:t>
            </a:r>
          </a:p>
        </p:txBody>
      </p:sp>
      <p:sp>
        <p:nvSpPr>
          <p:cNvPr id="4" name="Rectangle 3"/>
          <p:cNvSpPr/>
          <p:nvPr/>
        </p:nvSpPr>
        <p:spPr>
          <a:xfrm>
            <a:off x="566928" y="1481328"/>
            <a:ext cx="1106424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640080" y="1783080"/>
          <a:ext cx="6766560" cy="4297680"/>
        </p:xfrm>
        <a:graphic>
          <a:graphicData uri="http://schemas.openxmlformats.org/drawingml/2006/chart">
            <c:chart xmlns:c="http://schemas.openxmlformats.org/drawingml/2006/chart" r:id="rId2"/>
          </a:graphicData>
        </a:graphic>
      </p:graphicFrame>
      <p:sp>
        <p:nvSpPr>
          <p:cNvPr id="6" name="TextBox 5"/>
          <p:cNvSpPr txBox="1"/>
          <p:nvPr/>
        </p:nvSpPr>
        <p:spPr>
          <a:xfrm>
            <a:off x="7680960" y="1828800"/>
            <a:ext cx="4023360" cy="4206240"/>
          </a:xfrm>
          <a:prstGeom prst="rect">
            <a:avLst/>
          </a:prstGeom>
          <a:noFill/>
        </p:spPr>
        <p:txBody>
          <a:bodyPr wrap="square">
            <a:spAutoFit/>
          </a:bodyPr>
          <a:lstStyle/>
          <a:p>
            <a:pPr algn="l">
              <a:spcAft>
                <a:spcPts val="400"/>
              </a:spcAft>
            </a:pPr>
            <a:r>
              <a:rPr sz="1200" b="0">
                <a:solidFill>
                  <a:srgbClr val="1A1A1A"/>
                </a:solidFill>
                <a:latin typeface="Segoe UI"/>
              </a:rPr>
              <a:t>Every bot with a full estimate set beat the market's own closing prices (0.163).</a:t>
            </a:r>
          </a:p>
          <a:p>
            <a:pPr algn="l">
              <a:spcAft>
                <a:spcPts val="400"/>
              </a:spcAft>
            </a:pPr>
            <a:r>
              <a:rPr sz="1200" b="0">
                <a:solidFill>
                  <a:srgbClr val="1A1A1A"/>
                </a:solidFill>
                <a:latin typeface="Segoe UI"/>
              </a:rPr>
              <a:t>Jev scored best at 0.030 — the plain classifier, asked one question per market, with no research loop at all.</a:t>
            </a:r>
          </a:p>
          <a:p>
            <a:pPr algn="l">
              <a:spcAft>
                <a:spcPts val="400"/>
              </a:spcAft>
            </a:pPr>
            <a:r>
              <a:rPr sz="1200" b="0">
                <a:solidFill>
                  <a:srgbClr val="1A1A1A"/>
                </a:solidFill>
                <a:latin typeface="Segoe UI"/>
              </a:rPr>
              <a:t>Fable leaned the right way on all 37 (accuracy 1.00) and Sol on 36.</a:t>
            </a:r>
          </a:p>
          <a:p>
            <a:pPr algn="l">
              <a:spcAft>
                <a:spcPts val="400"/>
              </a:spcAft>
            </a:pPr>
            <a:r>
              <a:rPr sz="1200" b="0">
                <a:solidFill>
                  <a:srgbClr val="1A1A1A"/>
                </a:solidFill>
                <a:latin typeface="Segoe UI"/>
              </a:rPr>
              <a:t>Opus is shown on the 12 markets where its queue notes recorded an estimate; no pass of its own wrote a machine-readable set, so it is not comparable with the rest.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155680" cy="731520"/>
          </a:xfrm>
          <a:prstGeom prst="rect">
            <a:avLst/>
          </a:prstGeom>
          <a:noFill/>
        </p:spPr>
        <p:txBody>
          <a:bodyPr wrap="square">
            <a:spAutoFit/>
          </a:bodyPr>
          <a:lstStyle/>
          <a:p>
            <a:pPr algn="l">
              <a:spcAft>
                <a:spcPts val="400"/>
              </a:spcAft>
            </a:pPr>
            <a:r>
              <a:rPr sz="3000" b="1">
                <a:solidFill>
                  <a:srgbClr val="1A1A1A"/>
                </a:solidFill>
                <a:latin typeface="Bahnschrift"/>
              </a:rPr>
              <a:t>Every measure</a:t>
            </a:r>
          </a:p>
        </p:txBody>
      </p:sp>
      <p:sp>
        <p:nvSpPr>
          <p:cNvPr id="3" name="TextBox 2"/>
          <p:cNvSpPr txBox="1"/>
          <p:nvPr/>
        </p:nvSpPr>
        <p:spPr>
          <a:xfrm>
            <a:off x="566928" y="1078992"/>
            <a:ext cx="11155680" cy="457200"/>
          </a:xfrm>
          <a:prstGeom prst="rect">
            <a:avLst/>
          </a:prstGeom>
          <a:noFill/>
        </p:spPr>
        <p:txBody>
          <a:bodyPr wrap="square">
            <a:spAutoFit/>
          </a:bodyPr>
          <a:lstStyle/>
          <a:p>
            <a:pPr algn="l">
              <a:spcAft>
                <a:spcPts val="400"/>
              </a:spcAft>
            </a:pPr>
            <a:r>
              <a:rPr sz="1300" b="0">
                <a:solidFill>
                  <a:srgbClr val="6B6B6B"/>
                </a:solidFill>
                <a:latin typeface="Segoe UI"/>
              </a:rPr>
              <a:t>Base rate 0.459: seventeen of thirty-seven accepted</a:t>
            </a:r>
          </a:p>
        </p:txBody>
      </p:sp>
      <p:sp>
        <p:nvSpPr>
          <p:cNvPr id="4" name="Rectangle 3"/>
          <p:cNvSpPr/>
          <p:nvPr/>
        </p:nvSpPr>
        <p:spPr>
          <a:xfrm>
            <a:off x="566928" y="1481328"/>
            <a:ext cx="1106424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874519"/>
          <a:ext cx="7680957" cy="2779776"/>
        </p:xfrm>
        <a:graphic>
          <a:graphicData uri="http://schemas.openxmlformats.org/drawingml/2006/table">
            <a:tbl>
              <a:tblPr firstRow="1" bandRow="1">
                <a:tableStyleId>{5C22544A-7EE6-4342-B048-85BDC9FD1C3A}</a:tableStyleId>
              </a:tblPr>
              <a:tblGrid>
                <a:gridCol w="2435426"/>
                <a:gridCol w="562021"/>
                <a:gridCol w="936702"/>
                <a:gridCol w="936702"/>
                <a:gridCol w="936702"/>
                <a:gridCol w="936702"/>
                <a:gridCol w="936702"/>
              </a:tblGrid>
              <a:tr h="347472">
                <a:tc>
                  <a:txBody>
                    <a:bodyPr/>
                    <a:lstStyle/>
                    <a:p>
                      <a:pPr algn="l"/>
                      <a:r>
                        <a:rPr sz="1000" b="1">
                          <a:solidFill>
                            <a:srgbClr val="1A1A1A"/>
                          </a:solidFill>
                          <a:latin typeface="Segoe UI"/>
                        </a:rPr>
                        <a:t>forecaster</a:t>
                      </a:r>
                    </a:p>
                  </a:txBody>
                  <a:tcPr marT="12700" marB="12700"/>
                </a:tc>
                <a:tc>
                  <a:txBody>
                    <a:bodyPr/>
                    <a:lstStyle/>
                    <a:p>
                      <a:pPr algn="r"/>
                      <a:r>
                        <a:rPr sz="1000" b="1">
                          <a:solidFill>
                            <a:srgbClr val="1A1A1A"/>
                          </a:solidFill>
                          <a:latin typeface="Segoe UI"/>
                        </a:rPr>
                        <a:t>n</a:t>
                      </a:r>
                    </a:p>
                  </a:txBody>
                  <a:tcPr marT="12700" marB="12700"/>
                </a:tc>
                <a:tc>
                  <a:txBody>
                    <a:bodyPr/>
                    <a:lstStyle/>
                    <a:p>
                      <a:pPr algn="l"/>
                      <a:r>
                        <a:rPr sz="1000" b="1">
                          <a:solidFill>
                            <a:srgbClr val="1A1A1A"/>
                          </a:solidFill>
                          <a:latin typeface="Segoe UI"/>
                        </a:rPr>
                        <a:t>Brier</a:t>
                      </a:r>
                    </a:p>
                  </a:txBody>
                  <a:tcPr marT="12700" marB="12700"/>
                </a:tc>
                <a:tc>
                  <a:txBody>
                    <a:bodyPr/>
                    <a:lstStyle/>
                    <a:p>
                      <a:pPr algn="l"/>
                      <a:r>
                        <a:rPr sz="1000" b="1">
                          <a:solidFill>
                            <a:srgbClr val="1A1A1A"/>
                          </a:solidFill>
                          <a:latin typeface="Segoe UI"/>
                        </a:rPr>
                        <a:t>log loss</a:t>
                      </a:r>
                    </a:p>
                  </a:txBody>
                  <a:tcPr marT="12700" marB="12700"/>
                </a:tc>
                <a:tc>
                  <a:txBody>
                    <a:bodyPr/>
                    <a:lstStyle/>
                    <a:p>
                      <a:pPr algn="r"/>
                      <a:r>
                        <a:rPr sz="1000" b="1">
                          <a:solidFill>
                            <a:srgbClr val="1A1A1A"/>
                          </a:solidFill>
                          <a:latin typeface="Segoe UI"/>
                        </a:rPr>
                        <a:t>accuracy</a:t>
                      </a:r>
                    </a:p>
                  </a:txBody>
                  <a:tcPr marT="12700" marB="12700"/>
                </a:tc>
                <a:tc>
                  <a:txBody>
                    <a:bodyPr/>
                    <a:lstStyle/>
                    <a:p>
                      <a:pPr algn="r"/>
                      <a:r>
                        <a:rPr sz="1000" b="1">
                          <a:solidFill>
                            <a:srgbClr val="1A1A1A"/>
                          </a:solidFill>
                          <a:latin typeface="Segoe UI"/>
                        </a:rPr>
                        <a:t>mean p</a:t>
                      </a:r>
                    </a:p>
                  </a:txBody>
                  <a:tcPr marT="12700" marB="12700"/>
                </a:tc>
                <a:tc>
                  <a:txBody>
                    <a:bodyPr/>
                    <a:lstStyle/>
                    <a:p>
                      <a:pPr algn="r"/>
                      <a:r>
                        <a:rPr sz="1000" b="1">
                          <a:solidFill>
                            <a:srgbClr val="1A1A1A"/>
                          </a:solidFill>
                          <a:latin typeface="Segoe UI"/>
                        </a:rPr>
                        <a:t>bias</a:t>
                      </a:r>
                    </a:p>
                  </a:txBody>
                  <a:tcPr marT="12700" marB="12700"/>
                </a:tc>
              </a:tr>
              <a:tr h="347472">
                <a:tc>
                  <a:txBody>
                    <a:bodyPr/>
                    <a:lstStyle/>
                    <a:p>
                      <a:pPr algn="l"/>
                      <a:r>
                        <a:rPr sz="1100" b="0">
                          <a:solidFill>
                            <a:srgbClr val="1A1A1A"/>
                          </a:solidFill>
                          <a:latin typeface="Segoe UI"/>
                        </a:rPr>
                        <a:t>Jev</a:t>
                      </a:r>
                    </a:p>
                  </a:txBody>
                  <a:tcPr marT="12700" marB="12700"/>
                </a:tc>
                <a:tc>
                  <a:txBody>
                    <a:bodyPr/>
                    <a:lstStyle/>
                    <a:p>
                      <a:pPr algn="r"/>
                      <a:r>
                        <a:rPr sz="1100" b="0">
                          <a:solidFill>
                            <a:srgbClr val="1A1A1A"/>
                          </a:solidFill>
                          <a:latin typeface="Consolas"/>
                        </a:rPr>
                        <a:t>37</a:t>
                      </a:r>
                    </a:p>
                  </a:txBody>
                  <a:tcPr marT="12700" marB="12700"/>
                </a:tc>
                <a:tc>
                  <a:txBody>
                    <a:bodyPr/>
                    <a:lstStyle/>
                    <a:p>
                      <a:pPr algn="r"/>
                      <a:r>
                        <a:rPr sz="1100" b="0">
                          <a:solidFill>
                            <a:srgbClr val="1A1A1A"/>
                          </a:solidFill>
                          <a:latin typeface="Consolas"/>
                        </a:rPr>
                        <a:t>0.0298</a:t>
                      </a:r>
                    </a:p>
                  </a:txBody>
                  <a:tcPr marT="12700" marB="12700"/>
                </a:tc>
                <a:tc>
                  <a:txBody>
                    <a:bodyPr/>
                    <a:lstStyle/>
                    <a:p>
                      <a:pPr algn="r"/>
                      <a:r>
                        <a:rPr sz="1100" b="0">
                          <a:solidFill>
                            <a:srgbClr val="1A1A1A"/>
                          </a:solidFill>
                          <a:latin typeface="Consolas"/>
                        </a:rPr>
                        <a:t>0.1237</a:t>
                      </a:r>
                    </a:p>
                  </a:txBody>
                  <a:tcPr marT="12700" marB="12700"/>
                </a:tc>
                <a:tc>
                  <a:txBody>
                    <a:bodyPr/>
                    <a:lstStyle/>
                    <a:p>
                      <a:pPr algn="r"/>
                      <a:r>
                        <a:rPr sz="1100" b="0">
                          <a:solidFill>
                            <a:srgbClr val="1A1A1A"/>
                          </a:solidFill>
                          <a:latin typeface="Consolas"/>
                        </a:rPr>
                        <a:t>0.95</a:t>
                      </a:r>
                    </a:p>
                  </a:txBody>
                  <a:tcPr marT="12700" marB="12700"/>
                </a:tc>
                <a:tc>
                  <a:txBody>
                    <a:bodyPr/>
                    <a:lstStyle/>
                    <a:p>
                      <a:pPr algn="r"/>
                      <a:r>
                        <a:rPr sz="1100" b="0">
                          <a:solidFill>
                            <a:srgbClr val="1A1A1A"/>
                          </a:solidFill>
                          <a:latin typeface="Consolas"/>
                        </a:rPr>
                        <a:t>0.408</a:t>
                      </a:r>
                    </a:p>
                  </a:txBody>
                  <a:tcPr marT="12700" marB="12700"/>
                </a:tc>
                <a:tc>
                  <a:txBody>
                    <a:bodyPr/>
                    <a:lstStyle/>
                    <a:p>
                      <a:pPr algn="r"/>
                      <a:r>
                        <a:rPr sz="1100" b="0">
                          <a:solidFill>
                            <a:srgbClr val="1A1A1A"/>
                          </a:solidFill>
                          <a:latin typeface="Consolas"/>
                        </a:rPr>
                        <a:t>-0.052</a:t>
                      </a:r>
                    </a:p>
                  </a:txBody>
                  <a:tcPr marT="12700" marB="12700"/>
                </a:tc>
              </a:tr>
              <a:tr h="347472">
                <a:tc>
                  <a:txBody>
                    <a:bodyPr/>
                    <a:lstStyle/>
                    <a:p>
                      <a:pPr algn="l"/>
                      <a:r>
                        <a:rPr sz="1100" b="0">
                          <a:solidFill>
                            <a:srgbClr val="1A1A1A"/>
                          </a:solidFill>
                          <a:latin typeface="Segoe UI"/>
                        </a:rPr>
                        <a:t>Sol (GPT-5.6)</a:t>
                      </a:r>
                    </a:p>
                  </a:txBody>
                  <a:tcPr marT="12700" marB="12700"/>
                </a:tc>
                <a:tc>
                  <a:txBody>
                    <a:bodyPr/>
                    <a:lstStyle/>
                    <a:p>
                      <a:pPr algn="r"/>
                      <a:r>
                        <a:rPr sz="1100" b="0">
                          <a:solidFill>
                            <a:srgbClr val="1A1A1A"/>
                          </a:solidFill>
                          <a:latin typeface="Consolas"/>
                        </a:rPr>
                        <a:t>37</a:t>
                      </a:r>
                    </a:p>
                  </a:txBody>
                  <a:tcPr marT="12700" marB="12700"/>
                </a:tc>
                <a:tc>
                  <a:txBody>
                    <a:bodyPr/>
                    <a:lstStyle/>
                    <a:p>
                      <a:pPr algn="r"/>
                      <a:r>
                        <a:rPr sz="1100" b="0">
                          <a:solidFill>
                            <a:srgbClr val="1A1A1A"/>
                          </a:solidFill>
                          <a:latin typeface="Consolas"/>
                        </a:rPr>
                        <a:t>0.0569</a:t>
                      </a:r>
                    </a:p>
                  </a:txBody>
                  <a:tcPr marT="12700" marB="12700"/>
                </a:tc>
                <a:tc>
                  <a:txBody>
                    <a:bodyPr/>
                    <a:lstStyle/>
                    <a:p>
                      <a:pPr algn="r"/>
                      <a:r>
                        <a:rPr sz="1100" b="0">
                          <a:solidFill>
                            <a:srgbClr val="1A1A1A"/>
                          </a:solidFill>
                          <a:latin typeface="Consolas"/>
                        </a:rPr>
                        <a:t>0.2401</a:t>
                      </a:r>
                    </a:p>
                  </a:txBody>
                  <a:tcPr marT="12700" marB="12700"/>
                </a:tc>
                <a:tc>
                  <a:txBody>
                    <a:bodyPr/>
                    <a:lstStyle/>
                    <a:p>
                      <a:pPr algn="r"/>
                      <a:r>
                        <a:rPr sz="1100" b="0">
                          <a:solidFill>
                            <a:srgbClr val="1A1A1A"/>
                          </a:solidFill>
                          <a:latin typeface="Consolas"/>
                        </a:rPr>
                        <a:t>0.97</a:t>
                      </a:r>
                    </a:p>
                  </a:txBody>
                  <a:tcPr marT="12700" marB="12700"/>
                </a:tc>
                <a:tc>
                  <a:txBody>
                    <a:bodyPr/>
                    <a:lstStyle/>
                    <a:p>
                      <a:pPr algn="r"/>
                      <a:r>
                        <a:rPr sz="1100" b="0">
                          <a:solidFill>
                            <a:srgbClr val="1A1A1A"/>
                          </a:solidFill>
                          <a:latin typeface="Consolas"/>
                        </a:rPr>
                        <a:t>0.562</a:t>
                      </a:r>
                    </a:p>
                  </a:txBody>
                  <a:tcPr marT="12700" marB="12700"/>
                </a:tc>
                <a:tc>
                  <a:txBody>
                    <a:bodyPr/>
                    <a:lstStyle/>
                    <a:p>
                      <a:pPr algn="r"/>
                      <a:r>
                        <a:rPr sz="1100" b="0">
                          <a:solidFill>
                            <a:srgbClr val="1A1A1A"/>
                          </a:solidFill>
                          <a:latin typeface="Consolas"/>
                        </a:rPr>
                        <a:t>+0.102</a:t>
                      </a:r>
                    </a:p>
                  </a:txBody>
                  <a:tcPr marT="12700" marB="12700"/>
                </a:tc>
              </a:tr>
              <a:tr h="347472">
                <a:tc>
                  <a:txBody>
                    <a:bodyPr/>
                    <a:lstStyle/>
                    <a:p>
                      <a:pPr algn="l"/>
                      <a:r>
                        <a:rPr sz="1100" b="0">
                          <a:solidFill>
                            <a:srgbClr val="1A1A1A"/>
                          </a:solidFill>
                          <a:latin typeface="Segoe UI"/>
                        </a:rPr>
                        <a:t>Fable 5.1</a:t>
                      </a:r>
                    </a:p>
                  </a:txBody>
                  <a:tcPr marT="12700" marB="12700"/>
                </a:tc>
                <a:tc>
                  <a:txBody>
                    <a:bodyPr/>
                    <a:lstStyle/>
                    <a:p>
                      <a:pPr algn="r"/>
                      <a:r>
                        <a:rPr sz="1100" b="0">
                          <a:solidFill>
                            <a:srgbClr val="1A1A1A"/>
                          </a:solidFill>
                          <a:latin typeface="Consolas"/>
                        </a:rPr>
                        <a:t>37</a:t>
                      </a:r>
                    </a:p>
                  </a:txBody>
                  <a:tcPr marT="12700" marB="12700"/>
                </a:tc>
                <a:tc>
                  <a:txBody>
                    <a:bodyPr/>
                    <a:lstStyle/>
                    <a:p>
                      <a:pPr algn="r"/>
                      <a:r>
                        <a:rPr sz="1100" b="0">
                          <a:solidFill>
                            <a:srgbClr val="1A1A1A"/>
                          </a:solidFill>
                          <a:latin typeface="Consolas"/>
                        </a:rPr>
                        <a:t>0.0699</a:t>
                      </a:r>
                    </a:p>
                  </a:txBody>
                  <a:tcPr marT="12700" marB="12700"/>
                </a:tc>
                <a:tc>
                  <a:txBody>
                    <a:bodyPr/>
                    <a:lstStyle/>
                    <a:p>
                      <a:pPr algn="r"/>
                      <a:r>
                        <a:rPr sz="1100" b="0">
                          <a:solidFill>
                            <a:srgbClr val="1A1A1A"/>
                          </a:solidFill>
                          <a:latin typeface="Consolas"/>
                        </a:rPr>
                        <a:t>0.2911</a:t>
                      </a:r>
                    </a:p>
                  </a:txBody>
                  <a:tcPr marT="12700" marB="12700"/>
                </a:tc>
                <a:tc>
                  <a:txBody>
                    <a:bodyPr/>
                    <a:lstStyle/>
                    <a:p>
                      <a:pPr algn="r"/>
                      <a:r>
                        <a:rPr sz="1100" b="0">
                          <a:solidFill>
                            <a:srgbClr val="1A1A1A"/>
                          </a:solidFill>
                          <a:latin typeface="Consolas"/>
                        </a:rPr>
                        <a:t>1.00</a:t>
                      </a:r>
                    </a:p>
                  </a:txBody>
                  <a:tcPr marT="12700" marB="12700"/>
                </a:tc>
                <a:tc>
                  <a:txBody>
                    <a:bodyPr/>
                    <a:lstStyle/>
                    <a:p>
                      <a:pPr algn="r"/>
                      <a:r>
                        <a:rPr sz="1100" b="0">
                          <a:solidFill>
                            <a:srgbClr val="1A1A1A"/>
                          </a:solidFill>
                          <a:latin typeface="Consolas"/>
                        </a:rPr>
                        <a:t>0.542</a:t>
                      </a:r>
                    </a:p>
                  </a:txBody>
                  <a:tcPr marT="12700" marB="12700"/>
                </a:tc>
                <a:tc>
                  <a:txBody>
                    <a:bodyPr/>
                    <a:lstStyle/>
                    <a:p>
                      <a:pPr algn="r"/>
                      <a:r>
                        <a:rPr sz="1100" b="0">
                          <a:solidFill>
                            <a:srgbClr val="1A1A1A"/>
                          </a:solidFill>
                          <a:latin typeface="Consolas"/>
                        </a:rPr>
                        <a:t>+0.082</a:t>
                      </a:r>
                    </a:p>
                  </a:txBody>
                  <a:tcPr marT="12700" marB="12700"/>
                </a:tc>
              </a:tr>
              <a:tr h="347472">
                <a:tc>
                  <a:txBody>
                    <a:bodyPr/>
                    <a:lstStyle/>
                    <a:p>
                      <a:pPr algn="l"/>
                      <a:r>
                        <a:rPr sz="1100" b="0">
                          <a:solidFill>
                            <a:srgbClr val="1A1A1A"/>
                          </a:solidFill>
                          <a:latin typeface="Segoe UI"/>
                        </a:rPr>
                        <a:t>Astra (GPT-6b)</a:t>
                      </a:r>
                    </a:p>
                  </a:txBody>
                  <a:tcPr marT="12700" marB="12700"/>
                </a:tc>
                <a:tc>
                  <a:txBody>
                    <a:bodyPr/>
                    <a:lstStyle/>
                    <a:p>
                      <a:pPr algn="r"/>
                      <a:r>
                        <a:rPr sz="1100" b="0">
                          <a:solidFill>
                            <a:srgbClr val="1A1A1A"/>
                          </a:solidFill>
                          <a:latin typeface="Consolas"/>
                        </a:rPr>
                        <a:t>37</a:t>
                      </a:r>
                    </a:p>
                  </a:txBody>
                  <a:tcPr marT="12700" marB="12700"/>
                </a:tc>
                <a:tc>
                  <a:txBody>
                    <a:bodyPr/>
                    <a:lstStyle/>
                    <a:p>
                      <a:pPr algn="r"/>
                      <a:r>
                        <a:rPr sz="1100" b="0">
                          <a:solidFill>
                            <a:srgbClr val="1A1A1A"/>
                          </a:solidFill>
                          <a:latin typeface="Consolas"/>
                        </a:rPr>
                        <a:t>0.1258</a:t>
                      </a:r>
                    </a:p>
                  </a:txBody>
                  <a:tcPr marT="12700" marB="12700"/>
                </a:tc>
                <a:tc>
                  <a:txBody>
                    <a:bodyPr/>
                    <a:lstStyle/>
                    <a:p>
                      <a:pPr algn="r"/>
                      <a:r>
                        <a:rPr sz="1100" b="0">
                          <a:solidFill>
                            <a:srgbClr val="1A1A1A"/>
                          </a:solidFill>
                          <a:latin typeface="Consolas"/>
                        </a:rPr>
                        <a:t>0.4198</a:t>
                      </a:r>
                    </a:p>
                  </a:txBody>
                  <a:tcPr marT="12700" marB="12700"/>
                </a:tc>
                <a:tc>
                  <a:txBody>
                    <a:bodyPr/>
                    <a:lstStyle/>
                    <a:p>
                      <a:pPr algn="r"/>
                      <a:r>
                        <a:rPr sz="1100" b="0">
                          <a:solidFill>
                            <a:srgbClr val="1A1A1A"/>
                          </a:solidFill>
                          <a:latin typeface="Consolas"/>
                        </a:rPr>
                        <a:t>0.89</a:t>
                      </a:r>
                    </a:p>
                  </a:txBody>
                  <a:tcPr marT="12700" marB="12700"/>
                </a:tc>
                <a:tc>
                  <a:txBody>
                    <a:bodyPr/>
                    <a:lstStyle/>
                    <a:p>
                      <a:pPr algn="r"/>
                      <a:r>
                        <a:rPr sz="1100" b="0">
                          <a:solidFill>
                            <a:srgbClr val="1A1A1A"/>
                          </a:solidFill>
                          <a:latin typeface="Consolas"/>
                        </a:rPr>
                        <a:t>0.554</a:t>
                      </a:r>
                    </a:p>
                  </a:txBody>
                  <a:tcPr marT="12700" marB="12700"/>
                </a:tc>
                <a:tc>
                  <a:txBody>
                    <a:bodyPr/>
                    <a:lstStyle/>
                    <a:p>
                      <a:pPr algn="r"/>
                      <a:r>
                        <a:rPr sz="1100" b="0">
                          <a:solidFill>
                            <a:srgbClr val="1A1A1A"/>
                          </a:solidFill>
                          <a:latin typeface="Consolas"/>
                        </a:rPr>
                        <a:t>+0.095</a:t>
                      </a:r>
                    </a:p>
                  </a:txBody>
                  <a:tcPr marT="12700" marB="12700"/>
                </a:tc>
              </a:tr>
              <a:tr h="347472">
                <a:tc>
                  <a:txBody>
                    <a:bodyPr/>
                    <a:lstStyle/>
                    <a:p>
                      <a:pPr algn="l"/>
                      <a:r>
                        <a:rPr sz="1100" b="0">
                          <a:solidFill>
                            <a:srgbClr val="1A1A1A"/>
                          </a:solidFill>
                          <a:latin typeface="Segoe UI"/>
                        </a:rPr>
                        <a:t>Market (closing price)</a:t>
                      </a:r>
                    </a:p>
                  </a:txBody>
                  <a:tcPr marT="12700" marB="12700"/>
                </a:tc>
                <a:tc>
                  <a:txBody>
                    <a:bodyPr/>
                    <a:lstStyle/>
                    <a:p>
                      <a:pPr algn="r"/>
                      <a:r>
                        <a:rPr sz="1100" b="0">
                          <a:solidFill>
                            <a:srgbClr val="1A1A1A"/>
                          </a:solidFill>
                          <a:latin typeface="Consolas"/>
                        </a:rPr>
                        <a:t>37</a:t>
                      </a:r>
                    </a:p>
                  </a:txBody>
                  <a:tcPr marT="12700" marB="12700"/>
                </a:tc>
                <a:tc>
                  <a:txBody>
                    <a:bodyPr/>
                    <a:lstStyle/>
                    <a:p>
                      <a:pPr algn="r"/>
                      <a:r>
                        <a:rPr sz="1100" b="0">
                          <a:solidFill>
                            <a:srgbClr val="1A1A1A"/>
                          </a:solidFill>
                          <a:latin typeface="Consolas"/>
                        </a:rPr>
                        <a:t>0.1632</a:t>
                      </a:r>
                    </a:p>
                  </a:txBody>
                  <a:tcPr marT="12700" marB="12700"/>
                </a:tc>
                <a:tc>
                  <a:txBody>
                    <a:bodyPr/>
                    <a:lstStyle/>
                    <a:p>
                      <a:pPr algn="r"/>
                      <a:r>
                        <a:rPr sz="1100" b="0">
                          <a:solidFill>
                            <a:srgbClr val="1A1A1A"/>
                          </a:solidFill>
                          <a:latin typeface="Consolas"/>
                        </a:rPr>
                        <a:t>0.4931</a:t>
                      </a:r>
                    </a:p>
                  </a:txBody>
                  <a:tcPr marT="12700" marB="12700"/>
                </a:tc>
                <a:tc>
                  <a:txBody>
                    <a:bodyPr/>
                    <a:lstStyle/>
                    <a:p>
                      <a:pPr algn="r"/>
                      <a:r>
                        <a:rPr sz="1100" b="0">
                          <a:solidFill>
                            <a:srgbClr val="1A1A1A"/>
                          </a:solidFill>
                          <a:latin typeface="Consolas"/>
                        </a:rPr>
                        <a:t>0.68</a:t>
                      </a:r>
                    </a:p>
                  </a:txBody>
                  <a:tcPr marT="12700" marB="12700"/>
                </a:tc>
                <a:tc>
                  <a:txBody>
                    <a:bodyPr/>
                    <a:lstStyle/>
                    <a:p>
                      <a:pPr algn="r"/>
                      <a:r>
                        <a:rPr sz="1100" b="0">
                          <a:solidFill>
                            <a:srgbClr val="1A1A1A"/>
                          </a:solidFill>
                          <a:latin typeface="Consolas"/>
                        </a:rPr>
                        <a:t>0.606</a:t>
                      </a:r>
                    </a:p>
                  </a:txBody>
                  <a:tcPr marT="12700" marB="12700"/>
                </a:tc>
                <a:tc>
                  <a:txBody>
                    <a:bodyPr/>
                    <a:lstStyle/>
                    <a:p>
                      <a:pPr algn="r"/>
                      <a:r>
                        <a:rPr sz="1100" b="0">
                          <a:solidFill>
                            <a:srgbClr val="1A1A1A"/>
                          </a:solidFill>
                          <a:latin typeface="Consolas"/>
                        </a:rPr>
                        <a:t>+0.147</a:t>
                      </a:r>
                    </a:p>
                  </a:txBody>
                  <a:tcPr marT="12700" marB="12700"/>
                </a:tc>
              </a:tr>
              <a:tr h="347472">
                <a:tc>
                  <a:txBody>
                    <a:bodyPr/>
                    <a:lstStyle/>
                    <a:p>
                      <a:pPr algn="l"/>
                      <a:r>
                        <a:rPr sz="1100" b="0">
                          <a:solidFill>
                            <a:srgbClr val="1A1A1A"/>
                          </a:solidFill>
                          <a:latin typeface="Segoe UI"/>
                        </a:rPr>
                        <a:t>Opus 5</a:t>
                      </a:r>
                    </a:p>
                  </a:txBody>
                  <a:tcPr marT="12700" marB="12700"/>
                </a:tc>
                <a:tc>
                  <a:txBody>
                    <a:bodyPr/>
                    <a:lstStyle/>
                    <a:p>
                      <a:pPr algn="r"/>
                      <a:r>
                        <a:rPr sz="1100" b="0">
                          <a:solidFill>
                            <a:srgbClr val="1A1A1A"/>
                          </a:solidFill>
                          <a:latin typeface="Consolas"/>
                        </a:rPr>
                        <a:t>12</a:t>
                      </a:r>
                    </a:p>
                  </a:txBody>
                  <a:tcPr marT="12700" marB="12700"/>
                </a:tc>
                <a:tc>
                  <a:txBody>
                    <a:bodyPr/>
                    <a:lstStyle/>
                    <a:p>
                      <a:pPr algn="r"/>
                      <a:r>
                        <a:rPr sz="1100" b="0">
                          <a:solidFill>
                            <a:srgbClr val="1A1A1A"/>
                          </a:solidFill>
                          <a:latin typeface="Consolas"/>
                        </a:rPr>
                        <a:t>0.2252</a:t>
                      </a:r>
                    </a:p>
                  </a:txBody>
                  <a:tcPr marT="12700" marB="12700"/>
                </a:tc>
                <a:tc>
                  <a:txBody>
                    <a:bodyPr/>
                    <a:lstStyle/>
                    <a:p>
                      <a:pPr algn="r"/>
                      <a:r>
                        <a:rPr sz="1100" b="0">
                          <a:solidFill>
                            <a:srgbClr val="1A1A1A"/>
                          </a:solidFill>
                          <a:latin typeface="Consolas"/>
                        </a:rPr>
                        <a:t>0.6281</a:t>
                      </a:r>
                    </a:p>
                  </a:txBody>
                  <a:tcPr marT="12700" marB="12700"/>
                </a:tc>
                <a:tc>
                  <a:txBody>
                    <a:bodyPr/>
                    <a:lstStyle/>
                    <a:p>
                      <a:pPr algn="r"/>
                      <a:r>
                        <a:rPr sz="1100" b="0">
                          <a:solidFill>
                            <a:srgbClr val="1A1A1A"/>
                          </a:solidFill>
                          <a:latin typeface="Consolas"/>
                        </a:rPr>
                        <a:t>0.50</a:t>
                      </a:r>
                    </a:p>
                  </a:txBody>
                  <a:tcPr marT="12700" marB="12700"/>
                </a:tc>
                <a:tc>
                  <a:txBody>
                    <a:bodyPr/>
                    <a:lstStyle/>
                    <a:p>
                      <a:pPr algn="r"/>
                      <a:r>
                        <a:rPr sz="1100" b="0">
                          <a:solidFill>
                            <a:srgbClr val="1A1A1A"/>
                          </a:solidFill>
                          <a:latin typeface="Consolas"/>
                        </a:rPr>
                        <a:t>0.520</a:t>
                      </a:r>
                    </a:p>
                  </a:txBody>
                  <a:tcPr marT="12700" marB="12700"/>
                </a:tc>
                <a:tc>
                  <a:txBody>
                    <a:bodyPr/>
                    <a:lstStyle/>
                    <a:p>
                      <a:pPr algn="r"/>
                      <a:r>
                        <a:rPr sz="1100" b="0">
                          <a:solidFill>
                            <a:srgbClr val="1A1A1A"/>
                          </a:solidFill>
                          <a:latin typeface="Consolas"/>
                        </a:rPr>
                        <a:t>+0.103</a:t>
                      </a:r>
                    </a:p>
                  </a:txBody>
                  <a:tcPr marT="12700" marB="12700"/>
                </a:tc>
              </a:tr>
              <a:tr h="347472">
                <a:tc>
                  <a:txBody>
                    <a:bodyPr/>
                    <a:lstStyle/>
                    <a:p>
                      <a:pPr algn="l"/>
                      <a:r>
                        <a:rPr sz="1100" b="0">
                          <a:solidFill>
                            <a:srgbClr val="1A1A1A"/>
                          </a:solidFill>
                          <a:latin typeface="Segoe UI"/>
                        </a:rPr>
                        <a:t>Always 50/50</a:t>
                      </a:r>
                    </a:p>
                  </a:txBody>
                  <a:tcPr marT="12700" marB="12700"/>
                </a:tc>
                <a:tc>
                  <a:txBody>
                    <a:bodyPr/>
                    <a:lstStyle/>
                    <a:p>
                      <a:pPr algn="r"/>
                      <a:r>
                        <a:rPr sz="1100" b="0">
                          <a:solidFill>
                            <a:srgbClr val="1A1A1A"/>
                          </a:solidFill>
                          <a:latin typeface="Consolas"/>
                        </a:rPr>
                        <a:t>37</a:t>
                      </a:r>
                    </a:p>
                  </a:txBody>
                  <a:tcPr marT="12700" marB="12700"/>
                </a:tc>
                <a:tc>
                  <a:txBody>
                    <a:bodyPr/>
                    <a:lstStyle/>
                    <a:p>
                      <a:pPr algn="r"/>
                      <a:r>
                        <a:rPr sz="1100" b="0">
                          <a:solidFill>
                            <a:srgbClr val="1A1A1A"/>
                          </a:solidFill>
                          <a:latin typeface="Consolas"/>
                        </a:rPr>
                        <a:t>0.2500</a:t>
                      </a:r>
                    </a:p>
                  </a:txBody>
                  <a:tcPr marT="12700" marB="12700"/>
                </a:tc>
                <a:tc>
                  <a:txBody>
                    <a:bodyPr/>
                    <a:lstStyle/>
                    <a:p>
                      <a:pPr algn="r"/>
                      <a:r>
                        <a:rPr sz="1100" b="0">
                          <a:solidFill>
                            <a:srgbClr val="1A1A1A"/>
                          </a:solidFill>
                          <a:latin typeface="Consolas"/>
                        </a:rPr>
                        <a:t>0.6931</a:t>
                      </a:r>
                    </a:p>
                  </a:txBody>
                  <a:tcPr marT="12700" marB="12700"/>
                </a:tc>
                <a:tc>
                  <a:txBody>
                    <a:bodyPr/>
                    <a:lstStyle/>
                    <a:p>
                      <a:pPr algn="r"/>
                      <a:r>
                        <a:rPr sz="1100" b="0">
                          <a:solidFill>
                            <a:srgbClr val="1A1A1A"/>
                          </a:solidFill>
                          <a:latin typeface="Consolas"/>
                        </a:rPr>
                        <a:t>0.46</a:t>
                      </a:r>
                    </a:p>
                  </a:txBody>
                  <a:tcPr marT="12700" marB="12700"/>
                </a:tc>
                <a:tc>
                  <a:txBody>
                    <a:bodyPr/>
                    <a:lstStyle/>
                    <a:p>
                      <a:pPr algn="r"/>
                      <a:r>
                        <a:rPr sz="1100" b="0">
                          <a:solidFill>
                            <a:srgbClr val="1A1A1A"/>
                          </a:solidFill>
                          <a:latin typeface="Consolas"/>
                        </a:rPr>
                        <a:t>0.500</a:t>
                      </a:r>
                    </a:p>
                  </a:txBody>
                  <a:tcPr marT="12700" marB="12700"/>
                </a:tc>
                <a:tc>
                  <a:txBody>
                    <a:bodyPr/>
                    <a:lstStyle/>
                    <a:p>
                      <a:pPr algn="r"/>
                      <a:r>
                        <a:rPr sz="1100" b="0">
                          <a:solidFill>
                            <a:srgbClr val="1A1A1A"/>
                          </a:solidFill>
                          <a:latin typeface="Consolas"/>
                        </a:rPr>
                        <a:t>+0.041</a:t>
                      </a:r>
                    </a:p>
                  </a:txBody>
                  <a:tcPr marT="12700" marB="12700"/>
                </a:tc>
              </a:tr>
            </a:tbl>
          </a:graphicData>
        </a:graphic>
      </p:graphicFrame>
      <p:sp>
        <p:nvSpPr>
          <p:cNvPr id="6" name="TextBox 5"/>
          <p:cNvSpPr txBox="1"/>
          <p:nvPr/>
        </p:nvSpPr>
        <p:spPr>
          <a:xfrm>
            <a:off x="566928" y="4937760"/>
            <a:ext cx="11064240" cy="1463040"/>
          </a:xfrm>
          <a:prstGeom prst="rect">
            <a:avLst/>
          </a:prstGeom>
          <a:noFill/>
        </p:spPr>
        <p:txBody>
          <a:bodyPr wrap="square">
            <a:spAutoFit/>
          </a:bodyPr>
          <a:lstStyle/>
          <a:p>
            <a:pPr algn="l">
              <a:spcAft>
                <a:spcPts val="400"/>
              </a:spcAft>
            </a:pPr>
            <a:r>
              <a:rPr sz="1200" b="0">
                <a:solidFill>
                  <a:srgbClr val="1A1A1A"/>
                </a:solidFill>
                <a:latin typeface="Segoe UI"/>
              </a:rPr>
              <a:t>Bias is mean forecast minus base rate: positive means systematically too bullish. Every forecaster was too bullish except Jev, which was the only one to lean below the base rate — and the market was the most bullish of all at +0.147, which is exactly the whale flip it failed to price.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155680" cy="731520"/>
          </a:xfrm>
          <a:prstGeom prst="rect">
            <a:avLst/>
          </a:prstGeom>
          <a:noFill/>
        </p:spPr>
        <p:txBody>
          <a:bodyPr wrap="square">
            <a:spAutoFit/>
          </a:bodyPr>
          <a:lstStyle/>
          <a:p>
            <a:pPr algn="l">
              <a:spcAft>
                <a:spcPts val="400"/>
              </a:spcAft>
            </a:pPr>
            <a:r>
              <a:rPr sz="3000" b="1">
                <a:solidFill>
                  <a:srgbClr val="1A1A1A"/>
                </a:solidFill>
                <a:latin typeface="Bahnschrift"/>
              </a:rPr>
              <a:t>Skill and profit came apart</a:t>
            </a:r>
          </a:p>
        </p:txBody>
      </p:sp>
      <p:sp>
        <p:nvSpPr>
          <p:cNvPr id="3" name="TextBox 2"/>
          <p:cNvSpPr txBox="1"/>
          <p:nvPr/>
        </p:nvSpPr>
        <p:spPr>
          <a:xfrm>
            <a:off x="566928" y="1078992"/>
            <a:ext cx="11155680" cy="457200"/>
          </a:xfrm>
          <a:prstGeom prst="rect">
            <a:avLst/>
          </a:prstGeom>
          <a:noFill/>
        </p:spPr>
        <p:txBody>
          <a:bodyPr wrap="square">
            <a:spAutoFit/>
          </a:bodyPr>
          <a:lstStyle/>
          <a:p>
            <a:pPr algn="l">
              <a:spcAft>
                <a:spcPts val="400"/>
              </a:spcAft>
            </a:pPr>
            <a:r>
              <a:rPr sz="1300" b="0">
                <a:solidFill>
                  <a:srgbClr val="6B6B6B"/>
                </a:solidFill>
                <a:latin typeface="Segoe UI"/>
              </a:rPr>
              <a:t>Brier score against grants P&amp;L — the best forecaster lost money</a:t>
            </a:r>
          </a:p>
        </p:txBody>
      </p:sp>
      <p:sp>
        <p:nvSpPr>
          <p:cNvPr id="4" name="Rectangle 3"/>
          <p:cNvSpPr/>
          <p:nvPr/>
        </p:nvSpPr>
        <p:spPr>
          <a:xfrm>
            <a:off x="566928" y="1481328"/>
            <a:ext cx="1106424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640080" y="1783080"/>
          <a:ext cx="6949440" cy="4297680"/>
        </p:xfrm>
        <a:graphic>
          <a:graphicData uri="http://schemas.openxmlformats.org/drawingml/2006/chart">
            <c:chart xmlns:c="http://schemas.openxmlformats.org/drawingml/2006/chart" r:id="rId2"/>
          </a:graphicData>
        </a:graphic>
      </p:graphicFrame>
      <p:sp>
        <p:nvSpPr>
          <p:cNvPr id="6" name="TextBox 5"/>
          <p:cNvSpPr txBox="1"/>
          <p:nvPr/>
        </p:nvSpPr>
        <p:spPr>
          <a:xfrm>
            <a:off x="7772400" y="1828800"/>
            <a:ext cx="3931920" cy="4206240"/>
          </a:xfrm>
          <a:prstGeom prst="rect">
            <a:avLst/>
          </a:prstGeom>
          <a:noFill/>
        </p:spPr>
        <p:txBody>
          <a:bodyPr wrap="square">
            <a:spAutoFit/>
          </a:bodyPr>
          <a:lstStyle/>
          <a:p>
            <a:pPr algn="l">
              <a:spcAft>
                <a:spcPts val="400"/>
              </a:spcAft>
            </a:pPr>
            <a:r>
              <a:rPr sz="1200" b="0">
                <a:solidFill>
                  <a:srgbClr val="1A1A1A"/>
                </a:solidFill>
                <a:latin typeface="Segoe UI"/>
              </a:rPr>
              <a:t>Jev: the best forecasts (0.030) and the only loss (−43.64).</a:t>
            </a:r>
          </a:p>
          <a:p>
            <a:pPr algn="l">
              <a:spcAft>
                <a:spcPts val="400"/>
              </a:spcAft>
            </a:pPr>
            <a:r>
              <a:rPr sz="1200" b="0">
                <a:solidFill>
                  <a:srgbClr val="1A1A1A"/>
                </a:solidFill>
                <a:latin typeface="Segoe UI"/>
              </a:rPr>
              <a:t>Opus: the weakest recorded forecasts and the largest profit (+364.20).</a:t>
            </a:r>
          </a:p>
          <a:p>
            <a:pPr algn="l">
              <a:spcAft>
                <a:spcPts val="400"/>
              </a:spcAft>
            </a:pPr>
            <a:r>
              <a:rPr sz="1200" b="0">
                <a:solidFill>
                  <a:srgbClr val="1A1A1A"/>
                </a:solidFill>
                <a:latin typeface="Segoe UI"/>
              </a:rPr>
              <a:t>Forecasting the vote was not the hard part — the ballot counts were public all round. Converting a forecast into money took re-reading the price, sizing against a live quote, and exiting when the estimate moved. Jev does none of those: one trade per market, no adds, no unwinds.</a:t>
            </a:r>
          </a:p>
          <a:p>
            <a:pPr algn="l">
              <a:spcAft>
                <a:spcPts val="400"/>
              </a:spcAft>
            </a:pPr>
            <a:r>
              <a:rPr sz="1200" b="0">
                <a:solidFill>
                  <a:srgbClr val="1A1A1A"/>
                </a:solidFill>
                <a:latin typeface="Segoe UI"/>
              </a:rPr>
              <a:t>That is the clearest result of the round.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155680" cy="731520"/>
          </a:xfrm>
          <a:prstGeom prst="rect">
            <a:avLst/>
          </a:prstGeom>
          <a:noFill/>
        </p:spPr>
        <p:txBody>
          <a:bodyPr wrap="square">
            <a:spAutoFit/>
          </a:bodyPr>
          <a:lstStyle/>
          <a:p>
            <a:pPr algn="l">
              <a:spcAft>
                <a:spcPts val="400"/>
              </a:spcAft>
            </a:pPr>
            <a:r>
              <a:rPr sz="3000" b="1">
                <a:solidFill>
                  <a:srgbClr val="1A1A1A"/>
                </a:solidFill>
                <a:latin typeface="Bahnschrift"/>
              </a:rPr>
              <a:t>Where the market went wrong</a:t>
            </a:r>
          </a:p>
        </p:txBody>
      </p:sp>
      <p:sp>
        <p:nvSpPr>
          <p:cNvPr id="3" name="TextBox 2"/>
          <p:cNvSpPr txBox="1"/>
          <p:nvPr/>
        </p:nvSpPr>
        <p:spPr>
          <a:xfrm>
            <a:off x="566928" y="1078992"/>
            <a:ext cx="11155680" cy="457200"/>
          </a:xfrm>
          <a:prstGeom prst="rect">
            <a:avLst/>
          </a:prstGeom>
          <a:noFill/>
        </p:spPr>
        <p:txBody>
          <a:bodyPr wrap="square">
            <a:spAutoFit/>
          </a:bodyPr>
          <a:lstStyle/>
          <a:p>
            <a:pPr algn="l">
              <a:spcAft>
                <a:spcPts val="400"/>
              </a:spcAft>
            </a:pPr>
            <a:r>
              <a:rPr sz="1300" b="0">
                <a:solidFill>
                  <a:srgbClr val="6B6B6B"/>
                </a:solidFill>
                <a:latin typeface="Segoe UI"/>
              </a:rPr>
              <a:t>Ballot accept share against ZEC accept share, per proposal</a:t>
            </a:r>
          </a:p>
        </p:txBody>
      </p:sp>
      <p:sp>
        <p:nvSpPr>
          <p:cNvPr id="4" name="Rectangle 3"/>
          <p:cNvSpPr/>
          <p:nvPr/>
        </p:nvSpPr>
        <p:spPr>
          <a:xfrm>
            <a:off x="566928" y="1481328"/>
            <a:ext cx="1106424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640080" y="1783080"/>
          <a:ext cx="6583680" cy="4297680"/>
        </p:xfrm>
        <a:graphic>
          <a:graphicData uri="http://schemas.openxmlformats.org/drawingml/2006/chart">
            <c:chart xmlns:c="http://schemas.openxmlformats.org/drawingml/2006/chart" r:id="rId2"/>
          </a:graphicData>
        </a:graphic>
      </p:graphicFrame>
      <p:sp>
        <p:nvSpPr>
          <p:cNvPr id="6" name="TextBox 5"/>
          <p:cNvSpPr txBox="1"/>
          <p:nvPr/>
        </p:nvSpPr>
        <p:spPr>
          <a:xfrm>
            <a:off x="7406640" y="1828800"/>
            <a:ext cx="4297680" cy="4206240"/>
          </a:xfrm>
          <a:prstGeom prst="rect">
            <a:avLst/>
          </a:prstGeom>
          <a:noFill/>
        </p:spPr>
        <p:txBody>
          <a:bodyPr wrap="square">
            <a:spAutoFit/>
          </a:bodyPr>
          <a:lstStyle/>
          <a:p>
            <a:pPr algn="l">
              <a:spcAft>
                <a:spcPts val="400"/>
              </a:spcAft>
            </a:pPr>
            <a:r>
              <a:rPr sz="1200" b="0">
                <a:solidFill>
                  <a:srgbClr val="1A1A1A"/>
                </a:solidFill>
                <a:latin typeface="Segoe UI"/>
              </a:rPr>
              <a:t>1 proposals were decided against their ballot majority.</a:t>
            </a:r>
          </a:p>
          <a:p>
            <a:pPr algn="l">
              <a:spcAft>
                <a:spcPts val="400"/>
              </a:spcAft>
            </a:pPr>
            <a:r>
              <a:rPr sz="1200" b="0">
                <a:solidFill>
                  <a:srgbClr val="1A1A1A"/>
                </a:solidFill>
                <a:latin typeface="Segoe UI"/>
              </a:rPr>
              <a:t>The relationship is almost a step function: a proposal either had the large holders behind it, in which case it passed with 95–100% of the weight, or it did not, in which case ballots barely mattered.</a:t>
            </a:r>
          </a:p>
          <a:p>
            <a:pPr algn="l">
              <a:spcAft>
                <a:spcPts val="400"/>
              </a:spcAft>
            </a:pPr>
            <a:r>
              <a:rPr sz="1200" b="0">
                <a:solidFill>
                  <a:srgbClr val="1A1A1A"/>
                </a:solidFill>
                <a:latin typeface="Segoe UI"/>
              </a:rPr>
              <a:t>CyphZec had the most accept ballots of any rejected proposal (1,494) and finished at 2.9% of the weight.</a:t>
            </a:r>
          </a:p>
          <a:p>
            <a:pPr algn="l">
              <a:spcAft>
                <a:spcPts val="400"/>
              </a:spcAft>
            </a:pPr>
            <a:r>
              <a:rPr sz="1200" b="0">
                <a:solidFill>
                  <a:srgbClr val="1A1A1A"/>
                </a:solidFill>
                <a:latin typeface="Segoe UI"/>
              </a:rPr>
              <a:t>Pricing the ballot counts, as the pools did, was pricing the wrong electorate.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155680" cy="731520"/>
          </a:xfrm>
          <a:prstGeom prst="rect">
            <a:avLst/>
          </a:prstGeom>
          <a:noFill/>
        </p:spPr>
        <p:txBody>
          <a:bodyPr wrap="square">
            <a:spAutoFit/>
          </a:bodyPr>
          <a:lstStyle/>
          <a:p>
            <a:pPr algn="l">
              <a:spcAft>
                <a:spcPts val="400"/>
              </a:spcAft>
            </a:pPr>
            <a:r>
              <a:rPr sz="3000" b="1">
                <a:solidFill>
                  <a:srgbClr val="1A1A1A"/>
                </a:solidFill>
                <a:latin typeface="Bahnschrift"/>
              </a:rPr>
              <a:t>Every market and every forecast (1 of 2)</a:t>
            </a:r>
          </a:p>
        </p:txBody>
      </p:sp>
      <p:sp>
        <p:nvSpPr>
          <p:cNvPr id="3" name="TextBox 2"/>
          <p:cNvSpPr txBox="1"/>
          <p:nvPr/>
        </p:nvSpPr>
        <p:spPr>
          <a:xfrm>
            <a:off x="566928" y="1078992"/>
            <a:ext cx="11155680" cy="457200"/>
          </a:xfrm>
          <a:prstGeom prst="rect">
            <a:avLst/>
          </a:prstGeom>
          <a:noFill/>
        </p:spPr>
        <p:txBody>
          <a:bodyPr wrap="square">
            <a:spAutoFit/>
          </a:bodyPr>
          <a:lstStyle/>
          <a:p>
            <a:pPr algn="l">
              <a:spcAft>
                <a:spcPts val="400"/>
              </a:spcAft>
            </a:pPr>
            <a:r>
              <a:rPr sz="1300" b="0">
                <a:solidFill>
                  <a:srgbClr val="6B6B6B"/>
                </a:solidFill>
                <a:latin typeface="Segoe UI"/>
              </a:rPr>
              <a:t>ZEC accept share, the outcome, and each forecaster's P(Yes) before the close</a:t>
            </a:r>
          </a:p>
        </p:txBody>
      </p:sp>
      <p:sp>
        <p:nvSpPr>
          <p:cNvPr id="4" name="Rectangle 3"/>
          <p:cNvSpPr/>
          <p:nvPr/>
        </p:nvSpPr>
        <p:spPr>
          <a:xfrm>
            <a:off x="566928" y="1481328"/>
            <a:ext cx="1106424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783080"/>
          <a:ext cx="11064238" cy="4846320"/>
        </p:xfrm>
        <a:graphic>
          <a:graphicData uri="http://schemas.openxmlformats.org/drawingml/2006/table">
            <a:tbl>
              <a:tblPr firstRow="1" bandRow="1">
                <a:tableStyleId>{5C22544A-7EE6-4342-B048-85BDC9FD1C3A}</a:tableStyleId>
              </a:tblPr>
              <a:tblGrid>
                <a:gridCol w="3983126"/>
                <a:gridCol w="885139"/>
                <a:gridCol w="885139"/>
                <a:gridCol w="885139"/>
                <a:gridCol w="885139"/>
                <a:gridCol w="885139"/>
                <a:gridCol w="885139"/>
                <a:gridCol w="885139"/>
                <a:gridCol w="885139"/>
              </a:tblGrid>
              <a:tr h="242316">
                <a:tc>
                  <a:txBody>
                    <a:bodyPr/>
                    <a:lstStyle/>
                    <a:p>
                      <a:pPr algn="l"/>
                      <a:r>
                        <a:rPr sz="900" b="1">
                          <a:solidFill>
                            <a:srgbClr val="1A1A1A"/>
                          </a:solidFill>
                          <a:latin typeface="Segoe UI"/>
                        </a:rPr>
                        <a:t>proposal</a:t>
                      </a:r>
                    </a:p>
                  </a:txBody>
                  <a:tcPr marT="12700" marB="12700"/>
                </a:tc>
                <a:tc>
                  <a:txBody>
                    <a:bodyPr/>
                    <a:lstStyle/>
                    <a:p>
                      <a:pPr algn="l"/>
                      <a:r>
                        <a:rPr sz="900" b="1">
                          <a:solidFill>
                            <a:srgbClr val="1A1A1A"/>
                          </a:solidFill>
                          <a:latin typeface="Segoe UI"/>
                        </a:rPr>
                        <a:t>ZEC</a:t>
                      </a:r>
                    </a:p>
                  </a:txBody>
                  <a:tcPr marT="12700" marB="12700"/>
                </a:tc>
                <a:tc>
                  <a:txBody>
                    <a:bodyPr/>
                    <a:lstStyle/>
                    <a:p>
                      <a:pPr algn="r"/>
                      <a:r>
                        <a:rPr sz="900" b="1">
                          <a:solidFill>
                            <a:srgbClr val="1A1A1A"/>
                          </a:solidFill>
                          <a:latin typeface="Segoe UI"/>
                        </a:rPr>
                        <a:t>result</a:t>
                      </a:r>
                    </a:p>
                  </a:txBody>
                  <a:tcPr marT="12700" marB="12700"/>
                </a:tc>
                <a:tc>
                  <a:txBody>
                    <a:bodyPr/>
                    <a:lstStyle/>
                    <a:p>
                      <a:pPr algn="l"/>
                      <a:r>
                        <a:rPr sz="900" b="1">
                          <a:solidFill>
                            <a:srgbClr val="1A1A1A"/>
                          </a:solidFill>
                          <a:latin typeface="Segoe UI"/>
                        </a:rPr>
                        <a:t>Fable</a:t>
                      </a:r>
                    </a:p>
                  </a:txBody>
                  <a:tcPr marT="12700" marB="12700"/>
                </a:tc>
                <a:tc>
                  <a:txBody>
                    <a:bodyPr/>
                    <a:lstStyle/>
                    <a:p>
                      <a:pPr algn="l"/>
                      <a:r>
                        <a:rPr sz="900" b="1">
                          <a:solidFill>
                            <a:srgbClr val="1A1A1A"/>
                          </a:solidFill>
                          <a:latin typeface="Segoe UI"/>
                        </a:rPr>
                        <a:t>Opus</a:t>
                      </a:r>
                    </a:p>
                  </a:txBody>
                  <a:tcPr marT="12700" marB="12700"/>
                </a:tc>
                <a:tc>
                  <a:txBody>
                    <a:bodyPr/>
                    <a:lstStyle/>
                    <a:p>
                      <a:pPr algn="l"/>
                      <a:r>
                        <a:rPr sz="900" b="1">
                          <a:solidFill>
                            <a:srgbClr val="1A1A1A"/>
                          </a:solidFill>
                          <a:latin typeface="Segoe UI"/>
                        </a:rPr>
                        <a:t>Astra</a:t>
                      </a:r>
                    </a:p>
                  </a:txBody>
                  <a:tcPr marT="12700" marB="12700"/>
                </a:tc>
                <a:tc>
                  <a:txBody>
                    <a:bodyPr/>
                    <a:lstStyle/>
                    <a:p>
                      <a:pPr algn="l"/>
                      <a:r>
                        <a:rPr sz="900" b="1">
                          <a:solidFill>
                            <a:srgbClr val="1A1A1A"/>
                          </a:solidFill>
                          <a:latin typeface="Segoe UI"/>
                        </a:rPr>
                        <a:t>Sol</a:t>
                      </a:r>
                    </a:p>
                  </a:txBody>
                  <a:tcPr marT="12700" marB="12700"/>
                </a:tc>
                <a:tc>
                  <a:txBody>
                    <a:bodyPr/>
                    <a:lstStyle/>
                    <a:p>
                      <a:pPr algn="r"/>
                      <a:r>
                        <a:rPr sz="900" b="1">
                          <a:solidFill>
                            <a:srgbClr val="1A1A1A"/>
                          </a:solidFill>
                          <a:latin typeface="Segoe UI"/>
                        </a:rPr>
                        <a:t>Jev</a:t>
                      </a:r>
                    </a:p>
                  </a:txBody>
                  <a:tcPr marT="12700" marB="12700"/>
                </a:tc>
                <a:tc>
                  <a:txBody>
                    <a:bodyPr/>
                    <a:lstStyle/>
                    <a:p>
                      <a:pPr algn="r"/>
                      <a:r>
                        <a:rPr sz="900" b="1">
                          <a:solidFill>
                            <a:srgbClr val="1A1A1A"/>
                          </a:solidFill>
                          <a:latin typeface="Segoe UI"/>
                        </a:rPr>
                        <a:t>mkt</a:t>
                      </a:r>
                    </a:p>
                  </a:txBody>
                  <a:tcPr marT="12700" marB="12700"/>
                </a:tc>
              </a:tr>
              <a:tr h="242316">
                <a:tc>
                  <a:txBody>
                    <a:bodyPr/>
                    <a:lstStyle/>
                    <a:p>
                      <a:pPr algn="l"/>
                      <a:r>
                        <a:rPr sz="1000" b="0">
                          <a:solidFill>
                            <a:srgbClr val="1A1A1A"/>
                          </a:solidFill>
                          <a:latin typeface="Segoe UI"/>
                        </a:rPr>
                        <a:t>Ironwood zk-SNARK Formal Verif</a:t>
                      </a:r>
                    </a:p>
                  </a:txBody>
                  <a:tcPr marT="12700" marB="12700"/>
                </a:tc>
                <a:tc>
                  <a:txBody>
                    <a:bodyPr/>
                    <a:lstStyle/>
                    <a:p>
                      <a:pPr algn="r"/>
                      <a:r>
                        <a:rPr sz="1000" b="0">
                          <a:solidFill>
                            <a:srgbClr val="1A1A1A"/>
                          </a:solidFill>
                          <a:latin typeface="Consolas"/>
                        </a:rPr>
                        <a:t>100%</a:t>
                      </a:r>
                    </a:p>
                  </a:txBody>
                  <a:tcPr marT="12700" marB="12700"/>
                </a:tc>
                <a:tc>
                  <a:txBody>
                    <a:bodyPr/>
                    <a:lstStyle/>
                    <a:p>
                      <a:pPr algn="r"/>
                      <a:r>
                        <a:rPr sz="1000" b="0">
                          <a:solidFill>
                            <a:srgbClr val="1A1A1A"/>
                          </a:solidFill>
                          <a:latin typeface="Consolas"/>
                        </a:rPr>
                        <a:t>yes</a:t>
                      </a:r>
                    </a:p>
                  </a:txBody>
                  <a:tcPr marT="12700" marB="12700"/>
                </a:tc>
                <a:tc>
                  <a:txBody>
                    <a:bodyPr/>
                    <a:lstStyle/>
                    <a:p>
                      <a:pPr algn="r"/>
                      <a:r>
                        <a:rPr sz="1000" b="0">
                          <a:solidFill>
                            <a:srgbClr val="1A1A1A"/>
                          </a:solidFill>
                          <a:latin typeface="Consolas"/>
                        </a:rPr>
                        <a:t>0.91</a:t>
                      </a:r>
                    </a:p>
                  </a:txBody>
                  <a:tcPr marT="12700" marB="12700"/>
                </a:tc>
                <a:tc>
                  <a:txBody>
                    <a:bodyPr/>
                    <a:lstStyle/>
                    <a:p>
                      <a:pPr algn="r"/>
                      <a:r>
                        <a:rPr sz="1000" b="0">
                          <a:solidFill>
                            <a:srgbClr val="1A1A1A"/>
                          </a:solidFill>
                          <a:latin typeface="Consolas"/>
                        </a:rPr>
                        <a:t>-</a:t>
                      </a:r>
                    </a:p>
                  </a:txBody>
                  <a:tcPr marT="12700" marB="12700"/>
                </a:tc>
                <a:tc>
                  <a:txBody>
                    <a:bodyPr/>
                    <a:lstStyle/>
                    <a:p>
                      <a:pPr algn="r"/>
                      <a:r>
                        <a:rPr sz="1000" b="0">
                          <a:solidFill>
                            <a:srgbClr val="1A1A1A"/>
                          </a:solidFill>
                          <a:latin typeface="Consolas"/>
                        </a:rPr>
                        <a:t>0.93</a:t>
                      </a:r>
                    </a:p>
                  </a:txBody>
                  <a:tcPr marT="12700" marB="12700"/>
                </a:tc>
                <a:tc>
                  <a:txBody>
                    <a:bodyPr/>
                    <a:lstStyle/>
                    <a:p>
                      <a:pPr algn="r"/>
                      <a:r>
                        <a:rPr sz="1000" b="0">
                          <a:solidFill>
                            <a:srgbClr val="1A1A1A"/>
                          </a:solidFill>
                          <a:latin typeface="Consolas"/>
                        </a:rPr>
                        <a:t>0.99</a:t>
                      </a:r>
                    </a:p>
                  </a:txBody>
                  <a:tcPr marT="12700" marB="12700"/>
                </a:tc>
                <a:tc>
                  <a:txBody>
                    <a:bodyPr/>
                    <a:lstStyle/>
                    <a:p>
                      <a:pPr algn="r"/>
                      <a:r>
                        <a:rPr sz="1000" b="0">
                          <a:solidFill>
                            <a:srgbClr val="1A1A1A"/>
                          </a:solidFill>
                          <a:latin typeface="Consolas"/>
                        </a:rPr>
                        <a:t>0.94</a:t>
                      </a:r>
                    </a:p>
                  </a:txBody>
                  <a:tcPr marT="12700" marB="12700"/>
                </a:tc>
                <a:tc>
                  <a:txBody>
                    <a:bodyPr/>
                    <a:lstStyle/>
                    <a:p>
                      <a:pPr algn="r"/>
                      <a:r>
                        <a:rPr sz="1000" b="0">
                          <a:solidFill>
                            <a:srgbClr val="1A1A1A"/>
                          </a:solidFill>
                          <a:latin typeface="Consolas"/>
                        </a:rPr>
                        <a:t>0.92</a:t>
                      </a:r>
                    </a:p>
                  </a:txBody>
                  <a:tcPr marT="12700" marB="12700"/>
                </a:tc>
              </a:tr>
              <a:tr h="242316">
                <a:tc>
                  <a:txBody>
                    <a:bodyPr/>
                    <a:lstStyle/>
                    <a:p>
                      <a:pPr algn="l"/>
                      <a:r>
                        <a:rPr sz="1000" b="0">
                          <a:solidFill>
                            <a:srgbClr val="1A1A1A"/>
                          </a:solidFill>
                          <a:latin typeface="Segoe UI"/>
                        </a:rPr>
                        <a:t>Orchard Counterfeiting Vulnera</a:t>
                      </a:r>
                    </a:p>
                  </a:txBody>
                  <a:tcPr marT="12700" marB="12700"/>
                </a:tc>
                <a:tc>
                  <a:txBody>
                    <a:bodyPr/>
                    <a:lstStyle/>
                    <a:p>
                      <a:pPr algn="r"/>
                      <a:r>
                        <a:rPr sz="1000" b="0">
                          <a:solidFill>
                            <a:srgbClr val="1A1A1A"/>
                          </a:solidFill>
                          <a:latin typeface="Consolas"/>
                        </a:rPr>
                        <a:t>100%</a:t>
                      </a:r>
                    </a:p>
                  </a:txBody>
                  <a:tcPr marT="12700" marB="12700"/>
                </a:tc>
                <a:tc>
                  <a:txBody>
                    <a:bodyPr/>
                    <a:lstStyle/>
                    <a:p>
                      <a:pPr algn="r"/>
                      <a:r>
                        <a:rPr sz="1000" b="0">
                          <a:solidFill>
                            <a:srgbClr val="1A1A1A"/>
                          </a:solidFill>
                          <a:latin typeface="Consolas"/>
                        </a:rPr>
                        <a:t>yes</a:t>
                      </a:r>
                    </a:p>
                  </a:txBody>
                  <a:tcPr marT="12700" marB="12700"/>
                </a:tc>
                <a:tc>
                  <a:txBody>
                    <a:bodyPr/>
                    <a:lstStyle/>
                    <a:p>
                      <a:pPr algn="r"/>
                      <a:r>
                        <a:rPr sz="1000" b="0">
                          <a:solidFill>
                            <a:srgbClr val="1A1A1A"/>
                          </a:solidFill>
                          <a:latin typeface="Consolas"/>
                        </a:rPr>
                        <a:t>0.91</a:t>
                      </a:r>
                    </a:p>
                  </a:txBody>
                  <a:tcPr marT="12700" marB="12700"/>
                </a:tc>
                <a:tc>
                  <a:txBody>
                    <a:bodyPr/>
                    <a:lstStyle/>
                    <a:p>
                      <a:pPr algn="r"/>
                      <a:r>
                        <a:rPr sz="1000" b="0">
                          <a:solidFill>
                            <a:srgbClr val="1A1A1A"/>
                          </a:solidFill>
                          <a:latin typeface="Consolas"/>
                        </a:rPr>
                        <a:t>-</a:t>
                      </a:r>
                    </a:p>
                  </a:txBody>
                  <a:tcPr marT="12700" marB="12700"/>
                </a:tc>
                <a:tc>
                  <a:txBody>
                    <a:bodyPr/>
                    <a:lstStyle/>
                    <a:p>
                      <a:pPr algn="r"/>
                      <a:r>
                        <a:rPr sz="1000" b="0">
                          <a:solidFill>
                            <a:srgbClr val="1A1A1A"/>
                          </a:solidFill>
                          <a:latin typeface="Consolas"/>
                        </a:rPr>
                        <a:t>0.92</a:t>
                      </a:r>
                    </a:p>
                  </a:txBody>
                  <a:tcPr marT="12700" marB="12700"/>
                </a:tc>
                <a:tc>
                  <a:txBody>
                    <a:bodyPr/>
                    <a:lstStyle/>
                    <a:p>
                      <a:pPr algn="r"/>
                      <a:r>
                        <a:rPr sz="1000" b="0">
                          <a:solidFill>
                            <a:srgbClr val="1A1A1A"/>
                          </a:solidFill>
                          <a:latin typeface="Consolas"/>
                        </a:rPr>
                        <a:t>0.98</a:t>
                      </a:r>
                    </a:p>
                  </a:txBody>
                  <a:tcPr marT="12700" marB="12700"/>
                </a:tc>
                <a:tc>
                  <a:txBody>
                    <a:bodyPr/>
                    <a:lstStyle/>
                    <a:p>
                      <a:pPr algn="r"/>
                      <a:r>
                        <a:rPr sz="1000" b="0">
                          <a:solidFill>
                            <a:srgbClr val="1A1A1A"/>
                          </a:solidFill>
                          <a:latin typeface="Consolas"/>
                        </a:rPr>
                        <a:t>0.98</a:t>
                      </a:r>
                    </a:p>
                  </a:txBody>
                  <a:tcPr marT="12700" marB="12700"/>
                </a:tc>
                <a:tc>
                  <a:txBody>
                    <a:bodyPr/>
                    <a:lstStyle/>
                    <a:p>
                      <a:pPr algn="r"/>
                      <a:r>
                        <a:rPr sz="1000" b="0">
                          <a:solidFill>
                            <a:srgbClr val="1A1A1A"/>
                          </a:solidFill>
                          <a:latin typeface="Consolas"/>
                        </a:rPr>
                        <a:t>0.92</a:t>
                      </a:r>
                    </a:p>
                  </a:txBody>
                  <a:tcPr marT="12700" marB="12700"/>
                </a:tc>
              </a:tr>
              <a:tr h="242316">
                <a:tc>
                  <a:txBody>
                    <a:bodyPr/>
                    <a:lstStyle/>
                    <a:p>
                      <a:pPr algn="l"/>
                      <a:r>
                        <a:rPr sz="1000" b="0">
                          <a:solidFill>
                            <a:srgbClr val="1A1A1A"/>
                          </a:solidFill>
                          <a:latin typeface="Segoe UI"/>
                        </a:rPr>
                        <a:t>Ironwood external audit reimbu</a:t>
                      </a:r>
                    </a:p>
                  </a:txBody>
                  <a:tcPr marT="12700" marB="12700"/>
                </a:tc>
                <a:tc>
                  <a:txBody>
                    <a:bodyPr/>
                    <a:lstStyle/>
                    <a:p>
                      <a:pPr algn="r"/>
                      <a:r>
                        <a:rPr sz="1000" b="0">
                          <a:solidFill>
                            <a:srgbClr val="1A1A1A"/>
                          </a:solidFill>
                          <a:latin typeface="Consolas"/>
                        </a:rPr>
                        <a:t>100%</a:t>
                      </a:r>
                    </a:p>
                  </a:txBody>
                  <a:tcPr marT="12700" marB="12700"/>
                </a:tc>
                <a:tc>
                  <a:txBody>
                    <a:bodyPr/>
                    <a:lstStyle/>
                    <a:p>
                      <a:pPr algn="r"/>
                      <a:r>
                        <a:rPr sz="1000" b="0">
                          <a:solidFill>
                            <a:srgbClr val="1A1A1A"/>
                          </a:solidFill>
                          <a:latin typeface="Consolas"/>
                        </a:rPr>
                        <a:t>yes</a:t>
                      </a:r>
                    </a:p>
                  </a:txBody>
                  <a:tcPr marT="12700" marB="12700"/>
                </a:tc>
                <a:tc>
                  <a:txBody>
                    <a:bodyPr/>
                    <a:lstStyle/>
                    <a:p>
                      <a:pPr algn="r"/>
                      <a:r>
                        <a:rPr sz="1000" b="0">
                          <a:solidFill>
                            <a:srgbClr val="1A1A1A"/>
                          </a:solidFill>
                          <a:latin typeface="Consolas"/>
                        </a:rPr>
                        <a:t>0.91</a:t>
                      </a:r>
                    </a:p>
                  </a:txBody>
                  <a:tcPr marT="12700" marB="12700"/>
                </a:tc>
                <a:tc>
                  <a:txBody>
                    <a:bodyPr/>
                    <a:lstStyle/>
                    <a:p>
                      <a:pPr algn="r"/>
                      <a:r>
                        <a:rPr sz="1000" b="0">
                          <a:solidFill>
                            <a:srgbClr val="1A1A1A"/>
                          </a:solidFill>
                          <a:latin typeface="Consolas"/>
                        </a:rPr>
                        <a:t>-</a:t>
                      </a:r>
                    </a:p>
                  </a:txBody>
                  <a:tcPr marT="12700" marB="12700"/>
                </a:tc>
                <a:tc>
                  <a:txBody>
                    <a:bodyPr/>
                    <a:lstStyle/>
                    <a:p>
                      <a:pPr algn="r"/>
                      <a:r>
                        <a:rPr sz="1000" b="0">
                          <a:solidFill>
                            <a:srgbClr val="1A1A1A"/>
                          </a:solidFill>
                          <a:latin typeface="Consolas"/>
                        </a:rPr>
                        <a:t>0.82</a:t>
                      </a:r>
                    </a:p>
                  </a:txBody>
                  <a:tcPr marT="12700" marB="12700"/>
                </a:tc>
                <a:tc>
                  <a:txBody>
                    <a:bodyPr/>
                    <a:lstStyle/>
                    <a:p>
                      <a:pPr algn="r"/>
                      <a:r>
                        <a:rPr sz="1000" b="0">
                          <a:solidFill>
                            <a:srgbClr val="1A1A1A"/>
                          </a:solidFill>
                          <a:latin typeface="Consolas"/>
                        </a:rPr>
                        <a:t>0.95</a:t>
                      </a:r>
                    </a:p>
                  </a:txBody>
                  <a:tcPr marT="12700" marB="12700"/>
                </a:tc>
                <a:tc>
                  <a:txBody>
                    <a:bodyPr/>
                    <a:lstStyle/>
                    <a:p>
                      <a:pPr algn="r"/>
                      <a:r>
                        <a:rPr sz="1000" b="0">
                          <a:solidFill>
                            <a:srgbClr val="1A1A1A"/>
                          </a:solidFill>
                          <a:latin typeface="Consolas"/>
                        </a:rPr>
                        <a:t>0.91</a:t>
                      </a:r>
                    </a:p>
                  </a:txBody>
                  <a:tcPr marT="12700" marB="12700"/>
                </a:tc>
                <a:tc>
                  <a:txBody>
                    <a:bodyPr/>
                    <a:lstStyle/>
                    <a:p>
                      <a:pPr algn="r"/>
                      <a:r>
                        <a:rPr sz="1000" b="0">
                          <a:solidFill>
                            <a:srgbClr val="1A1A1A"/>
                          </a:solidFill>
                          <a:latin typeface="Consolas"/>
                        </a:rPr>
                        <a:t>0.89</a:t>
                      </a:r>
                    </a:p>
                  </a:txBody>
                  <a:tcPr marT="12700" marB="12700"/>
                </a:tc>
              </a:tr>
              <a:tr h="242316">
                <a:tc>
                  <a:txBody>
                    <a:bodyPr/>
                    <a:lstStyle/>
                    <a:p>
                      <a:pPr algn="l"/>
                      <a:r>
                        <a:rPr sz="1000" b="0">
                          <a:solidFill>
                            <a:srgbClr val="1A1A1A"/>
                          </a:solidFill>
                          <a:latin typeface="Segoe UI"/>
                        </a:rPr>
                        <a:t>Taylor Hornby - Bonus Grant fo</a:t>
                      </a:r>
                    </a:p>
                  </a:txBody>
                  <a:tcPr marT="12700" marB="12700"/>
                </a:tc>
                <a:tc>
                  <a:txBody>
                    <a:bodyPr/>
                    <a:lstStyle/>
                    <a:p>
                      <a:pPr algn="r"/>
                      <a:r>
                        <a:rPr sz="1000" b="0">
                          <a:solidFill>
                            <a:srgbClr val="1A1A1A"/>
                          </a:solidFill>
                          <a:latin typeface="Consolas"/>
                        </a:rPr>
                        <a:t>100%</a:t>
                      </a:r>
                    </a:p>
                  </a:txBody>
                  <a:tcPr marT="12700" marB="12700"/>
                </a:tc>
                <a:tc>
                  <a:txBody>
                    <a:bodyPr/>
                    <a:lstStyle/>
                    <a:p>
                      <a:pPr algn="r"/>
                      <a:r>
                        <a:rPr sz="1000" b="0">
                          <a:solidFill>
                            <a:srgbClr val="1A1A1A"/>
                          </a:solidFill>
                          <a:latin typeface="Consolas"/>
                        </a:rPr>
                        <a:t>yes</a:t>
                      </a:r>
                    </a:p>
                  </a:txBody>
                  <a:tcPr marT="12700" marB="12700"/>
                </a:tc>
                <a:tc>
                  <a:txBody>
                    <a:bodyPr/>
                    <a:lstStyle/>
                    <a:p>
                      <a:pPr algn="r"/>
                      <a:r>
                        <a:rPr sz="1000" b="0">
                          <a:solidFill>
                            <a:srgbClr val="1A1A1A"/>
                          </a:solidFill>
                          <a:latin typeface="Consolas"/>
                        </a:rPr>
                        <a:t>0.89</a:t>
                      </a:r>
                    </a:p>
                  </a:txBody>
                  <a:tcPr marT="12700" marB="12700"/>
                </a:tc>
                <a:tc>
                  <a:txBody>
                    <a:bodyPr/>
                    <a:lstStyle/>
                    <a:p>
                      <a:pPr algn="r"/>
                      <a:r>
                        <a:rPr sz="1000" b="0">
                          <a:solidFill>
                            <a:srgbClr val="1A1A1A"/>
                          </a:solidFill>
                          <a:latin typeface="Consolas"/>
                        </a:rPr>
                        <a:t>-</a:t>
                      </a:r>
                    </a:p>
                  </a:txBody>
                  <a:tcPr marT="12700" marB="12700"/>
                </a:tc>
                <a:tc>
                  <a:txBody>
                    <a:bodyPr/>
                    <a:lstStyle/>
                    <a:p>
                      <a:pPr algn="r"/>
                      <a:r>
                        <a:rPr sz="1000" b="0">
                          <a:solidFill>
                            <a:srgbClr val="1A1A1A"/>
                          </a:solidFill>
                          <a:latin typeface="Consolas"/>
                        </a:rPr>
                        <a:t>0.83</a:t>
                      </a:r>
                    </a:p>
                  </a:txBody>
                  <a:tcPr marT="12700" marB="12700"/>
                </a:tc>
                <a:tc>
                  <a:txBody>
                    <a:bodyPr/>
                    <a:lstStyle/>
                    <a:p>
                      <a:pPr algn="r"/>
                      <a:r>
                        <a:rPr sz="1000" b="0">
                          <a:solidFill>
                            <a:srgbClr val="1A1A1A"/>
                          </a:solidFill>
                          <a:latin typeface="Consolas"/>
                        </a:rPr>
                        <a:t>0.95</a:t>
                      </a:r>
                    </a:p>
                  </a:txBody>
                  <a:tcPr marT="12700" marB="12700"/>
                </a:tc>
                <a:tc>
                  <a:txBody>
                    <a:bodyPr/>
                    <a:lstStyle/>
                    <a:p>
                      <a:pPr algn="r"/>
                      <a:r>
                        <a:rPr sz="1000" b="0">
                          <a:solidFill>
                            <a:srgbClr val="1A1A1A"/>
                          </a:solidFill>
                          <a:latin typeface="Consolas"/>
                        </a:rPr>
                        <a:t>0.75</a:t>
                      </a:r>
                    </a:p>
                  </a:txBody>
                  <a:tcPr marT="12700" marB="12700"/>
                </a:tc>
                <a:tc>
                  <a:txBody>
                    <a:bodyPr/>
                    <a:lstStyle/>
                    <a:p>
                      <a:pPr algn="r"/>
                      <a:r>
                        <a:rPr sz="1000" b="0">
                          <a:solidFill>
                            <a:srgbClr val="1A1A1A"/>
                          </a:solidFill>
                          <a:latin typeface="Consolas"/>
                        </a:rPr>
                        <a:t>0.87</a:t>
                      </a:r>
                    </a:p>
                  </a:txBody>
                  <a:tcPr marT="12700" marB="12700"/>
                </a:tc>
              </a:tr>
              <a:tr h="242316">
                <a:tc>
                  <a:txBody>
                    <a:bodyPr/>
                    <a:lstStyle/>
                    <a:p>
                      <a:pPr algn="l"/>
                      <a:r>
                        <a:rPr sz="1000" b="0">
                          <a:solidFill>
                            <a:srgbClr val="1A1A1A"/>
                          </a:solidFill>
                          <a:latin typeface="Segoe UI"/>
                        </a:rPr>
                        <a:t>zcashtocash via ZcashLabs</a:t>
                      </a:r>
                    </a:p>
                  </a:txBody>
                  <a:tcPr marT="12700" marB="12700"/>
                </a:tc>
                <a:tc>
                  <a:txBody>
                    <a:bodyPr/>
                    <a:lstStyle/>
                    <a:p>
                      <a:pPr algn="r"/>
                      <a:r>
                        <a:rPr sz="1000" b="0">
                          <a:solidFill>
                            <a:srgbClr val="1A1A1A"/>
                          </a:solidFill>
                          <a:latin typeface="Consolas"/>
                        </a:rPr>
                        <a:t>100%</a:t>
                      </a:r>
                    </a:p>
                  </a:txBody>
                  <a:tcPr marT="12700" marB="12700"/>
                </a:tc>
                <a:tc>
                  <a:txBody>
                    <a:bodyPr/>
                    <a:lstStyle/>
                    <a:p>
                      <a:pPr algn="r"/>
                      <a:r>
                        <a:rPr sz="1000" b="0">
                          <a:solidFill>
                            <a:srgbClr val="1A1A1A"/>
                          </a:solidFill>
                          <a:latin typeface="Consolas"/>
                        </a:rPr>
                        <a:t>yes</a:t>
                      </a:r>
                    </a:p>
                  </a:txBody>
                  <a:tcPr marT="12700" marB="12700"/>
                </a:tc>
                <a:tc>
                  <a:txBody>
                    <a:bodyPr/>
                    <a:lstStyle/>
                    <a:p>
                      <a:pPr algn="r"/>
                      <a:r>
                        <a:rPr sz="1000" b="0">
                          <a:solidFill>
                            <a:srgbClr val="1A1A1A"/>
                          </a:solidFill>
                          <a:latin typeface="Consolas"/>
                        </a:rPr>
                        <a:t>0.75</a:t>
                      </a:r>
                    </a:p>
                  </a:txBody>
                  <a:tcPr marT="12700" marB="12700"/>
                </a:tc>
                <a:tc>
                  <a:txBody>
                    <a:bodyPr/>
                    <a:lstStyle/>
                    <a:p>
                      <a:pPr algn="r"/>
                      <a:r>
                        <a:rPr sz="1000" b="0">
                          <a:solidFill>
                            <a:srgbClr val="1A1A1A"/>
                          </a:solidFill>
                          <a:latin typeface="Consolas"/>
                        </a:rPr>
                        <a:t>-</a:t>
                      </a:r>
                    </a:p>
                  </a:txBody>
                  <a:tcPr marT="12700" marB="12700"/>
                </a:tc>
                <a:tc>
                  <a:txBody>
                    <a:bodyPr/>
                    <a:lstStyle/>
                    <a:p>
                      <a:pPr algn="r"/>
                      <a:r>
                        <a:rPr sz="1000" b="0">
                          <a:solidFill>
                            <a:srgbClr val="1A1A1A"/>
                          </a:solidFill>
                          <a:latin typeface="Consolas"/>
                        </a:rPr>
                        <a:t>0.67</a:t>
                      </a:r>
                    </a:p>
                  </a:txBody>
                  <a:tcPr marT="12700" marB="12700"/>
                </a:tc>
                <a:tc>
                  <a:txBody>
                    <a:bodyPr/>
                    <a:lstStyle/>
                    <a:p>
                      <a:pPr algn="r"/>
                      <a:r>
                        <a:rPr sz="1000" b="0">
                          <a:solidFill>
                            <a:srgbClr val="1A1A1A"/>
                          </a:solidFill>
                          <a:latin typeface="Consolas"/>
                        </a:rPr>
                        <a:t>0.91</a:t>
                      </a:r>
                    </a:p>
                  </a:txBody>
                  <a:tcPr marT="12700" marB="12700"/>
                </a:tc>
                <a:tc>
                  <a:txBody>
                    <a:bodyPr/>
                    <a:lstStyle/>
                    <a:p>
                      <a:pPr algn="r"/>
                      <a:r>
                        <a:rPr sz="1000" b="0">
                          <a:solidFill>
                            <a:srgbClr val="1A1A1A"/>
                          </a:solidFill>
                          <a:latin typeface="Consolas"/>
                        </a:rPr>
                        <a:t>0.96</a:t>
                      </a:r>
                    </a:p>
                  </a:txBody>
                  <a:tcPr marT="12700" marB="12700"/>
                </a:tc>
                <a:tc>
                  <a:txBody>
                    <a:bodyPr/>
                    <a:lstStyle/>
                    <a:p>
                      <a:pPr algn="r"/>
                      <a:r>
                        <a:rPr sz="1000" b="0">
                          <a:solidFill>
                            <a:srgbClr val="1A1A1A"/>
                          </a:solidFill>
                          <a:latin typeface="Consolas"/>
                        </a:rPr>
                        <a:t>0.73</a:t>
                      </a:r>
                    </a:p>
                  </a:txBody>
                  <a:tcPr marT="12700" marB="12700"/>
                </a:tc>
              </a:tr>
              <a:tr h="242316">
                <a:tc>
                  <a:txBody>
                    <a:bodyPr/>
                    <a:lstStyle/>
                    <a:p>
                      <a:pPr algn="l"/>
                      <a:r>
                        <a:rPr sz="1000" b="0">
                          <a:solidFill>
                            <a:srgbClr val="1A1A1A"/>
                          </a:solidFill>
                          <a:latin typeface="Segoe UI"/>
                        </a:rPr>
                        <a:t>ValarGroup Ironwood Work</a:t>
                      </a:r>
                    </a:p>
                  </a:txBody>
                  <a:tcPr marT="12700" marB="12700"/>
                </a:tc>
                <a:tc>
                  <a:txBody>
                    <a:bodyPr/>
                    <a:lstStyle/>
                    <a:p>
                      <a:pPr algn="r"/>
                      <a:r>
                        <a:rPr sz="1000" b="0">
                          <a:solidFill>
                            <a:srgbClr val="1A1A1A"/>
                          </a:solidFill>
                          <a:latin typeface="Consolas"/>
                        </a:rPr>
                        <a:t>100%</a:t>
                      </a:r>
                    </a:p>
                  </a:txBody>
                  <a:tcPr marT="12700" marB="12700"/>
                </a:tc>
                <a:tc>
                  <a:txBody>
                    <a:bodyPr/>
                    <a:lstStyle/>
                    <a:p>
                      <a:pPr algn="r"/>
                      <a:r>
                        <a:rPr sz="1000" b="0">
                          <a:solidFill>
                            <a:srgbClr val="1A1A1A"/>
                          </a:solidFill>
                          <a:latin typeface="Consolas"/>
                        </a:rPr>
                        <a:t>yes</a:t>
                      </a:r>
                    </a:p>
                  </a:txBody>
                  <a:tcPr marT="12700" marB="12700"/>
                </a:tc>
                <a:tc>
                  <a:txBody>
                    <a:bodyPr/>
                    <a:lstStyle/>
                    <a:p>
                      <a:pPr algn="r"/>
                      <a:r>
                        <a:rPr sz="1000" b="0">
                          <a:solidFill>
                            <a:srgbClr val="1A1A1A"/>
                          </a:solidFill>
                          <a:latin typeface="Consolas"/>
                        </a:rPr>
                        <a:t>0.91</a:t>
                      </a:r>
                    </a:p>
                  </a:txBody>
                  <a:tcPr marT="12700" marB="12700"/>
                </a:tc>
                <a:tc>
                  <a:txBody>
                    <a:bodyPr/>
                    <a:lstStyle/>
                    <a:p>
                      <a:pPr algn="r"/>
                      <a:r>
                        <a:rPr sz="1000" b="0">
                          <a:solidFill>
                            <a:srgbClr val="1A1A1A"/>
                          </a:solidFill>
                          <a:latin typeface="Consolas"/>
                        </a:rPr>
                        <a:t>-</a:t>
                      </a:r>
                    </a:p>
                  </a:txBody>
                  <a:tcPr marT="12700" marB="12700"/>
                </a:tc>
                <a:tc>
                  <a:txBody>
                    <a:bodyPr/>
                    <a:lstStyle/>
                    <a:p>
                      <a:pPr algn="r"/>
                      <a:r>
                        <a:rPr sz="1000" b="0">
                          <a:solidFill>
                            <a:srgbClr val="1A1A1A"/>
                          </a:solidFill>
                          <a:latin typeface="Consolas"/>
                        </a:rPr>
                        <a:t>0.82</a:t>
                      </a:r>
                    </a:p>
                  </a:txBody>
                  <a:tcPr marT="12700" marB="12700"/>
                </a:tc>
                <a:tc>
                  <a:txBody>
                    <a:bodyPr/>
                    <a:lstStyle/>
                    <a:p>
                      <a:pPr algn="r"/>
                      <a:r>
                        <a:rPr sz="1000" b="0">
                          <a:solidFill>
                            <a:srgbClr val="1A1A1A"/>
                          </a:solidFill>
                          <a:latin typeface="Consolas"/>
                        </a:rPr>
                        <a:t>0.96</a:t>
                      </a:r>
                    </a:p>
                  </a:txBody>
                  <a:tcPr marT="12700" marB="12700"/>
                </a:tc>
                <a:tc>
                  <a:txBody>
                    <a:bodyPr/>
                    <a:lstStyle/>
                    <a:p>
                      <a:pPr algn="r"/>
                      <a:r>
                        <a:rPr sz="1000" b="0">
                          <a:solidFill>
                            <a:srgbClr val="1A1A1A"/>
                          </a:solidFill>
                          <a:latin typeface="Consolas"/>
                        </a:rPr>
                        <a:t>0.97</a:t>
                      </a:r>
                    </a:p>
                  </a:txBody>
                  <a:tcPr marT="12700" marB="12700"/>
                </a:tc>
                <a:tc>
                  <a:txBody>
                    <a:bodyPr/>
                    <a:lstStyle/>
                    <a:p>
                      <a:pPr algn="r"/>
                      <a:r>
                        <a:rPr sz="1000" b="0">
                          <a:solidFill>
                            <a:srgbClr val="1A1A1A"/>
                          </a:solidFill>
                          <a:latin typeface="Consolas"/>
                        </a:rPr>
                        <a:t>0.87</a:t>
                      </a:r>
                    </a:p>
                  </a:txBody>
                  <a:tcPr marT="12700" marB="12700"/>
                </a:tc>
              </a:tr>
              <a:tr h="242316">
                <a:tc>
                  <a:txBody>
                    <a:bodyPr/>
                    <a:lstStyle/>
                    <a:p>
                      <a:pPr algn="l"/>
                      <a:r>
                        <a:rPr sz="1000" b="0">
                          <a:solidFill>
                            <a:srgbClr val="1A1A1A"/>
                          </a:solidFill>
                          <a:latin typeface="Segoe UI"/>
                        </a:rPr>
                        <a:t>Bonus Grant for Ironwood zk-SN</a:t>
                      </a:r>
                    </a:p>
                  </a:txBody>
                  <a:tcPr marT="12700" marB="12700"/>
                </a:tc>
                <a:tc>
                  <a:txBody>
                    <a:bodyPr/>
                    <a:lstStyle/>
                    <a:p>
                      <a:pPr algn="r"/>
                      <a:r>
                        <a:rPr sz="1000" b="0">
                          <a:solidFill>
                            <a:srgbClr val="1A1A1A"/>
                          </a:solidFill>
                          <a:latin typeface="Consolas"/>
                        </a:rPr>
                        <a:t>100%</a:t>
                      </a:r>
                    </a:p>
                  </a:txBody>
                  <a:tcPr marT="12700" marB="12700"/>
                </a:tc>
                <a:tc>
                  <a:txBody>
                    <a:bodyPr/>
                    <a:lstStyle/>
                    <a:p>
                      <a:pPr algn="r"/>
                      <a:r>
                        <a:rPr sz="1000" b="0">
                          <a:solidFill>
                            <a:srgbClr val="1A1A1A"/>
                          </a:solidFill>
                          <a:latin typeface="Consolas"/>
                        </a:rPr>
                        <a:t>yes</a:t>
                      </a:r>
                    </a:p>
                  </a:txBody>
                  <a:tcPr marT="12700" marB="12700"/>
                </a:tc>
                <a:tc>
                  <a:txBody>
                    <a:bodyPr/>
                    <a:lstStyle/>
                    <a:p>
                      <a:pPr algn="r"/>
                      <a:r>
                        <a:rPr sz="1000" b="0">
                          <a:solidFill>
                            <a:srgbClr val="1A1A1A"/>
                          </a:solidFill>
                          <a:latin typeface="Consolas"/>
                        </a:rPr>
                        <a:t>0.84</a:t>
                      </a:r>
                    </a:p>
                  </a:txBody>
                  <a:tcPr marT="12700" marB="12700"/>
                </a:tc>
                <a:tc>
                  <a:txBody>
                    <a:bodyPr/>
                    <a:lstStyle/>
                    <a:p>
                      <a:pPr algn="r"/>
                      <a:r>
                        <a:rPr sz="1000" b="0">
                          <a:solidFill>
                            <a:srgbClr val="1A1A1A"/>
                          </a:solidFill>
                          <a:latin typeface="Consolas"/>
                        </a:rPr>
                        <a:t>-</a:t>
                      </a:r>
                    </a:p>
                  </a:txBody>
                  <a:tcPr marT="12700" marB="12700"/>
                </a:tc>
                <a:tc>
                  <a:txBody>
                    <a:bodyPr/>
                    <a:lstStyle/>
                    <a:p>
                      <a:pPr algn="r"/>
                      <a:r>
                        <a:rPr sz="1000" b="0">
                          <a:solidFill>
                            <a:srgbClr val="1A1A1A"/>
                          </a:solidFill>
                          <a:latin typeface="Consolas"/>
                        </a:rPr>
                        <a:t>0.77</a:t>
                      </a:r>
                    </a:p>
                  </a:txBody>
                  <a:tcPr marT="12700" marB="12700"/>
                </a:tc>
                <a:tc>
                  <a:txBody>
                    <a:bodyPr/>
                    <a:lstStyle/>
                    <a:p>
                      <a:pPr algn="r"/>
                      <a:r>
                        <a:rPr sz="1000" b="0">
                          <a:solidFill>
                            <a:srgbClr val="1A1A1A"/>
                          </a:solidFill>
                          <a:latin typeface="Consolas"/>
                        </a:rPr>
                        <a:t>0.96</a:t>
                      </a:r>
                    </a:p>
                  </a:txBody>
                  <a:tcPr marT="12700" marB="12700"/>
                </a:tc>
                <a:tc>
                  <a:txBody>
                    <a:bodyPr/>
                    <a:lstStyle/>
                    <a:p>
                      <a:pPr algn="r"/>
                      <a:r>
                        <a:rPr sz="1000" b="0">
                          <a:solidFill>
                            <a:srgbClr val="1A1A1A"/>
                          </a:solidFill>
                          <a:latin typeface="Consolas"/>
                        </a:rPr>
                        <a:t>0.82</a:t>
                      </a:r>
                    </a:p>
                  </a:txBody>
                  <a:tcPr marT="12700" marB="12700"/>
                </a:tc>
                <a:tc>
                  <a:txBody>
                    <a:bodyPr/>
                    <a:lstStyle/>
                    <a:p>
                      <a:pPr algn="r"/>
                      <a:r>
                        <a:rPr sz="1000" b="0">
                          <a:solidFill>
                            <a:srgbClr val="1A1A1A"/>
                          </a:solidFill>
                          <a:latin typeface="Consolas"/>
                        </a:rPr>
                        <a:t>0.80</a:t>
                      </a:r>
                    </a:p>
                  </a:txBody>
                  <a:tcPr marT="12700" marB="12700"/>
                </a:tc>
              </a:tr>
              <a:tr h="242316">
                <a:tc>
                  <a:txBody>
                    <a:bodyPr/>
                    <a:lstStyle/>
                    <a:p>
                      <a:pPr algn="l"/>
                      <a:r>
                        <a:rPr sz="1000" b="0">
                          <a:solidFill>
                            <a:srgbClr val="1A1A1A"/>
                          </a:solidFill>
                          <a:latin typeface="Segoe UI"/>
                        </a:rPr>
                        <a:t>CipherScan</a:t>
                      </a:r>
                    </a:p>
                  </a:txBody>
                  <a:tcPr marT="12700" marB="12700"/>
                </a:tc>
                <a:tc>
                  <a:txBody>
                    <a:bodyPr/>
                    <a:lstStyle/>
                    <a:p>
                      <a:pPr algn="r"/>
                      <a:r>
                        <a:rPr sz="1000" b="0">
                          <a:solidFill>
                            <a:srgbClr val="1A1A1A"/>
                          </a:solidFill>
                          <a:latin typeface="Consolas"/>
                        </a:rPr>
                        <a:t>100%</a:t>
                      </a:r>
                    </a:p>
                  </a:txBody>
                  <a:tcPr marT="12700" marB="12700"/>
                </a:tc>
                <a:tc>
                  <a:txBody>
                    <a:bodyPr/>
                    <a:lstStyle/>
                    <a:p>
                      <a:pPr algn="r"/>
                      <a:r>
                        <a:rPr sz="1000" b="0">
                          <a:solidFill>
                            <a:srgbClr val="1A1A1A"/>
                          </a:solidFill>
                          <a:latin typeface="Consolas"/>
                        </a:rPr>
                        <a:t>yes</a:t>
                      </a:r>
                    </a:p>
                  </a:txBody>
                  <a:tcPr marT="12700" marB="12700"/>
                </a:tc>
                <a:tc>
                  <a:txBody>
                    <a:bodyPr/>
                    <a:lstStyle/>
                    <a:p>
                      <a:pPr algn="r"/>
                      <a:r>
                        <a:rPr sz="1000" b="0">
                          <a:solidFill>
                            <a:srgbClr val="1A1A1A"/>
                          </a:solidFill>
                          <a:latin typeface="Consolas"/>
                        </a:rPr>
                        <a:t>0.84</a:t>
                      </a:r>
                    </a:p>
                  </a:txBody>
                  <a:tcPr marT="12700" marB="12700"/>
                </a:tc>
                <a:tc>
                  <a:txBody>
                    <a:bodyPr/>
                    <a:lstStyle/>
                    <a:p>
                      <a:pPr algn="r"/>
                      <a:r>
                        <a:rPr sz="1000" b="0">
                          <a:solidFill>
                            <a:srgbClr val="1A1A1A"/>
                          </a:solidFill>
                          <a:latin typeface="Consolas"/>
                        </a:rPr>
                        <a:t>0.76</a:t>
                      </a:r>
                    </a:p>
                  </a:txBody>
                  <a:tcPr marT="12700" marB="12700"/>
                </a:tc>
                <a:tc>
                  <a:txBody>
                    <a:bodyPr/>
                    <a:lstStyle/>
                    <a:p>
                      <a:pPr algn="r"/>
                      <a:r>
                        <a:rPr sz="1000" b="0">
                          <a:solidFill>
                            <a:srgbClr val="1A1A1A"/>
                          </a:solidFill>
                          <a:latin typeface="Consolas"/>
                        </a:rPr>
                        <a:t>0.62</a:t>
                      </a:r>
                    </a:p>
                  </a:txBody>
                  <a:tcPr marT="12700" marB="12700"/>
                </a:tc>
                <a:tc>
                  <a:txBody>
                    <a:bodyPr/>
                    <a:lstStyle/>
                    <a:p>
                      <a:pPr algn="r"/>
                      <a:r>
                        <a:rPr sz="1000" b="0">
                          <a:solidFill>
                            <a:srgbClr val="1A1A1A"/>
                          </a:solidFill>
                          <a:latin typeface="Consolas"/>
                        </a:rPr>
                        <a:t>0.87</a:t>
                      </a:r>
                    </a:p>
                  </a:txBody>
                  <a:tcPr marT="12700" marB="12700"/>
                </a:tc>
                <a:tc>
                  <a:txBody>
                    <a:bodyPr/>
                    <a:lstStyle/>
                    <a:p>
                      <a:pPr algn="r"/>
                      <a:r>
                        <a:rPr sz="1000" b="0">
                          <a:solidFill>
                            <a:srgbClr val="1A1A1A"/>
                          </a:solidFill>
                          <a:latin typeface="Consolas"/>
                        </a:rPr>
                        <a:t>0.95</a:t>
                      </a:r>
                    </a:p>
                  </a:txBody>
                  <a:tcPr marT="12700" marB="12700"/>
                </a:tc>
                <a:tc>
                  <a:txBody>
                    <a:bodyPr/>
                    <a:lstStyle/>
                    <a:p>
                      <a:pPr algn="r"/>
                      <a:r>
                        <a:rPr sz="1000" b="0">
                          <a:solidFill>
                            <a:srgbClr val="1A1A1A"/>
                          </a:solidFill>
                          <a:latin typeface="Consolas"/>
                        </a:rPr>
                        <a:t>0.61</a:t>
                      </a:r>
                    </a:p>
                  </a:txBody>
                  <a:tcPr marT="12700" marB="12700"/>
                </a:tc>
              </a:tr>
              <a:tr h="242316">
                <a:tc>
                  <a:txBody>
                    <a:bodyPr/>
                    <a:lstStyle/>
                    <a:p>
                      <a:pPr algn="l"/>
                      <a:r>
                        <a:rPr sz="1000" b="0">
                          <a:solidFill>
                            <a:srgbClr val="1A1A1A"/>
                          </a:solidFill>
                          <a:latin typeface="Segoe UI"/>
                        </a:rPr>
                        <a:t>THORSwap/Metro</a:t>
                      </a:r>
                    </a:p>
                  </a:txBody>
                  <a:tcPr marT="12700" marB="12700"/>
                </a:tc>
                <a:tc>
                  <a:txBody>
                    <a:bodyPr/>
                    <a:lstStyle/>
                    <a:p>
                      <a:pPr algn="r"/>
                      <a:r>
                        <a:rPr sz="1000" b="0">
                          <a:solidFill>
                            <a:srgbClr val="1A1A1A"/>
                          </a:solidFill>
                          <a:latin typeface="Consolas"/>
                        </a:rPr>
                        <a:t>99%</a:t>
                      </a:r>
                    </a:p>
                  </a:txBody>
                  <a:tcPr marT="12700" marB="12700"/>
                </a:tc>
                <a:tc>
                  <a:txBody>
                    <a:bodyPr/>
                    <a:lstStyle/>
                    <a:p>
                      <a:pPr algn="r"/>
                      <a:r>
                        <a:rPr sz="1000" b="0">
                          <a:solidFill>
                            <a:srgbClr val="1A1A1A"/>
                          </a:solidFill>
                          <a:latin typeface="Consolas"/>
                        </a:rPr>
                        <a:t>yes</a:t>
                      </a:r>
                    </a:p>
                  </a:txBody>
                  <a:tcPr marT="12700" marB="12700"/>
                </a:tc>
                <a:tc>
                  <a:txBody>
                    <a:bodyPr/>
                    <a:lstStyle/>
                    <a:p>
                      <a:pPr algn="r"/>
                      <a:r>
                        <a:rPr sz="1000" b="0">
                          <a:solidFill>
                            <a:srgbClr val="1A1A1A"/>
                          </a:solidFill>
                          <a:latin typeface="Consolas"/>
                        </a:rPr>
                        <a:t>0.78</a:t>
                      </a:r>
                    </a:p>
                  </a:txBody>
                  <a:tcPr marT="12700" marB="12700"/>
                </a:tc>
                <a:tc>
                  <a:txBody>
                    <a:bodyPr/>
                    <a:lstStyle/>
                    <a:p>
                      <a:pPr algn="r"/>
                      <a:r>
                        <a:rPr sz="1000" b="0">
                          <a:solidFill>
                            <a:srgbClr val="1A1A1A"/>
                          </a:solidFill>
                          <a:latin typeface="Consolas"/>
                        </a:rPr>
                        <a:t>0.69</a:t>
                      </a:r>
                    </a:p>
                  </a:txBody>
                  <a:tcPr marT="12700" marB="12700"/>
                </a:tc>
                <a:tc>
                  <a:txBody>
                    <a:bodyPr/>
                    <a:lstStyle/>
                    <a:p>
                      <a:pPr algn="r"/>
                      <a:r>
                        <a:rPr sz="1000" b="0">
                          <a:solidFill>
                            <a:srgbClr val="1A1A1A"/>
                          </a:solidFill>
                          <a:latin typeface="Consolas"/>
                        </a:rPr>
                        <a:t>0.82</a:t>
                      </a:r>
                    </a:p>
                  </a:txBody>
                  <a:tcPr marT="12700" marB="12700"/>
                </a:tc>
                <a:tc>
                  <a:txBody>
                    <a:bodyPr/>
                    <a:lstStyle/>
                    <a:p>
                      <a:pPr algn="r"/>
                      <a:r>
                        <a:rPr sz="1000" b="0">
                          <a:solidFill>
                            <a:srgbClr val="1A1A1A"/>
                          </a:solidFill>
                          <a:latin typeface="Consolas"/>
                        </a:rPr>
                        <a:t>0.84</a:t>
                      </a:r>
                    </a:p>
                  </a:txBody>
                  <a:tcPr marT="12700" marB="12700"/>
                </a:tc>
                <a:tc>
                  <a:txBody>
                    <a:bodyPr/>
                    <a:lstStyle/>
                    <a:p>
                      <a:pPr algn="r"/>
                      <a:r>
                        <a:rPr sz="1000" b="0">
                          <a:solidFill>
                            <a:srgbClr val="1A1A1A"/>
                          </a:solidFill>
                          <a:latin typeface="Consolas"/>
                        </a:rPr>
                        <a:t>0.94</a:t>
                      </a:r>
                    </a:p>
                  </a:txBody>
                  <a:tcPr marT="12700" marB="12700"/>
                </a:tc>
                <a:tc>
                  <a:txBody>
                    <a:bodyPr/>
                    <a:lstStyle/>
                    <a:p>
                      <a:pPr algn="r"/>
                      <a:r>
                        <a:rPr sz="1000" b="0">
                          <a:solidFill>
                            <a:srgbClr val="1A1A1A"/>
                          </a:solidFill>
                          <a:latin typeface="Consolas"/>
                        </a:rPr>
                        <a:t>0.88</a:t>
                      </a:r>
                    </a:p>
                  </a:txBody>
                  <a:tcPr marT="12700" marB="12700"/>
                </a:tc>
              </a:tr>
              <a:tr h="242316">
                <a:tc>
                  <a:txBody>
                    <a:bodyPr/>
                    <a:lstStyle/>
                    <a:p>
                      <a:pPr algn="l"/>
                      <a:r>
                        <a:rPr sz="1000" b="0">
                          <a:solidFill>
                            <a:srgbClr val="1A1A1A"/>
                          </a:solidFill>
                          <a:latin typeface="Segoe UI"/>
                        </a:rPr>
                        <a:t>Temporary Detectable Unlimited</a:t>
                      </a:r>
                    </a:p>
                  </a:txBody>
                  <a:tcPr marT="12700" marB="12700"/>
                </a:tc>
                <a:tc>
                  <a:txBody>
                    <a:bodyPr/>
                    <a:lstStyle/>
                    <a:p>
                      <a:pPr algn="r"/>
                      <a:r>
                        <a:rPr sz="1000" b="0">
                          <a:solidFill>
                            <a:srgbClr val="1A1A1A"/>
                          </a:solidFill>
                          <a:latin typeface="Consolas"/>
                        </a:rPr>
                        <a:t>99%</a:t>
                      </a:r>
                    </a:p>
                  </a:txBody>
                  <a:tcPr marT="12700" marB="12700"/>
                </a:tc>
                <a:tc>
                  <a:txBody>
                    <a:bodyPr/>
                    <a:lstStyle/>
                    <a:p>
                      <a:pPr algn="r"/>
                      <a:r>
                        <a:rPr sz="1000" b="0">
                          <a:solidFill>
                            <a:srgbClr val="1A1A1A"/>
                          </a:solidFill>
                          <a:latin typeface="Consolas"/>
                        </a:rPr>
                        <a:t>yes</a:t>
                      </a:r>
                    </a:p>
                  </a:txBody>
                  <a:tcPr marT="12700" marB="12700"/>
                </a:tc>
                <a:tc>
                  <a:txBody>
                    <a:bodyPr/>
                    <a:lstStyle/>
                    <a:p>
                      <a:pPr algn="r"/>
                      <a:r>
                        <a:rPr sz="1000" b="0">
                          <a:solidFill>
                            <a:srgbClr val="1A1A1A"/>
                          </a:solidFill>
                          <a:latin typeface="Consolas"/>
                        </a:rPr>
                        <a:t>0.90</a:t>
                      </a:r>
                    </a:p>
                  </a:txBody>
                  <a:tcPr marT="12700" marB="12700"/>
                </a:tc>
                <a:tc>
                  <a:txBody>
                    <a:bodyPr/>
                    <a:lstStyle/>
                    <a:p>
                      <a:pPr algn="r"/>
                      <a:r>
                        <a:rPr sz="1000" b="0">
                          <a:solidFill>
                            <a:srgbClr val="1A1A1A"/>
                          </a:solidFill>
                          <a:latin typeface="Consolas"/>
                        </a:rPr>
                        <a:t>-</a:t>
                      </a:r>
                    </a:p>
                  </a:txBody>
                  <a:tcPr marT="12700" marB="12700"/>
                </a:tc>
                <a:tc>
                  <a:txBody>
                    <a:bodyPr/>
                    <a:lstStyle/>
                    <a:p>
                      <a:pPr algn="r"/>
                      <a:r>
                        <a:rPr sz="1000" b="0">
                          <a:solidFill>
                            <a:srgbClr val="1A1A1A"/>
                          </a:solidFill>
                          <a:latin typeface="Consolas"/>
                        </a:rPr>
                        <a:t>0.82</a:t>
                      </a:r>
                    </a:p>
                  </a:txBody>
                  <a:tcPr marT="12700" marB="12700"/>
                </a:tc>
                <a:tc>
                  <a:txBody>
                    <a:bodyPr/>
                    <a:lstStyle/>
                    <a:p>
                      <a:pPr algn="r"/>
                      <a:r>
                        <a:rPr sz="1000" b="0">
                          <a:solidFill>
                            <a:srgbClr val="1A1A1A"/>
                          </a:solidFill>
                          <a:latin typeface="Consolas"/>
                        </a:rPr>
                        <a:t>0.95</a:t>
                      </a:r>
                    </a:p>
                  </a:txBody>
                  <a:tcPr marT="12700" marB="12700"/>
                </a:tc>
                <a:tc>
                  <a:txBody>
                    <a:bodyPr/>
                    <a:lstStyle/>
                    <a:p>
                      <a:pPr algn="r"/>
                      <a:r>
                        <a:rPr sz="1000" b="0">
                          <a:solidFill>
                            <a:srgbClr val="1A1A1A"/>
                          </a:solidFill>
                          <a:latin typeface="Consolas"/>
                        </a:rPr>
                        <a:t>0.43</a:t>
                      </a:r>
                    </a:p>
                  </a:txBody>
                  <a:tcPr marT="12700" marB="12700"/>
                </a:tc>
                <a:tc>
                  <a:txBody>
                    <a:bodyPr/>
                    <a:lstStyle/>
                    <a:p>
                      <a:pPr algn="r"/>
                      <a:r>
                        <a:rPr sz="1000" b="0">
                          <a:solidFill>
                            <a:srgbClr val="1A1A1A"/>
                          </a:solidFill>
                          <a:latin typeface="Consolas"/>
                        </a:rPr>
                        <a:t>0.82</a:t>
                      </a:r>
                    </a:p>
                  </a:txBody>
                  <a:tcPr marT="12700" marB="12700"/>
                </a:tc>
              </a:tr>
              <a:tr h="242316">
                <a:tc>
                  <a:txBody>
                    <a:bodyPr/>
                    <a:lstStyle/>
                    <a:p>
                      <a:pPr algn="l"/>
                      <a:r>
                        <a:rPr sz="1000" b="0">
                          <a:solidFill>
                            <a:srgbClr val="1A1A1A"/>
                          </a:solidFill>
                          <a:latin typeface="Segoe UI"/>
                        </a:rPr>
                        <a:t>Five Critical Zebra Consensus </a:t>
                      </a:r>
                    </a:p>
                  </a:txBody>
                  <a:tcPr marT="12700" marB="12700"/>
                </a:tc>
                <a:tc>
                  <a:txBody>
                    <a:bodyPr/>
                    <a:lstStyle/>
                    <a:p>
                      <a:pPr algn="r"/>
                      <a:r>
                        <a:rPr sz="1000" b="0">
                          <a:solidFill>
                            <a:srgbClr val="1A1A1A"/>
                          </a:solidFill>
                          <a:latin typeface="Consolas"/>
                        </a:rPr>
                        <a:t>96%</a:t>
                      </a:r>
                    </a:p>
                  </a:txBody>
                  <a:tcPr marT="12700" marB="12700"/>
                </a:tc>
                <a:tc>
                  <a:txBody>
                    <a:bodyPr/>
                    <a:lstStyle/>
                    <a:p>
                      <a:pPr algn="r"/>
                      <a:r>
                        <a:rPr sz="1000" b="0">
                          <a:solidFill>
                            <a:srgbClr val="1A1A1A"/>
                          </a:solidFill>
                          <a:latin typeface="Consolas"/>
                        </a:rPr>
                        <a:t>yes</a:t>
                      </a:r>
                    </a:p>
                  </a:txBody>
                  <a:tcPr marT="12700" marB="12700"/>
                </a:tc>
                <a:tc>
                  <a:txBody>
                    <a:bodyPr/>
                    <a:lstStyle/>
                    <a:p>
                      <a:pPr algn="r"/>
                      <a:r>
                        <a:rPr sz="1000" b="0">
                          <a:solidFill>
                            <a:srgbClr val="1A1A1A"/>
                          </a:solidFill>
                          <a:latin typeface="Consolas"/>
                        </a:rPr>
                        <a:t>0.85</a:t>
                      </a:r>
                    </a:p>
                  </a:txBody>
                  <a:tcPr marT="12700" marB="12700"/>
                </a:tc>
                <a:tc>
                  <a:txBody>
                    <a:bodyPr/>
                    <a:lstStyle/>
                    <a:p>
                      <a:pPr algn="r"/>
                      <a:r>
                        <a:rPr sz="1000" b="0">
                          <a:solidFill>
                            <a:srgbClr val="1A1A1A"/>
                          </a:solidFill>
                          <a:latin typeface="Consolas"/>
                        </a:rPr>
                        <a:t>-</a:t>
                      </a:r>
                    </a:p>
                  </a:txBody>
                  <a:tcPr marT="12700" marB="12700"/>
                </a:tc>
                <a:tc>
                  <a:txBody>
                    <a:bodyPr/>
                    <a:lstStyle/>
                    <a:p>
                      <a:pPr algn="r"/>
                      <a:r>
                        <a:rPr sz="1000" b="0">
                          <a:solidFill>
                            <a:srgbClr val="1A1A1A"/>
                          </a:solidFill>
                          <a:latin typeface="Consolas"/>
                        </a:rPr>
                        <a:t>0.82</a:t>
                      </a:r>
                    </a:p>
                  </a:txBody>
                  <a:tcPr marT="12700" marB="12700"/>
                </a:tc>
                <a:tc>
                  <a:txBody>
                    <a:bodyPr/>
                    <a:lstStyle/>
                    <a:p>
                      <a:pPr algn="r"/>
                      <a:r>
                        <a:rPr sz="1000" b="0">
                          <a:solidFill>
                            <a:srgbClr val="1A1A1A"/>
                          </a:solidFill>
                          <a:latin typeface="Consolas"/>
                        </a:rPr>
                        <a:t>0.91</a:t>
                      </a:r>
                    </a:p>
                  </a:txBody>
                  <a:tcPr marT="12700" marB="12700"/>
                </a:tc>
                <a:tc>
                  <a:txBody>
                    <a:bodyPr/>
                    <a:lstStyle/>
                    <a:p>
                      <a:pPr algn="r"/>
                      <a:r>
                        <a:rPr sz="1000" b="0">
                          <a:solidFill>
                            <a:srgbClr val="1A1A1A"/>
                          </a:solidFill>
                          <a:latin typeface="Consolas"/>
                        </a:rPr>
                        <a:t>0.89</a:t>
                      </a:r>
                    </a:p>
                  </a:txBody>
                  <a:tcPr marT="12700" marB="12700"/>
                </a:tc>
                <a:tc>
                  <a:txBody>
                    <a:bodyPr/>
                    <a:lstStyle/>
                    <a:p>
                      <a:pPr algn="r"/>
                      <a:r>
                        <a:rPr sz="1000" b="0">
                          <a:solidFill>
                            <a:srgbClr val="1A1A1A"/>
                          </a:solidFill>
                          <a:latin typeface="Consolas"/>
                        </a:rPr>
                        <a:t>0.74</a:t>
                      </a:r>
                    </a:p>
                  </a:txBody>
                  <a:tcPr marT="12700" marB="12700"/>
                </a:tc>
              </a:tr>
              <a:tr h="242316">
                <a:tc>
                  <a:txBody>
                    <a:bodyPr/>
                    <a:lstStyle/>
                    <a:p>
                      <a:pPr algn="l"/>
                      <a:r>
                        <a:rPr sz="1000" b="0">
                          <a:solidFill>
                            <a:srgbClr val="1A1A1A"/>
                          </a:solidFill>
                          <a:latin typeface="Segoe UI"/>
                        </a:rPr>
                        <a:t>CipherPay</a:t>
                      </a:r>
                    </a:p>
                  </a:txBody>
                  <a:tcPr marT="12700" marB="12700"/>
                </a:tc>
                <a:tc>
                  <a:txBody>
                    <a:bodyPr/>
                    <a:lstStyle/>
                    <a:p>
                      <a:pPr algn="r"/>
                      <a:r>
                        <a:rPr sz="1000" b="0">
                          <a:solidFill>
                            <a:srgbClr val="1A1A1A"/>
                          </a:solidFill>
                          <a:latin typeface="Consolas"/>
                        </a:rPr>
                        <a:t>96%</a:t>
                      </a:r>
                    </a:p>
                  </a:txBody>
                  <a:tcPr marT="12700" marB="12700"/>
                </a:tc>
                <a:tc>
                  <a:txBody>
                    <a:bodyPr/>
                    <a:lstStyle/>
                    <a:p>
                      <a:pPr algn="r"/>
                      <a:r>
                        <a:rPr sz="1000" b="0">
                          <a:solidFill>
                            <a:srgbClr val="1A1A1A"/>
                          </a:solidFill>
                          <a:latin typeface="Consolas"/>
                        </a:rPr>
                        <a:t>yes</a:t>
                      </a:r>
                    </a:p>
                  </a:txBody>
                  <a:tcPr marT="12700" marB="12700"/>
                </a:tc>
                <a:tc>
                  <a:txBody>
                    <a:bodyPr/>
                    <a:lstStyle/>
                    <a:p>
                      <a:pPr algn="r"/>
                      <a:r>
                        <a:rPr sz="1000" b="0">
                          <a:solidFill>
                            <a:srgbClr val="1A1A1A"/>
                          </a:solidFill>
                          <a:latin typeface="Consolas"/>
                        </a:rPr>
                        <a:t>0.75</a:t>
                      </a:r>
                    </a:p>
                  </a:txBody>
                  <a:tcPr marT="12700" marB="12700"/>
                </a:tc>
                <a:tc>
                  <a:txBody>
                    <a:bodyPr/>
                    <a:lstStyle/>
                    <a:p>
                      <a:pPr algn="r"/>
                      <a:r>
                        <a:rPr sz="1000" b="0">
                          <a:solidFill>
                            <a:srgbClr val="1A1A1A"/>
                          </a:solidFill>
                          <a:latin typeface="Consolas"/>
                        </a:rPr>
                        <a:t>-</a:t>
                      </a:r>
                    </a:p>
                  </a:txBody>
                  <a:tcPr marT="12700" marB="12700"/>
                </a:tc>
                <a:tc>
                  <a:txBody>
                    <a:bodyPr/>
                    <a:lstStyle/>
                    <a:p>
                      <a:pPr algn="r"/>
                      <a:r>
                        <a:rPr sz="1000" b="0">
                          <a:solidFill>
                            <a:srgbClr val="1A1A1A"/>
                          </a:solidFill>
                          <a:latin typeface="Consolas"/>
                        </a:rPr>
                        <a:t>0.72</a:t>
                      </a:r>
                    </a:p>
                  </a:txBody>
                  <a:tcPr marT="12700" marB="12700"/>
                </a:tc>
                <a:tc>
                  <a:txBody>
                    <a:bodyPr/>
                    <a:lstStyle/>
                    <a:p>
                      <a:pPr algn="r"/>
                      <a:r>
                        <a:rPr sz="1000" b="0">
                          <a:solidFill>
                            <a:srgbClr val="1A1A1A"/>
                          </a:solidFill>
                          <a:latin typeface="Consolas"/>
                        </a:rPr>
                        <a:t>0.94</a:t>
                      </a:r>
                    </a:p>
                  </a:txBody>
                  <a:tcPr marT="12700" marB="12700"/>
                </a:tc>
                <a:tc>
                  <a:txBody>
                    <a:bodyPr/>
                    <a:lstStyle/>
                    <a:p>
                      <a:pPr algn="r"/>
                      <a:r>
                        <a:rPr sz="1000" b="0">
                          <a:solidFill>
                            <a:srgbClr val="1A1A1A"/>
                          </a:solidFill>
                          <a:latin typeface="Consolas"/>
                        </a:rPr>
                        <a:t>0.95</a:t>
                      </a:r>
                    </a:p>
                  </a:txBody>
                  <a:tcPr marT="12700" marB="12700"/>
                </a:tc>
                <a:tc>
                  <a:txBody>
                    <a:bodyPr/>
                    <a:lstStyle/>
                    <a:p>
                      <a:pPr algn="r"/>
                      <a:r>
                        <a:rPr sz="1000" b="0">
                          <a:solidFill>
                            <a:srgbClr val="1A1A1A"/>
                          </a:solidFill>
                          <a:latin typeface="Consolas"/>
                        </a:rPr>
                        <a:t>0.74</a:t>
                      </a:r>
                    </a:p>
                  </a:txBody>
                  <a:tcPr marT="12700" marB="12700"/>
                </a:tc>
              </a:tr>
              <a:tr h="242316">
                <a:tc>
                  <a:txBody>
                    <a:bodyPr/>
                    <a:lstStyle/>
                    <a:p>
                      <a:pPr algn="l"/>
                      <a:r>
                        <a:rPr sz="1000" b="0">
                          <a:solidFill>
                            <a:srgbClr val="1A1A1A"/>
                          </a:solidFill>
                          <a:latin typeface="Segoe UI"/>
                        </a:rPr>
                        <a:t>Zec.rocks (16 months of uptime</a:t>
                      </a:r>
                    </a:p>
                  </a:txBody>
                  <a:tcPr marT="12700" marB="12700"/>
                </a:tc>
                <a:tc>
                  <a:txBody>
                    <a:bodyPr/>
                    <a:lstStyle/>
                    <a:p>
                      <a:pPr algn="r"/>
                      <a:r>
                        <a:rPr sz="1000" b="0">
                          <a:solidFill>
                            <a:srgbClr val="1A1A1A"/>
                          </a:solidFill>
                          <a:latin typeface="Consolas"/>
                        </a:rPr>
                        <a:t>95%</a:t>
                      </a:r>
                    </a:p>
                  </a:txBody>
                  <a:tcPr marT="12700" marB="12700"/>
                </a:tc>
                <a:tc>
                  <a:txBody>
                    <a:bodyPr/>
                    <a:lstStyle/>
                    <a:p>
                      <a:pPr algn="r"/>
                      <a:r>
                        <a:rPr sz="1000" b="0">
                          <a:solidFill>
                            <a:srgbClr val="1A1A1A"/>
                          </a:solidFill>
                          <a:latin typeface="Consolas"/>
                        </a:rPr>
                        <a:t>yes</a:t>
                      </a:r>
                    </a:p>
                  </a:txBody>
                  <a:tcPr marT="12700" marB="12700"/>
                </a:tc>
                <a:tc>
                  <a:txBody>
                    <a:bodyPr/>
                    <a:lstStyle/>
                    <a:p>
                      <a:pPr algn="r"/>
                      <a:r>
                        <a:rPr sz="1000" b="0">
                          <a:solidFill>
                            <a:srgbClr val="1A1A1A"/>
                          </a:solidFill>
                          <a:latin typeface="Consolas"/>
                        </a:rPr>
                        <a:t>0.82</a:t>
                      </a:r>
                    </a:p>
                  </a:txBody>
                  <a:tcPr marT="12700" marB="12700"/>
                </a:tc>
                <a:tc>
                  <a:txBody>
                    <a:bodyPr/>
                    <a:lstStyle/>
                    <a:p>
                      <a:pPr algn="r"/>
                      <a:r>
                        <a:rPr sz="1000" b="0">
                          <a:solidFill>
                            <a:srgbClr val="1A1A1A"/>
                          </a:solidFill>
                          <a:latin typeface="Consolas"/>
                        </a:rPr>
                        <a:t>-</a:t>
                      </a:r>
                    </a:p>
                  </a:txBody>
                  <a:tcPr marT="12700" marB="12700"/>
                </a:tc>
                <a:tc>
                  <a:txBody>
                    <a:bodyPr/>
                    <a:lstStyle/>
                    <a:p>
                      <a:pPr algn="r"/>
                      <a:r>
                        <a:rPr sz="1000" b="0">
                          <a:solidFill>
                            <a:srgbClr val="1A1A1A"/>
                          </a:solidFill>
                          <a:latin typeface="Consolas"/>
                        </a:rPr>
                        <a:t>0.62</a:t>
                      </a:r>
                    </a:p>
                  </a:txBody>
                  <a:tcPr marT="12700" marB="12700"/>
                </a:tc>
                <a:tc>
                  <a:txBody>
                    <a:bodyPr/>
                    <a:lstStyle/>
                    <a:p>
                      <a:pPr algn="r"/>
                      <a:r>
                        <a:rPr sz="1000" b="0">
                          <a:solidFill>
                            <a:srgbClr val="1A1A1A"/>
                          </a:solidFill>
                          <a:latin typeface="Consolas"/>
                        </a:rPr>
                        <a:t>0.88</a:t>
                      </a:r>
                    </a:p>
                  </a:txBody>
                  <a:tcPr marT="12700" marB="12700"/>
                </a:tc>
                <a:tc>
                  <a:txBody>
                    <a:bodyPr/>
                    <a:lstStyle/>
                    <a:p>
                      <a:pPr algn="r"/>
                      <a:r>
                        <a:rPr sz="1000" b="0">
                          <a:solidFill>
                            <a:srgbClr val="1A1A1A"/>
                          </a:solidFill>
                          <a:latin typeface="Consolas"/>
                        </a:rPr>
                        <a:t>0.97</a:t>
                      </a:r>
                    </a:p>
                  </a:txBody>
                  <a:tcPr marT="12700" marB="12700"/>
                </a:tc>
                <a:tc>
                  <a:txBody>
                    <a:bodyPr/>
                    <a:lstStyle/>
                    <a:p>
                      <a:pPr algn="r"/>
                      <a:r>
                        <a:rPr sz="1000" b="0">
                          <a:solidFill>
                            <a:srgbClr val="1A1A1A"/>
                          </a:solidFill>
                          <a:latin typeface="Consolas"/>
                        </a:rPr>
                        <a:t>0.65</a:t>
                      </a:r>
                    </a:p>
                  </a:txBody>
                  <a:tcPr marT="12700" marB="12700"/>
                </a:tc>
              </a:tr>
              <a:tr h="242316">
                <a:tc>
                  <a:txBody>
                    <a:bodyPr/>
                    <a:lstStyle/>
                    <a:p>
                      <a:pPr algn="l"/>
                      <a:r>
                        <a:rPr sz="1000" b="0">
                          <a:solidFill>
                            <a:srgbClr val="1A1A1A"/>
                          </a:solidFill>
                          <a:latin typeface="Segoe UI"/>
                        </a:rPr>
                        <a:t>Expanding Zcash In Unstoppable</a:t>
                      </a:r>
                    </a:p>
                  </a:txBody>
                  <a:tcPr marT="12700" marB="12700"/>
                </a:tc>
                <a:tc>
                  <a:txBody>
                    <a:bodyPr/>
                    <a:lstStyle/>
                    <a:p>
                      <a:pPr algn="r"/>
                      <a:r>
                        <a:rPr sz="1000" b="0">
                          <a:solidFill>
                            <a:srgbClr val="1A1A1A"/>
                          </a:solidFill>
                          <a:latin typeface="Consolas"/>
                        </a:rPr>
                        <a:t>91%</a:t>
                      </a:r>
                    </a:p>
                  </a:txBody>
                  <a:tcPr marT="12700" marB="12700"/>
                </a:tc>
                <a:tc>
                  <a:txBody>
                    <a:bodyPr/>
                    <a:lstStyle/>
                    <a:p>
                      <a:pPr algn="r"/>
                      <a:r>
                        <a:rPr sz="1000" b="0">
                          <a:solidFill>
                            <a:srgbClr val="1A1A1A"/>
                          </a:solidFill>
                          <a:latin typeface="Consolas"/>
                        </a:rPr>
                        <a:t>yes</a:t>
                      </a:r>
                    </a:p>
                  </a:txBody>
                  <a:tcPr marT="12700" marB="12700"/>
                </a:tc>
                <a:tc>
                  <a:txBody>
                    <a:bodyPr/>
                    <a:lstStyle/>
                    <a:p>
                      <a:pPr algn="r"/>
                      <a:r>
                        <a:rPr sz="1000" b="0">
                          <a:solidFill>
                            <a:srgbClr val="1A1A1A"/>
                          </a:solidFill>
                          <a:latin typeface="Consolas"/>
                        </a:rPr>
                        <a:t>0.75</a:t>
                      </a:r>
                    </a:p>
                  </a:txBody>
                  <a:tcPr marT="12700" marB="12700"/>
                </a:tc>
                <a:tc>
                  <a:txBody>
                    <a:bodyPr/>
                    <a:lstStyle/>
                    <a:p>
                      <a:pPr algn="r"/>
                      <a:r>
                        <a:rPr sz="1000" b="0">
                          <a:solidFill>
                            <a:srgbClr val="1A1A1A"/>
                          </a:solidFill>
                          <a:latin typeface="Consolas"/>
                        </a:rPr>
                        <a:t>0.47</a:t>
                      </a:r>
                    </a:p>
                  </a:txBody>
                  <a:tcPr marT="12700" marB="12700"/>
                </a:tc>
                <a:tc>
                  <a:txBody>
                    <a:bodyPr/>
                    <a:lstStyle/>
                    <a:p>
                      <a:pPr algn="r"/>
                      <a:r>
                        <a:rPr sz="1000" b="0">
                          <a:solidFill>
                            <a:srgbClr val="1A1A1A"/>
                          </a:solidFill>
                          <a:latin typeface="Consolas"/>
                        </a:rPr>
                        <a:t>0.82</a:t>
                      </a:r>
                    </a:p>
                  </a:txBody>
                  <a:tcPr marT="12700" marB="12700"/>
                </a:tc>
                <a:tc>
                  <a:txBody>
                    <a:bodyPr/>
                    <a:lstStyle/>
                    <a:p>
                      <a:pPr algn="r"/>
                      <a:r>
                        <a:rPr sz="1000" b="0">
                          <a:solidFill>
                            <a:srgbClr val="1A1A1A"/>
                          </a:solidFill>
                          <a:latin typeface="Consolas"/>
                        </a:rPr>
                        <a:t>0.82</a:t>
                      </a:r>
                    </a:p>
                  </a:txBody>
                  <a:tcPr marT="12700" marB="12700"/>
                </a:tc>
                <a:tc>
                  <a:txBody>
                    <a:bodyPr/>
                    <a:lstStyle/>
                    <a:p>
                      <a:pPr algn="r"/>
                      <a:r>
                        <a:rPr sz="1000" b="0">
                          <a:solidFill>
                            <a:srgbClr val="1A1A1A"/>
                          </a:solidFill>
                          <a:latin typeface="Consolas"/>
                        </a:rPr>
                        <a:t>0.88</a:t>
                      </a:r>
                    </a:p>
                  </a:txBody>
                  <a:tcPr marT="12700" marB="12700"/>
                </a:tc>
                <a:tc>
                  <a:txBody>
                    <a:bodyPr/>
                    <a:lstStyle/>
                    <a:p>
                      <a:pPr algn="r"/>
                      <a:r>
                        <a:rPr sz="1000" b="0">
                          <a:solidFill>
                            <a:srgbClr val="1A1A1A"/>
                          </a:solidFill>
                          <a:latin typeface="Consolas"/>
                        </a:rPr>
                        <a:t>0.83</a:t>
                      </a:r>
                    </a:p>
                  </a:txBody>
                  <a:tcPr marT="12700" marB="12700"/>
                </a:tc>
              </a:tr>
              <a:tr h="242316">
                <a:tc>
                  <a:txBody>
                    <a:bodyPr/>
                    <a:lstStyle/>
                    <a:p>
                      <a:pPr algn="l"/>
                      <a:r>
                        <a:rPr sz="1000" b="0">
                          <a:solidFill>
                            <a:srgbClr val="1A1A1A"/>
                          </a:solidFill>
                          <a:latin typeface="Segoe UI"/>
                        </a:rPr>
                        <a:t>ZODL Q1 2026 Core Protocol Dev</a:t>
                      </a:r>
                    </a:p>
                  </a:txBody>
                  <a:tcPr marT="12700" marB="12700"/>
                </a:tc>
                <a:tc>
                  <a:txBody>
                    <a:bodyPr/>
                    <a:lstStyle/>
                    <a:p>
                      <a:pPr algn="r"/>
                      <a:r>
                        <a:rPr sz="1000" b="0">
                          <a:solidFill>
                            <a:srgbClr val="1A1A1A"/>
                          </a:solidFill>
                          <a:latin typeface="Consolas"/>
                        </a:rPr>
                        <a:t>81%</a:t>
                      </a:r>
                    </a:p>
                  </a:txBody>
                  <a:tcPr marT="12700" marB="12700"/>
                </a:tc>
                <a:tc>
                  <a:txBody>
                    <a:bodyPr/>
                    <a:lstStyle/>
                    <a:p>
                      <a:pPr algn="r"/>
                      <a:r>
                        <a:rPr sz="1000" b="0">
                          <a:solidFill>
                            <a:srgbClr val="1A1A1A"/>
                          </a:solidFill>
                          <a:latin typeface="Consolas"/>
                        </a:rPr>
                        <a:t>yes</a:t>
                      </a:r>
                    </a:p>
                  </a:txBody>
                  <a:tcPr marT="12700" marB="12700"/>
                </a:tc>
                <a:tc>
                  <a:txBody>
                    <a:bodyPr/>
                    <a:lstStyle/>
                    <a:p>
                      <a:pPr algn="r"/>
                      <a:r>
                        <a:rPr sz="1000" b="0">
                          <a:solidFill>
                            <a:srgbClr val="1A1A1A"/>
                          </a:solidFill>
                          <a:latin typeface="Consolas"/>
                        </a:rPr>
                        <a:t>0.85</a:t>
                      </a:r>
                    </a:p>
                  </a:txBody>
                  <a:tcPr marT="12700" marB="12700"/>
                </a:tc>
                <a:tc>
                  <a:txBody>
                    <a:bodyPr/>
                    <a:lstStyle/>
                    <a:p>
                      <a:pPr algn="r"/>
                      <a:r>
                        <a:rPr sz="1000" b="0">
                          <a:solidFill>
                            <a:srgbClr val="1A1A1A"/>
                          </a:solidFill>
                          <a:latin typeface="Consolas"/>
                        </a:rPr>
                        <a:t>0.48</a:t>
                      </a:r>
                    </a:p>
                  </a:txBody>
                  <a:tcPr marT="12700" marB="12700"/>
                </a:tc>
                <a:tc>
                  <a:txBody>
                    <a:bodyPr/>
                    <a:lstStyle/>
                    <a:p>
                      <a:pPr algn="r"/>
                      <a:r>
                        <a:rPr sz="1000" b="0">
                          <a:solidFill>
                            <a:srgbClr val="1A1A1A"/>
                          </a:solidFill>
                          <a:latin typeface="Consolas"/>
                        </a:rPr>
                        <a:t>0.72</a:t>
                      </a:r>
                    </a:p>
                  </a:txBody>
                  <a:tcPr marT="12700" marB="12700"/>
                </a:tc>
                <a:tc>
                  <a:txBody>
                    <a:bodyPr/>
                    <a:lstStyle/>
                    <a:p>
                      <a:pPr algn="r"/>
                      <a:r>
                        <a:rPr sz="1000" b="0">
                          <a:solidFill>
                            <a:srgbClr val="1A1A1A"/>
                          </a:solidFill>
                          <a:latin typeface="Consolas"/>
                        </a:rPr>
                        <a:t>0.90</a:t>
                      </a:r>
                    </a:p>
                  </a:txBody>
                  <a:tcPr marT="12700" marB="12700"/>
                </a:tc>
                <a:tc>
                  <a:txBody>
                    <a:bodyPr/>
                    <a:lstStyle/>
                    <a:p>
                      <a:pPr algn="r"/>
                      <a:r>
                        <a:rPr sz="1000" b="0">
                          <a:solidFill>
                            <a:srgbClr val="1A1A1A"/>
                          </a:solidFill>
                          <a:latin typeface="Consolas"/>
                        </a:rPr>
                        <a:t>0.91</a:t>
                      </a:r>
                    </a:p>
                  </a:txBody>
                  <a:tcPr marT="12700" marB="12700"/>
                </a:tc>
                <a:tc>
                  <a:txBody>
                    <a:bodyPr/>
                    <a:lstStyle/>
                    <a:p>
                      <a:pPr algn="r"/>
                      <a:r>
                        <a:rPr sz="1000" b="0">
                          <a:solidFill>
                            <a:srgbClr val="1A1A1A"/>
                          </a:solidFill>
                          <a:latin typeface="Consolas"/>
                        </a:rPr>
                        <a:t>0.82</a:t>
                      </a:r>
                    </a:p>
                  </a:txBody>
                  <a:tcPr marT="12700" marB="12700"/>
                </a:tc>
              </a:tr>
              <a:tr h="242316">
                <a:tc>
                  <a:txBody>
                    <a:bodyPr/>
                    <a:lstStyle/>
                    <a:p>
                      <a:pPr algn="l"/>
                      <a:r>
                        <a:rPr sz="1000" b="0">
                          <a:solidFill>
                            <a:srgbClr val="1A1A1A"/>
                          </a:solidFill>
                          <a:latin typeface="Segoe UI"/>
                        </a:rPr>
                        <a:t>Zebra Critical Vulnerability B</a:t>
                      </a:r>
                    </a:p>
                  </a:txBody>
                  <a:tcPr marT="12700" marB="12700"/>
                </a:tc>
                <a:tc>
                  <a:txBody>
                    <a:bodyPr/>
                    <a:lstStyle/>
                    <a:p>
                      <a:pPr algn="r"/>
                      <a:r>
                        <a:rPr sz="1000" b="0">
                          <a:solidFill>
                            <a:srgbClr val="1A1A1A"/>
                          </a:solidFill>
                          <a:latin typeface="Consolas"/>
                        </a:rPr>
                        <a:t>69%</a:t>
                      </a:r>
                    </a:p>
                  </a:txBody>
                  <a:tcPr marT="12700" marB="12700"/>
                </a:tc>
                <a:tc>
                  <a:txBody>
                    <a:bodyPr/>
                    <a:lstStyle/>
                    <a:p>
                      <a:pPr algn="r"/>
                      <a:r>
                        <a:rPr sz="1000" b="0">
                          <a:solidFill>
                            <a:srgbClr val="1A1A1A"/>
                          </a:solidFill>
                          <a:latin typeface="Consolas"/>
                        </a:rPr>
                        <a:t>yes</a:t>
                      </a:r>
                    </a:p>
                  </a:txBody>
                  <a:tcPr marT="12700" marB="12700"/>
                </a:tc>
                <a:tc>
                  <a:txBody>
                    <a:bodyPr/>
                    <a:lstStyle/>
                    <a:p>
                      <a:pPr algn="r"/>
                      <a:r>
                        <a:rPr sz="1000" b="0">
                          <a:solidFill>
                            <a:srgbClr val="1A1A1A"/>
                          </a:solidFill>
                          <a:latin typeface="Consolas"/>
                        </a:rPr>
                        <a:t>0.81</a:t>
                      </a:r>
                    </a:p>
                  </a:txBody>
                  <a:tcPr marT="12700" marB="12700"/>
                </a:tc>
                <a:tc>
                  <a:txBody>
                    <a:bodyPr/>
                    <a:lstStyle/>
                    <a:p>
                      <a:pPr algn="r"/>
                      <a:r>
                        <a:rPr sz="1000" b="0">
                          <a:solidFill>
                            <a:srgbClr val="1A1A1A"/>
                          </a:solidFill>
                          <a:latin typeface="Consolas"/>
                        </a:rPr>
                        <a:t>0.77</a:t>
                      </a:r>
                    </a:p>
                  </a:txBody>
                  <a:tcPr marT="12700" marB="12700"/>
                </a:tc>
                <a:tc>
                  <a:txBody>
                    <a:bodyPr/>
                    <a:lstStyle/>
                    <a:p>
                      <a:pPr algn="r"/>
                      <a:r>
                        <a:rPr sz="1000" b="0">
                          <a:solidFill>
                            <a:srgbClr val="1A1A1A"/>
                          </a:solidFill>
                          <a:latin typeface="Consolas"/>
                        </a:rPr>
                        <a:t>0.72</a:t>
                      </a:r>
                    </a:p>
                  </a:txBody>
                  <a:tcPr marT="12700" marB="12700"/>
                </a:tc>
                <a:tc>
                  <a:txBody>
                    <a:bodyPr/>
                    <a:lstStyle/>
                    <a:p>
                      <a:pPr algn="r"/>
                      <a:r>
                        <a:rPr sz="1000" b="0">
                          <a:solidFill>
                            <a:srgbClr val="1A1A1A"/>
                          </a:solidFill>
                          <a:latin typeface="Consolas"/>
                        </a:rPr>
                        <a:t>0.89</a:t>
                      </a:r>
                    </a:p>
                  </a:txBody>
                  <a:tcPr marT="12700" marB="12700"/>
                </a:tc>
                <a:tc>
                  <a:txBody>
                    <a:bodyPr/>
                    <a:lstStyle/>
                    <a:p>
                      <a:pPr algn="r"/>
                      <a:r>
                        <a:rPr sz="1000" b="0">
                          <a:solidFill>
                            <a:srgbClr val="1A1A1A"/>
                          </a:solidFill>
                          <a:latin typeface="Consolas"/>
                        </a:rPr>
                        <a:t>0.59</a:t>
                      </a:r>
                    </a:p>
                  </a:txBody>
                  <a:tcPr marT="12700" marB="12700"/>
                </a:tc>
                <a:tc>
                  <a:txBody>
                    <a:bodyPr/>
                    <a:lstStyle/>
                    <a:p>
                      <a:pPr algn="r"/>
                      <a:r>
                        <a:rPr sz="1000" b="0">
                          <a:solidFill>
                            <a:srgbClr val="1A1A1A"/>
                          </a:solidFill>
                          <a:latin typeface="Consolas"/>
                        </a:rPr>
                        <a:t>0.64</a:t>
                      </a:r>
                    </a:p>
                  </a:txBody>
                  <a:tcPr marT="12700" marB="12700"/>
                </a:tc>
              </a:tr>
              <a:tr h="242316">
                <a:tc>
                  <a:txBody>
                    <a:bodyPr/>
                    <a:lstStyle/>
                    <a:p>
                      <a:pPr algn="l"/>
                      <a:r>
                        <a:rPr sz="1000" b="0">
                          <a:solidFill>
                            <a:srgbClr val="1A1A1A"/>
                          </a:solidFill>
                          <a:latin typeface="Segoe UI"/>
                        </a:rPr>
                        <a:t>Connaugh Zcash Videos</a:t>
                      </a:r>
                    </a:p>
                  </a:txBody>
                  <a:tcPr marT="12700" marB="12700"/>
                </a:tc>
                <a:tc>
                  <a:txBody>
                    <a:bodyPr/>
                    <a:lstStyle/>
                    <a:p>
                      <a:pPr algn="r"/>
                      <a:r>
                        <a:rPr sz="1000" b="0">
                          <a:solidFill>
                            <a:srgbClr val="1A1A1A"/>
                          </a:solidFill>
                          <a:latin typeface="Consolas"/>
                        </a:rPr>
                        <a:t>66%</a:t>
                      </a:r>
                    </a:p>
                  </a:txBody>
                  <a:tcPr marT="12700" marB="12700"/>
                </a:tc>
                <a:tc>
                  <a:txBody>
                    <a:bodyPr/>
                    <a:lstStyle/>
                    <a:p>
                      <a:pPr algn="r"/>
                      <a:r>
                        <a:rPr sz="1000" b="0">
                          <a:solidFill>
                            <a:srgbClr val="1A1A1A"/>
                          </a:solidFill>
                          <a:latin typeface="Consolas"/>
                        </a:rPr>
                        <a:t>yes</a:t>
                      </a:r>
                    </a:p>
                  </a:txBody>
                  <a:tcPr marT="12700" marB="12700"/>
                </a:tc>
                <a:tc>
                  <a:txBody>
                    <a:bodyPr/>
                    <a:lstStyle/>
                    <a:p>
                      <a:pPr algn="r"/>
                      <a:r>
                        <a:rPr sz="1000" b="0">
                          <a:solidFill>
                            <a:srgbClr val="1A1A1A"/>
                          </a:solidFill>
                          <a:latin typeface="Consolas"/>
                        </a:rPr>
                        <a:t>0.52</a:t>
                      </a:r>
                    </a:p>
                  </a:txBody>
                  <a:tcPr marT="12700" marB="12700"/>
                </a:tc>
                <a:tc>
                  <a:txBody>
                    <a:bodyPr/>
                    <a:lstStyle/>
                    <a:p>
                      <a:pPr algn="r"/>
                      <a:r>
                        <a:rPr sz="1000" b="0">
                          <a:solidFill>
                            <a:srgbClr val="1A1A1A"/>
                          </a:solidFill>
                          <a:latin typeface="Consolas"/>
                        </a:rPr>
                        <a:t>-</a:t>
                      </a:r>
                    </a:p>
                  </a:txBody>
                  <a:tcPr marT="12700" marB="12700"/>
                </a:tc>
                <a:tc>
                  <a:txBody>
                    <a:bodyPr/>
                    <a:lstStyle/>
                    <a:p>
                      <a:pPr algn="r"/>
                      <a:r>
                        <a:rPr sz="1000" b="0">
                          <a:solidFill>
                            <a:srgbClr val="1A1A1A"/>
                          </a:solidFill>
                          <a:latin typeface="Consolas"/>
                        </a:rPr>
                        <a:t>0.26</a:t>
                      </a:r>
                    </a:p>
                  </a:txBody>
                  <a:tcPr marT="12700" marB="12700"/>
                </a:tc>
                <a:tc>
                  <a:txBody>
                    <a:bodyPr/>
                    <a:lstStyle/>
                    <a:p>
                      <a:pPr algn="r"/>
                      <a:r>
                        <a:rPr sz="1000" b="0">
                          <a:solidFill>
                            <a:srgbClr val="1A1A1A"/>
                          </a:solidFill>
                          <a:latin typeface="Consolas"/>
                        </a:rPr>
                        <a:t>0.45</a:t>
                      </a:r>
                    </a:p>
                  </a:txBody>
                  <a:tcPr marT="12700" marB="12700"/>
                </a:tc>
                <a:tc>
                  <a:txBody>
                    <a:bodyPr/>
                    <a:lstStyle/>
                    <a:p>
                      <a:pPr algn="r"/>
                      <a:r>
                        <a:rPr sz="1000" b="0">
                          <a:solidFill>
                            <a:srgbClr val="1A1A1A"/>
                          </a:solidFill>
                          <a:latin typeface="Consolas"/>
                        </a:rPr>
                        <a:t>0.36</a:t>
                      </a:r>
                    </a:p>
                  </a:txBody>
                  <a:tcPr marT="12700" marB="12700"/>
                </a:tc>
                <a:tc>
                  <a:txBody>
                    <a:bodyPr/>
                    <a:lstStyle/>
                    <a:p>
                      <a:pPr algn="r"/>
                      <a:r>
                        <a:rPr sz="1000" b="0">
                          <a:solidFill>
                            <a:srgbClr val="1A1A1A"/>
                          </a:solidFill>
                          <a:latin typeface="Consolas"/>
                        </a:rPr>
                        <a:t>0.43</a:t>
                      </a:r>
                    </a:p>
                  </a:txBody>
                  <a:tcPr marT="12700" marB="12700"/>
                </a:tc>
              </a:tr>
              <a:tr h="242316">
                <a:tc>
                  <a:txBody>
                    <a:bodyPr/>
                    <a:lstStyle/>
                    <a:p>
                      <a:pPr algn="l"/>
                      <a:r>
                        <a:rPr sz="1000" b="0">
                          <a:solidFill>
                            <a:srgbClr val="1A1A1A"/>
                          </a:solidFill>
                          <a:latin typeface="Segoe UI"/>
                        </a:rPr>
                        <a:t>ShieldedScan</a:t>
                      </a:r>
                    </a:p>
                  </a:txBody>
                  <a:tcPr marT="12700" marB="12700"/>
                </a:tc>
                <a:tc>
                  <a:txBody>
                    <a:bodyPr/>
                    <a:lstStyle/>
                    <a:p>
                      <a:pPr algn="r"/>
                      <a:r>
                        <a:rPr sz="1000" b="0">
                          <a:solidFill>
                            <a:srgbClr val="1A1A1A"/>
                          </a:solidFill>
                          <a:latin typeface="Consolas"/>
                        </a:rPr>
                        <a:t>24%</a:t>
                      </a:r>
                    </a:p>
                  </a:txBody>
                  <a:tcPr marT="12700" marB="12700"/>
                </a:tc>
                <a:tc>
                  <a:txBody>
                    <a:bodyPr/>
                    <a:lstStyle/>
                    <a:p>
                      <a:pPr algn="r"/>
                      <a:r>
                        <a:rPr sz="1000" b="0">
                          <a:solidFill>
                            <a:srgbClr val="1A1A1A"/>
                          </a:solidFill>
                          <a:latin typeface="Consolas"/>
                        </a:rPr>
                        <a:t>no</a:t>
                      </a:r>
                    </a:p>
                  </a:txBody>
                  <a:tcPr marT="12700" marB="12700"/>
                </a:tc>
                <a:tc>
                  <a:txBody>
                    <a:bodyPr/>
                    <a:lstStyle/>
                    <a:p>
                      <a:pPr algn="r"/>
                      <a:r>
                        <a:rPr sz="1000" b="0">
                          <a:solidFill>
                            <a:srgbClr val="1A1A1A"/>
                          </a:solidFill>
                          <a:latin typeface="Consolas"/>
                        </a:rPr>
                        <a:t>0.37</a:t>
                      </a:r>
                    </a:p>
                  </a:txBody>
                  <a:tcPr marT="12700" marB="12700"/>
                </a:tc>
                <a:tc>
                  <a:txBody>
                    <a:bodyPr/>
                    <a:lstStyle/>
                    <a:p>
                      <a:pPr algn="r"/>
                      <a:r>
                        <a:rPr sz="1000" b="0">
                          <a:solidFill>
                            <a:srgbClr val="1A1A1A"/>
                          </a:solidFill>
                          <a:latin typeface="Consolas"/>
                        </a:rPr>
                        <a:t>0.58</a:t>
                      </a:r>
                    </a:p>
                  </a:txBody>
                  <a:tcPr marT="12700" marB="12700"/>
                </a:tc>
                <a:tc>
                  <a:txBody>
                    <a:bodyPr/>
                    <a:lstStyle/>
                    <a:p>
                      <a:pPr algn="r"/>
                      <a:r>
                        <a:rPr sz="1000" b="0">
                          <a:solidFill>
                            <a:srgbClr val="1A1A1A"/>
                          </a:solidFill>
                          <a:latin typeface="Consolas"/>
                        </a:rPr>
                        <a:t>0.52</a:t>
                      </a:r>
                    </a:p>
                  </a:txBody>
                  <a:tcPr marT="12700" marB="12700"/>
                </a:tc>
                <a:tc>
                  <a:txBody>
                    <a:bodyPr/>
                    <a:lstStyle/>
                    <a:p>
                      <a:pPr algn="r"/>
                      <a:r>
                        <a:rPr sz="1000" b="0">
                          <a:solidFill>
                            <a:srgbClr val="1A1A1A"/>
                          </a:solidFill>
                          <a:latin typeface="Consolas"/>
                        </a:rPr>
                        <a:t>0.34</a:t>
                      </a:r>
                    </a:p>
                  </a:txBody>
                  <a:tcPr marT="12700" marB="12700"/>
                </a:tc>
                <a:tc>
                  <a:txBody>
                    <a:bodyPr/>
                    <a:lstStyle/>
                    <a:p>
                      <a:pPr algn="r"/>
                      <a:r>
                        <a:rPr sz="1000" b="0">
                          <a:solidFill>
                            <a:srgbClr val="1A1A1A"/>
                          </a:solidFill>
                          <a:latin typeface="Consolas"/>
                        </a:rPr>
                        <a:t>0.05</a:t>
                      </a:r>
                    </a:p>
                  </a:txBody>
                  <a:tcPr marT="12700" marB="12700"/>
                </a:tc>
                <a:tc>
                  <a:txBody>
                    <a:bodyPr/>
                    <a:lstStyle/>
                    <a:p>
                      <a:pPr algn="r"/>
                      <a:r>
                        <a:rPr sz="1000" b="0">
                          <a:solidFill>
                            <a:srgbClr val="1A1A1A"/>
                          </a:solidFill>
                          <a:latin typeface="Consolas"/>
                        </a:rPr>
                        <a:t>0.74</a:t>
                      </a:r>
                    </a:p>
                  </a:txBody>
                  <a:tcPr marT="12700" marB="12700"/>
                </a:tc>
              </a:tr>
              <a:tr h="242316">
                <a:tc>
                  <a:txBody>
                    <a:bodyPr/>
                    <a:lstStyle/>
                    <a:p>
                      <a:pPr algn="l"/>
                      <a:r>
                        <a:rPr sz="1000" b="0">
                          <a:solidFill>
                            <a:srgbClr val="1A1A1A"/>
                          </a:solidFill>
                          <a:latin typeface="Segoe UI"/>
                        </a:rPr>
                        <a:t>Nozy Wallet</a:t>
                      </a:r>
                    </a:p>
                  </a:txBody>
                  <a:tcPr marT="12700" marB="12700"/>
                </a:tc>
                <a:tc>
                  <a:txBody>
                    <a:bodyPr/>
                    <a:lstStyle/>
                    <a:p>
                      <a:pPr algn="r"/>
                      <a:r>
                        <a:rPr sz="1000" b="0">
                          <a:solidFill>
                            <a:srgbClr val="1A1A1A"/>
                          </a:solidFill>
                          <a:latin typeface="Consolas"/>
                        </a:rPr>
                        <a:t>24%</a:t>
                      </a:r>
                    </a:p>
                  </a:txBody>
                  <a:tcPr marT="12700" marB="12700"/>
                </a:tc>
                <a:tc>
                  <a:txBody>
                    <a:bodyPr/>
                    <a:lstStyle/>
                    <a:p>
                      <a:pPr algn="r"/>
                      <a:r>
                        <a:rPr sz="1000" b="0">
                          <a:solidFill>
                            <a:srgbClr val="1A1A1A"/>
                          </a:solidFill>
                          <a:latin typeface="Consolas"/>
                        </a:rPr>
                        <a:t>no</a:t>
                      </a:r>
                    </a:p>
                  </a:txBody>
                  <a:tcPr marT="12700" marB="12700"/>
                </a:tc>
                <a:tc>
                  <a:txBody>
                    <a:bodyPr/>
                    <a:lstStyle/>
                    <a:p>
                      <a:pPr algn="r"/>
                      <a:r>
                        <a:rPr sz="1000" b="0">
                          <a:solidFill>
                            <a:srgbClr val="1A1A1A"/>
                          </a:solidFill>
                          <a:latin typeface="Consolas"/>
                        </a:rPr>
                        <a:t>0.30</a:t>
                      </a:r>
                    </a:p>
                  </a:txBody>
                  <a:tcPr marT="12700" marB="12700"/>
                </a:tc>
                <a:tc>
                  <a:txBody>
                    <a:bodyPr/>
                    <a:lstStyle/>
                    <a:p>
                      <a:pPr algn="r"/>
                      <a:r>
                        <a:rPr sz="1000" b="0">
                          <a:solidFill>
                            <a:srgbClr val="1A1A1A"/>
                          </a:solidFill>
                          <a:latin typeface="Consolas"/>
                        </a:rPr>
                        <a:t>0.25</a:t>
                      </a:r>
                    </a:p>
                  </a:txBody>
                  <a:tcPr marT="12700" marB="12700"/>
                </a:tc>
                <a:tc>
                  <a:txBody>
                    <a:bodyPr/>
                    <a:lstStyle/>
                    <a:p>
                      <a:pPr algn="r"/>
                      <a:r>
                        <a:rPr sz="1000" b="0">
                          <a:solidFill>
                            <a:srgbClr val="1A1A1A"/>
                          </a:solidFill>
                          <a:latin typeface="Consolas"/>
                        </a:rPr>
                        <a:t>0.37</a:t>
                      </a:r>
                    </a:p>
                  </a:txBody>
                  <a:tcPr marT="12700" marB="12700"/>
                </a:tc>
                <a:tc>
                  <a:txBody>
                    <a:bodyPr/>
                    <a:lstStyle/>
                    <a:p>
                      <a:pPr algn="r"/>
                      <a:r>
                        <a:rPr sz="1000" b="0">
                          <a:solidFill>
                            <a:srgbClr val="1A1A1A"/>
                          </a:solidFill>
                          <a:latin typeface="Consolas"/>
                        </a:rPr>
                        <a:t>0.25</a:t>
                      </a:r>
                    </a:p>
                  </a:txBody>
                  <a:tcPr marT="12700" marB="12700"/>
                </a:tc>
                <a:tc>
                  <a:txBody>
                    <a:bodyPr/>
                    <a:lstStyle/>
                    <a:p>
                      <a:pPr algn="r"/>
                      <a:r>
                        <a:rPr sz="1000" b="0">
                          <a:solidFill>
                            <a:srgbClr val="1A1A1A"/>
                          </a:solidFill>
                          <a:latin typeface="Consolas"/>
                        </a:rPr>
                        <a:t>0.05</a:t>
                      </a:r>
                    </a:p>
                  </a:txBody>
                  <a:tcPr marT="12700" marB="12700"/>
                </a:tc>
                <a:tc>
                  <a:txBody>
                    <a:bodyPr/>
                    <a:lstStyle/>
                    <a:p>
                      <a:pPr algn="r"/>
                      <a:r>
                        <a:rPr sz="1000" b="0">
                          <a:solidFill>
                            <a:srgbClr val="1A1A1A"/>
                          </a:solidFill>
                          <a:latin typeface="Consolas"/>
                        </a:rPr>
                        <a:t>0.40</a:t>
                      </a:r>
                    </a:p>
                  </a:txBody>
                  <a:tcPr marT="12700" marB="12700"/>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155680" cy="731520"/>
          </a:xfrm>
          <a:prstGeom prst="rect">
            <a:avLst/>
          </a:prstGeom>
          <a:noFill/>
        </p:spPr>
        <p:txBody>
          <a:bodyPr wrap="square">
            <a:spAutoFit/>
          </a:bodyPr>
          <a:lstStyle/>
          <a:p>
            <a:pPr algn="l">
              <a:spcAft>
                <a:spcPts val="400"/>
              </a:spcAft>
            </a:pPr>
            <a:r>
              <a:rPr sz="3000" b="1">
                <a:solidFill>
                  <a:srgbClr val="1A1A1A"/>
                </a:solidFill>
                <a:latin typeface="Bahnschrift"/>
              </a:rPr>
              <a:t>Every market and every forecast (2 of 2)</a:t>
            </a:r>
          </a:p>
        </p:txBody>
      </p:sp>
      <p:sp>
        <p:nvSpPr>
          <p:cNvPr id="3" name="TextBox 2"/>
          <p:cNvSpPr txBox="1"/>
          <p:nvPr/>
        </p:nvSpPr>
        <p:spPr>
          <a:xfrm>
            <a:off x="566928" y="1078992"/>
            <a:ext cx="11155680" cy="457200"/>
          </a:xfrm>
          <a:prstGeom prst="rect">
            <a:avLst/>
          </a:prstGeom>
          <a:noFill/>
        </p:spPr>
        <p:txBody>
          <a:bodyPr wrap="square">
            <a:spAutoFit/>
          </a:bodyPr>
          <a:lstStyle/>
          <a:p>
            <a:pPr algn="l">
              <a:spcAft>
                <a:spcPts val="400"/>
              </a:spcAft>
            </a:pPr>
            <a:r>
              <a:rPr sz="1300" b="0">
                <a:solidFill>
                  <a:srgbClr val="6B6B6B"/>
                </a:solidFill>
                <a:latin typeface="Segoe UI"/>
              </a:rPr>
              <a:t>ZEC accept share, the outcome, and each forecaster's P(Yes) before the close</a:t>
            </a:r>
          </a:p>
        </p:txBody>
      </p:sp>
      <p:sp>
        <p:nvSpPr>
          <p:cNvPr id="4" name="Rectangle 3"/>
          <p:cNvSpPr/>
          <p:nvPr/>
        </p:nvSpPr>
        <p:spPr>
          <a:xfrm>
            <a:off x="566928" y="1481328"/>
            <a:ext cx="1106424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783080"/>
          <a:ext cx="11064238" cy="4604004"/>
        </p:xfrm>
        <a:graphic>
          <a:graphicData uri="http://schemas.openxmlformats.org/drawingml/2006/table">
            <a:tbl>
              <a:tblPr firstRow="1" bandRow="1">
                <a:tableStyleId>{5C22544A-7EE6-4342-B048-85BDC9FD1C3A}</a:tableStyleId>
              </a:tblPr>
              <a:tblGrid>
                <a:gridCol w="3983126"/>
                <a:gridCol w="885139"/>
                <a:gridCol w="885139"/>
                <a:gridCol w="885139"/>
                <a:gridCol w="885139"/>
                <a:gridCol w="885139"/>
                <a:gridCol w="885139"/>
                <a:gridCol w="885139"/>
                <a:gridCol w="885139"/>
              </a:tblGrid>
              <a:tr h="242316">
                <a:tc>
                  <a:txBody>
                    <a:bodyPr/>
                    <a:lstStyle/>
                    <a:p>
                      <a:pPr algn="l"/>
                      <a:r>
                        <a:rPr sz="900" b="1">
                          <a:solidFill>
                            <a:srgbClr val="1A1A1A"/>
                          </a:solidFill>
                          <a:latin typeface="Segoe UI"/>
                        </a:rPr>
                        <a:t>proposal</a:t>
                      </a:r>
                    </a:p>
                  </a:txBody>
                  <a:tcPr marT="12700" marB="12700"/>
                </a:tc>
                <a:tc>
                  <a:txBody>
                    <a:bodyPr/>
                    <a:lstStyle/>
                    <a:p>
                      <a:pPr algn="l"/>
                      <a:r>
                        <a:rPr sz="900" b="1">
                          <a:solidFill>
                            <a:srgbClr val="1A1A1A"/>
                          </a:solidFill>
                          <a:latin typeface="Segoe UI"/>
                        </a:rPr>
                        <a:t>ZEC</a:t>
                      </a:r>
                    </a:p>
                  </a:txBody>
                  <a:tcPr marT="12700" marB="12700"/>
                </a:tc>
                <a:tc>
                  <a:txBody>
                    <a:bodyPr/>
                    <a:lstStyle/>
                    <a:p>
                      <a:pPr algn="r"/>
                      <a:r>
                        <a:rPr sz="900" b="1">
                          <a:solidFill>
                            <a:srgbClr val="1A1A1A"/>
                          </a:solidFill>
                          <a:latin typeface="Segoe UI"/>
                        </a:rPr>
                        <a:t>result</a:t>
                      </a:r>
                    </a:p>
                  </a:txBody>
                  <a:tcPr marT="12700" marB="12700"/>
                </a:tc>
                <a:tc>
                  <a:txBody>
                    <a:bodyPr/>
                    <a:lstStyle/>
                    <a:p>
                      <a:pPr algn="l"/>
                      <a:r>
                        <a:rPr sz="900" b="1">
                          <a:solidFill>
                            <a:srgbClr val="1A1A1A"/>
                          </a:solidFill>
                          <a:latin typeface="Segoe UI"/>
                        </a:rPr>
                        <a:t>Fable</a:t>
                      </a:r>
                    </a:p>
                  </a:txBody>
                  <a:tcPr marT="12700" marB="12700"/>
                </a:tc>
                <a:tc>
                  <a:txBody>
                    <a:bodyPr/>
                    <a:lstStyle/>
                    <a:p>
                      <a:pPr algn="l"/>
                      <a:r>
                        <a:rPr sz="900" b="1">
                          <a:solidFill>
                            <a:srgbClr val="1A1A1A"/>
                          </a:solidFill>
                          <a:latin typeface="Segoe UI"/>
                        </a:rPr>
                        <a:t>Opus</a:t>
                      </a:r>
                    </a:p>
                  </a:txBody>
                  <a:tcPr marT="12700" marB="12700"/>
                </a:tc>
                <a:tc>
                  <a:txBody>
                    <a:bodyPr/>
                    <a:lstStyle/>
                    <a:p>
                      <a:pPr algn="l"/>
                      <a:r>
                        <a:rPr sz="900" b="1">
                          <a:solidFill>
                            <a:srgbClr val="1A1A1A"/>
                          </a:solidFill>
                          <a:latin typeface="Segoe UI"/>
                        </a:rPr>
                        <a:t>Astra</a:t>
                      </a:r>
                    </a:p>
                  </a:txBody>
                  <a:tcPr marT="12700" marB="12700"/>
                </a:tc>
                <a:tc>
                  <a:txBody>
                    <a:bodyPr/>
                    <a:lstStyle/>
                    <a:p>
                      <a:pPr algn="l"/>
                      <a:r>
                        <a:rPr sz="900" b="1">
                          <a:solidFill>
                            <a:srgbClr val="1A1A1A"/>
                          </a:solidFill>
                          <a:latin typeface="Segoe UI"/>
                        </a:rPr>
                        <a:t>Sol</a:t>
                      </a:r>
                    </a:p>
                  </a:txBody>
                  <a:tcPr marT="12700" marB="12700"/>
                </a:tc>
                <a:tc>
                  <a:txBody>
                    <a:bodyPr/>
                    <a:lstStyle/>
                    <a:p>
                      <a:pPr algn="r"/>
                      <a:r>
                        <a:rPr sz="900" b="1">
                          <a:solidFill>
                            <a:srgbClr val="1A1A1A"/>
                          </a:solidFill>
                          <a:latin typeface="Segoe UI"/>
                        </a:rPr>
                        <a:t>Jev</a:t>
                      </a:r>
                    </a:p>
                  </a:txBody>
                  <a:tcPr marT="12700" marB="12700"/>
                </a:tc>
                <a:tc>
                  <a:txBody>
                    <a:bodyPr/>
                    <a:lstStyle/>
                    <a:p>
                      <a:pPr algn="r"/>
                      <a:r>
                        <a:rPr sz="900" b="1">
                          <a:solidFill>
                            <a:srgbClr val="1A1A1A"/>
                          </a:solidFill>
                          <a:latin typeface="Segoe UI"/>
                        </a:rPr>
                        <a:t>mkt</a:t>
                      </a:r>
                    </a:p>
                  </a:txBody>
                  <a:tcPr marT="12700" marB="12700"/>
                </a:tc>
              </a:tr>
              <a:tr h="242316">
                <a:tc>
                  <a:txBody>
                    <a:bodyPr/>
                    <a:lstStyle/>
                    <a:p>
                      <a:pPr algn="l"/>
                      <a:r>
                        <a:rPr sz="1000" b="0">
                          <a:solidFill>
                            <a:srgbClr val="1A1A1A"/>
                          </a:solidFill>
                          <a:latin typeface="Segoe UI"/>
                        </a:rPr>
                        <a:t>zec-ironwood-reconcile</a:t>
                      </a:r>
                    </a:p>
                  </a:txBody>
                  <a:tcPr marT="12700" marB="12700"/>
                </a:tc>
                <a:tc>
                  <a:txBody>
                    <a:bodyPr/>
                    <a:lstStyle/>
                    <a:p>
                      <a:pPr algn="r"/>
                      <a:r>
                        <a:rPr sz="1000" b="0">
                          <a:solidFill>
                            <a:srgbClr val="1A1A1A"/>
                          </a:solidFill>
                          <a:latin typeface="Consolas"/>
                        </a:rPr>
                        <a:t>20%</a:t>
                      </a:r>
                    </a:p>
                  </a:txBody>
                  <a:tcPr marT="12700" marB="12700"/>
                </a:tc>
                <a:tc>
                  <a:txBody>
                    <a:bodyPr/>
                    <a:lstStyle/>
                    <a:p>
                      <a:pPr algn="r"/>
                      <a:r>
                        <a:rPr sz="1000" b="0">
                          <a:solidFill>
                            <a:srgbClr val="1A1A1A"/>
                          </a:solidFill>
                          <a:latin typeface="Consolas"/>
                        </a:rPr>
                        <a:t>no</a:t>
                      </a:r>
                    </a:p>
                  </a:txBody>
                  <a:tcPr marT="12700" marB="12700"/>
                </a:tc>
                <a:tc>
                  <a:txBody>
                    <a:bodyPr/>
                    <a:lstStyle/>
                    <a:p>
                      <a:pPr algn="r"/>
                      <a:r>
                        <a:rPr sz="1000" b="0">
                          <a:solidFill>
                            <a:srgbClr val="1A1A1A"/>
                          </a:solidFill>
                          <a:latin typeface="Consolas"/>
                        </a:rPr>
                        <a:t>0.33</a:t>
                      </a:r>
                    </a:p>
                  </a:txBody>
                  <a:tcPr marT="12700" marB="12700"/>
                </a:tc>
                <a:tc>
                  <a:txBody>
                    <a:bodyPr/>
                    <a:lstStyle/>
                    <a:p>
                      <a:pPr algn="r"/>
                      <a:r>
                        <a:rPr sz="1000" b="0">
                          <a:solidFill>
                            <a:srgbClr val="1A1A1A"/>
                          </a:solidFill>
                          <a:latin typeface="Consolas"/>
                        </a:rPr>
                        <a:t>-</a:t>
                      </a:r>
                    </a:p>
                  </a:txBody>
                  <a:tcPr marT="12700" marB="12700"/>
                </a:tc>
                <a:tc>
                  <a:txBody>
                    <a:bodyPr/>
                    <a:lstStyle/>
                    <a:p>
                      <a:pPr algn="r"/>
                      <a:r>
                        <a:rPr sz="1000" b="0">
                          <a:solidFill>
                            <a:srgbClr val="1A1A1A"/>
                          </a:solidFill>
                          <a:latin typeface="Consolas"/>
                        </a:rPr>
                        <a:t>0.36</a:t>
                      </a:r>
                    </a:p>
                  </a:txBody>
                  <a:tcPr marT="12700" marB="12700"/>
                </a:tc>
                <a:tc>
                  <a:txBody>
                    <a:bodyPr/>
                    <a:lstStyle/>
                    <a:p>
                      <a:pPr algn="r"/>
                      <a:r>
                        <a:rPr sz="1000" b="0">
                          <a:solidFill>
                            <a:srgbClr val="1A1A1A"/>
                          </a:solidFill>
                          <a:latin typeface="Consolas"/>
                        </a:rPr>
                        <a:t>0.29</a:t>
                      </a:r>
                    </a:p>
                  </a:txBody>
                  <a:tcPr marT="12700" marB="12700"/>
                </a:tc>
                <a:tc>
                  <a:txBody>
                    <a:bodyPr/>
                    <a:lstStyle/>
                    <a:p>
                      <a:pPr algn="r"/>
                      <a:r>
                        <a:rPr sz="1000" b="0">
                          <a:solidFill>
                            <a:srgbClr val="1A1A1A"/>
                          </a:solidFill>
                          <a:latin typeface="Consolas"/>
                        </a:rPr>
                        <a:t>0.06</a:t>
                      </a:r>
                    </a:p>
                  </a:txBody>
                  <a:tcPr marT="12700" marB="12700"/>
                </a:tc>
                <a:tc>
                  <a:txBody>
                    <a:bodyPr/>
                    <a:lstStyle/>
                    <a:p>
                      <a:pPr algn="r"/>
                      <a:r>
                        <a:rPr sz="1000" b="0">
                          <a:solidFill>
                            <a:srgbClr val="1A1A1A"/>
                          </a:solidFill>
                          <a:latin typeface="Consolas"/>
                        </a:rPr>
                        <a:t>0.56</a:t>
                      </a:r>
                    </a:p>
                  </a:txBody>
                  <a:tcPr marT="12700" marB="12700"/>
                </a:tc>
              </a:tr>
              <a:tr h="242316">
                <a:tc>
                  <a:txBody>
                    <a:bodyPr/>
                    <a:lstStyle/>
                    <a:p>
                      <a:pPr algn="l"/>
                      <a:r>
                        <a:rPr sz="1000" b="0">
                          <a:solidFill>
                            <a:srgbClr val="1A1A1A"/>
                          </a:solidFill>
                          <a:latin typeface="Segoe UI"/>
                        </a:rPr>
                        <a:t>ZecLedger</a:t>
                      </a:r>
                    </a:p>
                  </a:txBody>
                  <a:tcPr marT="12700" marB="12700"/>
                </a:tc>
                <a:tc>
                  <a:txBody>
                    <a:bodyPr/>
                    <a:lstStyle/>
                    <a:p>
                      <a:pPr algn="r"/>
                      <a:r>
                        <a:rPr sz="1000" b="0">
                          <a:solidFill>
                            <a:srgbClr val="1A1A1A"/>
                          </a:solidFill>
                          <a:latin typeface="Consolas"/>
                        </a:rPr>
                        <a:t>20%</a:t>
                      </a:r>
                    </a:p>
                  </a:txBody>
                  <a:tcPr marT="12700" marB="12700"/>
                </a:tc>
                <a:tc>
                  <a:txBody>
                    <a:bodyPr/>
                    <a:lstStyle/>
                    <a:p>
                      <a:pPr algn="r"/>
                      <a:r>
                        <a:rPr sz="1000" b="0">
                          <a:solidFill>
                            <a:srgbClr val="1A1A1A"/>
                          </a:solidFill>
                          <a:latin typeface="Consolas"/>
                        </a:rPr>
                        <a:t>no</a:t>
                      </a:r>
                    </a:p>
                  </a:txBody>
                  <a:tcPr marT="12700" marB="12700"/>
                </a:tc>
                <a:tc>
                  <a:txBody>
                    <a:bodyPr/>
                    <a:lstStyle/>
                    <a:p>
                      <a:pPr algn="r"/>
                      <a:r>
                        <a:rPr sz="1000" b="0">
                          <a:solidFill>
                            <a:srgbClr val="1A1A1A"/>
                          </a:solidFill>
                          <a:latin typeface="Consolas"/>
                        </a:rPr>
                        <a:t>0.34</a:t>
                      </a:r>
                    </a:p>
                  </a:txBody>
                  <a:tcPr marT="12700" marB="12700"/>
                </a:tc>
                <a:tc>
                  <a:txBody>
                    <a:bodyPr/>
                    <a:lstStyle/>
                    <a:p>
                      <a:pPr algn="r"/>
                      <a:r>
                        <a:rPr sz="1000" b="0">
                          <a:solidFill>
                            <a:srgbClr val="1A1A1A"/>
                          </a:solidFill>
                          <a:latin typeface="Consolas"/>
                        </a:rPr>
                        <a:t>-</a:t>
                      </a:r>
                    </a:p>
                  </a:txBody>
                  <a:tcPr marT="12700" marB="12700"/>
                </a:tc>
                <a:tc>
                  <a:txBody>
                    <a:bodyPr/>
                    <a:lstStyle/>
                    <a:p>
                      <a:pPr algn="r"/>
                      <a:r>
                        <a:rPr sz="1000" b="0">
                          <a:solidFill>
                            <a:srgbClr val="1A1A1A"/>
                          </a:solidFill>
                          <a:latin typeface="Consolas"/>
                        </a:rPr>
                        <a:t>0.41</a:t>
                      </a:r>
                    </a:p>
                  </a:txBody>
                  <a:tcPr marT="12700" marB="12700"/>
                </a:tc>
                <a:tc>
                  <a:txBody>
                    <a:bodyPr/>
                    <a:lstStyle/>
                    <a:p>
                      <a:pPr algn="r"/>
                      <a:r>
                        <a:rPr sz="1000" b="0">
                          <a:solidFill>
                            <a:srgbClr val="1A1A1A"/>
                          </a:solidFill>
                          <a:latin typeface="Consolas"/>
                        </a:rPr>
                        <a:t>0.30</a:t>
                      </a:r>
                    </a:p>
                  </a:txBody>
                  <a:tcPr marT="12700" marB="12700"/>
                </a:tc>
                <a:tc>
                  <a:txBody>
                    <a:bodyPr/>
                    <a:lstStyle/>
                    <a:p>
                      <a:pPr algn="r"/>
                      <a:r>
                        <a:rPr sz="1000" b="0">
                          <a:solidFill>
                            <a:srgbClr val="1A1A1A"/>
                          </a:solidFill>
                          <a:latin typeface="Consolas"/>
                        </a:rPr>
                        <a:t>0.04</a:t>
                      </a:r>
                    </a:p>
                  </a:txBody>
                  <a:tcPr marT="12700" marB="12700"/>
                </a:tc>
                <a:tc>
                  <a:txBody>
                    <a:bodyPr/>
                    <a:lstStyle/>
                    <a:p>
                      <a:pPr algn="r"/>
                      <a:r>
                        <a:rPr sz="1000" b="0">
                          <a:solidFill>
                            <a:srgbClr val="1A1A1A"/>
                          </a:solidFill>
                          <a:latin typeface="Consolas"/>
                        </a:rPr>
                        <a:t>0.57</a:t>
                      </a:r>
                    </a:p>
                  </a:txBody>
                  <a:tcPr marT="12700" marB="12700"/>
                </a:tc>
              </a:tr>
              <a:tr h="242316">
                <a:tc>
                  <a:txBody>
                    <a:bodyPr/>
                    <a:lstStyle/>
                    <a:p>
                      <a:pPr algn="l"/>
                      <a:r>
                        <a:rPr sz="1000" b="0">
                          <a:solidFill>
                            <a:srgbClr val="1A1A1A"/>
                          </a:solidFill>
                          <a:latin typeface="Segoe UI"/>
                        </a:rPr>
                        <a:t>ZecKit Post-M3 Stabilization a</a:t>
                      </a:r>
                    </a:p>
                  </a:txBody>
                  <a:tcPr marT="12700" marB="12700"/>
                </a:tc>
                <a:tc>
                  <a:txBody>
                    <a:bodyPr/>
                    <a:lstStyle/>
                    <a:p>
                      <a:pPr algn="r"/>
                      <a:r>
                        <a:rPr sz="1000" b="0">
                          <a:solidFill>
                            <a:srgbClr val="1A1A1A"/>
                          </a:solidFill>
                          <a:latin typeface="Consolas"/>
                        </a:rPr>
                        <a:t>19%</a:t>
                      </a:r>
                    </a:p>
                  </a:txBody>
                  <a:tcPr marT="12700" marB="12700"/>
                </a:tc>
                <a:tc>
                  <a:txBody>
                    <a:bodyPr/>
                    <a:lstStyle/>
                    <a:p>
                      <a:pPr algn="r"/>
                      <a:r>
                        <a:rPr sz="1000" b="0">
                          <a:solidFill>
                            <a:srgbClr val="1A1A1A"/>
                          </a:solidFill>
                          <a:latin typeface="Consolas"/>
                        </a:rPr>
                        <a:t>no</a:t>
                      </a:r>
                    </a:p>
                  </a:txBody>
                  <a:tcPr marT="12700" marB="12700"/>
                </a:tc>
                <a:tc>
                  <a:txBody>
                    <a:bodyPr/>
                    <a:lstStyle/>
                    <a:p>
                      <a:pPr algn="r"/>
                      <a:r>
                        <a:rPr sz="1000" b="0">
                          <a:solidFill>
                            <a:srgbClr val="1A1A1A"/>
                          </a:solidFill>
                          <a:latin typeface="Consolas"/>
                        </a:rPr>
                        <a:t>0.37</a:t>
                      </a:r>
                    </a:p>
                  </a:txBody>
                  <a:tcPr marT="12700" marB="12700"/>
                </a:tc>
                <a:tc>
                  <a:txBody>
                    <a:bodyPr/>
                    <a:lstStyle/>
                    <a:p>
                      <a:pPr algn="r"/>
                      <a:r>
                        <a:rPr sz="1000" b="0">
                          <a:solidFill>
                            <a:srgbClr val="1A1A1A"/>
                          </a:solidFill>
                          <a:latin typeface="Consolas"/>
                        </a:rPr>
                        <a:t>-</a:t>
                      </a:r>
                    </a:p>
                  </a:txBody>
                  <a:tcPr marT="12700" marB="12700"/>
                </a:tc>
                <a:tc>
                  <a:txBody>
                    <a:bodyPr/>
                    <a:lstStyle/>
                    <a:p>
                      <a:pPr algn="r"/>
                      <a:r>
                        <a:rPr sz="1000" b="0">
                          <a:solidFill>
                            <a:srgbClr val="1A1A1A"/>
                          </a:solidFill>
                          <a:latin typeface="Consolas"/>
                        </a:rPr>
                        <a:t>0.41</a:t>
                      </a:r>
                    </a:p>
                  </a:txBody>
                  <a:tcPr marT="12700" marB="12700"/>
                </a:tc>
                <a:tc>
                  <a:txBody>
                    <a:bodyPr/>
                    <a:lstStyle/>
                    <a:p>
                      <a:pPr algn="r"/>
                      <a:r>
                        <a:rPr sz="1000" b="0">
                          <a:solidFill>
                            <a:srgbClr val="1A1A1A"/>
                          </a:solidFill>
                          <a:latin typeface="Consolas"/>
                        </a:rPr>
                        <a:t>0.35</a:t>
                      </a:r>
                    </a:p>
                  </a:txBody>
                  <a:tcPr marT="12700" marB="12700"/>
                </a:tc>
                <a:tc>
                  <a:txBody>
                    <a:bodyPr/>
                    <a:lstStyle/>
                    <a:p>
                      <a:pPr algn="r"/>
                      <a:r>
                        <a:rPr sz="1000" b="0">
                          <a:solidFill>
                            <a:srgbClr val="1A1A1A"/>
                          </a:solidFill>
                          <a:latin typeface="Consolas"/>
                        </a:rPr>
                        <a:t>0.07</a:t>
                      </a:r>
                    </a:p>
                  </a:txBody>
                  <a:tcPr marT="12700" marB="12700"/>
                </a:tc>
                <a:tc>
                  <a:txBody>
                    <a:bodyPr/>
                    <a:lstStyle/>
                    <a:p>
                      <a:pPr algn="r"/>
                      <a:r>
                        <a:rPr sz="1000" b="0">
                          <a:solidFill>
                            <a:srgbClr val="1A1A1A"/>
                          </a:solidFill>
                          <a:latin typeface="Consolas"/>
                        </a:rPr>
                        <a:t>0.57</a:t>
                      </a:r>
                    </a:p>
                  </a:txBody>
                  <a:tcPr marT="12700" marB="12700"/>
                </a:tc>
              </a:tr>
              <a:tr h="242316">
                <a:tc>
                  <a:txBody>
                    <a:bodyPr/>
                    <a:lstStyle/>
                    <a:p>
                      <a:pPr algn="l"/>
                      <a:r>
                        <a:rPr sz="1000" b="0">
                          <a:solidFill>
                            <a:srgbClr val="1A1A1A"/>
                          </a:solidFill>
                          <a:latin typeface="Segoe UI"/>
                        </a:rPr>
                        <a:t>Zecmap</a:t>
                      </a:r>
                    </a:p>
                  </a:txBody>
                  <a:tcPr marT="12700" marB="12700"/>
                </a:tc>
                <a:tc>
                  <a:txBody>
                    <a:bodyPr/>
                    <a:lstStyle/>
                    <a:p>
                      <a:pPr algn="r"/>
                      <a:r>
                        <a:rPr sz="1000" b="0">
                          <a:solidFill>
                            <a:srgbClr val="1A1A1A"/>
                          </a:solidFill>
                          <a:latin typeface="Consolas"/>
                        </a:rPr>
                        <a:t>11%</a:t>
                      </a:r>
                    </a:p>
                  </a:txBody>
                  <a:tcPr marT="12700" marB="12700"/>
                </a:tc>
                <a:tc>
                  <a:txBody>
                    <a:bodyPr/>
                    <a:lstStyle/>
                    <a:p>
                      <a:pPr algn="r"/>
                      <a:r>
                        <a:rPr sz="1000" b="0">
                          <a:solidFill>
                            <a:srgbClr val="1A1A1A"/>
                          </a:solidFill>
                          <a:latin typeface="Consolas"/>
                        </a:rPr>
                        <a:t>no</a:t>
                      </a:r>
                    </a:p>
                  </a:txBody>
                  <a:tcPr marT="12700" marB="12700"/>
                </a:tc>
                <a:tc>
                  <a:txBody>
                    <a:bodyPr/>
                    <a:lstStyle/>
                    <a:p>
                      <a:pPr algn="r"/>
                      <a:r>
                        <a:rPr sz="1000" b="0">
                          <a:solidFill>
                            <a:srgbClr val="1A1A1A"/>
                          </a:solidFill>
                          <a:latin typeface="Consolas"/>
                        </a:rPr>
                        <a:t>0.34</a:t>
                      </a:r>
                    </a:p>
                  </a:txBody>
                  <a:tcPr marT="12700" marB="12700"/>
                </a:tc>
                <a:tc>
                  <a:txBody>
                    <a:bodyPr/>
                    <a:lstStyle/>
                    <a:p>
                      <a:pPr algn="r"/>
                      <a:r>
                        <a:rPr sz="1000" b="0">
                          <a:solidFill>
                            <a:srgbClr val="1A1A1A"/>
                          </a:solidFill>
                          <a:latin typeface="Consolas"/>
                        </a:rPr>
                        <a:t>-</a:t>
                      </a:r>
                    </a:p>
                  </a:txBody>
                  <a:tcPr marT="12700" marB="12700"/>
                </a:tc>
                <a:tc>
                  <a:txBody>
                    <a:bodyPr/>
                    <a:lstStyle/>
                    <a:p>
                      <a:pPr algn="r"/>
                      <a:r>
                        <a:rPr sz="1000" b="0">
                          <a:solidFill>
                            <a:srgbClr val="1A1A1A"/>
                          </a:solidFill>
                          <a:latin typeface="Consolas"/>
                        </a:rPr>
                        <a:t>0.46</a:t>
                      </a:r>
                    </a:p>
                  </a:txBody>
                  <a:tcPr marT="12700" marB="12700"/>
                </a:tc>
                <a:tc>
                  <a:txBody>
                    <a:bodyPr/>
                    <a:lstStyle/>
                    <a:p>
                      <a:pPr algn="r"/>
                      <a:r>
                        <a:rPr sz="1000" b="0">
                          <a:solidFill>
                            <a:srgbClr val="1A1A1A"/>
                          </a:solidFill>
                          <a:latin typeface="Consolas"/>
                        </a:rPr>
                        <a:t>0.36</a:t>
                      </a:r>
                    </a:p>
                  </a:txBody>
                  <a:tcPr marT="12700" marB="12700"/>
                </a:tc>
                <a:tc>
                  <a:txBody>
                    <a:bodyPr/>
                    <a:lstStyle/>
                    <a:p>
                      <a:pPr algn="r"/>
                      <a:r>
                        <a:rPr sz="1000" b="0">
                          <a:solidFill>
                            <a:srgbClr val="1A1A1A"/>
                          </a:solidFill>
                          <a:latin typeface="Consolas"/>
                        </a:rPr>
                        <a:t>0.04</a:t>
                      </a:r>
                    </a:p>
                  </a:txBody>
                  <a:tcPr marT="12700" marB="12700"/>
                </a:tc>
                <a:tc>
                  <a:txBody>
                    <a:bodyPr/>
                    <a:lstStyle/>
                    <a:p>
                      <a:pPr algn="r"/>
                      <a:r>
                        <a:rPr sz="1000" b="0">
                          <a:solidFill>
                            <a:srgbClr val="1A1A1A"/>
                          </a:solidFill>
                          <a:latin typeface="Consolas"/>
                        </a:rPr>
                        <a:t>0.54</a:t>
                      </a:r>
                    </a:p>
                  </a:txBody>
                  <a:tcPr marT="12700" marB="12700"/>
                </a:tc>
              </a:tr>
              <a:tr h="242316">
                <a:tc>
                  <a:txBody>
                    <a:bodyPr/>
                    <a:lstStyle/>
                    <a:p>
                      <a:pPr algn="l"/>
                      <a:r>
                        <a:rPr sz="1000" b="0">
                          <a:solidFill>
                            <a:srgbClr val="1A1A1A"/>
                          </a:solidFill>
                          <a:latin typeface="Segoe UI"/>
                        </a:rPr>
                        <a:t>Frontier Compute Zcash Securit</a:t>
                      </a:r>
                    </a:p>
                  </a:txBody>
                  <a:tcPr marT="12700" marB="12700"/>
                </a:tc>
                <a:tc>
                  <a:txBody>
                    <a:bodyPr/>
                    <a:lstStyle/>
                    <a:p>
                      <a:pPr algn="r"/>
                      <a:r>
                        <a:rPr sz="1000" b="0">
                          <a:solidFill>
                            <a:srgbClr val="1A1A1A"/>
                          </a:solidFill>
                          <a:latin typeface="Consolas"/>
                        </a:rPr>
                        <a:t>8%</a:t>
                      </a:r>
                    </a:p>
                  </a:txBody>
                  <a:tcPr marT="12700" marB="12700"/>
                </a:tc>
                <a:tc>
                  <a:txBody>
                    <a:bodyPr/>
                    <a:lstStyle/>
                    <a:p>
                      <a:pPr algn="r"/>
                      <a:r>
                        <a:rPr sz="1000" b="0">
                          <a:solidFill>
                            <a:srgbClr val="1A1A1A"/>
                          </a:solidFill>
                          <a:latin typeface="Consolas"/>
                        </a:rPr>
                        <a:t>no</a:t>
                      </a:r>
                    </a:p>
                  </a:txBody>
                  <a:tcPr marT="12700" marB="12700"/>
                </a:tc>
                <a:tc>
                  <a:txBody>
                    <a:bodyPr/>
                    <a:lstStyle/>
                    <a:p>
                      <a:pPr algn="r"/>
                      <a:r>
                        <a:rPr sz="1000" b="0">
                          <a:solidFill>
                            <a:srgbClr val="1A1A1A"/>
                          </a:solidFill>
                          <a:latin typeface="Consolas"/>
                        </a:rPr>
                        <a:t>0.36</a:t>
                      </a:r>
                    </a:p>
                  </a:txBody>
                  <a:tcPr marT="12700" marB="12700"/>
                </a:tc>
                <a:tc>
                  <a:txBody>
                    <a:bodyPr/>
                    <a:lstStyle/>
                    <a:p>
                      <a:pPr algn="r"/>
                      <a:r>
                        <a:rPr sz="1000" b="0">
                          <a:solidFill>
                            <a:srgbClr val="1A1A1A"/>
                          </a:solidFill>
                          <a:latin typeface="Consolas"/>
                        </a:rPr>
                        <a:t>-</a:t>
                      </a:r>
                    </a:p>
                  </a:txBody>
                  <a:tcPr marT="12700" marB="12700"/>
                </a:tc>
                <a:tc>
                  <a:txBody>
                    <a:bodyPr/>
                    <a:lstStyle/>
                    <a:p>
                      <a:pPr algn="r"/>
                      <a:r>
                        <a:rPr sz="1000" b="0">
                          <a:solidFill>
                            <a:srgbClr val="1A1A1A"/>
                          </a:solidFill>
                          <a:latin typeface="Consolas"/>
                        </a:rPr>
                        <a:t>0.42</a:t>
                      </a:r>
                    </a:p>
                  </a:txBody>
                  <a:tcPr marT="12700" marB="12700"/>
                </a:tc>
                <a:tc>
                  <a:txBody>
                    <a:bodyPr/>
                    <a:lstStyle/>
                    <a:p>
                      <a:pPr algn="r"/>
                      <a:r>
                        <a:rPr sz="1000" b="0">
                          <a:solidFill>
                            <a:srgbClr val="1A1A1A"/>
                          </a:solidFill>
                          <a:latin typeface="Consolas"/>
                        </a:rPr>
                        <a:t>0.35</a:t>
                      </a:r>
                    </a:p>
                  </a:txBody>
                  <a:tcPr marT="12700" marB="12700"/>
                </a:tc>
                <a:tc>
                  <a:txBody>
                    <a:bodyPr/>
                    <a:lstStyle/>
                    <a:p>
                      <a:pPr algn="r"/>
                      <a:r>
                        <a:rPr sz="1000" b="0">
                          <a:solidFill>
                            <a:srgbClr val="1A1A1A"/>
                          </a:solidFill>
                          <a:latin typeface="Consolas"/>
                        </a:rPr>
                        <a:t>0.07</a:t>
                      </a:r>
                    </a:p>
                  </a:txBody>
                  <a:tcPr marT="12700" marB="12700"/>
                </a:tc>
                <a:tc>
                  <a:txBody>
                    <a:bodyPr/>
                    <a:lstStyle/>
                    <a:p>
                      <a:pPr algn="r"/>
                      <a:r>
                        <a:rPr sz="1000" b="0">
                          <a:solidFill>
                            <a:srgbClr val="1A1A1A"/>
                          </a:solidFill>
                          <a:latin typeface="Consolas"/>
                        </a:rPr>
                        <a:t>0.35</a:t>
                      </a:r>
                    </a:p>
                  </a:txBody>
                  <a:tcPr marT="12700" marB="12700"/>
                </a:tc>
              </a:tr>
              <a:tr h="242316">
                <a:tc>
                  <a:txBody>
                    <a:bodyPr/>
                    <a:lstStyle/>
                    <a:p>
                      <a:pPr algn="l"/>
                      <a:r>
                        <a:rPr sz="1000" b="0">
                          <a:solidFill>
                            <a:srgbClr val="1A1A1A"/>
                          </a:solidFill>
                          <a:latin typeface="Segoe UI"/>
                        </a:rPr>
                        <a:t>Open-Source Zcash Hardware-Wal</a:t>
                      </a:r>
                    </a:p>
                  </a:txBody>
                  <a:tcPr marT="12700" marB="12700"/>
                </a:tc>
                <a:tc>
                  <a:txBody>
                    <a:bodyPr/>
                    <a:lstStyle/>
                    <a:p>
                      <a:pPr algn="r"/>
                      <a:r>
                        <a:rPr sz="1000" b="0">
                          <a:solidFill>
                            <a:srgbClr val="1A1A1A"/>
                          </a:solidFill>
                          <a:latin typeface="Consolas"/>
                        </a:rPr>
                        <a:t>6%</a:t>
                      </a:r>
                    </a:p>
                  </a:txBody>
                  <a:tcPr marT="12700" marB="12700"/>
                </a:tc>
                <a:tc>
                  <a:txBody>
                    <a:bodyPr/>
                    <a:lstStyle/>
                    <a:p>
                      <a:pPr algn="r"/>
                      <a:r>
                        <a:rPr sz="1000" b="0">
                          <a:solidFill>
                            <a:srgbClr val="1A1A1A"/>
                          </a:solidFill>
                          <a:latin typeface="Consolas"/>
                        </a:rPr>
                        <a:t>no</a:t>
                      </a:r>
                    </a:p>
                  </a:txBody>
                  <a:tcPr marT="12700" marB="12700"/>
                </a:tc>
                <a:tc>
                  <a:txBody>
                    <a:bodyPr/>
                    <a:lstStyle/>
                    <a:p>
                      <a:pPr algn="r"/>
                      <a:r>
                        <a:rPr sz="1000" b="0">
                          <a:solidFill>
                            <a:srgbClr val="1A1A1A"/>
                          </a:solidFill>
                          <a:latin typeface="Consolas"/>
                        </a:rPr>
                        <a:t>0.28</a:t>
                      </a:r>
                    </a:p>
                  </a:txBody>
                  <a:tcPr marT="12700" marB="12700"/>
                </a:tc>
                <a:tc>
                  <a:txBody>
                    <a:bodyPr/>
                    <a:lstStyle/>
                    <a:p>
                      <a:pPr algn="r"/>
                      <a:r>
                        <a:rPr sz="1000" b="0">
                          <a:solidFill>
                            <a:srgbClr val="1A1A1A"/>
                          </a:solidFill>
                          <a:latin typeface="Consolas"/>
                        </a:rPr>
                        <a:t>-</a:t>
                      </a:r>
                    </a:p>
                  </a:txBody>
                  <a:tcPr marT="12700" marB="12700"/>
                </a:tc>
                <a:tc>
                  <a:txBody>
                    <a:bodyPr/>
                    <a:lstStyle/>
                    <a:p>
                      <a:pPr algn="r"/>
                      <a:r>
                        <a:rPr sz="1000" b="0">
                          <a:solidFill>
                            <a:srgbClr val="1A1A1A"/>
                          </a:solidFill>
                          <a:latin typeface="Consolas"/>
                        </a:rPr>
                        <a:t>0.36</a:t>
                      </a:r>
                    </a:p>
                  </a:txBody>
                  <a:tcPr marT="12700" marB="12700"/>
                </a:tc>
                <a:tc>
                  <a:txBody>
                    <a:bodyPr/>
                    <a:lstStyle/>
                    <a:p>
                      <a:pPr algn="r"/>
                      <a:r>
                        <a:rPr sz="1000" b="0">
                          <a:solidFill>
                            <a:srgbClr val="1A1A1A"/>
                          </a:solidFill>
                          <a:latin typeface="Consolas"/>
                        </a:rPr>
                        <a:t>0.26</a:t>
                      </a:r>
                    </a:p>
                  </a:txBody>
                  <a:tcPr marT="12700" marB="12700"/>
                </a:tc>
                <a:tc>
                  <a:txBody>
                    <a:bodyPr/>
                    <a:lstStyle/>
                    <a:p>
                      <a:pPr algn="r"/>
                      <a:r>
                        <a:rPr sz="1000" b="0">
                          <a:solidFill>
                            <a:srgbClr val="1A1A1A"/>
                          </a:solidFill>
                          <a:latin typeface="Consolas"/>
                        </a:rPr>
                        <a:t>0.05</a:t>
                      </a:r>
                    </a:p>
                  </a:txBody>
                  <a:tcPr marT="12700" marB="12700"/>
                </a:tc>
                <a:tc>
                  <a:txBody>
                    <a:bodyPr/>
                    <a:lstStyle/>
                    <a:p>
                      <a:pPr algn="r"/>
                      <a:r>
                        <a:rPr sz="1000" b="0">
                          <a:solidFill>
                            <a:srgbClr val="1A1A1A"/>
                          </a:solidFill>
                          <a:latin typeface="Consolas"/>
                        </a:rPr>
                        <a:t>0.52</a:t>
                      </a:r>
                    </a:p>
                  </a:txBody>
                  <a:tcPr marT="12700" marB="12700"/>
                </a:tc>
              </a:tr>
              <a:tr h="242316">
                <a:tc>
                  <a:txBody>
                    <a:bodyPr/>
                    <a:lstStyle/>
                    <a:p>
                      <a:pPr algn="l"/>
                      <a:r>
                        <a:rPr sz="1000" b="0">
                          <a:solidFill>
                            <a:srgbClr val="1A1A1A"/>
                          </a:solidFill>
                          <a:latin typeface="Segoe UI"/>
                        </a:rPr>
                        <a:t>lightwalletd-rs</a:t>
                      </a:r>
                    </a:p>
                  </a:txBody>
                  <a:tcPr marT="12700" marB="12700"/>
                </a:tc>
                <a:tc>
                  <a:txBody>
                    <a:bodyPr/>
                    <a:lstStyle/>
                    <a:p>
                      <a:pPr algn="r"/>
                      <a:r>
                        <a:rPr sz="1000" b="0">
                          <a:solidFill>
                            <a:srgbClr val="1A1A1A"/>
                          </a:solidFill>
                          <a:latin typeface="Consolas"/>
                        </a:rPr>
                        <a:t>6%</a:t>
                      </a:r>
                    </a:p>
                  </a:txBody>
                  <a:tcPr marT="12700" marB="12700"/>
                </a:tc>
                <a:tc>
                  <a:txBody>
                    <a:bodyPr/>
                    <a:lstStyle/>
                    <a:p>
                      <a:pPr algn="r"/>
                      <a:r>
                        <a:rPr sz="1000" b="0">
                          <a:solidFill>
                            <a:srgbClr val="1A1A1A"/>
                          </a:solidFill>
                          <a:latin typeface="Consolas"/>
                        </a:rPr>
                        <a:t>no</a:t>
                      </a:r>
                    </a:p>
                  </a:txBody>
                  <a:tcPr marT="12700" marB="12700"/>
                </a:tc>
                <a:tc>
                  <a:txBody>
                    <a:bodyPr/>
                    <a:lstStyle/>
                    <a:p>
                      <a:pPr algn="r"/>
                      <a:r>
                        <a:rPr sz="1000" b="0">
                          <a:solidFill>
                            <a:srgbClr val="1A1A1A"/>
                          </a:solidFill>
                          <a:latin typeface="Consolas"/>
                        </a:rPr>
                        <a:t>0.30</a:t>
                      </a:r>
                    </a:p>
                  </a:txBody>
                  <a:tcPr marT="12700" marB="12700"/>
                </a:tc>
                <a:tc>
                  <a:txBody>
                    <a:bodyPr/>
                    <a:lstStyle/>
                    <a:p>
                      <a:pPr algn="r"/>
                      <a:r>
                        <a:rPr sz="1000" b="0">
                          <a:solidFill>
                            <a:srgbClr val="1A1A1A"/>
                          </a:solidFill>
                          <a:latin typeface="Consolas"/>
                        </a:rPr>
                        <a:t>0.58</a:t>
                      </a:r>
                    </a:p>
                  </a:txBody>
                  <a:tcPr marT="12700" marB="12700"/>
                </a:tc>
                <a:tc>
                  <a:txBody>
                    <a:bodyPr/>
                    <a:lstStyle/>
                    <a:p>
                      <a:pPr algn="r"/>
                      <a:r>
                        <a:rPr sz="1000" b="0">
                          <a:solidFill>
                            <a:srgbClr val="1A1A1A"/>
                          </a:solidFill>
                          <a:latin typeface="Consolas"/>
                        </a:rPr>
                        <a:t>0.57</a:t>
                      </a:r>
                    </a:p>
                  </a:txBody>
                  <a:tcPr marT="12700" marB="12700"/>
                </a:tc>
                <a:tc>
                  <a:txBody>
                    <a:bodyPr/>
                    <a:lstStyle/>
                    <a:p>
                      <a:pPr algn="r"/>
                      <a:r>
                        <a:rPr sz="1000" b="0">
                          <a:solidFill>
                            <a:srgbClr val="1A1A1A"/>
                          </a:solidFill>
                          <a:latin typeface="Consolas"/>
                        </a:rPr>
                        <a:t>0.31</a:t>
                      </a:r>
                    </a:p>
                  </a:txBody>
                  <a:tcPr marT="12700" marB="12700"/>
                </a:tc>
                <a:tc>
                  <a:txBody>
                    <a:bodyPr/>
                    <a:lstStyle/>
                    <a:p>
                      <a:pPr algn="r"/>
                      <a:r>
                        <a:rPr sz="1000" b="0">
                          <a:solidFill>
                            <a:srgbClr val="1A1A1A"/>
                          </a:solidFill>
                          <a:latin typeface="Consolas"/>
                        </a:rPr>
                        <a:t>0.03</a:t>
                      </a:r>
                    </a:p>
                  </a:txBody>
                  <a:tcPr marT="12700" marB="12700"/>
                </a:tc>
                <a:tc>
                  <a:txBody>
                    <a:bodyPr/>
                    <a:lstStyle/>
                    <a:p>
                      <a:pPr algn="r"/>
                      <a:r>
                        <a:rPr sz="1000" b="0">
                          <a:solidFill>
                            <a:srgbClr val="1A1A1A"/>
                          </a:solidFill>
                          <a:latin typeface="Consolas"/>
                        </a:rPr>
                        <a:t>0.74</a:t>
                      </a:r>
                    </a:p>
                  </a:txBody>
                  <a:tcPr marT="12700" marB="12700"/>
                </a:tc>
              </a:tr>
              <a:tr h="242316">
                <a:tc>
                  <a:txBody>
                    <a:bodyPr/>
                    <a:lstStyle/>
                    <a:p>
                      <a:pPr algn="l"/>
                      <a:r>
                        <a:rPr sz="1000" b="0">
                          <a:solidFill>
                            <a:srgbClr val="1A1A1A"/>
                          </a:solidFill>
                          <a:latin typeface="Segoe UI"/>
                        </a:rPr>
                        <a:t>Zcash Grants Hub</a:t>
                      </a:r>
                    </a:p>
                  </a:txBody>
                  <a:tcPr marT="12700" marB="12700"/>
                </a:tc>
                <a:tc>
                  <a:txBody>
                    <a:bodyPr/>
                    <a:lstStyle/>
                    <a:p>
                      <a:pPr algn="r"/>
                      <a:r>
                        <a:rPr sz="1000" b="0">
                          <a:solidFill>
                            <a:srgbClr val="1A1A1A"/>
                          </a:solidFill>
                          <a:latin typeface="Consolas"/>
                        </a:rPr>
                        <a:t>5%</a:t>
                      </a:r>
                    </a:p>
                  </a:txBody>
                  <a:tcPr marT="12700" marB="12700"/>
                </a:tc>
                <a:tc>
                  <a:txBody>
                    <a:bodyPr/>
                    <a:lstStyle/>
                    <a:p>
                      <a:pPr algn="r"/>
                      <a:r>
                        <a:rPr sz="1000" b="0">
                          <a:solidFill>
                            <a:srgbClr val="1A1A1A"/>
                          </a:solidFill>
                          <a:latin typeface="Consolas"/>
                        </a:rPr>
                        <a:t>no</a:t>
                      </a:r>
                    </a:p>
                  </a:txBody>
                  <a:tcPr marT="12700" marB="12700"/>
                </a:tc>
                <a:tc>
                  <a:txBody>
                    <a:bodyPr/>
                    <a:lstStyle/>
                    <a:p>
                      <a:pPr algn="r"/>
                      <a:r>
                        <a:rPr sz="1000" b="0">
                          <a:solidFill>
                            <a:srgbClr val="1A1A1A"/>
                          </a:solidFill>
                          <a:latin typeface="Consolas"/>
                        </a:rPr>
                        <a:t>0.35</a:t>
                      </a:r>
                    </a:p>
                  </a:txBody>
                  <a:tcPr marT="12700" marB="12700"/>
                </a:tc>
                <a:tc>
                  <a:txBody>
                    <a:bodyPr/>
                    <a:lstStyle/>
                    <a:p>
                      <a:pPr algn="r"/>
                      <a:r>
                        <a:rPr sz="1000" b="0">
                          <a:solidFill>
                            <a:srgbClr val="1A1A1A"/>
                          </a:solidFill>
                          <a:latin typeface="Consolas"/>
                        </a:rPr>
                        <a:t>-</a:t>
                      </a:r>
                    </a:p>
                  </a:txBody>
                  <a:tcPr marT="12700" marB="12700"/>
                </a:tc>
                <a:tc>
                  <a:txBody>
                    <a:bodyPr/>
                    <a:lstStyle/>
                    <a:p>
                      <a:pPr algn="r"/>
                      <a:r>
                        <a:rPr sz="1000" b="0">
                          <a:solidFill>
                            <a:srgbClr val="1A1A1A"/>
                          </a:solidFill>
                          <a:latin typeface="Consolas"/>
                        </a:rPr>
                        <a:t>0.46</a:t>
                      </a:r>
                    </a:p>
                  </a:txBody>
                  <a:tcPr marT="12700" marB="12700"/>
                </a:tc>
                <a:tc>
                  <a:txBody>
                    <a:bodyPr/>
                    <a:lstStyle/>
                    <a:p>
                      <a:pPr algn="r"/>
                      <a:r>
                        <a:rPr sz="1000" b="0">
                          <a:solidFill>
                            <a:srgbClr val="1A1A1A"/>
                          </a:solidFill>
                          <a:latin typeface="Consolas"/>
                        </a:rPr>
                        <a:t>0.38</a:t>
                      </a:r>
                    </a:p>
                  </a:txBody>
                  <a:tcPr marT="12700" marB="12700"/>
                </a:tc>
                <a:tc>
                  <a:txBody>
                    <a:bodyPr/>
                    <a:lstStyle/>
                    <a:p>
                      <a:pPr algn="r"/>
                      <a:r>
                        <a:rPr sz="1000" b="0">
                          <a:solidFill>
                            <a:srgbClr val="1A1A1A"/>
                          </a:solidFill>
                          <a:latin typeface="Consolas"/>
                        </a:rPr>
                        <a:t>0.04</a:t>
                      </a:r>
                    </a:p>
                  </a:txBody>
                  <a:tcPr marT="12700" marB="12700"/>
                </a:tc>
                <a:tc>
                  <a:txBody>
                    <a:bodyPr/>
                    <a:lstStyle/>
                    <a:p>
                      <a:pPr algn="r"/>
                      <a:r>
                        <a:rPr sz="1000" b="0">
                          <a:solidFill>
                            <a:srgbClr val="1A1A1A"/>
                          </a:solidFill>
                          <a:latin typeface="Consolas"/>
                        </a:rPr>
                        <a:t>0.61</a:t>
                      </a:r>
                    </a:p>
                  </a:txBody>
                  <a:tcPr marT="12700" marB="12700"/>
                </a:tc>
              </a:tr>
              <a:tr h="242316">
                <a:tc>
                  <a:txBody>
                    <a:bodyPr/>
                    <a:lstStyle/>
                    <a:p>
                      <a:pPr algn="l"/>
                      <a:r>
                        <a:rPr sz="1000" b="0">
                          <a:solidFill>
                            <a:srgbClr val="1A1A1A"/>
                          </a:solidFill>
                          <a:latin typeface="Segoe UI"/>
                        </a:rPr>
                        <a:t>Self-Sovereign Zcash Testnet F</a:t>
                      </a:r>
                    </a:p>
                  </a:txBody>
                  <a:tcPr marT="12700" marB="12700"/>
                </a:tc>
                <a:tc>
                  <a:txBody>
                    <a:bodyPr/>
                    <a:lstStyle/>
                    <a:p>
                      <a:pPr algn="r"/>
                      <a:r>
                        <a:rPr sz="1000" b="0">
                          <a:solidFill>
                            <a:srgbClr val="1A1A1A"/>
                          </a:solidFill>
                          <a:latin typeface="Consolas"/>
                        </a:rPr>
                        <a:t>5%</a:t>
                      </a:r>
                    </a:p>
                  </a:txBody>
                  <a:tcPr marT="12700" marB="12700"/>
                </a:tc>
                <a:tc>
                  <a:txBody>
                    <a:bodyPr/>
                    <a:lstStyle/>
                    <a:p>
                      <a:pPr algn="r"/>
                      <a:r>
                        <a:rPr sz="1000" b="0">
                          <a:solidFill>
                            <a:srgbClr val="1A1A1A"/>
                          </a:solidFill>
                          <a:latin typeface="Consolas"/>
                        </a:rPr>
                        <a:t>no</a:t>
                      </a:r>
                    </a:p>
                  </a:txBody>
                  <a:tcPr marT="12700" marB="12700"/>
                </a:tc>
                <a:tc>
                  <a:txBody>
                    <a:bodyPr/>
                    <a:lstStyle/>
                    <a:p>
                      <a:pPr algn="r"/>
                      <a:r>
                        <a:rPr sz="1000" b="0">
                          <a:solidFill>
                            <a:srgbClr val="1A1A1A"/>
                          </a:solidFill>
                          <a:latin typeface="Consolas"/>
                        </a:rPr>
                        <a:t>0.28</a:t>
                      </a:r>
                    </a:p>
                  </a:txBody>
                  <a:tcPr marT="12700" marB="12700"/>
                </a:tc>
                <a:tc>
                  <a:txBody>
                    <a:bodyPr/>
                    <a:lstStyle/>
                    <a:p>
                      <a:pPr algn="r"/>
                      <a:r>
                        <a:rPr sz="1000" b="0">
                          <a:solidFill>
                            <a:srgbClr val="1A1A1A"/>
                          </a:solidFill>
                          <a:latin typeface="Consolas"/>
                        </a:rPr>
                        <a:t>-</a:t>
                      </a:r>
                    </a:p>
                  </a:txBody>
                  <a:tcPr marT="12700" marB="12700"/>
                </a:tc>
                <a:tc>
                  <a:txBody>
                    <a:bodyPr/>
                    <a:lstStyle/>
                    <a:p>
                      <a:pPr algn="r"/>
                      <a:r>
                        <a:rPr sz="1000" b="0">
                          <a:solidFill>
                            <a:srgbClr val="1A1A1A"/>
                          </a:solidFill>
                          <a:latin typeface="Consolas"/>
                        </a:rPr>
                        <a:t>0.41</a:t>
                      </a:r>
                    </a:p>
                  </a:txBody>
                  <a:tcPr marT="12700" marB="12700"/>
                </a:tc>
                <a:tc>
                  <a:txBody>
                    <a:bodyPr/>
                    <a:lstStyle/>
                    <a:p>
                      <a:pPr algn="r"/>
                      <a:r>
                        <a:rPr sz="1000" b="0">
                          <a:solidFill>
                            <a:srgbClr val="1A1A1A"/>
                          </a:solidFill>
                          <a:latin typeface="Consolas"/>
                        </a:rPr>
                        <a:t>0.27</a:t>
                      </a:r>
                    </a:p>
                  </a:txBody>
                  <a:tcPr marT="12700" marB="12700"/>
                </a:tc>
                <a:tc>
                  <a:txBody>
                    <a:bodyPr/>
                    <a:lstStyle/>
                    <a:p>
                      <a:pPr algn="r"/>
                      <a:r>
                        <a:rPr sz="1000" b="0">
                          <a:solidFill>
                            <a:srgbClr val="1A1A1A"/>
                          </a:solidFill>
                          <a:latin typeface="Consolas"/>
                        </a:rPr>
                        <a:t>0.02</a:t>
                      </a:r>
                    </a:p>
                  </a:txBody>
                  <a:tcPr marT="12700" marB="12700"/>
                </a:tc>
                <a:tc>
                  <a:txBody>
                    <a:bodyPr/>
                    <a:lstStyle/>
                    <a:p>
                      <a:pPr algn="r"/>
                      <a:r>
                        <a:rPr sz="1000" b="0">
                          <a:solidFill>
                            <a:srgbClr val="1A1A1A"/>
                          </a:solidFill>
                          <a:latin typeface="Consolas"/>
                        </a:rPr>
                        <a:t>0.58</a:t>
                      </a:r>
                    </a:p>
                  </a:txBody>
                  <a:tcPr marT="12700" marB="12700"/>
                </a:tc>
              </a:tr>
              <a:tr h="242316">
                <a:tc>
                  <a:txBody>
                    <a:bodyPr/>
                    <a:lstStyle/>
                    <a:p>
                      <a:pPr algn="l"/>
                      <a:r>
                        <a:rPr sz="1000" b="0">
                          <a:solidFill>
                            <a:srgbClr val="1A1A1A"/>
                          </a:solidFill>
                          <a:latin typeface="Segoe UI"/>
                        </a:rPr>
                        <a:t>Zafu Browser Extension</a:t>
                      </a:r>
                    </a:p>
                  </a:txBody>
                  <a:tcPr marT="12700" marB="12700"/>
                </a:tc>
                <a:tc>
                  <a:txBody>
                    <a:bodyPr/>
                    <a:lstStyle/>
                    <a:p>
                      <a:pPr algn="r"/>
                      <a:r>
                        <a:rPr sz="1000" b="0">
                          <a:solidFill>
                            <a:srgbClr val="1A1A1A"/>
                          </a:solidFill>
                          <a:latin typeface="Consolas"/>
                        </a:rPr>
                        <a:t>5%</a:t>
                      </a:r>
                    </a:p>
                  </a:txBody>
                  <a:tcPr marT="12700" marB="12700"/>
                </a:tc>
                <a:tc>
                  <a:txBody>
                    <a:bodyPr/>
                    <a:lstStyle/>
                    <a:p>
                      <a:pPr algn="r"/>
                      <a:r>
                        <a:rPr sz="1000" b="0">
                          <a:solidFill>
                            <a:srgbClr val="1A1A1A"/>
                          </a:solidFill>
                          <a:latin typeface="Consolas"/>
                        </a:rPr>
                        <a:t>no</a:t>
                      </a:r>
                    </a:p>
                  </a:txBody>
                  <a:tcPr marT="12700" marB="12700"/>
                </a:tc>
                <a:tc>
                  <a:txBody>
                    <a:bodyPr/>
                    <a:lstStyle/>
                    <a:p>
                      <a:pPr algn="r"/>
                      <a:r>
                        <a:rPr sz="1000" b="0">
                          <a:solidFill>
                            <a:srgbClr val="1A1A1A"/>
                          </a:solidFill>
                          <a:latin typeface="Consolas"/>
                        </a:rPr>
                        <a:t>0.25</a:t>
                      </a:r>
                    </a:p>
                  </a:txBody>
                  <a:tcPr marT="12700" marB="12700"/>
                </a:tc>
                <a:tc>
                  <a:txBody>
                    <a:bodyPr/>
                    <a:lstStyle/>
                    <a:p>
                      <a:pPr algn="r"/>
                      <a:r>
                        <a:rPr sz="1000" b="0">
                          <a:solidFill>
                            <a:srgbClr val="1A1A1A"/>
                          </a:solidFill>
                          <a:latin typeface="Consolas"/>
                        </a:rPr>
                        <a:t>0.80</a:t>
                      </a:r>
                    </a:p>
                  </a:txBody>
                  <a:tcPr marT="12700" marB="12700"/>
                </a:tc>
                <a:tc>
                  <a:txBody>
                    <a:bodyPr/>
                    <a:lstStyle/>
                    <a:p>
                      <a:pPr algn="r"/>
                      <a:r>
                        <a:rPr sz="1000" b="0">
                          <a:solidFill>
                            <a:srgbClr val="1A1A1A"/>
                          </a:solidFill>
                          <a:latin typeface="Consolas"/>
                        </a:rPr>
                        <a:t>0.31</a:t>
                      </a:r>
                    </a:p>
                  </a:txBody>
                  <a:tcPr marT="12700" marB="12700"/>
                </a:tc>
                <a:tc>
                  <a:txBody>
                    <a:bodyPr/>
                    <a:lstStyle/>
                    <a:p>
                      <a:pPr algn="r"/>
                      <a:r>
                        <a:rPr sz="1000" b="0">
                          <a:solidFill>
                            <a:srgbClr val="1A1A1A"/>
                          </a:solidFill>
                          <a:latin typeface="Consolas"/>
                        </a:rPr>
                        <a:t>0.18</a:t>
                      </a:r>
                    </a:p>
                  </a:txBody>
                  <a:tcPr marT="12700" marB="12700"/>
                </a:tc>
                <a:tc>
                  <a:txBody>
                    <a:bodyPr/>
                    <a:lstStyle/>
                    <a:p>
                      <a:pPr algn="r"/>
                      <a:r>
                        <a:rPr sz="1000" b="0">
                          <a:solidFill>
                            <a:srgbClr val="1A1A1A"/>
                          </a:solidFill>
                          <a:latin typeface="Consolas"/>
                        </a:rPr>
                        <a:t>0.03</a:t>
                      </a:r>
                    </a:p>
                  </a:txBody>
                  <a:tcPr marT="12700" marB="12700"/>
                </a:tc>
                <a:tc>
                  <a:txBody>
                    <a:bodyPr/>
                    <a:lstStyle/>
                    <a:p>
                      <a:pPr algn="r"/>
                      <a:r>
                        <a:rPr sz="1000" b="0">
                          <a:solidFill>
                            <a:srgbClr val="1A1A1A"/>
                          </a:solidFill>
                          <a:latin typeface="Consolas"/>
                        </a:rPr>
                        <a:t>0.30</a:t>
                      </a:r>
                    </a:p>
                  </a:txBody>
                  <a:tcPr marT="12700" marB="12700"/>
                </a:tc>
              </a:tr>
              <a:tr h="242316">
                <a:tc>
                  <a:txBody>
                    <a:bodyPr/>
                    <a:lstStyle/>
                    <a:p>
                      <a:pPr algn="l"/>
                      <a:r>
                        <a:rPr sz="1000" b="0">
                          <a:solidFill>
                            <a:srgbClr val="1A1A1A"/>
                          </a:solidFill>
                          <a:latin typeface="Segoe UI"/>
                        </a:rPr>
                        <a:t>ZecBooks</a:t>
                      </a:r>
                    </a:p>
                  </a:txBody>
                  <a:tcPr marT="12700" marB="12700"/>
                </a:tc>
                <a:tc>
                  <a:txBody>
                    <a:bodyPr/>
                    <a:lstStyle/>
                    <a:p>
                      <a:pPr algn="r"/>
                      <a:r>
                        <a:rPr sz="1000" b="0">
                          <a:solidFill>
                            <a:srgbClr val="1A1A1A"/>
                          </a:solidFill>
                          <a:latin typeface="Consolas"/>
                        </a:rPr>
                        <a:t>5%</a:t>
                      </a:r>
                    </a:p>
                  </a:txBody>
                  <a:tcPr marT="12700" marB="12700"/>
                </a:tc>
                <a:tc>
                  <a:txBody>
                    <a:bodyPr/>
                    <a:lstStyle/>
                    <a:p>
                      <a:pPr algn="r"/>
                      <a:r>
                        <a:rPr sz="1000" b="0">
                          <a:solidFill>
                            <a:srgbClr val="1A1A1A"/>
                          </a:solidFill>
                          <a:latin typeface="Consolas"/>
                        </a:rPr>
                        <a:t>no</a:t>
                      </a:r>
                    </a:p>
                  </a:txBody>
                  <a:tcPr marT="12700" marB="12700"/>
                </a:tc>
                <a:tc>
                  <a:txBody>
                    <a:bodyPr/>
                    <a:lstStyle/>
                    <a:p>
                      <a:pPr algn="r"/>
                      <a:r>
                        <a:rPr sz="1000" b="0">
                          <a:solidFill>
                            <a:srgbClr val="1A1A1A"/>
                          </a:solidFill>
                          <a:latin typeface="Consolas"/>
                        </a:rPr>
                        <a:t>0.25</a:t>
                      </a:r>
                    </a:p>
                  </a:txBody>
                  <a:tcPr marT="12700" marB="12700"/>
                </a:tc>
                <a:tc>
                  <a:txBody>
                    <a:bodyPr/>
                    <a:lstStyle/>
                    <a:p>
                      <a:pPr algn="r"/>
                      <a:r>
                        <a:rPr sz="1000" b="0">
                          <a:solidFill>
                            <a:srgbClr val="1A1A1A"/>
                          </a:solidFill>
                          <a:latin typeface="Consolas"/>
                        </a:rPr>
                        <a:t>-</a:t>
                      </a:r>
                    </a:p>
                  </a:txBody>
                  <a:tcPr marT="12700" marB="12700"/>
                </a:tc>
                <a:tc>
                  <a:txBody>
                    <a:bodyPr/>
                    <a:lstStyle/>
                    <a:p>
                      <a:pPr algn="r"/>
                      <a:r>
                        <a:rPr sz="1000" b="0">
                          <a:solidFill>
                            <a:srgbClr val="1A1A1A"/>
                          </a:solidFill>
                          <a:latin typeface="Consolas"/>
                        </a:rPr>
                        <a:t>0.26</a:t>
                      </a:r>
                    </a:p>
                  </a:txBody>
                  <a:tcPr marT="12700" marB="12700"/>
                </a:tc>
                <a:tc>
                  <a:txBody>
                    <a:bodyPr/>
                    <a:lstStyle/>
                    <a:p>
                      <a:pPr algn="r"/>
                      <a:r>
                        <a:rPr sz="1000" b="0">
                          <a:solidFill>
                            <a:srgbClr val="1A1A1A"/>
                          </a:solidFill>
                          <a:latin typeface="Consolas"/>
                        </a:rPr>
                        <a:t>0.19</a:t>
                      </a:r>
                    </a:p>
                  </a:txBody>
                  <a:tcPr marT="12700" marB="12700"/>
                </a:tc>
                <a:tc>
                  <a:txBody>
                    <a:bodyPr/>
                    <a:lstStyle/>
                    <a:p>
                      <a:pPr algn="r"/>
                      <a:r>
                        <a:rPr sz="1000" b="0">
                          <a:solidFill>
                            <a:srgbClr val="1A1A1A"/>
                          </a:solidFill>
                          <a:latin typeface="Consolas"/>
                        </a:rPr>
                        <a:t>0.02</a:t>
                      </a:r>
                    </a:p>
                  </a:txBody>
                  <a:tcPr marT="12700" marB="12700"/>
                </a:tc>
                <a:tc>
                  <a:txBody>
                    <a:bodyPr/>
                    <a:lstStyle/>
                    <a:p>
                      <a:pPr algn="r"/>
                      <a:r>
                        <a:rPr sz="1000" b="0">
                          <a:solidFill>
                            <a:srgbClr val="1A1A1A"/>
                          </a:solidFill>
                          <a:latin typeface="Consolas"/>
                        </a:rPr>
                        <a:t>0.22</a:t>
                      </a:r>
                    </a:p>
                  </a:txBody>
                  <a:tcPr marT="12700" marB="12700"/>
                </a:tc>
              </a:tr>
              <a:tr h="242316">
                <a:tc>
                  <a:txBody>
                    <a:bodyPr/>
                    <a:lstStyle/>
                    <a:p>
                      <a:pPr algn="l"/>
                      <a:r>
                        <a:rPr sz="1000" b="0">
                          <a:solidFill>
                            <a:srgbClr val="1A1A1A"/>
                          </a:solidFill>
                          <a:latin typeface="Segoe UI"/>
                        </a:rPr>
                        <a:t>ZAP1</a:t>
                      </a:r>
                    </a:p>
                  </a:txBody>
                  <a:tcPr marT="12700" marB="12700"/>
                </a:tc>
                <a:tc>
                  <a:txBody>
                    <a:bodyPr/>
                    <a:lstStyle/>
                    <a:p>
                      <a:pPr algn="r"/>
                      <a:r>
                        <a:rPr sz="1000" b="0">
                          <a:solidFill>
                            <a:srgbClr val="1A1A1A"/>
                          </a:solidFill>
                          <a:latin typeface="Consolas"/>
                        </a:rPr>
                        <a:t>5%</a:t>
                      </a:r>
                    </a:p>
                  </a:txBody>
                  <a:tcPr marT="12700" marB="12700"/>
                </a:tc>
                <a:tc>
                  <a:txBody>
                    <a:bodyPr/>
                    <a:lstStyle/>
                    <a:p>
                      <a:pPr algn="r"/>
                      <a:r>
                        <a:rPr sz="1000" b="0">
                          <a:solidFill>
                            <a:srgbClr val="1A1A1A"/>
                          </a:solidFill>
                          <a:latin typeface="Consolas"/>
                        </a:rPr>
                        <a:t>no</a:t>
                      </a:r>
                    </a:p>
                  </a:txBody>
                  <a:tcPr marT="12700" marB="12700"/>
                </a:tc>
                <a:tc>
                  <a:txBody>
                    <a:bodyPr/>
                    <a:lstStyle/>
                    <a:p>
                      <a:pPr algn="r"/>
                      <a:r>
                        <a:rPr sz="1000" b="0">
                          <a:solidFill>
                            <a:srgbClr val="1A1A1A"/>
                          </a:solidFill>
                          <a:latin typeface="Consolas"/>
                        </a:rPr>
                        <a:t>0.27</a:t>
                      </a:r>
                    </a:p>
                  </a:txBody>
                  <a:tcPr marT="12700" marB="12700"/>
                </a:tc>
                <a:tc>
                  <a:txBody>
                    <a:bodyPr/>
                    <a:lstStyle/>
                    <a:p>
                      <a:pPr algn="r"/>
                      <a:r>
                        <a:rPr sz="1000" b="0">
                          <a:solidFill>
                            <a:srgbClr val="1A1A1A"/>
                          </a:solidFill>
                          <a:latin typeface="Consolas"/>
                        </a:rPr>
                        <a:t>0.06</a:t>
                      </a:r>
                    </a:p>
                  </a:txBody>
                  <a:tcPr marT="12700" marB="12700"/>
                </a:tc>
                <a:tc>
                  <a:txBody>
                    <a:bodyPr/>
                    <a:lstStyle/>
                    <a:p>
                      <a:pPr algn="r"/>
                      <a:r>
                        <a:rPr sz="1000" b="0">
                          <a:solidFill>
                            <a:srgbClr val="1A1A1A"/>
                          </a:solidFill>
                          <a:latin typeface="Consolas"/>
                        </a:rPr>
                        <a:t>0.26</a:t>
                      </a:r>
                    </a:p>
                  </a:txBody>
                  <a:tcPr marT="12700" marB="12700"/>
                </a:tc>
                <a:tc>
                  <a:txBody>
                    <a:bodyPr/>
                    <a:lstStyle/>
                    <a:p>
                      <a:pPr algn="r"/>
                      <a:r>
                        <a:rPr sz="1000" b="0">
                          <a:solidFill>
                            <a:srgbClr val="1A1A1A"/>
                          </a:solidFill>
                          <a:latin typeface="Consolas"/>
                        </a:rPr>
                        <a:t>0.23</a:t>
                      </a:r>
                    </a:p>
                  </a:txBody>
                  <a:tcPr marT="12700" marB="12700"/>
                </a:tc>
                <a:tc>
                  <a:txBody>
                    <a:bodyPr/>
                    <a:lstStyle/>
                    <a:p>
                      <a:pPr algn="r"/>
                      <a:r>
                        <a:rPr sz="1000" b="0">
                          <a:solidFill>
                            <a:srgbClr val="1A1A1A"/>
                          </a:solidFill>
                          <a:latin typeface="Consolas"/>
                        </a:rPr>
                        <a:t>0.06</a:t>
                      </a:r>
                    </a:p>
                  </a:txBody>
                  <a:tcPr marT="12700" marB="12700"/>
                </a:tc>
                <a:tc>
                  <a:txBody>
                    <a:bodyPr/>
                    <a:lstStyle/>
                    <a:p>
                      <a:pPr algn="r"/>
                      <a:r>
                        <a:rPr sz="1000" b="0">
                          <a:solidFill>
                            <a:srgbClr val="1A1A1A"/>
                          </a:solidFill>
                          <a:latin typeface="Consolas"/>
                        </a:rPr>
                        <a:t>0.27</a:t>
                      </a:r>
                    </a:p>
                  </a:txBody>
                  <a:tcPr marT="12700" marB="12700"/>
                </a:tc>
              </a:tr>
              <a:tr h="242316">
                <a:tc>
                  <a:txBody>
                    <a:bodyPr/>
                    <a:lstStyle/>
                    <a:p>
                      <a:pPr algn="l"/>
                      <a:r>
                        <a:rPr sz="1000" b="0">
                          <a:solidFill>
                            <a:srgbClr val="1A1A1A"/>
                          </a:solidFill>
                          <a:latin typeface="Segoe UI"/>
                        </a:rPr>
                        <a:t>Zallet RPC Parity Harness</a:t>
                      </a:r>
                    </a:p>
                  </a:txBody>
                  <a:tcPr marT="12700" marB="12700"/>
                </a:tc>
                <a:tc>
                  <a:txBody>
                    <a:bodyPr/>
                    <a:lstStyle/>
                    <a:p>
                      <a:pPr algn="r"/>
                      <a:r>
                        <a:rPr sz="1000" b="0">
                          <a:solidFill>
                            <a:srgbClr val="1A1A1A"/>
                          </a:solidFill>
                          <a:latin typeface="Consolas"/>
                        </a:rPr>
                        <a:t>5%</a:t>
                      </a:r>
                    </a:p>
                  </a:txBody>
                  <a:tcPr marT="12700" marB="12700"/>
                </a:tc>
                <a:tc>
                  <a:txBody>
                    <a:bodyPr/>
                    <a:lstStyle/>
                    <a:p>
                      <a:pPr algn="r"/>
                      <a:r>
                        <a:rPr sz="1000" b="0">
                          <a:solidFill>
                            <a:srgbClr val="1A1A1A"/>
                          </a:solidFill>
                          <a:latin typeface="Consolas"/>
                        </a:rPr>
                        <a:t>no</a:t>
                      </a:r>
                    </a:p>
                  </a:txBody>
                  <a:tcPr marT="12700" marB="12700"/>
                </a:tc>
                <a:tc>
                  <a:txBody>
                    <a:bodyPr/>
                    <a:lstStyle/>
                    <a:p>
                      <a:pPr algn="r"/>
                      <a:r>
                        <a:rPr sz="1000" b="0">
                          <a:solidFill>
                            <a:srgbClr val="1A1A1A"/>
                          </a:solidFill>
                          <a:latin typeface="Consolas"/>
                        </a:rPr>
                        <a:t>0.26</a:t>
                      </a:r>
                    </a:p>
                  </a:txBody>
                  <a:tcPr marT="12700" marB="12700"/>
                </a:tc>
                <a:tc>
                  <a:txBody>
                    <a:bodyPr/>
                    <a:lstStyle/>
                    <a:p>
                      <a:pPr algn="r"/>
                      <a:r>
                        <a:rPr sz="1000" b="0">
                          <a:solidFill>
                            <a:srgbClr val="1A1A1A"/>
                          </a:solidFill>
                          <a:latin typeface="Consolas"/>
                        </a:rPr>
                        <a:t>-</a:t>
                      </a:r>
                    </a:p>
                  </a:txBody>
                  <a:tcPr marT="12700" marB="12700"/>
                </a:tc>
                <a:tc>
                  <a:txBody>
                    <a:bodyPr/>
                    <a:lstStyle/>
                    <a:p>
                      <a:pPr algn="r"/>
                      <a:r>
                        <a:rPr sz="1000" b="0">
                          <a:solidFill>
                            <a:srgbClr val="1A1A1A"/>
                          </a:solidFill>
                          <a:latin typeface="Consolas"/>
                        </a:rPr>
                        <a:t>0.26</a:t>
                      </a:r>
                    </a:p>
                  </a:txBody>
                  <a:tcPr marT="12700" marB="12700"/>
                </a:tc>
                <a:tc>
                  <a:txBody>
                    <a:bodyPr/>
                    <a:lstStyle/>
                    <a:p>
                      <a:pPr algn="r"/>
                      <a:r>
                        <a:rPr sz="1000" b="0">
                          <a:solidFill>
                            <a:srgbClr val="1A1A1A"/>
                          </a:solidFill>
                          <a:latin typeface="Consolas"/>
                        </a:rPr>
                        <a:t>0.22</a:t>
                      </a:r>
                    </a:p>
                  </a:txBody>
                  <a:tcPr marT="12700" marB="12700"/>
                </a:tc>
                <a:tc>
                  <a:txBody>
                    <a:bodyPr/>
                    <a:lstStyle/>
                    <a:p>
                      <a:pPr algn="r"/>
                      <a:r>
                        <a:rPr sz="1000" b="0">
                          <a:solidFill>
                            <a:srgbClr val="1A1A1A"/>
                          </a:solidFill>
                          <a:latin typeface="Consolas"/>
                        </a:rPr>
                        <a:t>0.04</a:t>
                      </a:r>
                    </a:p>
                  </a:txBody>
                  <a:tcPr marT="12700" marB="12700"/>
                </a:tc>
                <a:tc>
                  <a:txBody>
                    <a:bodyPr/>
                    <a:lstStyle/>
                    <a:p>
                      <a:pPr algn="r"/>
                      <a:r>
                        <a:rPr sz="1000" b="0">
                          <a:solidFill>
                            <a:srgbClr val="1A1A1A"/>
                          </a:solidFill>
                          <a:latin typeface="Consolas"/>
                        </a:rPr>
                        <a:t>0.25</a:t>
                      </a:r>
                    </a:p>
                  </a:txBody>
                  <a:tcPr marT="12700" marB="12700"/>
                </a:tc>
              </a:tr>
              <a:tr h="242316">
                <a:tc>
                  <a:txBody>
                    <a:bodyPr/>
                    <a:lstStyle/>
                    <a:p>
                      <a:pPr algn="l"/>
                      <a:r>
                        <a:rPr sz="1000" b="0">
                          <a:solidFill>
                            <a:srgbClr val="1A1A1A"/>
                          </a:solidFill>
                          <a:latin typeface="Segoe UI"/>
                        </a:rPr>
                        <a:t>Zapp</a:t>
                      </a:r>
                    </a:p>
                  </a:txBody>
                  <a:tcPr marT="12700" marB="12700"/>
                </a:tc>
                <a:tc>
                  <a:txBody>
                    <a:bodyPr/>
                    <a:lstStyle/>
                    <a:p>
                      <a:pPr algn="r"/>
                      <a:r>
                        <a:rPr sz="1000" b="0">
                          <a:solidFill>
                            <a:srgbClr val="1A1A1A"/>
                          </a:solidFill>
                          <a:latin typeface="Consolas"/>
                        </a:rPr>
                        <a:t>4%</a:t>
                      </a:r>
                    </a:p>
                  </a:txBody>
                  <a:tcPr marT="12700" marB="12700"/>
                </a:tc>
                <a:tc>
                  <a:txBody>
                    <a:bodyPr/>
                    <a:lstStyle/>
                    <a:p>
                      <a:pPr algn="r"/>
                      <a:r>
                        <a:rPr sz="1000" b="0">
                          <a:solidFill>
                            <a:srgbClr val="1A1A1A"/>
                          </a:solidFill>
                          <a:latin typeface="Consolas"/>
                        </a:rPr>
                        <a:t>no</a:t>
                      </a:r>
                    </a:p>
                  </a:txBody>
                  <a:tcPr marT="12700" marB="12700"/>
                </a:tc>
                <a:tc>
                  <a:txBody>
                    <a:bodyPr/>
                    <a:lstStyle/>
                    <a:p>
                      <a:pPr algn="r"/>
                      <a:r>
                        <a:rPr sz="1000" b="0">
                          <a:solidFill>
                            <a:srgbClr val="1A1A1A"/>
                          </a:solidFill>
                          <a:latin typeface="Consolas"/>
                        </a:rPr>
                        <a:t>0.28</a:t>
                      </a:r>
                    </a:p>
                  </a:txBody>
                  <a:tcPr marT="12700" marB="12700"/>
                </a:tc>
                <a:tc>
                  <a:txBody>
                    <a:bodyPr/>
                    <a:lstStyle/>
                    <a:p>
                      <a:pPr algn="r"/>
                      <a:r>
                        <a:rPr sz="1000" b="0">
                          <a:solidFill>
                            <a:srgbClr val="1A1A1A"/>
                          </a:solidFill>
                          <a:latin typeface="Consolas"/>
                        </a:rPr>
                        <a:t>0.76</a:t>
                      </a:r>
                    </a:p>
                  </a:txBody>
                  <a:tcPr marT="12700" marB="12700"/>
                </a:tc>
                <a:tc>
                  <a:txBody>
                    <a:bodyPr/>
                    <a:lstStyle/>
                    <a:p>
                      <a:pPr algn="r"/>
                      <a:r>
                        <a:rPr sz="1000" b="0">
                          <a:solidFill>
                            <a:srgbClr val="1A1A1A"/>
                          </a:solidFill>
                          <a:latin typeface="Consolas"/>
                        </a:rPr>
                        <a:t>0.41</a:t>
                      </a:r>
                    </a:p>
                  </a:txBody>
                  <a:tcPr marT="12700" marB="12700"/>
                </a:tc>
                <a:tc>
                  <a:txBody>
                    <a:bodyPr/>
                    <a:lstStyle/>
                    <a:p>
                      <a:pPr algn="r"/>
                      <a:r>
                        <a:rPr sz="1000" b="0">
                          <a:solidFill>
                            <a:srgbClr val="1A1A1A"/>
                          </a:solidFill>
                          <a:latin typeface="Consolas"/>
                        </a:rPr>
                        <a:t>0.24</a:t>
                      </a:r>
                    </a:p>
                  </a:txBody>
                  <a:tcPr marT="12700" marB="12700"/>
                </a:tc>
                <a:tc>
                  <a:txBody>
                    <a:bodyPr/>
                    <a:lstStyle/>
                    <a:p>
                      <a:pPr algn="r"/>
                      <a:r>
                        <a:rPr sz="1000" b="0">
                          <a:solidFill>
                            <a:srgbClr val="1A1A1A"/>
                          </a:solidFill>
                          <a:latin typeface="Consolas"/>
                        </a:rPr>
                        <a:t>0.03</a:t>
                      </a:r>
                    </a:p>
                  </a:txBody>
                  <a:tcPr marT="12700" marB="12700"/>
                </a:tc>
                <a:tc>
                  <a:txBody>
                    <a:bodyPr/>
                    <a:lstStyle/>
                    <a:p>
                      <a:pPr algn="r"/>
                      <a:r>
                        <a:rPr sz="1000" b="0">
                          <a:solidFill>
                            <a:srgbClr val="1A1A1A"/>
                          </a:solidFill>
                          <a:latin typeface="Consolas"/>
                        </a:rPr>
                        <a:t>0.32</a:t>
                      </a:r>
                    </a:p>
                  </a:txBody>
                  <a:tcPr marT="12700" marB="12700"/>
                </a:tc>
              </a:tr>
              <a:tr h="242316">
                <a:tc>
                  <a:txBody>
                    <a:bodyPr/>
                    <a:lstStyle/>
                    <a:p>
                      <a:pPr algn="l"/>
                      <a:r>
                        <a:rPr sz="1000" b="0">
                          <a:solidFill>
                            <a:srgbClr val="1A1A1A"/>
                          </a:solidFill>
                          <a:latin typeface="Segoe UI"/>
                        </a:rPr>
                        <a:t>Blindvault</a:t>
                      </a:r>
                    </a:p>
                  </a:txBody>
                  <a:tcPr marT="12700" marB="12700"/>
                </a:tc>
                <a:tc>
                  <a:txBody>
                    <a:bodyPr/>
                    <a:lstStyle/>
                    <a:p>
                      <a:pPr algn="r"/>
                      <a:r>
                        <a:rPr sz="1000" b="0">
                          <a:solidFill>
                            <a:srgbClr val="1A1A1A"/>
                          </a:solidFill>
                          <a:latin typeface="Consolas"/>
                        </a:rPr>
                        <a:t>4%</a:t>
                      </a:r>
                    </a:p>
                  </a:txBody>
                  <a:tcPr marT="12700" marB="12700"/>
                </a:tc>
                <a:tc>
                  <a:txBody>
                    <a:bodyPr/>
                    <a:lstStyle/>
                    <a:p>
                      <a:pPr algn="r"/>
                      <a:r>
                        <a:rPr sz="1000" b="0">
                          <a:solidFill>
                            <a:srgbClr val="1A1A1A"/>
                          </a:solidFill>
                          <a:latin typeface="Consolas"/>
                        </a:rPr>
                        <a:t>no</a:t>
                      </a:r>
                    </a:p>
                  </a:txBody>
                  <a:tcPr marT="12700" marB="12700"/>
                </a:tc>
                <a:tc>
                  <a:txBody>
                    <a:bodyPr/>
                    <a:lstStyle/>
                    <a:p>
                      <a:pPr algn="r"/>
                      <a:r>
                        <a:rPr sz="1000" b="0">
                          <a:solidFill>
                            <a:srgbClr val="1A1A1A"/>
                          </a:solidFill>
                          <a:latin typeface="Consolas"/>
                        </a:rPr>
                        <a:t>0.28</a:t>
                      </a:r>
                    </a:p>
                  </a:txBody>
                  <a:tcPr marT="12700" marB="12700"/>
                </a:tc>
                <a:tc>
                  <a:txBody>
                    <a:bodyPr/>
                    <a:lstStyle/>
                    <a:p>
                      <a:pPr algn="r"/>
                      <a:r>
                        <a:rPr sz="1000" b="0">
                          <a:solidFill>
                            <a:srgbClr val="1A1A1A"/>
                          </a:solidFill>
                          <a:latin typeface="Consolas"/>
                        </a:rPr>
                        <a:t>-</a:t>
                      </a:r>
                    </a:p>
                  </a:txBody>
                  <a:tcPr marT="12700" marB="12700"/>
                </a:tc>
                <a:tc>
                  <a:txBody>
                    <a:bodyPr/>
                    <a:lstStyle/>
                    <a:p>
                      <a:pPr algn="r"/>
                      <a:r>
                        <a:rPr sz="1000" b="0">
                          <a:solidFill>
                            <a:srgbClr val="1A1A1A"/>
                          </a:solidFill>
                          <a:latin typeface="Consolas"/>
                        </a:rPr>
                        <a:t>0.26</a:t>
                      </a:r>
                    </a:p>
                  </a:txBody>
                  <a:tcPr marT="12700" marB="12700"/>
                </a:tc>
                <a:tc>
                  <a:txBody>
                    <a:bodyPr/>
                    <a:lstStyle/>
                    <a:p>
                      <a:pPr algn="r"/>
                      <a:r>
                        <a:rPr sz="1000" b="0">
                          <a:solidFill>
                            <a:srgbClr val="1A1A1A"/>
                          </a:solidFill>
                          <a:latin typeface="Consolas"/>
                        </a:rPr>
                        <a:t>0.28</a:t>
                      </a:r>
                    </a:p>
                  </a:txBody>
                  <a:tcPr marT="12700" marB="12700"/>
                </a:tc>
                <a:tc>
                  <a:txBody>
                    <a:bodyPr/>
                    <a:lstStyle/>
                    <a:p>
                      <a:pPr algn="r"/>
                      <a:r>
                        <a:rPr sz="1000" b="0">
                          <a:solidFill>
                            <a:srgbClr val="1A1A1A"/>
                          </a:solidFill>
                          <a:latin typeface="Consolas"/>
                        </a:rPr>
                        <a:t>0.03</a:t>
                      </a:r>
                    </a:p>
                  </a:txBody>
                  <a:tcPr marT="12700" marB="12700"/>
                </a:tc>
                <a:tc>
                  <a:txBody>
                    <a:bodyPr/>
                    <a:lstStyle/>
                    <a:p>
                      <a:pPr algn="r"/>
                      <a:r>
                        <a:rPr sz="1000" b="0">
                          <a:solidFill>
                            <a:srgbClr val="1A1A1A"/>
                          </a:solidFill>
                          <a:latin typeface="Consolas"/>
                        </a:rPr>
                        <a:t>0.25</a:t>
                      </a:r>
                    </a:p>
                  </a:txBody>
                  <a:tcPr marT="12700" marB="12700"/>
                </a:tc>
              </a:tr>
              <a:tr h="242316">
                <a:tc>
                  <a:txBody>
                    <a:bodyPr/>
                    <a:lstStyle/>
                    <a:p>
                      <a:pPr algn="l"/>
                      <a:r>
                        <a:rPr sz="1000" b="0">
                          <a:solidFill>
                            <a:srgbClr val="1A1A1A"/>
                          </a:solidFill>
                          <a:latin typeface="Segoe UI"/>
                        </a:rPr>
                        <a:t>Gleyo</a:t>
                      </a:r>
                    </a:p>
                  </a:txBody>
                  <a:tcPr marT="12700" marB="12700"/>
                </a:tc>
                <a:tc>
                  <a:txBody>
                    <a:bodyPr/>
                    <a:lstStyle/>
                    <a:p>
                      <a:pPr algn="r"/>
                      <a:r>
                        <a:rPr sz="1000" b="0">
                          <a:solidFill>
                            <a:srgbClr val="1A1A1A"/>
                          </a:solidFill>
                          <a:latin typeface="Consolas"/>
                        </a:rPr>
                        <a:t>3%</a:t>
                      </a:r>
                    </a:p>
                  </a:txBody>
                  <a:tcPr marT="12700" marB="12700"/>
                </a:tc>
                <a:tc>
                  <a:txBody>
                    <a:bodyPr/>
                    <a:lstStyle/>
                    <a:p>
                      <a:pPr algn="r"/>
                      <a:r>
                        <a:rPr sz="1000" b="0">
                          <a:solidFill>
                            <a:srgbClr val="1A1A1A"/>
                          </a:solidFill>
                          <a:latin typeface="Consolas"/>
                        </a:rPr>
                        <a:t>no</a:t>
                      </a:r>
                    </a:p>
                  </a:txBody>
                  <a:tcPr marT="12700" marB="12700"/>
                </a:tc>
                <a:tc>
                  <a:txBody>
                    <a:bodyPr/>
                    <a:lstStyle/>
                    <a:p>
                      <a:pPr algn="r"/>
                      <a:r>
                        <a:rPr sz="1000" b="0">
                          <a:solidFill>
                            <a:srgbClr val="1A1A1A"/>
                          </a:solidFill>
                          <a:latin typeface="Consolas"/>
                        </a:rPr>
                        <a:t>0.27</a:t>
                      </a:r>
                    </a:p>
                  </a:txBody>
                  <a:tcPr marT="12700" marB="12700"/>
                </a:tc>
                <a:tc>
                  <a:txBody>
                    <a:bodyPr/>
                    <a:lstStyle/>
                    <a:p>
                      <a:pPr algn="r"/>
                      <a:r>
                        <a:rPr sz="1000" b="0">
                          <a:solidFill>
                            <a:srgbClr val="1A1A1A"/>
                          </a:solidFill>
                          <a:latin typeface="Consolas"/>
                        </a:rPr>
                        <a:t>-</a:t>
                      </a:r>
                    </a:p>
                  </a:txBody>
                  <a:tcPr marT="12700" marB="12700"/>
                </a:tc>
                <a:tc>
                  <a:txBody>
                    <a:bodyPr/>
                    <a:lstStyle/>
                    <a:p>
                      <a:pPr algn="r"/>
                      <a:r>
                        <a:rPr sz="1000" b="0">
                          <a:solidFill>
                            <a:srgbClr val="1A1A1A"/>
                          </a:solidFill>
                          <a:latin typeface="Consolas"/>
                        </a:rPr>
                        <a:t>0.47</a:t>
                      </a:r>
                    </a:p>
                  </a:txBody>
                  <a:tcPr marT="12700" marB="12700"/>
                </a:tc>
                <a:tc>
                  <a:txBody>
                    <a:bodyPr/>
                    <a:lstStyle/>
                    <a:p>
                      <a:pPr algn="r"/>
                      <a:r>
                        <a:rPr sz="1000" b="0">
                          <a:solidFill>
                            <a:srgbClr val="1A1A1A"/>
                          </a:solidFill>
                          <a:latin typeface="Consolas"/>
                        </a:rPr>
                        <a:t>0.24</a:t>
                      </a:r>
                    </a:p>
                  </a:txBody>
                  <a:tcPr marT="12700" marB="12700"/>
                </a:tc>
                <a:tc>
                  <a:txBody>
                    <a:bodyPr/>
                    <a:lstStyle/>
                    <a:p>
                      <a:pPr algn="r"/>
                      <a:r>
                        <a:rPr sz="1000" b="0">
                          <a:solidFill>
                            <a:srgbClr val="1A1A1A"/>
                          </a:solidFill>
                          <a:latin typeface="Consolas"/>
                        </a:rPr>
                        <a:t>0.06</a:t>
                      </a:r>
                    </a:p>
                  </a:txBody>
                  <a:tcPr marT="12700" marB="12700"/>
                </a:tc>
                <a:tc>
                  <a:txBody>
                    <a:bodyPr/>
                    <a:lstStyle/>
                    <a:p>
                      <a:pPr algn="r"/>
                      <a:r>
                        <a:rPr sz="1000" b="0">
                          <a:solidFill>
                            <a:srgbClr val="1A1A1A"/>
                          </a:solidFill>
                          <a:latin typeface="Consolas"/>
                        </a:rPr>
                        <a:t>0.52</a:t>
                      </a:r>
                    </a:p>
                  </a:txBody>
                  <a:tcPr marT="12700" marB="12700"/>
                </a:tc>
              </a:tr>
              <a:tr h="242316">
                <a:tc>
                  <a:txBody>
                    <a:bodyPr/>
                    <a:lstStyle/>
                    <a:p>
                      <a:pPr algn="l"/>
                      <a:r>
                        <a:rPr sz="1000" b="0">
                          <a:solidFill>
                            <a:srgbClr val="1A1A1A"/>
                          </a:solidFill>
                          <a:latin typeface="Segoe UI"/>
                        </a:rPr>
                        <a:t>ZcashNames</a:t>
                      </a:r>
                    </a:p>
                  </a:txBody>
                  <a:tcPr marT="12700" marB="12700"/>
                </a:tc>
                <a:tc>
                  <a:txBody>
                    <a:bodyPr/>
                    <a:lstStyle/>
                    <a:p>
                      <a:pPr algn="r"/>
                      <a:r>
                        <a:rPr sz="1000" b="0">
                          <a:solidFill>
                            <a:srgbClr val="1A1A1A"/>
                          </a:solidFill>
                          <a:latin typeface="Consolas"/>
                        </a:rPr>
                        <a:t>3%</a:t>
                      </a:r>
                    </a:p>
                  </a:txBody>
                  <a:tcPr marT="12700" marB="12700"/>
                </a:tc>
                <a:tc>
                  <a:txBody>
                    <a:bodyPr/>
                    <a:lstStyle/>
                    <a:p>
                      <a:pPr algn="r"/>
                      <a:r>
                        <a:rPr sz="1000" b="0">
                          <a:solidFill>
                            <a:srgbClr val="1A1A1A"/>
                          </a:solidFill>
                          <a:latin typeface="Consolas"/>
                        </a:rPr>
                        <a:t>no</a:t>
                      </a:r>
                    </a:p>
                  </a:txBody>
                  <a:tcPr marT="12700" marB="12700"/>
                </a:tc>
                <a:tc>
                  <a:txBody>
                    <a:bodyPr/>
                    <a:lstStyle/>
                    <a:p>
                      <a:pPr algn="r"/>
                      <a:r>
                        <a:rPr sz="1000" b="0">
                          <a:solidFill>
                            <a:srgbClr val="1A1A1A"/>
                          </a:solidFill>
                          <a:latin typeface="Consolas"/>
                        </a:rPr>
                        <a:t>0.23</a:t>
                      </a:r>
                    </a:p>
                  </a:txBody>
                  <a:tcPr marT="12700" marB="12700"/>
                </a:tc>
                <a:tc>
                  <a:txBody>
                    <a:bodyPr/>
                    <a:lstStyle/>
                    <a:p>
                      <a:pPr algn="r"/>
                      <a:r>
                        <a:rPr sz="1000" b="0">
                          <a:solidFill>
                            <a:srgbClr val="1A1A1A"/>
                          </a:solidFill>
                          <a:latin typeface="Consolas"/>
                        </a:rPr>
                        <a:t>0.05</a:t>
                      </a:r>
                    </a:p>
                  </a:txBody>
                  <a:tcPr marT="12700" marB="12700"/>
                </a:tc>
                <a:tc>
                  <a:txBody>
                    <a:bodyPr/>
                    <a:lstStyle/>
                    <a:p>
                      <a:pPr algn="r"/>
                      <a:r>
                        <a:rPr sz="1000" b="0">
                          <a:solidFill>
                            <a:srgbClr val="1A1A1A"/>
                          </a:solidFill>
                          <a:latin typeface="Consolas"/>
                        </a:rPr>
                        <a:t>0.26</a:t>
                      </a:r>
                    </a:p>
                  </a:txBody>
                  <a:tcPr marT="12700" marB="12700"/>
                </a:tc>
                <a:tc>
                  <a:txBody>
                    <a:bodyPr/>
                    <a:lstStyle/>
                    <a:p>
                      <a:pPr algn="r"/>
                      <a:r>
                        <a:rPr sz="1000" b="0">
                          <a:solidFill>
                            <a:srgbClr val="1A1A1A"/>
                          </a:solidFill>
                          <a:latin typeface="Consolas"/>
                        </a:rPr>
                        <a:t>0.21</a:t>
                      </a:r>
                    </a:p>
                  </a:txBody>
                  <a:tcPr marT="12700" marB="12700"/>
                </a:tc>
                <a:tc>
                  <a:txBody>
                    <a:bodyPr/>
                    <a:lstStyle/>
                    <a:p>
                      <a:pPr algn="r"/>
                      <a:r>
                        <a:rPr sz="1000" b="0">
                          <a:solidFill>
                            <a:srgbClr val="1A1A1A"/>
                          </a:solidFill>
                          <a:latin typeface="Consolas"/>
                        </a:rPr>
                        <a:t>0.03</a:t>
                      </a:r>
                    </a:p>
                  </a:txBody>
                  <a:tcPr marT="12700" marB="12700"/>
                </a:tc>
                <a:tc>
                  <a:txBody>
                    <a:bodyPr/>
                    <a:lstStyle/>
                    <a:p>
                      <a:pPr algn="r"/>
                      <a:r>
                        <a:rPr sz="1000" b="0">
                          <a:solidFill>
                            <a:srgbClr val="1A1A1A"/>
                          </a:solidFill>
                          <a:latin typeface="Consolas"/>
                        </a:rPr>
                        <a:t>0.27</a:t>
                      </a:r>
                    </a:p>
                  </a:txBody>
                  <a:tcPr marT="12700" marB="12700"/>
                </a:tc>
              </a:tr>
              <a:tr h="242316">
                <a:tc>
                  <a:txBody>
                    <a:bodyPr/>
                    <a:lstStyle/>
                    <a:p>
                      <a:pPr algn="l"/>
                      <a:r>
                        <a:rPr sz="1000" b="0">
                          <a:solidFill>
                            <a:srgbClr val="1A1A1A"/>
                          </a:solidFill>
                          <a:latin typeface="Segoe UI"/>
                        </a:rPr>
                        <a:t>CyphZec.com</a:t>
                      </a:r>
                    </a:p>
                  </a:txBody>
                  <a:tcPr marT="12700" marB="12700"/>
                </a:tc>
                <a:tc>
                  <a:txBody>
                    <a:bodyPr/>
                    <a:lstStyle/>
                    <a:p>
                      <a:pPr algn="r"/>
                      <a:r>
                        <a:rPr sz="1000" b="0">
                          <a:solidFill>
                            <a:srgbClr val="1A1A1A"/>
                          </a:solidFill>
                          <a:latin typeface="Consolas"/>
                        </a:rPr>
                        <a:t>3%</a:t>
                      </a:r>
                    </a:p>
                  </a:txBody>
                  <a:tcPr marT="12700" marB="12700"/>
                </a:tc>
                <a:tc>
                  <a:txBody>
                    <a:bodyPr/>
                    <a:lstStyle/>
                    <a:p>
                      <a:pPr algn="r"/>
                      <a:r>
                        <a:rPr sz="1000" b="0">
                          <a:solidFill>
                            <a:srgbClr val="1A1A1A"/>
                          </a:solidFill>
                          <a:latin typeface="Consolas"/>
                        </a:rPr>
                        <a:t>no</a:t>
                      </a:r>
                    </a:p>
                  </a:txBody>
                  <a:tcPr marT="12700" marB="12700"/>
                </a:tc>
                <a:tc>
                  <a:txBody>
                    <a:bodyPr/>
                    <a:lstStyle/>
                    <a:p>
                      <a:pPr algn="r"/>
                      <a:r>
                        <a:rPr sz="1000" b="0">
                          <a:solidFill>
                            <a:srgbClr val="1A1A1A"/>
                          </a:solidFill>
                          <a:latin typeface="Consolas"/>
                        </a:rPr>
                        <a:t>0.39</a:t>
                      </a:r>
                    </a:p>
                  </a:txBody>
                  <a:tcPr marT="12700" marB="12700"/>
                </a:tc>
                <a:tc>
                  <a:txBody>
                    <a:bodyPr/>
                    <a:lstStyle/>
                    <a:p>
                      <a:pPr algn="r"/>
                      <a:r>
                        <a:rPr sz="1000" b="0">
                          <a:solidFill>
                            <a:srgbClr val="1A1A1A"/>
                          </a:solidFill>
                          <a:latin typeface="Consolas"/>
                        </a:rPr>
                        <a:t>-</a:t>
                      </a:r>
                    </a:p>
                  </a:txBody>
                  <a:tcPr marT="12700" marB="12700"/>
                </a:tc>
                <a:tc>
                  <a:txBody>
                    <a:bodyPr/>
                    <a:lstStyle/>
                    <a:p>
                      <a:pPr algn="r"/>
                      <a:r>
                        <a:rPr sz="1000" b="0">
                          <a:solidFill>
                            <a:srgbClr val="1A1A1A"/>
                          </a:solidFill>
                          <a:latin typeface="Consolas"/>
                        </a:rPr>
                        <a:t>0.52</a:t>
                      </a:r>
                    </a:p>
                  </a:txBody>
                  <a:tcPr marT="12700" marB="12700"/>
                </a:tc>
                <a:tc>
                  <a:txBody>
                    <a:bodyPr/>
                    <a:lstStyle/>
                    <a:p>
                      <a:pPr algn="r"/>
                      <a:r>
                        <a:rPr sz="1000" b="0">
                          <a:solidFill>
                            <a:srgbClr val="1A1A1A"/>
                          </a:solidFill>
                          <a:latin typeface="Consolas"/>
                        </a:rPr>
                        <a:t>0.34</a:t>
                      </a:r>
                    </a:p>
                  </a:txBody>
                  <a:tcPr marT="12700" marB="12700"/>
                </a:tc>
                <a:tc>
                  <a:txBody>
                    <a:bodyPr/>
                    <a:lstStyle/>
                    <a:p>
                      <a:pPr algn="r"/>
                      <a:r>
                        <a:rPr sz="1000" b="0">
                          <a:solidFill>
                            <a:srgbClr val="1A1A1A"/>
                          </a:solidFill>
                          <a:latin typeface="Consolas"/>
                        </a:rPr>
                        <a:t>0.07</a:t>
                      </a:r>
                    </a:p>
                  </a:txBody>
                  <a:tcPr marT="12700" marB="12700"/>
                </a:tc>
                <a:tc>
                  <a:txBody>
                    <a:bodyPr/>
                    <a:lstStyle/>
                    <a:p>
                      <a:pPr algn="r"/>
                      <a:r>
                        <a:rPr sz="1000" b="0">
                          <a:solidFill>
                            <a:srgbClr val="1A1A1A"/>
                          </a:solidFill>
                          <a:latin typeface="Consolas"/>
                        </a:rPr>
                        <a:t>0.71</a:t>
                      </a:r>
                    </a:p>
                  </a:txBody>
                  <a:tcPr marT="12700" marB="12700"/>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155680" cy="731520"/>
          </a:xfrm>
          <a:prstGeom prst="rect">
            <a:avLst/>
          </a:prstGeom>
          <a:noFill/>
        </p:spPr>
        <p:txBody>
          <a:bodyPr wrap="square">
            <a:spAutoFit/>
          </a:bodyPr>
          <a:lstStyle/>
          <a:p>
            <a:pPr algn="l">
              <a:spcAft>
                <a:spcPts val="400"/>
              </a:spcAft>
            </a:pPr>
            <a:r>
              <a:rPr sz="3000" b="1">
                <a:solidFill>
                  <a:srgbClr val="1A1A1A"/>
                </a:solidFill>
                <a:latin typeface="Bahnschrift"/>
              </a:rPr>
              <a:t>Method and caveats</a:t>
            </a:r>
          </a:p>
        </p:txBody>
      </p:sp>
      <p:sp>
        <p:nvSpPr>
          <p:cNvPr id="3" name="TextBox 2"/>
          <p:cNvSpPr txBox="1"/>
          <p:nvPr/>
        </p:nvSpPr>
        <p:spPr>
          <a:xfrm>
            <a:off x="566928" y="1078992"/>
            <a:ext cx="11155680" cy="457200"/>
          </a:xfrm>
          <a:prstGeom prst="rect">
            <a:avLst/>
          </a:prstGeom>
          <a:noFill/>
        </p:spPr>
        <p:txBody>
          <a:bodyPr wrap="square">
            <a:spAutoFit/>
          </a:bodyPr>
          <a:lstStyle/>
          <a:p>
            <a:pPr algn="l">
              <a:spcAft>
                <a:spcPts val="400"/>
              </a:spcAft>
            </a:pPr>
            <a:r>
              <a:rPr sz="1300" b="0">
                <a:solidFill>
                  <a:srgbClr val="6B6B6B"/>
                </a:solidFill>
                <a:latin typeface="Segoe UI"/>
              </a:rPr>
              <a:t>What is measured, and what is not</a:t>
            </a:r>
          </a:p>
        </p:txBody>
      </p:sp>
      <p:sp>
        <p:nvSpPr>
          <p:cNvPr id="4" name="Rectangle 3"/>
          <p:cNvSpPr/>
          <p:nvPr/>
        </p:nvSpPr>
        <p:spPr>
          <a:xfrm>
            <a:off x="566928" y="1481328"/>
            <a:ext cx="1106424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783080"/>
            <a:ext cx="11064240" cy="4572000"/>
          </a:xfrm>
          <a:prstGeom prst="rect">
            <a:avLst/>
          </a:prstGeom>
          <a:noFill/>
        </p:spPr>
        <p:txBody>
          <a:bodyPr wrap="square">
            <a:spAutoFit/>
          </a:bodyPr>
          <a:lstStyle/>
          <a:p>
            <a:pPr algn="l">
              <a:spcAft>
                <a:spcPts val="400"/>
              </a:spcAft>
            </a:pPr>
            <a:r>
              <a:rPr sz="1200" b="0">
                <a:solidFill>
                  <a:srgbClr val="1A1A1A"/>
                </a:solidFill>
                <a:latin typeface="Segoe UI"/>
              </a:rPr>
              <a:t>Money. Each wallet began this round at exactly 900.00 sUSDS, measured as the last cash reading before its first grant trade on 16 September. P&amp;L is cash today minus 900 minus the NU7 proceeds each wallet collected during the round (Opus 356.44, Sol 224.23, Fable 150.00, Astra 74.00, Jev none), so nothing from the earlier experiment is counted. Gas is paid in ETH and does not appear. Fable's six exits during the round are inside its cash figure rather than broken out.</a:t>
            </a:r>
          </a:p>
          <a:p>
            <a:pPr algn="l">
              <a:spcAft>
                <a:spcPts val="400"/>
              </a:spcAft>
            </a:pPr>
            <a:r>
              <a:rPr sz="1200" b="0">
                <a:solidFill>
                  <a:srgbClr val="1A1A1A"/>
                </a:solidFill>
                <a:latin typeface="Segoe UI"/>
              </a:rPr>
              <a:t>Forecasts. Each bot's last estimate recorded before the vote closed at 29 Sep 20:00 UTC — Fable from fleet-grants.json, Sol from fleet.json, Astra from estimates.json, Jev from its report. Anything written after the close is hindsight: scoring it first gave Sol a Brier of 0.0000, which is how the error was caught.</a:t>
            </a:r>
          </a:p>
          <a:p>
            <a:pPr algn="l">
              <a:spcAft>
                <a:spcPts val="400"/>
              </a:spcAft>
            </a:pPr>
            <a:r>
              <a:rPr sz="1200" b="0">
                <a:solidFill>
                  <a:srgbClr val="1A1A1A"/>
                </a:solidFill>
                <a:latin typeface="Segoe UI"/>
              </a:rPr>
              <a:t>Opus has no machine-readable estimate set; its 12 shown values come from the notes it wrote when queueing trades, taken at different dates, so its Brier is not comparable with the others and is marked as such.</a:t>
            </a:r>
          </a:p>
          <a:p>
            <a:pPr algn="l">
              <a:spcAft>
                <a:spcPts val="400"/>
              </a:spcAft>
            </a:pPr>
            <a:r>
              <a:rPr sz="1200" b="0">
                <a:solidFill>
                  <a:srgbClr val="1A1A1A"/>
                </a:solidFill>
                <a:latin typeface="Segoe UI"/>
              </a:rPr>
              <a:t>The market's forecast is the closing pool price with Invalid dropped, the same transformation applied to the bots, so all seven forecasters are scored on the same two outcomes.</a:t>
            </a:r>
          </a:p>
          <a:p>
            <a:pPr algn="l">
              <a:spcAft>
                <a:spcPts val="400"/>
              </a:spcAft>
            </a:pPr>
            <a:r>
              <a:rPr sz="1200" b="0">
                <a:solidFill>
                  <a:srgbClr val="1A1A1A"/>
                </a:solidFill>
                <a:latin typeface="Segoe UI"/>
              </a:rPr>
              <a:t>Still open: the Gnosis book — 34 Devcon side-event and Clément conditionals — cannot resolve until the event in November and the films are scored. Every bot is ahead there, between +9.59 and +27.73 sDAI.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